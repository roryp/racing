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2" r:id="rId2"/>
    <p:sldId id="269" r:id="rId3"/>
    <p:sldId id="270" r:id="rId4"/>
    <p:sldId id="257" r:id="rId5"/>
    <p:sldId id="258" r:id="rId6"/>
    <p:sldId id="259" r:id="rId7"/>
    <p:sldId id="260" r:id="rId8"/>
    <p:sldId id="261" r:id="rId9"/>
    <p:sldId id="268" r:id="rId10"/>
    <p:sldId id="262" r:id="rId11"/>
    <p:sldId id="271" r:id="rId12"/>
    <p:sldId id="263" r:id="rId13"/>
    <p:sldId id="267" r:id="rId14"/>
    <p:sldId id="264" r:id="rId15"/>
    <p:sldId id="265" r:id="rId16"/>
    <p:sldId id="266"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1953"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650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split of work: the player drives, the game engine handles rendering and physics at a fixed 60 Hz step, and the model only makes decisions: the five rivals' tactics, Race Control rulings and the post-race debrief. The screenshot is a crop of the race canvas a few seconds after the start, with the game talking to Microsoft-Decision-1: the tag above each rival is its latest answer, and a lightning bolt means its nitro is firing. Press L in the game to toggle the tags.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model card and Microsoft Learn: Microsoft-Decision-1 is a decision-scoring model built on the open-weight Qwen3.5-9B and post-trained by Microsoft. It takes a state (text or JSON, up to 32K tokens) and typed questions, and returns a calibrated probability per answer option in a single pass. It is text-only and gives no explanations. A rival call's response reports 3 output tokens (it asks three questions) against about 630 input tokens. LUNA GP uses a deployment named decision-1-dz (DataZoneStandard, 500 requests per minute). The request's model field is the deployment name; the response names the underlying model.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question types from the Microsoft Learn docs. noul asks 'is this true?' and returns one probability from 0 to 1; optional criteria can define what true and false mean. choice picks exactly one option from a fixed set and returns a probability for every option. score places the state on an ordered scale: the returned score is the probability-weighted average of the level indexes (here 0.15 + 1.0 + 0.75 = 1.90), so it can fall between levels.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noul is the yes/no type: the request has only instructions (criteria with true/false definitions are optional; LUNA GP doesn't send them) and the answer is one probability. The probability does not fire nitro by itself: each rival compares it with its personality threshold (aggressive and wildcard 0.50, defensive 0.60, tactical and smooth 0.65). This slide compares a hypothetical result of 0.62 against all five thresholds; it is not one answer broadcast to every car. Each rival has its own request and can receive a different probability. A boost also needs at least 34% of the tank. The debrief's clean_racer question is a noul too.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call the game makes. Each of the five rivals sends its own request containing maneuver, pace and nitro; these are not five drivers batched into one request. Requests from different rivals can overlap. Each rival asks again 0.65 to 1.05 s after its last answer in traffic and 1.4 to 1.8 s otherwise. Its personality is included in the model input and also selects the game's nitro threshold. The pace score sets the target speed: top speed × (0.92 + 0.03 × score), so Flat out (3) aims 1% past the car's nominal top speed; overtakes add 2%, nitro 22% and a slipstream 6%, and corners scale it down. Race Control asks two questions on each contact with the player (at most once every 4 s per rival) and penalizes the responsible driver when the model is at least 60% sure and severity is at least 0.8. The debrief's driver_of_the_day picks from the six cars in the race: you and the five rivals. All policies (thresholds, penalties, the speed formula) live in game code, not in the prompt.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Think of this as a repeated radio check, not a chat conversation. The snapshot and answers on this slide are illustrative, not a captured model reply. The actual exchange is JSON, shown on the next slide.</a:t>
            </a:r>
          </a:p>
          <a:p>
            <a:r>
              <a:rPr lang="en-US"/>
              <a:t>The browser posts telemetry for one rival to /api/rival. It includes driver name, number and personality; lap, position and gaps; speed, top speed, road position, nitro tank and whether the boost is active; upcoming track features and elevation; nearby cars ahead, behind or alongside and their relative speeds. The previous maneuver and its age are included when available. The server validates the data, writes the state as plain text, and adds the same three fixed questions: maneuver, pace and nitro. Personality is part of the model input, not just a rule applied after the answer.</a:t>
            </a:r>
          </a:p>
          <a:p>
            <a:r>
              <a:rPr lang="en-US"/>
              <a:t>The example reply selects overtake_left, scores pace at 2.4 on the 0-to-3 scale, and returns a nitro likelihood of 0.78. Game code steers and sets the speed target. It compares the nitro likelihood with the driver's personality threshold and checks the tank before boosting; aggressive Vega's threshold is 0.50 and a boost needs at least 34% of the tank. The model does not drive the physics directly.</a:t>
            </a:r>
          </a:p>
          <a:p>
            <a:r>
              <a:rPr lang="en-US"/>
              <a:t>There is no messages array, growing chat transcript or persistent model conversation per car. Each call supplies a fresh snapshot, including the last move and its age. Each of the five rivals has its own asynchronous decision loop and at most one outstanding request; requests from different rivals can overlap. After a reply, that rival waits 0.65 to 1.05 seconds in traffic or 1.4 to 1.8 seconds otherwise before asking again. Rivals observe traffic but do not exchange plans or coordinate as a swarm. A coordinated swarm remains a future project on the closing slide.</a:t>
            </a:r>
          </a:p>
        </p:txBody>
      </p:sp>
      <p:sp>
        <p:nvSpPr>
          <p:cNvPr id="4" name="Slide Number Placeholder 3"/>
          <p:cNvSpPr>
            <a:spLocks noGrp="1"/>
          </p:cNvSpPr>
          <p:nvPr>
            <p:ph type="sldNum" sz="quarter" idx="10"/>
          </p:nvPr>
        </p:nvSpPr>
        <p:spPr/>
        <p:txBody>
          <a:bodyPr/>
          <a:lstStyle/>
          <a:p>
            <a:fld id="{3FEF4712-8A2B-4CC3-AF43-90CF52B31007}" type="slidenum">
              <a:rPr lang="en-US"/>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abbreviated JSON example, not a literal complete packet: the ellipses mark omitted fields. The request's model is the configured deployment name; the response's model names the underlying model. state is a few lines of plain text built from validated telemetry, including personality, race position, speed, nitro, road and nearby cars, and the previous maneuver and its age. There is no messages array or growing chat history. All three questions include instructions explaining what to decide. The maneuver question's criteria is an object mapping the six choices to descriptions: racing_line, overtake_left, overtake_right, slipstream, defend and back_off. The pace question's criteria is an ordered list of four descriptions: Conserve, Race, Push and Flat out, indexed 0 to 3. The nitro question uses type noul and instructions, without criteria. The sample answers match the previous slide and are illustrative, not a measured model response. Actual choice and score answers also contain type, confidence and probabilities; a noul answer contains its type and one probability. Usage also includes input tokens. The server compacts the answers and adds timing and token information before returning them to the browser, where game code applies them. A measured rival call used about 630 input tokens and 3 output tokens.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p:cNvSpPr>
            <a:spLocks noGrp="1" noRot="1" noChangeAspect="1"/>
          </p:cNvSpPr>
          <p:nvPr>
            <p:ph type="sldImg"/>
          </p:nvPr>
        </p:nvSpPr>
        <p:spPr/>
      </p:sp>
      <p:sp>
        <p:nvSpPr>
          <p:cNvPr id="3" name="Speaker notes"/>
          <p:cNvSpPr>
            <a:spLocks noGrp="1"/>
          </p:cNvSpPr>
          <p:nvPr>
            <p:ph type="body" idx="1"/>
          </p:nvPr>
        </p:nvSpPr>
        <p:spPr/>
        <p:txBody>
          <a:bodyPr/>
          <a:lstStyle/>
          <a:p>
            <a:r>
              <a:t>A racing line is the path a driver aims to take to carry speed through a corner. A conventional racing line often uses outside entry, an inside apex and outside exit. LUNA GP does not compute that optimized route: racing_line is a simple curve-following heuristic. Positive curvature is a right-hand bend and produces a positive offset, so the target biases toward the INSIDE of the bend, not the opposite side.</a:t>
            </a:r>
          </a:p>
          <a:p>
            <a:r>
              <a:t>Provenance: screenshot from the actual LUNA GP game at https://aka.ms/racing, captured on 2026-10-28. This is a controlled in-game setup using the existing debug hook, not a naturally occurring race moment. Lyra is positioned on a right-hand bend with clear road ahead and a slower player behind. The scene was held still while one real POST /api/rival request was made for that pictured car. The response is from Microsoft-Decision-1, not the local fallback. Request and result on the slide are condensed; displayed numbers are rounded. The HUD P3 and 230 km/h belong to the human player/camera, whereas the request's P2 and 268 km/h belong to Lyra (#22).</a:t>
            </a:r>
          </a:p>
          <a:p>
            <a:r>
              <a:t>The editable yellow overlay was added only in PowerPoint. It projects the engine's target offset at sampled road positions using the game's own segment projection. It is a target line, not a model-generated polyline or a prediction of the exact vehicle trajectory. The line is interrupted where Lyra's car occludes it. The screenshot itself has no racing-line overlay in normal gameplay.</a:t>
            </a:r>
          </a:p>
          <a:p>
            <a:r>
              <a:t>Implementation: Race.driveAi sets targetOffset = clamp(track.avgCurveAhead(car.progress, 40) * 0.12, -0.55, 0.55) for racing_line. Road offsets run from -1 (left edge) to +1 (right edge), with 0 at the centre. Here average curvature is +4, so the target is +0.48. The 40 segments cover about 55.6 metres in the game's distance scale. Each 60 Hz physics step moves the car toward that target by at most (0.25 + speed / MAX_SPEED) * dt. The model chooses the maneuver, pace and nitro probability; it does not steer frame by frame or supply path coordinates.</a:t>
            </a:r>
          </a:p>
          <a:p>
            <a:r>
              <a:t>Traffic and pace: an alongside-car guard prevents steering into another car. Overtake, slipstream, defend and back_off temporarily choose different lateral targets. Pace sets topSpeed * (0.92 + 0.03 * score), then cornering, traffic, drafting and nitro modify the speed target. Rivals do not use the player's centrifugal-drift physics. The fixed-step AI controller directly adjusts their lateral offsets.</a:t>
            </a:r>
          </a:p>
          <a:p>
            <a:r>
              <a:t>Exact server-built state for this request:</a:t>
            </a:r>
          </a:p>
          <a:p>
            <a:r>
              <a:t>Arcade circuit race, 3 laps, 6 cars. Driver under review: Lyra (#22).</a:t>
            </a:r>
          </a:p>
          <a:p>
            <a:r>
              <a:t>Personality: Smooth: clean and consistent, sticks to the racing line, only overtakes when it is easy.</a:t>
            </a:r>
          </a:p>
          <a:p>
            <a:r>
              <a:t>Race situation: lap 1 of 3; running P2 of 6, 3.4 s behind the leader.</a:t>
            </a:r>
          </a:p>
          <a:p>
            <a:r>
              <a:t>Car: 268 km/h (top speed 285 km/h), in the right lane, nitro tank 72%.</a:t>
            </a:r>
          </a:p>
          <a:p>
            <a:r>
              <a:t>Track ahead: currently in a medium right-hand corner with 81 m to go, then a 47 m straight, then a gentle left-hand corner (97 m long). The road climbs.</a:t>
            </a:r>
          </a:p>
          <a:p>
            <a:r>
              <a:t>Car ahead: none within 150 m.</a:t>
            </a:r>
          </a:p>
          <a:p>
            <a:r>
              <a:t>Car behind: the human player, 24 m behind, slightly to the left, 37 km/h slower (dropping back).</a:t>
            </a:r>
          </a:p>
          <a:p>
            <a:r>
              <a:t>Typed questions: maneuver (choice: racing_line, overtake_left, overtake_right, slipstream, defend, back_off); pace (score: Conserve, Race, Push, Flat out); nitro (noul). The exact fixed instructions and criteria are built by lib/prompts.js and converted to the Foundry request shape by lib/decisions.js. No conversation history or screenshot is sent with the rival request.</a:t>
            </a:r>
          </a:p>
          <a:p>
            <a:r>
              <a:t>Captured result: model microsoft-decision-1; maneuver.choice racing_line; maneuver.probabilities.racing_line 0.9924292785227681 (99.24% on slide); maneuver.confidence 0.9909151342273217 (a different field, not the displayed choice probability). pace.score 1.4615374821905507; nitro.probability 0.09535027692543765; refusals []; latencyMs 358; inputTokens 594. Nitro is held because 0.09535 is below Lyra's 0.65 threshold even though her tank is 72%, above the 34% minimum cost.</a:t>
            </a:r>
          </a:p>
          <a:p>
            <a:r>
              <a:t>Sources: public/js/race.js (driveAi, rivalPayload), public/js/track.js (avgCurveAhead), public/js/rivals.js (cadenceMs, apply), public/js/render.js (road projection), public/js/config.js (STEP and nitro thresholds), lib/prompts.js (buildRivalRequest), lib/decisions.js (toFoundryQuestions). Live game: https://aka.ms/racing.</a:t>
            </a:r>
          </a:p>
        </p:txBody>
      </p:sp>
      <p:sp>
        <p:nvSpPr>
          <p:cNvPr id="4" name="Slide Number Placeholder"/>
          <p:cNvSpPr>
            <a:spLocks noGrp="1"/>
          </p:cNvSpPr>
          <p:nvPr>
            <p:ph type="sldNum" sz="quarter" idx="10"/>
          </p:nvPr>
        </p:nvSpPr>
        <p:spPr/>
        <p:txBody>
          <a:bodyPr/>
          <a:lstStyle/>
          <a:p>
            <a:fld id="{F81BD507-B837-4F80-9B61-285A19E1B2C3}" type="slidenum">
              <a:rPr lang="en-US"/>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rival decision. The browser posts validated telemetry to /api/rival. The server builds the state and three questions, attaches a cached Entra ID bearer token and calls the systemone endpoint. It maps the answers, adds latency and token counts, and returns maneuver, pace and nitro p; the browser steers, sets speed and gates nitro. Each rival asks again 0.65 to 1.8 s after its last answer. Measured model round trips (server to Foundry): from the Azure app, median 260 ms and p90 550 ms over 37 calls; from a dev machine, median 415 ms and p90 530 ms over 186 calls. On an error, a timeout or a 429, that rival uses a local heuristic with the same answer shape. Source: docs/images/decision-sequence.excalidraw.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everything runs. The whole game runs in the player’s browser: physics at a fixed 60 Hz step, rival driving, crashes and the roadside recovery, laps, positions and canvas rendering. The browser calls the server only when a rival, Race Control or the debrief needs a decision. The server is one Node.js process (node server.js) on a Linux App Service web app (Node 22, P0v3, always on). It serves the static files in public/ and the /api/rival, /api/steward, /api/debrief and /api/duel endpoints: they validate the telemetry, build the state and questions, and call Microsoft-Decision-1 on Foundry with the app’s system-assigned managed identity, so no key ever reaches the browser. It is not a container app: there is no container image, background worker, queue, scheduled job or database. Apart from answering requests, the server only keeps an in-memory daily call counter and logs a usage summary every 30 s. Deploying is a zip of server.js, package.json, lib and public pushed with az webapp deploy.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 app is public, so the server protects the quota: it rejects cross-origin requests and unexpected Host headers, validates and clamps every field before writing the state text, and only ever sends its own fixed questions. It caps work at 16 decisions in flight and DAILY_CALL_LIMIT calls per UTC day (default 20,000). Auth order: FOUNDRY_API_KEY, then the App Service managed identity, then the local Azure CLI login; Entra ID tokens are cached, refreshed 5 minutes before expiry, and the first one is fetched at startup. The browser gives up on a rival decision after 4 s, but the server keeps waiting up to 8 s for Foundry, so an answer that lands in between is billed and then dropped. With a p90 round trip around 0.55 s that is rare. Race Control and the debrief get longer browser timeouts (9 s and 12 s). Answers are applied per question, so one refused or invalid answer only falls back for that question.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live game: a rival decision averaged about 630 input tokens and 3 output tokens over 186 calls. Azure's retail price list has a single meter for Microsoft-Decision-1, $0.04 per million tokens. Each rival asks again 0.65 to 1.8 s after its last answer, so the call rate depends on latency: with the Azure app's 260 ms median a race makes about 240 to 250 rival calls a minute, and about 210 from a dev machine (415 ms). That is about 0.6 cents per race minute. A 3-lap race takes about 2.5 minutes in the game's own simulation, so roughly 600 calls and 1.5 cents, plus one debrief call. The 20,000-call daily cap is about 80 minutes of racing, around 30 races, for about $0.50. A DataZoneStandard deployment with capacity 500 allows 500 requests a minute: two races at once. For more, add deployments in other quota pools or request more quota.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hosted game at aka.ms/racing: it runs on Azure App Service and reaches the model with its managed identity, and the server caps model calls at 20,000 a day. To run your own: Node.js 20+ and, for AI rivals, FOUNDRY_ENDPOINT plus an Azure CLI login with access to the Foundry resource. Without it the game still runs with offline heuristics. P or Esc pauses, M mutes. Future project: turn the independent rivals into a coordinated swarm that shares tactics and adapts together.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10" Type="http://schemas.openxmlformats.org/officeDocument/2006/relationships/hyperlink" Target="https://github.com/roryp/racing" TargetMode="External"/><Relationship Id="rId4" Type="http://schemas.openxmlformats.org/officeDocument/2006/relationships/hyperlink" Target="https://aka.ms/racing" TargetMode="External"/><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71A"/>
        </a:solidFill>
        <a:effectLst/>
      </p:bgPr>
    </p:bg>
    <p:spTree>
      <p:nvGrpSpPr>
        <p:cNvPr id="1" name=""/>
        <p:cNvGrpSpPr/>
        <p:nvPr/>
      </p:nvGrpSpPr>
      <p:grpSpPr>
        <a:xfrm>
          <a:off x="0" y="0"/>
          <a:ext cx="0" cy="0"/>
          <a:chOff x="0" y="0"/>
          <a:chExt cx="0" cy="0"/>
        </a:xfrm>
      </p:grpSpPr>
      <p:pic>
        <p:nvPicPr>
          <p:cNvPr id="2" name="LUNA GP cover art" descr="LUNA GP racing beneath a full moon, with two rivals and decision probability indicators"/>
          <p:cNvPicPr>
            <a:picLocks noChangeAspect="1"/>
          </p:cNvPicPr>
          <p:nvPr/>
        </p:nvPicPr>
        <p:blipFill>
          <a:blip r:embed="rId2"/>
          <a:stretch>
            <a:fillRect/>
          </a:stretch>
        </p:blipFill>
        <p:spPr>
          <a:xfrm>
            <a:off x="715000" y="0"/>
            <a:ext cx="7714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2CACD9-0420-1A1C-0D6C-009F80A55739}"/>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2900634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Image preview">
            <a:extLst>
              <a:ext uri="{FF2B5EF4-FFF2-40B4-BE49-F238E27FC236}">
                <a16:creationId xmlns:a16="http://schemas.microsoft.com/office/drawing/2014/main" id="{1EA80197-9483-974C-A334-720D4653C3C1}"/>
              </a:ext>
            </a:extLst>
          </p:cNvPr>
          <p:cNvPicPr>
            <a:picLocks noChangeAspect="1"/>
          </p:cNvPicPr>
          <p:nvPr/>
        </p:nvPicPr>
        <p:blipFill>
          <a:blip r:embed="rId2"/>
          <a:srcRect b="19"/>
          <a:stretch>
            <a:fillRect/>
          </a:stretch>
        </p:blipFill>
        <p:spPr>
          <a:xfrm>
            <a:off x="20" y="961"/>
            <a:ext cx="9143980" cy="5142539"/>
          </a:xfrm>
          <a:prstGeom prst="rect">
            <a:avLst/>
          </a:prstGeom>
        </p:spPr>
      </p:pic>
    </p:spTree>
    <p:extLst>
      <p:ext uri="{BB962C8B-B14F-4D97-AF65-F5344CB8AC3E}">
        <p14:creationId xmlns:p14="http://schemas.microsoft.com/office/powerpoint/2010/main" val="1180468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ellipse">
            <a:avLst/>
          </a:prstGeom>
          <a:solidFill>
            <a:srgbClr val="FFD166"/>
          </a:solidFill>
          <a:ln/>
        </p:spPr>
        <p:txBody>
          <a:bodyPr/>
          <a:lstStyle/>
          <a:p>
            <a:endParaRPr lang="en-ZA"/>
          </a:p>
        </p:txBody>
      </p:sp>
      <p:sp>
        <p:nvSpPr>
          <p:cNvPr id="3" name="Text 1"/>
          <p:cNvSpPr/>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THE IDEA</a:t>
            </a:r>
            <a:endParaRPr lang="en-US" sz="1100" dirty="0"/>
          </a:p>
        </p:txBody>
      </p:sp>
      <p:sp>
        <p:nvSpPr>
          <p:cNvPr id="4" name="Text 2"/>
          <p:cNvSpPr/>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02 / 14</a:t>
            </a:r>
            <a:endParaRPr lang="en-US" sz="1100" dirty="0"/>
          </a:p>
        </p:txBody>
      </p:sp>
      <p:sp>
        <p:nvSpPr>
          <p:cNvPr id="5" name="Text 3"/>
          <p:cNvSpPr/>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You drive. The model decides.</a:t>
            </a:r>
            <a:endParaRPr lang="en-US" sz="3400" dirty="0"/>
          </a:p>
        </p:txBody>
      </p:sp>
      <p:sp>
        <p:nvSpPr>
          <p:cNvPr id="6" name="Text 4"/>
          <p:cNvSpPr/>
          <p:nvPr/>
        </p:nvSpPr>
        <p:spPr>
          <a:xfrm>
            <a:off x="548640" y="1325880"/>
            <a:ext cx="8046720" cy="320040"/>
          </a:xfrm>
          <a:prstGeom prst="rect">
            <a:avLst/>
          </a:prstGeom>
          <a:noFill/>
          <a:ln/>
        </p:spPr>
        <p:txBody>
          <a:bodyPr wrap="square" lIns="0" tIns="0" rIns="0" bIns="0" rtlCol="0" anchor="ctr"/>
          <a:lstStyle/>
          <a:p>
            <a:pPr marL="0" indent="0">
              <a:buNone/>
            </a:pPr>
            <a:r>
              <a:rPr lang="en-US" sz="1400" dirty="0">
                <a:solidFill>
                  <a:srgbClr val="ABA6C8"/>
                </a:solidFill>
                <a:latin typeface="Segoe UI" pitchFamily="34" charset="0"/>
                <a:ea typeface="Segoe UI" pitchFamily="34" charset="-122"/>
                <a:cs typeface="Segoe UI" pitchFamily="34" charset="-120"/>
              </a:rPr>
              <a:t>The model never moves a car. It answers typed questions; game code acts on the answers.</a:t>
            </a:r>
            <a:endParaRPr lang="en-US" sz="1400" dirty="0"/>
          </a:p>
        </p:txBody>
      </p:sp>
      <p:pic>
        <p:nvPicPr>
          <p:cNvPr id="7" name="Image 0" descr="LUNA GP race start: rival cars with live decision tags (Vega overtake left, Orion defend, Lyra racing line, Nova overtake right), nitro firing, the player's car in front"/>
          <p:cNvPicPr>
            <a:picLocks noChangeAspect="1"/>
          </p:cNvPicPr>
          <p:nvPr/>
        </p:nvPicPr>
        <p:blipFill>
          <a:blip r:embed="rId3"/>
          <a:stretch>
            <a:fillRect/>
          </a:stretch>
        </p:blipFill>
        <p:spPr>
          <a:xfrm>
            <a:off x="3881120" y="1874520"/>
            <a:ext cx="4714240" cy="2651760"/>
          </a:xfrm>
          <a:prstGeom prst="rect">
            <a:avLst/>
          </a:prstGeom>
        </p:spPr>
      </p:pic>
      <p:sp>
        <p:nvSpPr>
          <p:cNvPr id="8" name="Shape 5"/>
          <p:cNvSpPr/>
          <p:nvPr/>
        </p:nvSpPr>
        <p:spPr>
          <a:xfrm>
            <a:off x="548640" y="1984248"/>
            <a:ext cx="512064" cy="512064"/>
          </a:xfrm>
          <a:prstGeom prst="ellipse">
            <a:avLst/>
          </a:prstGeom>
          <a:solidFill>
            <a:srgbClr val="231E5A"/>
          </a:solidFill>
          <a:ln/>
        </p:spPr>
        <p:txBody>
          <a:bodyPr/>
          <a:lstStyle/>
          <a:p>
            <a:endParaRPr lang="en-ZA"/>
          </a:p>
        </p:txBody>
      </p:sp>
      <p:pic>
        <p:nvPicPr>
          <p:cNvPr id="9" name="Image 1" descr="Steering wheel icon"/>
          <p:cNvPicPr>
            <a:picLocks noChangeAspect="1"/>
          </p:cNvPicPr>
          <p:nvPr/>
        </p:nvPicPr>
        <p:blipFill>
          <a:blip r:embed="rId4"/>
          <a:stretch>
            <a:fillRect/>
          </a:stretch>
        </p:blipFill>
        <p:spPr>
          <a:xfrm>
            <a:off x="667512" y="2103120"/>
            <a:ext cx="274320" cy="274320"/>
          </a:xfrm>
          <a:prstGeom prst="rect">
            <a:avLst/>
          </a:prstGeom>
        </p:spPr>
      </p:pic>
      <p:sp>
        <p:nvSpPr>
          <p:cNvPr id="10" name="Text 6"/>
          <p:cNvSpPr/>
          <p:nvPr/>
        </p:nvSpPr>
        <p:spPr>
          <a:xfrm>
            <a:off x="1243584" y="1874520"/>
            <a:ext cx="2363216" cy="310896"/>
          </a:xfrm>
          <a:prstGeom prst="rect">
            <a:avLst/>
          </a:prstGeom>
          <a:noFill/>
          <a:ln/>
        </p:spPr>
        <p:txBody>
          <a:bodyPr wrap="square" lIns="0" tIns="0" rIns="0" bIns="0" rtlCol="0" anchor="ctr"/>
          <a:lstStyle/>
          <a:p>
            <a:pPr marL="0" indent="0">
              <a:buNone/>
            </a:pPr>
            <a:r>
              <a:rPr lang="en-US" sz="1600" dirty="0">
                <a:solidFill>
                  <a:srgbClr val="ECE9F8"/>
                </a:solidFill>
                <a:latin typeface="Segoe UI Black" pitchFamily="34" charset="0"/>
                <a:ea typeface="Segoe UI Black" pitchFamily="34" charset="-122"/>
                <a:cs typeface="Segoe UI Black" pitchFamily="34" charset="-120"/>
              </a:rPr>
              <a:t>You</a:t>
            </a:r>
            <a:endParaRPr lang="en-US" sz="1600" dirty="0"/>
          </a:p>
        </p:txBody>
      </p:sp>
      <p:sp>
        <p:nvSpPr>
          <p:cNvPr id="11" name="Text 7"/>
          <p:cNvSpPr/>
          <p:nvPr/>
        </p:nvSpPr>
        <p:spPr>
          <a:xfrm>
            <a:off x="1243584" y="2221992"/>
            <a:ext cx="2363216" cy="384048"/>
          </a:xfrm>
          <a:prstGeom prst="rect">
            <a:avLst/>
          </a:prstGeom>
          <a:noFill/>
          <a:ln/>
        </p:spPr>
        <p:txBody>
          <a:bodyPr wrap="square" lIns="0" tIns="0" rIns="0" bIns="0" rtlCol="0" anchor="t"/>
          <a:lstStyle/>
          <a:p>
            <a:pPr marL="0" indent="0">
              <a:buNone/>
            </a:pPr>
            <a:r>
              <a:rPr lang="en-US" sz="1200" dirty="0">
                <a:solidFill>
                  <a:srgbClr val="ABA6C8"/>
                </a:solidFill>
                <a:latin typeface="Segoe UI" pitchFamily="34" charset="0"/>
                <a:ea typeface="Segoe UI" pitchFamily="34" charset="-122"/>
                <a:cs typeface="Segoe UI" pitchFamily="34" charset="-120"/>
              </a:rPr>
              <a:t>Steer, brake and fire nitro,</a:t>
            </a:r>
            <a:endParaRPr lang="en-US" sz="1200" dirty="0"/>
          </a:p>
          <a:p>
            <a:pPr marL="0" indent="0">
              <a:buNone/>
            </a:pPr>
            <a:r>
              <a:rPr lang="en-US" sz="1200" dirty="0">
                <a:solidFill>
                  <a:srgbClr val="ABA6C8"/>
                </a:solidFill>
                <a:latin typeface="Segoe UI" pitchFamily="34" charset="0"/>
                <a:ea typeface="Segoe UI" pitchFamily="34" charset="-122"/>
                <a:cs typeface="Segoe UI" pitchFamily="34" charset="-120"/>
              </a:rPr>
              <a:t>on keyboard or touch.</a:t>
            </a:r>
            <a:endParaRPr lang="en-US" sz="1200" dirty="0"/>
          </a:p>
        </p:txBody>
      </p:sp>
      <p:sp>
        <p:nvSpPr>
          <p:cNvPr id="12" name="Shape 8"/>
          <p:cNvSpPr/>
          <p:nvPr/>
        </p:nvSpPr>
        <p:spPr>
          <a:xfrm>
            <a:off x="548640" y="2944368"/>
            <a:ext cx="512064" cy="512064"/>
          </a:xfrm>
          <a:prstGeom prst="ellipse">
            <a:avLst/>
          </a:prstGeom>
          <a:solidFill>
            <a:srgbClr val="231E5A"/>
          </a:solidFill>
          <a:ln/>
        </p:spPr>
        <p:txBody>
          <a:bodyPr/>
          <a:lstStyle/>
          <a:p>
            <a:endParaRPr lang="en-ZA"/>
          </a:p>
        </p:txBody>
      </p:sp>
      <p:pic>
        <p:nvPicPr>
          <p:cNvPr id="13" name="Image 2" descr="Gauge icon"/>
          <p:cNvPicPr>
            <a:picLocks noChangeAspect="1"/>
          </p:cNvPicPr>
          <p:nvPr/>
        </p:nvPicPr>
        <p:blipFill>
          <a:blip r:embed="rId5"/>
          <a:stretch>
            <a:fillRect/>
          </a:stretch>
        </p:blipFill>
        <p:spPr>
          <a:xfrm>
            <a:off x="667512" y="3063240"/>
            <a:ext cx="274320" cy="274320"/>
          </a:xfrm>
          <a:prstGeom prst="rect">
            <a:avLst/>
          </a:prstGeom>
        </p:spPr>
      </p:pic>
      <p:sp>
        <p:nvSpPr>
          <p:cNvPr id="14" name="Text 9"/>
          <p:cNvSpPr/>
          <p:nvPr/>
        </p:nvSpPr>
        <p:spPr>
          <a:xfrm>
            <a:off x="1243584" y="2834640"/>
            <a:ext cx="2363216" cy="310896"/>
          </a:xfrm>
          <a:prstGeom prst="rect">
            <a:avLst/>
          </a:prstGeom>
          <a:noFill/>
          <a:ln/>
        </p:spPr>
        <p:txBody>
          <a:bodyPr wrap="square" lIns="0" tIns="0" rIns="0" bIns="0" rtlCol="0" anchor="ctr"/>
          <a:lstStyle/>
          <a:p>
            <a:pPr marL="0" indent="0">
              <a:buNone/>
            </a:pPr>
            <a:r>
              <a:rPr lang="en-US" sz="1600" dirty="0">
                <a:solidFill>
                  <a:srgbClr val="ECE9F8"/>
                </a:solidFill>
                <a:latin typeface="Segoe UI Black" pitchFamily="34" charset="0"/>
                <a:ea typeface="Segoe UI Black" pitchFamily="34" charset="-122"/>
                <a:cs typeface="Segoe UI Black" pitchFamily="34" charset="-120"/>
              </a:rPr>
              <a:t>The engine</a:t>
            </a:r>
            <a:endParaRPr lang="en-US" sz="1600" dirty="0"/>
          </a:p>
        </p:txBody>
      </p:sp>
      <p:sp>
        <p:nvSpPr>
          <p:cNvPr id="15" name="Text 10"/>
          <p:cNvSpPr/>
          <p:nvPr/>
        </p:nvSpPr>
        <p:spPr>
          <a:xfrm>
            <a:off x="1243584" y="3182112"/>
            <a:ext cx="2363216" cy="384048"/>
          </a:xfrm>
          <a:prstGeom prst="rect">
            <a:avLst/>
          </a:prstGeom>
          <a:noFill/>
          <a:ln/>
        </p:spPr>
        <p:txBody>
          <a:bodyPr wrap="square" lIns="0" tIns="0" rIns="0" bIns="0" rtlCol="0" anchor="t"/>
          <a:lstStyle/>
          <a:p>
            <a:pPr marL="0" indent="0">
              <a:buNone/>
            </a:pPr>
            <a:r>
              <a:rPr lang="en-US" sz="1200" dirty="0">
                <a:solidFill>
                  <a:srgbClr val="ABA6C8"/>
                </a:solidFill>
                <a:latin typeface="Segoe UI" pitchFamily="34" charset="0"/>
                <a:ea typeface="Segoe UI" pitchFamily="34" charset="-122"/>
                <a:cs typeface="Segoe UI" pitchFamily="34" charset="-120"/>
              </a:rPr>
              <a:t>Draws the pseudo-3D road</a:t>
            </a:r>
            <a:endParaRPr lang="en-US" sz="1200" dirty="0"/>
          </a:p>
          <a:p>
            <a:pPr marL="0" indent="0">
              <a:buNone/>
            </a:pPr>
            <a:r>
              <a:rPr lang="en-US" sz="1200" dirty="0">
                <a:solidFill>
                  <a:srgbClr val="ABA6C8"/>
                </a:solidFill>
                <a:latin typeface="Segoe UI" pitchFamily="34" charset="0"/>
                <a:ea typeface="Segoe UI" pitchFamily="34" charset="-122"/>
                <a:cs typeface="Segoe UI" pitchFamily="34" charset="-120"/>
              </a:rPr>
              <a:t>and runs the physics.</a:t>
            </a:r>
            <a:endParaRPr lang="en-US" sz="1200" dirty="0"/>
          </a:p>
        </p:txBody>
      </p:sp>
      <p:sp>
        <p:nvSpPr>
          <p:cNvPr id="16" name="Shape 11"/>
          <p:cNvSpPr/>
          <p:nvPr/>
        </p:nvSpPr>
        <p:spPr>
          <a:xfrm>
            <a:off x="548640" y="3904488"/>
            <a:ext cx="512064" cy="512064"/>
          </a:xfrm>
          <a:prstGeom prst="ellipse">
            <a:avLst/>
          </a:prstGeom>
          <a:solidFill>
            <a:srgbClr val="231E5A"/>
          </a:solidFill>
          <a:ln/>
        </p:spPr>
        <p:txBody>
          <a:bodyPr/>
          <a:lstStyle/>
          <a:p>
            <a:endParaRPr lang="en-ZA"/>
          </a:p>
        </p:txBody>
      </p:sp>
      <p:pic>
        <p:nvPicPr>
          <p:cNvPr id="17" name="Image 3" descr="Brain circuit icon"/>
          <p:cNvPicPr>
            <a:picLocks noChangeAspect="1"/>
          </p:cNvPicPr>
          <p:nvPr/>
        </p:nvPicPr>
        <p:blipFill>
          <a:blip r:embed="rId6"/>
          <a:stretch>
            <a:fillRect/>
          </a:stretch>
        </p:blipFill>
        <p:spPr>
          <a:xfrm>
            <a:off x="667512" y="4023360"/>
            <a:ext cx="274320" cy="274320"/>
          </a:xfrm>
          <a:prstGeom prst="rect">
            <a:avLst/>
          </a:prstGeom>
        </p:spPr>
      </p:pic>
      <p:sp>
        <p:nvSpPr>
          <p:cNvPr id="18" name="Text 12"/>
          <p:cNvSpPr/>
          <p:nvPr/>
        </p:nvSpPr>
        <p:spPr>
          <a:xfrm>
            <a:off x="1243584" y="3794760"/>
            <a:ext cx="2363216" cy="310896"/>
          </a:xfrm>
          <a:prstGeom prst="rect">
            <a:avLst/>
          </a:prstGeom>
          <a:noFill/>
          <a:ln/>
        </p:spPr>
        <p:txBody>
          <a:bodyPr wrap="square" lIns="0" tIns="0" rIns="0" bIns="0" rtlCol="0" anchor="ctr"/>
          <a:lstStyle/>
          <a:p>
            <a:pPr marL="0" indent="0">
              <a:buNone/>
            </a:pPr>
            <a:r>
              <a:rPr lang="en-US" sz="1600" dirty="0">
                <a:solidFill>
                  <a:srgbClr val="ECE9F8"/>
                </a:solidFill>
                <a:latin typeface="Segoe UI Black" pitchFamily="34" charset="0"/>
                <a:ea typeface="Segoe UI Black" pitchFamily="34" charset="-122"/>
                <a:cs typeface="Segoe UI Black" pitchFamily="34" charset="-120"/>
              </a:rPr>
              <a:t>The model</a:t>
            </a:r>
            <a:endParaRPr lang="en-US" sz="1600" dirty="0"/>
          </a:p>
        </p:txBody>
      </p:sp>
      <p:sp>
        <p:nvSpPr>
          <p:cNvPr id="19" name="Text 13"/>
          <p:cNvSpPr/>
          <p:nvPr/>
        </p:nvSpPr>
        <p:spPr>
          <a:xfrm>
            <a:off x="1243584" y="4142232"/>
            <a:ext cx="2363216" cy="384048"/>
          </a:xfrm>
          <a:prstGeom prst="rect">
            <a:avLst/>
          </a:prstGeom>
          <a:noFill/>
          <a:ln/>
        </p:spPr>
        <p:txBody>
          <a:bodyPr wrap="square" lIns="0" tIns="0" rIns="0" bIns="0" rtlCol="0" anchor="t"/>
          <a:lstStyle/>
          <a:p>
            <a:pPr marL="0" indent="0">
              <a:buNone/>
            </a:pPr>
            <a:r>
              <a:rPr lang="en-US" sz="1200" dirty="0">
                <a:solidFill>
                  <a:srgbClr val="ABA6C8"/>
                </a:solidFill>
                <a:latin typeface="Segoe UI" pitchFamily="34" charset="0"/>
                <a:ea typeface="Segoe UI" pitchFamily="34" charset="-122"/>
                <a:cs typeface="Segoe UI" pitchFamily="34" charset="-120"/>
              </a:rPr>
              <a:t>Picks each rival's move;</a:t>
            </a:r>
            <a:endParaRPr lang="en-US" sz="1200" dirty="0"/>
          </a:p>
          <a:p>
            <a:pPr marL="0" indent="0">
              <a:buNone/>
            </a:pPr>
            <a:r>
              <a:rPr lang="en-US" sz="1200" dirty="0">
                <a:solidFill>
                  <a:srgbClr val="ABA6C8"/>
                </a:solidFill>
                <a:latin typeface="Segoe UI" pitchFamily="34" charset="0"/>
                <a:ea typeface="Segoe UI" pitchFamily="34" charset="-122"/>
                <a:cs typeface="Segoe UI" pitchFamily="34" charset="-120"/>
              </a:rPr>
              <a:t>the tags show it live.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ellipse">
            <a:avLst/>
          </a:prstGeom>
          <a:solidFill>
            <a:srgbClr val="FFD166"/>
          </a:solidFill>
          <a:ln/>
        </p:spPr>
        <p:txBody>
          <a:bodyPr/>
          <a:lstStyle/>
          <a:p>
            <a:endParaRPr lang="en-ZA"/>
          </a:p>
        </p:txBody>
      </p:sp>
      <p:sp>
        <p:nvSpPr>
          <p:cNvPr id="3" name="Text 1"/>
          <p:cNvSpPr/>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THE MODEL</a:t>
            </a:r>
            <a:endParaRPr lang="en-US" sz="1100" dirty="0"/>
          </a:p>
        </p:txBody>
      </p:sp>
      <p:sp>
        <p:nvSpPr>
          <p:cNvPr id="4" name="Text 2"/>
          <p:cNvSpPr/>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03 / 14</a:t>
            </a:r>
            <a:endParaRPr lang="en-US" sz="1100" dirty="0"/>
          </a:p>
        </p:txBody>
      </p:sp>
      <p:sp>
        <p:nvSpPr>
          <p:cNvPr id="5" name="Text 3"/>
          <p:cNvSpPr/>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A decision model, not a chatbot</a:t>
            </a:r>
            <a:endParaRPr lang="en-US" sz="3400" dirty="0"/>
          </a:p>
        </p:txBody>
      </p:sp>
      <p:sp>
        <p:nvSpPr>
          <p:cNvPr id="6" name="Text 4"/>
          <p:cNvSpPr/>
          <p:nvPr/>
        </p:nvSpPr>
        <p:spPr>
          <a:xfrm>
            <a:off x="548640" y="1691640"/>
            <a:ext cx="8046720" cy="685800"/>
          </a:xfrm>
          <a:prstGeom prst="rect">
            <a:avLst/>
          </a:prstGeom>
          <a:noFill/>
          <a:ln/>
        </p:spPr>
        <p:txBody>
          <a:bodyPr wrap="square" lIns="0" tIns="0" rIns="0" bIns="0" rtlCol="0" anchor="t"/>
          <a:lstStyle/>
          <a:p>
            <a:pPr marL="0" indent="0">
              <a:buNone/>
            </a:pPr>
            <a:r>
              <a:rPr lang="en-US" sz="1800" dirty="0">
                <a:solidFill>
                  <a:srgbClr val="ECE9F8"/>
                </a:solidFill>
                <a:latin typeface="Segoe UI" pitchFamily="34" charset="0"/>
                <a:ea typeface="Segoe UI" pitchFamily="34" charset="-122"/>
                <a:cs typeface="Segoe UI" pitchFamily="34" charset="-120"/>
              </a:rPr>
              <a:t>Give it a situation and closed questions; it returns a </a:t>
            </a:r>
            <a:r>
              <a:rPr lang="en-US" sz="1800" b="1" dirty="0">
                <a:solidFill>
                  <a:srgbClr val="FFD166"/>
                </a:solidFill>
                <a:latin typeface="Segoe UI" pitchFamily="34" charset="0"/>
                <a:ea typeface="Segoe UI" pitchFamily="34" charset="-122"/>
                <a:cs typeface="Segoe UI" pitchFamily="34" charset="-120"/>
              </a:rPr>
              <a:t>calibrated probability</a:t>
            </a:r>
            <a:r>
              <a:rPr lang="en-US" sz="1800" dirty="0">
                <a:solidFill>
                  <a:srgbClr val="ECE9F8"/>
                </a:solidFill>
                <a:latin typeface="Segoe UI" pitchFamily="34" charset="0"/>
                <a:ea typeface="Segoe UI" pitchFamily="34" charset="-122"/>
                <a:cs typeface="Segoe UI" pitchFamily="34" charset="-120"/>
              </a:rPr>
              <a:t> for every answer option. No prose, no rationale.</a:t>
            </a:r>
            <a:endParaRPr lang="en-US" sz="1800" dirty="0"/>
          </a:p>
        </p:txBody>
      </p:sp>
      <p:sp>
        <p:nvSpPr>
          <p:cNvPr id="7" name="Shape 5"/>
          <p:cNvSpPr/>
          <p:nvPr/>
        </p:nvSpPr>
        <p:spPr>
          <a:xfrm>
            <a:off x="548640" y="2651760"/>
            <a:ext cx="2499360" cy="800100"/>
          </a:xfrm>
          <a:prstGeom prst="roundRect">
            <a:avLst>
              <a:gd name="adj" fmla="val 9143"/>
            </a:avLst>
          </a:prstGeom>
          <a:solidFill>
            <a:srgbClr val="110F2B"/>
          </a:solidFill>
          <a:ln/>
        </p:spPr>
        <p:txBody>
          <a:bodyPr/>
          <a:lstStyle/>
          <a:p>
            <a:endParaRPr lang="en-ZA"/>
          </a:p>
        </p:txBody>
      </p:sp>
      <p:sp>
        <p:nvSpPr>
          <p:cNvPr id="8" name="Text 6"/>
          <p:cNvSpPr/>
          <p:nvPr/>
        </p:nvSpPr>
        <p:spPr>
          <a:xfrm>
            <a:off x="777240" y="2798064"/>
            <a:ext cx="204216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BASE MODEL</a:t>
            </a:r>
            <a:endParaRPr lang="en-US" sz="1050" dirty="0"/>
          </a:p>
        </p:txBody>
      </p:sp>
      <p:sp>
        <p:nvSpPr>
          <p:cNvPr id="9" name="Text 7"/>
          <p:cNvSpPr/>
          <p:nvPr/>
        </p:nvSpPr>
        <p:spPr>
          <a:xfrm>
            <a:off x="777240" y="3072384"/>
            <a:ext cx="2087880" cy="274320"/>
          </a:xfrm>
          <a:prstGeom prst="rect">
            <a:avLst/>
          </a:prstGeom>
          <a:noFill/>
          <a:ln/>
        </p:spPr>
        <p:txBody>
          <a:bodyPr wrap="square" lIns="0" tIns="0" rIns="0" bIns="0" rtlCol="0" anchor="ctr"/>
          <a:lstStyle/>
          <a:p>
            <a:pPr marL="0" indent="0">
              <a:buNone/>
            </a:pPr>
            <a:r>
              <a:rPr lang="en-US" sz="1300" dirty="0">
                <a:solidFill>
                  <a:srgbClr val="ECE9F8"/>
                </a:solidFill>
                <a:latin typeface="Segoe UI" pitchFamily="34" charset="0"/>
                <a:ea typeface="Segoe UI" pitchFamily="34" charset="-122"/>
                <a:cs typeface="Segoe UI" pitchFamily="34" charset="-120"/>
              </a:rPr>
              <a:t>Qwen3.5-9B, post-trained</a:t>
            </a:r>
            <a:endParaRPr lang="en-US" sz="1300" dirty="0"/>
          </a:p>
        </p:txBody>
      </p:sp>
      <p:sp>
        <p:nvSpPr>
          <p:cNvPr id="10" name="Shape 8"/>
          <p:cNvSpPr/>
          <p:nvPr/>
        </p:nvSpPr>
        <p:spPr>
          <a:xfrm>
            <a:off x="3322320" y="2651760"/>
            <a:ext cx="2499360" cy="800100"/>
          </a:xfrm>
          <a:prstGeom prst="roundRect">
            <a:avLst>
              <a:gd name="adj" fmla="val 9143"/>
            </a:avLst>
          </a:prstGeom>
          <a:solidFill>
            <a:srgbClr val="110F2B"/>
          </a:solidFill>
          <a:ln/>
        </p:spPr>
        <p:txBody>
          <a:bodyPr/>
          <a:lstStyle/>
          <a:p>
            <a:endParaRPr lang="en-ZA"/>
          </a:p>
        </p:txBody>
      </p:sp>
      <p:sp>
        <p:nvSpPr>
          <p:cNvPr id="11" name="Text 9"/>
          <p:cNvSpPr/>
          <p:nvPr/>
        </p:nvSpPr>
        <p:spPr>
          <a:xfrm>
            <a:off x="3550920" y="2798064"/>
            <a:ext cx="204216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INPUT · TEXT OR JSON</a:t>
            </a:r>
            <a:endParaRPr lang="en-US" sz="1050" dirty="0"/>
          </a:p>
        </p:txBody>
      </p:sp>
      <p:sp>
        <p:nvSpPr>
          <p:cNvPr id="12" name="Text 10"/>
          <p:cNvSpPr/>
          <p:nvPr/>
        </p:nvSpPr>
        <p:spPr>
          <a:xfrm>
            <a:off x="3550920" y="3072384"/>
            <a:ext cx="2087880" cy="274320"/>
          </a:xfrm>
          <a:prstGeom prst="rect">
            <a:avLst/>
          </a:prstGeom>
          <a:noFill/>
          <a:ln/>
        </p:spPr>
        <p:txBody>
          <a:bodyPr wrap="square" lIns="0" tIns="0" rIns="0" bIns="0" rtlCol="0" anchor="ctr"/>
          <a:lstStyle/>
          <a:p>
            <a:pPr marL="0" indent="0">
              <a:buNone/>
            </a:pPr>
            <a:r>
              <a:rPr lang="en-US" sz="1300" dirty="0">
                <a:solidFill>
                  <a:srgbClr val="ECE9F8"/>
                </a:solidFill>
                <a:latin typeface="Segoe UI" pitchFamily="34" charset="0"/>
                <a:ea typeface="Segoe UI" pitchFamily="34" charset="-122"/>
                <a:cs typeface="Segoe UI" pitchFamily="34" charset="-120"/>
              </a:rPr>
              <a:t>Up to 32K tokens</a:t>
            </a:r>
            <a:endParaRPr lang="en-US" sz="1300" dirty="0"/>
          </a:p>
        </p:txBody>
      </p:sp>
      <p:sp>
        <p:nvSpPr>
          <p:cNvPr id="13" name="Shape 11"/>
          <p:cNvSpPr/>
          <p:nvPr/>
        </p:nvSpPr>
        <p:spPr>
          <a:xfrm>
            <a:off x="6096000" y="2651760"/>
            <a:ext cx="2499360" cy="800100"/>
          </a:xfrm>
          <a:prstGeom prst="roundRect">
            <a:avLst>
              <a:gd name="adj" fmla="val 9143"/>
            </a:avLst>
          </a:prstGeom>
          <a:solidFill>
            <a:srgbClr val="110F2B"/>
          </a:solidFill>
          <a:ln/>
        </p:spPr>
        <p:txBody>
          <a:bodyPr/>
          <a:lstStyle/>
          <a:p>
            <a:endParaRPr lang="en-ZA"/>
          </a:p>
        </p:txBody>
      </p:sp>
      <p:sp>
        <p:nvSpPr>
          <p:cNvPr id="14" name="Text 12"/>
          <p:cNvSpPr/>
          <p:nvPr/>
        </p:nvSpPr>
        <p:spPr>
          <a:xfrm>
            <a:off x="6324600" y="2798064"/>
            <a:ext cx="204216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OUTPUT</a:t>
            </a:r>
            <a:endParaRPr lang="en-US" sz="1050" dirty="0"/>
          </a:p>
        </p:txBody>
      </p:sp>
      <p:sp>
        <p:nvSpPr>
          <p:cNvPr id="15" name="Text 13"/>
          <p:cNvSpPr/>
          <p:nvPr/>
        </p:nvSpPr>
        <p:spPr>
          <a:xfrm>
            <a:off x="6324600" y="3072384"/>
            <a:ext cx="2087880" cy="274320"/>
          </a:xfrm>
          <a:prstGeom prst="rect">
            <a:avLst/>
          </a:prstGeom>
          <a:noFill/>
          <a:ln/>
        </p:spPr>
        <p:txBody>
          <a:bodyPr wrap="square" lIns="0" tIns="0" rIns="0" bIns="0" rtlCol="0" anchor="ctr"/>
          <a:lstStyle/>
          <a:p>
            <a:pPr marL="0" indent="0">
              <a:buNone/>
            </a:pPr>
            <a:r>
              <a:rPr lang="en-US" sz="1300" dirty="0">
                <a:solidFill>
                  <a:srgbClr val="ECE9F8"/>
                </a:solidFill>
                <a:latin typeface="Segoe UI" pitchFamily="34" charset="0"/>
                <a:ea typeface="Segoe UI" pitchFamily="34" charset="-122"/>
                <a:cs typeface="Segoe UI" pitchFamily="34" charset="-120"/>
              </a:rPr>
              <a:t>3 tokens per rival call</a:t>
            </a:r>
            <a:endParaRPr lang="en-US" sz="1300" dirty="0"/>
          </a:p>
        </p:txBody>
      </p:sp>
      <p:sp>
        <p:nvSpPr>
          <p:cNvPr id="16" name="Shape 14"/>
          <p:cNvSpPr/>
          <p:nvPr/>
        </p:nvSpPr>
        <p:spPr>
          <a:xfrm>
            <a:off x="548640" y="3726180"/>
            <a:ext cx="2499360" cy="800100"/>
          </a:xfrm>
          <a:prstGeom prst="roundRect">
            <a:avLst>
              <a:gd name="adj" fmla="val 9143"/>
            </a:avLst>
          </a:prstGeom>
          <a:solidFill>
            <a:srgbClr val="110F2B"/>
          </a:solidFill>
          <a:ln/>
        </p:spPr>
        <p:txBody>
          <a:bodyPr/>
          <a:lstStyle/>
          <a:p>
            <a:endParaRPr lang="en-ZA"/>
          </a:p>
        </p:txBody>
      </p:sp>
      <p:sp>
        <p:nvSpPr>
          <p:cNvPr id="17" name="Text 15"/>
          <p:cNvSpPr/>
          <p:nvPr/>
        </p:nvSpPr>
        <p:spPr>
          <a:xfrm>
            <a:off x="777240" y="3872484"/>
            <a:ext cx="204216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QUESTION TYPES</a:t>
            </a:r>
            <a:endParaRPr lang="en-US" sz="1050" dirty="0"/>
          </a:p>
        </p:txBody>
      </p:sp>
      <p:sp>
        <p:nvSpPr>
          <p:cNvPr id="18" name="Text 16"/>
          <p:cNvSpPr/>
          <p:nvPr/>
        </p:nvSpPr>
        <p:spPr>
          <a:xfrm>
            <a:off x="777240" y="4146804"/>
            <a:ext cx="2087880" cy="274320"/>
          </a:xfrm>
          <a:prstGeom prst="rect">
            <a:avLst/>
          </a:prstGeom>
          <a:noFill/>
          <a:ln/>
        </p:spPr>
        <p:txBody>
          <a:bodyPr wrap="square" lIns="0" tIns="0" rIns="0" bIns="0" rtlCol="0" anchor="ctr"/>
          <a:lstStyle/>
          <a:p>
            <a:pPr marL="0" indent="0">
              <a:buNone/>
            </a:pPr>
            <a:r>
              <a:rPr lang="en-US" sz="1200" dirty="0">
                <a:solidFill>
                  <a:srgbClr val="FFD166"/>
                </a:solidFill>
                <a:latin typeface="Consolas" pitchFamily="34" charset="0"/>
                <a:ea typeface="Consolas" pitchFamily="34" charset="-122"/>
                <a:cs typeface="Consolas" pitchFamily="34" charset="-120"/>
              </a:rPr>
              <a:t>noul</a:t>
            </a:r>
            <a:r>
              <a:rPr lang="en-US" sz="1200" dirty="0">
                <a:solidFill>
                  <a:srgbClr val="ABA6C8"/>
                </a:solidFill>
                <a:latin typeface="Consolas" pitchFamily="34" charset="0"/>
                <a:ea typeface="Consolas" pitchFamily="34" charset="-122"/>
                <a:cs typeface="Consolas" pitchFamily="34" charset="-120"/>
              </a:rPr>
              <a:t> · </a:t>
            </a:r>
            <a:r>
              <a:rPr lang="en-US" sz="1200" dirty="0">
                <a:solidFill>
                  <a:srgbClr val="FFD166"/>
                </a:solidFill>
                <a:latin typeface="Consolas" pitchFamily="34" charset="0"/>
                <a:ea typeface="Consolas" pitchFamily="34" charset="-122"/>
                <a:cs typeface="Consolas" pitchFamily="34" charset="-120"/>
              </a:rPr>
              <a:t>choice</a:t>
            </a:r>
            <a:r>
              <a:rPr lang="en-US" sz="1200" dirty="0">
                <a:solidFill>
                  <a:srgbClr val="ABA6C8"/>
                </a:solidFill>
                <a:latin typeface="Consolas" pitchFamily="34" charset="0"/>
                <a:ea typeface="Consolas" pitchFamily="34" charset="-122"/>
                <a:cs typeface="Consolas" pitchFamily="34" charset="-120"/>
              </a:rPr>
              <a:t> · </a:t>
            </a:r>
            <a:r>
              <a:rPr lang="en-US" sz="1200" dirty="0">
                <a:solidFill>
                  <a:srgbClr val="FFD166"/>
                </a:solidFill>
                <a:latin typeface="Consolas" pitchFamily="34" charset="0"/>
                <a:ea typeface="Consolas" pitchFamily="34" charset="-122"/>
                <a:cs typeface="Consolas" pitchFamily="34" charset="-120"/>
              </a:rPr>
              <a:t>score</a:t>
            </a:r>
            <a:endParaRPr lang="en-US" sz="1200" dirty="0"/>
          </a:p>
        </p:txBody>
      </p:sp>
      <p:sp>
        <p:nvSpPr>
          <p:cNvPr id="19" name="Shape 17"/>
          <p:cNvSpPr/>
          <p:nvPr/>
        </p:nvSpPr>
        <p:spPr>
          <a:xfrm>
            <a:off x="3322320" y="3726180"/>
            <a:ext cx="5273040" cy="800100"/>
          </a:xfrm>
          <a:prstGeom prst="roundRect">
            <a:avLst>
              <a:gd name="adj" fmla="val 9143"/>
            </a:avLst>
          </a:prstGeom>
          <a:solidFill>
            <a:srgbClr val="110F2B"/>
          </a:solidFill>
          <a:ln/>
        </p:spPr>
        <p:txBody>
          <a:bodyPr/>
          <a:lstStyle/>
          <a:p>
            <a:endParaRPr lang="en-ZA"/>
          </a:p>
        </p:txBody>
      </p:sp>
      <p:sp>
        <p:nvSpPr>
          <p:cNvPr id="20" name="Text 18"/>
          <p:cNvSpPr/>
          <p:nvPr/>
        </p:nvSpPr>
        <p:spPr>
          <a:xfrm>
            <a:off x="3550920" y="3872484"/>
            <a:ext cx="481584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ENDPOINT</a:t>
            </a:r>
            <a:endParaRPr lang="en-US" sz="1050" dirty="0"/>
          </a:p>
        </p:txBody>
      </p:sp>
      <p:sp>
        <p:nvSpPr>
          <p:cNvPr id="21" name="Text 19"/>
          <p:cNvSpPr/>
          <p:nvPr/>
        </p:nvSpPr>
        <p:spPr>
          <a:xfrm>
            <a:off x="3550920" y="4146804"/>
            <a:ext cx="4861560" cy="274320"/>
          </a:xfrm>
          <a:prstGeom prst="rect">
            <a:avLst/>
          </a:prstGeom>
          <a:noFill/>
          <a:ln/>
        </p:spPr>
        <p:txBody>
          <a:bodyPr wrap="square" lIns="0" tIns="0" rIns="0" bIns="0" rtlCol="0" anchor="ctr"/>
          <a:lstStyle/>
          <a:p>
            <a:pPr marL="0" indent="0">
              <a:buNone/>
            </a:pPr>
            <a:r>
              <a:rPr lang="en-US" sz="1200" dirty="0">
                <a:solidFill>
                  <a:srgbClr val="3DD6FF"/>
                </a:solidFill>
                <a:latin typeface="Consolas" pitchFamily="34" charset="0"/>
                <a:ea typeface="Consolas" pitchFamily="34" charset="-122"/>
                <a:cs typeface="Consolas" pitchFamily="34" charset="-120"/>
              </a:rPr>
              <a:t>POST {endpoint}/providers/microsoft/v1/systemone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ellipse">
            <a:avLst/>
          </a:prstGeom>
          <a:solidFill>
            <a:srgbClr val="FFD166"/>
          </a:solidFill>
          <a:ln/>
        </p:spPr>
        <p:txBody>
          <a:bodyPr/>
          <a:lstStyle/>
          <a:p>
            <a:endParaRPr lang="en-ZA"/>
          </a:p>
        </p:txBody>
      </p:sp>
      <p:sp>
        <p:nvSpPr>
          <p:cNvPr id="3" name="Text 1"/>
          <p:cNvSpPr/>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QUESTION TYPES</a:t>
            </a:r>
            <a:endParaRPr lang="en-US" sz="1100" dirty="0"/>
          </a:p>
        </p:txBody>
      </p:sp>
      <p:sp>
        <p:nvSpPr>
          <p:cNvPr id="4" name="Text 2"/>
          <p:cNvSpPr/>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04 / 14</a:t>
            </a:r>
            <a:endParaRPr lang="en-US" sz="1100" dirty="0"/>
          </a:p>
        </p:txBody>
      </p:sp>
      <p:sp>
        <p:nvSpPr>
          <p:cNvPr id="5" name="Text 3"/>
          <p:cNvSpPr/>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Three ways to ask</a:t>
            </a:r>
            <a:endParaRPr lang="en-US" sz="3400" dirty="0"/>
          </a:p>
        </p:txBody>
      </p:sp>
      <p:sp>
        <p:nvSpPr>
          <p:cNvPr id="6" name="Text 4"/>
          <p:cNvSpPr/>
          <p:nvPr/>
        </p:nvSpPr>
        <p:spPr>
          <a:xfrm>
            <a:off x="548640" y="1325880"/>
            <a:ext cx="8046720" cy="320040"/>
          </a:xfrm>
          <a:prstGeom prst="rect">
            <a:avLst/>
          </a:prstGeom>
          <a:noFill/>
          <a:ln/>
        </p:spPr>
        <p:txBody>
          <a:bodyPr wrap="square" lIns="0" tIns="0" rIns="0" bIns="0" rtlCol="0" anchor="ctr"/>
          <a:lstStyle/>
          <a:p>
            <a:pPr marL="0" indent="0">
              <a:buNone/>
            </a:pPr>
            <a:r>
              <a:rPr lang="en-US" sz="1400" dirty="0">
                <a:solidFill>
                  <a:srgbClr val="ABA6C8"/>
                </a:solidFill>
                <a:latin typeface="Segoe UI" pitchFamily="34" charset="0"/>
                <a:ea typeface="Segoe UI" pitchFamily="34" charset="-122"/>
                <a:cs typeface="Segoe UI" pitchFamily="34" charset="-120"/>
              </a:rPr>
              <a:t>One request carries one state and any mix of typed questions; a single pass answers them all.</a:t>
            </a:r>
            <a:endParaRPr lang="en-US" sz="1400" dirty="0"/>
          </a:p>
        </p:txBody>
      </p:sp>
      <p:sp>
        <p:nvSpPr>
          <p:cNvPr id="7" name="Shape 5"/>
          <p:cNvSpPr/>
          <p:nvPr/>
        </p:nvSpPr>
        <p:spPr>
          <a:xfrm>
            <a:off x="548640" y="1874520"/>
            <a:ext cx="2499360" cy="2651760"/>
          </a:xfrm>
          <a:prstGeom prst="roundRect">
            <a:avLst>
              <a:gd name="adj" fmla="val 4390"/>
            </a:avLst>
          </a:prstGeom>
          <a:solidFill>
            <a:srgbClr val="110F2B"/>
          </a:solidFill>
          <a:ln/>
        </p:spPr>
        <p:txBody>
          <a:bodyPr/>
          <a:lstStyle/>
          <a:p>
            <a:endParaRPr lang="en-ZA"/>
          </a:p>
        </p:txBody>
      </p:sp>
      <p:sp>
        <p:nvSpPr>
          <p:cNvPr id="8" name="Text 6"/>
          <p:cNvSpPr/>
          <p:nvPr/>
        </p:nvSpPr>
        <p:spPr>
          <a:xfrm>
            <a:off x="777240" y="2075688"/>
            <a:ext cx="2042160" cy="256032"/>
          </a:xfrm>
          <a:prstGeom prst="rect">
            <a:avLst/>
          </a:prstGeom>
          <a:noFill/>
          <a:ln/>
        </p:spPr>
        <p:txBody>
          <a:bodyPr wrap="square" lIns="0" tIns="0" rIns="0" bIns="0" rtlCol="0" anchor="ctr"/>
          <a:lstStyle/>
          <a:p>
            <a:pPr marL="0" indent="0">
              <a:buNone/>
            </a:pPr>
            <a:r>
              <a:rPr lang="en-US" sz="1300" dirty="0">
                <a:solidFill>
                  <a:srgbClr val="FFD166"/>
                </a:solidFill>
                <a:latin typeface="Consolas" pitchFamily="34" charset="0"/>
                <a:ea typeface="Consolas" pitchFamily="34" charset="-122"/>
                <a:cs typeface="Consolas" pitchFamily="34" charset="-120"/>
              </a:rPr>
              <a:t>noul</a:t>
            </a:r>
            <a:endParaRPr lang="en-US" sz="1300" dirty="0"/>
          </a:p>
        </p:txBody>
      </p:sp>
      <p:sp>
        <p:nvSpPr>
          <p:cNvPr id="9" name="Text 7"/>
          <p:cNvSpPr/>
          <p:nvPr/>
        </p:nvSpPr>
        <p:spPr>
          <a:xfrm>
            <a:off x="777240" y="2350008"/>
            <a:ext cx="2042160" cy="365760"/>
          </a:xfrm>
          <a:prstGeom prst="rect">
            <a:avLst/>
          </a:prstGeom>
          <a:noFill/>
          <a:ln/>
        </p:spPr>
        <p:txBody>
          <a:bodyPr wrap="square" lIns="0" tIns="0" rIns="0" bIns="0" rtlCol="0" anchor="ctr"/>
          <a:lstStyle/>
          <a:p>
            <a:pPr marL="0" indent="0">
              <a:buNone/>
            </a:pPr>
            <a:r>
              <a:rPr lang="en-US" sz="1700" dirty="0">
                <a:solidFill>
                  <a:srgbClr val="ECE9F8"/>
                </a:solidFill>
                <a:latin typeface="Segoe UI Black" pitchFamily="34" charset="0"/>
                <a:ea typeface="Segoe UI Black" pitchFamily="34" charset="-122"/>
                <a:cs typeface="Segoe UI Black" pitchFamily="34" charset="-120"/>
              </a:rPr>
              <a:t>Is this true?</a:t>
            </a:r>
            <a:endParaRPr lang="en-US" sz="1700" dirty="0"/>
          </a:p>
        </p:txBody>
      </p:sp>
      <p:sp>
        <p:nvSpPr>
          <p:cNvPr id="10" name="Text 8"/>
          <p:cNvSpPr/>
          <p:nvPr/>
        </p:nvSpPr>
        <p:spPr>
          <a:xfrm>
            <a:off x="777240" y="3776472"/>
            <a:ext cx="2042160" cy="237744"/>
          </a:xfrm>
          <a:prstGeom prst="rect">
            <a:avLst/>
          </a:prstGeom>
          <a:noFill/>
          <a:ln/>
        </p:spPr>
        <p:txBody>
          <a:bodyPr wrap="square" lIns="0" tIns="0" rIns="0" bIns="0" rtlCol="0" anchor="ctr"/>
          <a:lstStyle/>
          <a:p>
            <a:pPr marL="0" indent="0">
              <a:buNone/>
            </a:pPr>
            <a:r>
              <a:rPr lang="en-US" sz="1100" dirty="0">
                <a:solidFill>
                  <a:srgbClr val="ECE9F8"/>
                </a:solidFill>
                <a:latin typeface="Consolas" pitchFamily="34" charset="0"/>
                <a:ea typeface="Consolas" pitchFamily="34" charset="-122"/>
                <a:cs typeface="Consolas" pitchFamily="34" charset="-120"/>
              </a:rPr>
              <a:t>"noul": p(true)</a:t>
            </a:r>
            <a:endParaRPr lang="en-US" sz="1100" dirty="0"/>
          </a:p>
        </p:txBody>
      </p:sp>
      <p:sp>
        <p:nvSpPr>
          <p:cNvPr id="11" name="Text 9"/>
          <p:cNvSpPr/>
          <p:nvPr/>
        </p:nvSpPr>
        <p:spPr>
          <a:xfrm>
            <a:off x="777240" y="4050792"/>
            <a:ext cx="2042160" cy="256032"/>
          </a:xfrm>
          <a:prstGeom prst="rect">
            <a:avLst/>
          </a:prstGeom>
          <a:noFill/>
          <a:ln/>
        </p:spPr>
        <p:txBody>
          <a:bodyPr wrap="square" lIns="0" tIns="0" rIns="0" bIns="0" rtlCol="0" anchor="ctr"/>
          <a:lstStyle/>
          <a:p>
            <a:pPr marL="0" indent="0">
              <a:buNone/>
            </a:pPr>
            <a:r>
              <a:rPr lang="en-US" sz="1150" dirty="0">
                <a:solidFill>
                  <a:srgbClr val="ABA6C8"/>
                </a:solidFill>
                <a:latin typeface="Segoe UI" pitchFamily="34" charset="0"/>
                <a:ea typeface="Segoe UI" pitchFamily="34" charset="-122"/>
                <a:cs typeface="Segoe UI" pitchFamily="34" charset="-120"/>
              </a:rPr>
              <a:t>Gates and filters</a:t>
            </a:r>
            <a:endParaRPr lang="en-US" sz="1150" dirty="0"/>
          </a:p>
        </p:txBody>
      </p:sp>
      <p:sp>
        <p:nvSpPr>
          <p:cNvPr id="12" name="Shape 10"/>
          <p:cNvSpPr/>
          <p:nvPr/>
        </p:nvSpPr>
        <p:spPr>
          <a:xfrm>
            <a:off x="3322320" y="1874520"/>
            <a:ext cx="2499360" cy="2651760"/>
          </a:xfrm>
          <a:prstGeom prst="roundRect">
            <a:avLst>
              <a:gd name="adj" fmla="val 4390"/>
            </a:avLst>
          </a:prstGeom>
          <a:solidFill>
            <a:srgbClr val="110F2B"/>
          </a:solidFill>
          <a:ln/>
        </p:spPr>
        <p:txBody>
          <a:bodyPr/>
          <a:lstStyle/>
          <a:p>
            <a:endParaRPr lang="en-ZA"/>
          </a:p>
        </p:txBody>
      </p:sp>
      <p:sp>
        <p:nvSpPr>
          <p:cNvPr id="13" name="Text 11"/>
          <p:cNvSpPr/>
          <p:nvPr/>
        </p:nvSpPr>
        <p:spPr>
          <a:xfrm>
            <a:off x="3550920" y="2075688"/>
            <a:ext cx="2042160" cy="256032"/>
          </a:xfrm>
          <a:prstGeom prst="rect">
            <a:avLst/>
          </a:prstGeom>
          <a:noFill/>
          <a:ln/>
        </p:spPr>
        <p:txBody>
          <a:bodyPr wrap="square" lIns="0" tIns="0" rIns="0" bIns="0" rtlCol="0" anchor="ctr"/>
          <a:lstStyle/>
          <a:p>
            <a:pPr marL="0" indent="0">
              <a:buNone/>
            </a:pPr>
            <a:r>
              <a:rPr lang="en-US" sz="1300" dirty="0">
                <a:solidFill>
                  <a:srgbClr val="FFD166"/>
                </a:solidFill>
                <a:latin typeface="Consolas" pitchFamily="34" charset="0"/>
                <a:ea typeface="Consolas" pitchFamily="34" charset="-122"/>
                <a:cs typeface="Consolas" pitchFamily="34" charset="-120"/>
              </a:rPr>
              <a:t>choice</a:t>
            </a:r>
            <a:endParaRPr lang="en-US" sz="1300" dirty="0"/>
          </a:p>
        </p:txBody>
      </p:sp>
      <p:sp>
        <p:nvSpPr>
          <p:cNvPr id="14" name="Text 12"/>
          <p:cNvSpPr/>
          <p:nvPr/>
        </p:nvSpPr>
        <p:spPr>
          <a:xfrm>
            <a:off x="3550920" y="2350008"/>
            <a:ext cx="2042160" cy="365760"/>
          </a:xfrm>
          <a:prstGeom prst="rect">
            <a:avLst/>
          </a:prstGeom>
          <a:noFill/>
          <a:ln/>
        </p:spPr>
        <p:txBody>
          <a:bodyPr wrap="square" lIns="0" tIns="0" rIns="0" bIns="0" rtlCol="0" anchor="ctr"/>
          <a:lstStyle/>
          <a:p>
            <a:pPr marL="0" indent="0">
              <a:buNone/>
            </a:pPr>
            <a:r>
              <a:rPr lang="en-US" sz="1700" dirty="0">
                <a:solidFill>
                  <a:srgbClr val="ECE9F8"/>
                </a:solidFill>
                <a:latin typeface="Segoe UI Black" pitchFamily="34" charset="0"/>
                <a:ea typeface="Segoe UI Black" pitchFamily="34" charset="-122"/>
                <a:cs typeface="Segoe UI Black" pitchFamily="34" charset="-120"/>
              </a:rPr>
              <a:t>Which option?</a:t>
            </a:r>
            <a:endParaRPr lang="en-US" sz="1700" dirty="0"/>
          </a:p>
        </p:txBody>
      </p:sp>
      <p:sp>
        <p:nvSpPr>
          <p:cNvPr id="15" name="Text 13"/>
          <p:cNvSpPr/>
          <p:nvPr/>
        </p:nvSpPr>
        <p:spPr>
          <a:xfrm>
            <a:off x="3550920" y="3776472"/>
            <a:ext cx="2042160" cy="237744"/>
          </a:xfrm>
          <a:prstGeom prst="rect">
            <a:avLst/>
          </a:prstGeom>
          <a:noFill/>
          <a:ln/>
        </p:spPr>
        <p:txBody>
          <a:bodyPr wrap="square" lIns="0" tIns="0" rIns="0" bIns="0" rtlCol="0" anchor="ctr"/>
          <a:lstStyle/>
          <a:p>
            <a:pPr marL="0" indent="0">
              <a:buNone/>
            </a:pPr>
            <a:r>
              <a:rPr lang="en-US" sz="1100" dirty="0">
                <a:solidFill>
                  <a:srgbClr val="ECE9F8"/>
                </a:solidFill>
                <a:latin typeface="Consolas" pitchFamily="34" charset="0"/>
                <a:ea typeface="Consolas" pitchFamily="34" charset="-122"/>
                <a:cs typeface="Consolas" pitchFamily="34" charset="-120"/>
              </a:rPr>
              <a:t>"choice" + p per option</a:t>
            </a:r>
            <a:endParaRPr lang="en-US" sz="1100" dirty="0"/>
          </a:p>
        </p:txBody>
      </p:sp>
      <p:sp>
        <p:nvSpPr>
          <p:cNvPr id="16" name="Text 14"/>
          <p:cNvSpPr/>
          <p:nvPr/>
        </p:nvSpPr>
        <p:spPr>
          <a:xfrm>
            <a:off x="3550920" y="4050792"/>
            <a:ext cx="2042160" cy="256032"/>
          </a:xfrm>
          <a:prstGeom prst="rect">
            <a:avLst/>
          </a:prstGeom>
          <a:noFill/>
          <a:ln/>
        </p:spPr>
        <p:txBody>
          <a:bodyPr wrap="square" lIns="0" tIns="0" rIns="0" bIns="0" rtlCol="0" anchor="ctr"/>
          <a:lstStyle/>
          <a:p>
            <a:pPr marL="0" indent="0">
              <a:buNone/>
            </a:pPr>
            <a:r>
              <a:rPr lang="en-US" sz="1150" dirty="0">
                <a:solidFill>
                  <a:srgbClr val="ABA6C8"/>
                </a:solidFill>
                <a:latin typeface="Segoe UI" pitchFamily="34" charset="0"/>
                <a:ea typeface="Segoe UI" pitchFamily="34" charset="-122"/>
                <a:cs typeface="Segoe UI" pitchFamily="34" charset="-120"/>
              </a:rPr>
              <a:t>Classify and route</a:t>
            </a:r>
            <a:endParaRPr lang="en-US" sz="1150" dirty="0"/>
          </a:p>
        </p:txBody>
      </p:sp>
      <p:sp>
        <p:nvSpPr>
          <p:cNvPr id="17" name="Shape 15"/>
          <p:cNvSpPr/>
          <p:nvPr/>
        </p:nvSpPr>
        <p:spPr>
          <a:xfrm>
            <a:off x="6096000" y="1874520"/>
            <a:ext cx="2499360" cy="2651760"/>
          </a:xfrm>
          <a:prstGeom prst="roundRect">
            <a:avLst>
              <a:gd name="adj" fmla="val 4390"/>
            </a:avLst>
          </a:prstGeom>
          <a:solidFill>
            <a:srgbClr val="110F2B"/>
          </a:solidFill>
          <a:ln/>
        </p:spPr>
        <p:txBody>
          <a:bodyPr/>
          <a:lstStyle/>
          <a:p>
            <a:endParaRPr lang="en-ZA"/>
          </a:p>
        </p:txBody>
      </p:sp>
      <p:sp>
        <p:nvSpPr>
          <p:cNvPr id="18" name="Text 16"/>
          <p:cNvSpPr/>
          <p:nvPr/>
        </p:nvSpPr>
        <p:spPr>
          <a:xfrm>
            <a:off x="6324600" y="2075688"/>
            <a:ext cx="2042160" cy="256032"/>
          </a:xfrm>
          <a:prstGeom prst="rect">
            <a:avLst/>
          </a:prstGeom>
          <a:noFill/>
          <a:ln/>
        </p:spPr>
        <p:txBody>
          <a:bodyPr wrap="square" lIns="0" tIns="0" rIns="0" bIns="0" rtlCol="0" anchor="ctr"/>
          <a:lstStyle/>
          <a:p>
            <a:pPr marL="0" indent="0">
              <a:buNone/>
            </a:pPr>
            <a:r>
              <a:rPr lang="en-US" sz="1300" dirty="0">
                <a:solidFill>
                  <a:srgbClr val="FFD166"/>
                </a:solidFill>
                <a:latin typeface="Consolas" pitchFamily="34" charset="0"/>
                <a:ea typeface="Consolas" pitchFamily="34" charset="-122"/>
                <a:cs typeface="Consolas" pitchFamily="34" charset="-120"/>
              </a:rPr>
              <a:t>score</a:t>
            </a:r>
            <a:endParaRPr lang="en-US" sz="1300" dirty="0"/>
          </a:p>
        </p:txBody>
      </p:sp>
      <p:sp>
        <p:nvSpPr>
          <p:cNvPr id="19" name="Text 17"/>
          <p:cNvSpPr/>
          <p:nvPr/>
        </p:nvSpPr>
        <p:spPr>
          <a:xfrm>
            <a:off x="6324600" y="2350008"/>
            <a:ext cx="2042160" cy="365760"/>
          </a:xfrm>
          <a:prstGeom prst="rect">
            <a:avLst/>
          </a:prstGeom>
          <a:noFill/>
          <a:ln/>
        </p:spPr>
        <p:txBody>
          <a:bodyPr wrap="square" lIns="0" tIns="0" rIns="0" bIns="0" rtlCol="0" anchor="ctr"/>
          <a:lstStyle/>
          <a:p>
            <a:pPr marL="0" indent="0">
              <a:buNone/>
            </a:pPr>
            <a:r>
              <a:rPr lang="en-US" sz="1700" dirty="0">
                <a:solidFill>
                  <a:srgbClr val="ECE9F8"/>
                </a:solidFill>
                <a:latin typeface="Segoe UI Black" pitchFamily="34" charset="0"/>
                <a:ea typeface="Segoe UI Black" pitchFamily="34" charset="-122"/>
                <a:cs typeface="Segoe UI Black" pitchFamily="34" charset="-120"/>
              </a:rPr>
              <a:t>How much?</a:t>
            </a:r>
            <a:endParaRPr lang="en-US" sz="1700" dirty="0"/>
          </a:p>
        </p:txBody>
      </p:sp>
      <p:sp>
        <p:nvSpPr>
          <p:cNvPr id="20" name="Text 18"/>
          <p:cNvSpPr/>
          <p:nvPr/>
        </p:nvSpPr>
        <p:spPr>
          <a:xfrm>
            <a:off x="6324600" y="3776472"/>
            <a:ext cx="2042160" cy="237744"/>
          </a:xfrm>
          <a:prstGeom prst="rect">
            <a:avLst/>
          </a:prstGeom>
          <a:noFill/>
          <a:ln/>
        </p:spPr>
        <p:txBody>
          <a:bodyPr wrap="square" lIns="0" tIns="0" rIns="0" bIns="0" rtlCol="0" anchor="ctr"/>
          <a:lstStyle/>
          <a:p>
            <a:pPr marL="0" indent="0">
              <a:buNone/>
            </a:pPr>
            <a:r>
              <a:rPr lang="en-US" sz="1100" dirty="0">
                <a:solidFill>
                  <a:srgbClr val="ECE9F8"/>
                </a:solidFill>
                <a:latin typeface="Consolas" pitchFamily="34" charset="0"/>
                <a:ea typeface="Consolas" pitchFamily="34" charset="-122"/>
                <a:cs typeface="Consolas" pitchFamily="34" charset="-120"/>
              </a:rPr>
              <a:t>"score" = Σ i · p(i)</a:t>
            </a:r>
            <a:endParaRPr lang="en-US" sz="1100" dirty="0"/>
          </a:p>
        </p:txBody>
      </p:sp>
      <p:sp>
        <p:nvSpPr>
          <p:cNvPr id="21" name="Text 19"/>
          <p:cNvSpPr/>
          <p:nvPr/>
        </p:nvSpPr>
        <p:spPr>
          <a:xfrm>
            <a:off x="6324600" y="4050792"/>
            <a:ext cx="2042160" cy="256032"/>
          </a:xfrm>
          <a:prstGeom prst="rect">
            <a:avLst/>
          </a:prstGeom>
          <a:noFill/>
          <a:ln/>
        </p:spPr>
        <p:txBody>
          <a:bodyPr wrap="square" lIns="0" tIns="0" rIns="0" bIns="0" rtlCol="0" anchor="ctr"/>
          <a:lstStyle/>
          <a:p>
            <a:pPr marL="0" indent="0">
              <a:buNone/>
            </a:pPr>
            <a:r>
              <a:rPr lang="en-US" sz="1150" dirty="0">
                <a:solidFill>
                  <a:srgbClr val="ABA6C8"/>
                </a:solidFill>
                <a:latin typeface="Segoe UI" pitchFamily="34" charset="0"/>
                <a:ea typeface="Segoe UI" pitchFamily="34" charset="-122"/>
                <a:cs typeface="Segoe UI" pitchFamily="34" charset="-120"/>
              </a:rPr>
              <a:t>Rank and grade</a:t>
            </a:r>
            <a:endParaRPr lang="en-US" sz="1150" dirty="0"/>
          </a:p>
        </p:txBody>
      </p:sp>
      <p:sp>
        <p:nvSpPr>
          <p:cNvPr id="22" name="Text 20"/>
          <p:cNvSpPr/>
          <p:nvPr/>
        </p:nvSpPr>
        <p:spPr>
          <a:xfrm>
            <a:off x="777240" y="2770632"/>
            <a:ext cx="2042160" cy="457200"/>
          </a:xfrm>
          <a:prstGeom prst="rect">
            <a:avLst/>
          </a:prstGeom>
          <a:noFill/>
          <a:ln/>
        </p:spPr>
        <p:txBody>
          <a:bodyPr wrap="square" lIns="0" tIns="0" rIns="0" bIns="0" rtlCol="0" anchor="ctr"/>
          <a:lstStyle/>
          <a:p>
            <a:pPr marL="0" indent="0">
              <a:buNone/>
            </a:pPr>
            <a:r>
              <a:rPr lang="en-US" sz="2800" dirty="0">
                <a:solidFill>
                  <a:srgbClr val="3DD6FF"/>
                </a:solidFill>
                <a:latin typeface="Segoe UI Black" pitchFamily="34" charset="0"/>
                <a:ea typeface="Segoe UI Black" pitchFamily="34" charset="-122"/>
                <a:cs typeface="Segoe UI Black" pitchFamily="34" charset="-120"/>
              </a:rPr>
              <a:t>0.73</a:t>
            </a:r>
            <a:endParaRPr lang="en-US" sz="2800" dirty="0"/>
          </a:p>
        </p:txBody>
      </p:sp>
      <p:sp>
        <p:nvSpPr>
          <p:cNvPr id="23" name="Shape 21"/>
          <p:cNvSpPr/>
          <p:nvPr/>
        </p:nvSpPr>
        <p:spPr>
          <a:xfrm>
            <a:off x="777240" y="3337560"/>
            <a:ext cx="2042160" cy="91440"/>
          </a:xfrm>
          <a:prstGeom prst="rect">
            <a:avLst/>
          </a:prstGeom>
          <a:solidFill>
            <a:srgbClr val="36316A"/>
          </a:solidFill>
          <a:ln/>
        </p:spPr>
        <p:txBody>
          <a:bodyPr/>
          <a:lstStyle/>
          <a:p>
            <a:endParaRPr lang="en-ZA"/>
          </a:p>
        </p:txBody>
      </p:sp>
      <p:sp>
        <p:nvSpPr>
          <p:cNvPr id="24" name="Shape 22"/>
          <p:cNvSpPr/>
          <p:nvPr/>
        </p:nvSpPr>
        <p:spPr>
          <a:xfrm>
            <a:off x="777240" y="3337560"/>
            <a:ext cx="1490777" cy="91440"/>
          </a:xfrm>
          <a:prstGeom prst="rect">
            <a:avLst/>
          </a:prstGeom>
          <a:solidFill>
            <a:srgbClr val="3DD6FF"/>
          </a:solidFill>
          <a:ln/>
        </p:spPr>
        <p:txBody>
          <a:bodyPr/>
          <a:lstStyle/>
          <a:p>
            <a:endParaRPr lang="en-ZA"/>
          </a:p>
        </p:txBody>
      </p:sp>
      <p:sp>
        <p:nvSpPr>
          <p:cNvPr id="25" name="Text 23"/>
          <p:cNvSpPr/>
          <p:nvPr/>
        </p:nvSpPr>
        <p:spPr>
          <a:xfrm>
            <a:off x="777240" y="3511296"/>
            <a:ext cx="914400" cy="182880"/>
          </a:xfrm>
          <a:prstGeom prst="rect">
            <a:avLst/>
          </a:prstGeom>
          <a:noFill/>
          <a:ln/>
        </p:spPr>
        <p:txBody>
          <a:bodyPr wrap="square" lIns="0" tIns="0" rIns="0" bIns="0" rtlCol="0" anchor="ctr"/>
          <a:lstStyle/>
          <a:p>
            <a:pPr marL="0" indent="0">
              <a:buNone/>
            </a:pPr>
            <a:r>
              <a:rPr lang="en-US" sz="1050" dirty="0">
                <a:solidFill>
                  <a:srgbClr val="ABA6C8"/>
                </a:solidFill>
                <a:latin typeface="Segoe UI" pitchFamily="34" charset="0"/>
                <a:ea typeface="Segoe UI" pitchFamily="34" charset="-122"/>
                <a:cs typeface="Segoe UI" pitchFamily="34" charset="-120"/>
              </a:rPr>
              <a:t>0  false</a:t>
            </a:r>
            <a:endParaRPr lang="en-US" sz="1050" dirty="0"/>
          </a:p>
        </p:txBody>
      </p:sp>
      <p:sp>
        <p:nvSpPr>
          <p:cNvPr id="26" name="Text 24"/>
          <p:cNvSpPr/>
          <p:nvPr/>
        </p:nvSpPr>
        <p:spPr>
          <a:xfrm>
            <a:off x="1905000" y="3511296"/>
            <a:ext cx="914400" cy="182880"/>
          </a:xfrm>
          <a:prstGeom prst="rect">
            <a:avLst/>
          </a:prstGeom>
          <a:noFill/>
          <a:ln/>
        </p:spPr>
        <p:txBody>
          <a:bodyPr wrap="square" lIns="0" tIns="0" rIns="0" bIns="0" rtlCol="0" anchor="ctr"/>
          <a:lstStyle/>
          <a:p>
            <a:pPr marL="0" indent="0" algn="r">
              <a:buNone/>
            </a:pPr>
            <a:r>
              <a:rPr lang="en-US" sz="1050" dirty="0">
                <a:solidFill>
                  <a:srgbClr val="ABA6C8"/>
                </a:solidFill>
                <a:latin typeface="Segoe UI" pitchFamily="34" charset="0"/>
                <a:ea typeface="Segoe UI" pitchFamily="34" charset="-122"/>
                <a:cs typeface="Segoe UI" pitchFamily="34" charset="-120"/>
              </a:rPr>
              <a:t>true  1</a:t>
            </a:r>
            <a:endParaRPr lang="en-US" sz="1050" dirty="0"/>
          </a:p>
        </p:txBody>
      </p:sp>
      <p:sp>
        <p:nvSpPr>
          <p:cNvPr id="27" name="Text 25"/>
          <p:cNvSpPr/>
          <p:nvPr/>
        </p:nvSpPr>
        <p:spPr>
          <a:xfrm>
            <a:off x="3550920" y="2798064"/>
            <a:ext cx="182880" cy="182880"/>
          </a:xfrm>
          <a:prstGeom prst="rect">
            <a:avLst/>
          </a:prstGeom>
          <a:noFill/>
          <a:ln/>
        </p:spPr>
        <p:txBody>
          <a:bodyPr wrap="square" lIns="0" tIns="0" rIns="0" bIns="0" rtlCol="0" anchor="ctr"/>
          <a:lstStyle/>
          <a:p>
            <a:pPr marL="0" indent="0">
              <a:buNone/>
            </a:pPr>
            <a:r>
              <a:rPr lang="en-US" sz="1050" dirty="0">
                <a:solidFill>
                  <a:srgbClr val="ECE9F8"/>
                </a:solidFill>
                <a:latin typeface="Consolas" pitchFamily="34" charset="0"/>
                <a:ea typeface="Consolas" pitchFamily="34" charset="-122"/>
                <a:cs typeface="Consolas" pitchFamily="34" charset="-120"/>
              </a:rPr>
              <a:t>a</a:t>
            </a:r>
            <a:endParaRPr lang="en-US" sz="1050" dirty="0"/>
          </a:p>
        </p:txBody>
      </p:sp>
      <p:sp>
        <p:nvSpPr>
          <p:cNvPr id="28" name="Shape 26"/>
          <p:cNvSpPr/>
          <p:nvPr/>
        </p:nvSpPr>
        <p:spPr>
          <a:xfrm>
            <a:off x="3779520" y="2843784"/>
            <a:ext cx="1356360" cy="91440"/>
          </a:xfrm>
          <a:prstGeom prst="rect">
            <a:avLst/>
          </a:prstGeom>
          <a:solidFill>
            <a:srgbClr val="36316A"/>
          </a:solidFill>
          <a:ln/>
        </p:spPr>
        <p:txBody>
          <a:bodyPr/>
          <a:lstStyle/>
          <a:p>
            <a:endParaRPr lang="en-ZA"/>
          </a:p>
        </p:txBody>
      </p:sp>
      <p:sp>
        <p:nvSpPr>
          <p:cNvPr id="29" name="Shape 27"/>
          <p:cNvSpPr/>
          <p:nvPr/>
        </p:nvSpPr>
        <p:spPr>
          <a:xfrm>
            <a:off x="3779520" y="2843784"/>
            <a:ext cx="840943" cy="91440"/>
          </a:xfrm>
          <a:prstGeom prst="rect">
            <a:avLst/>
          </a:prstGeom>
          <a:solidFill>
            <a:srgbClr val="FFD166"/>
          </a:solidFill>
          <a:ln/>
        </p:spPr>
        <p:txBody>
          <a:bodyPr/>
          <a:lstStyle/>
          <a:p>
            <a:endParaRPr lang="en-ZA"/>
          </a:p>
        </p:txBody>
      </p:sp>
      <p:sp>
        <p:nvSpPr>
          <p:cNvPr id="30" name="Text 28"/>
          <p:cNvSpPr/>
          <p:nvPr/>
        </p:nvSpPr>
        <p:spPr>
          <a:xfrm>
            <a:off x="5209032" y="2798064"/>
            <a:ext cx="384048" cy="182880"/>
          </a:xfrm>
          <a:prstGeom prst="rect">
            <a:avLst/>
          </a:prstGeom>
          <a:noFill/>
          <a:ln/>
        </p:spPr>
        <p:txBody>
          <a:bodyPr wrap="square" lIns="0" tIns="0" rIns="0" bIns="0" rtlCol="0" anchor="ctr"/>
          <a:lstStyle/>
          <a:p>
            <a:pPr marL="0" indent="0" algn="r">
              <a:buNone/>
            </a:pPr>
            <a:r>
              <a:rPr lang="en-US" sz="1050" dirty="0">
                <a:solidFill>
                  <a:srgbClr val="ABA6C8"/>
                </a:solidFill>
                <a:latin typeface="Segoe UI" pitchFamily="34" charset="0"/>
                <a:ea typeface="Segoe UI" pitchFamily="34" charset="-122"/>
                <a:cs typeface="Segoe UI" pitchFamily="34" charset="-120"/>
              </a:rPr>
              <a:t>0.62</a:t>
            </a:r>
            <a:endParaRPr lang="en-US" sz="1050" dirty="0"/>
          </a:p>
        </p:txBody>
      </p:sp>
      <p:sp>
        <p:nvSpPr>
          <p:cNvPr id="31" name="Text 29"/>
          <p:cNvSpPr/>
          <p:nvPr/>
        </p:nvSpPr>
        <p:spPr>
          <a:xfrm>
            <a:off x="3550920" y="3035808"/>
            <a:ext cx="182880" cy="182880"/>
          </a:xfrm>
          <a:prstGeom prst="rect">
            <a:avLst/>
          </a:prstGeom>
          <a:noFill/>
          <a:ln/>
        </p:spPr>
        <p:txBody>
          <a:bodyPr wrap="square" lIns="0" tIns="0" rIns="0" bIns="0" rtlCol="0" anchor="ctr"/>
          <a:lstStyle/>
          <a:p>
            <a:pPr marL="0" indent="0">
              <a:buNone/>
            </a:pPr>
            <a:r>
              <a:rPr lang="en-US" sz="1050" dirty="0">
                <a:solidFill>
                  <a:srgbClr val="ECE9F8"/>
                </a:solidFill>
                <a:latin typeface="Consolas" pitchFamily="34" charset="0"/>
                <a:ea typeface="Consolas" pitchFamily="34" charset="-122"/>
                <a:cs typeface="Consolas" pitchFamily="34" charset="-120"/>
              </a:rPr>
              <a:t>b</a:t>
            </a:r>
            <a:endParaRPr lang="en-US" sz="1050" dirty="0"/>
          </a:p>
        </p:txBody>
      </p:sp>
      <p:sp>
        <p:nvSpPr>
          <p:cNvPr id="32" name="Shape 30"/>
          <p:cNvSpPr/>
          <p:nvPr/>
        </p:nvSpPr>
        <p:spPr>
          <a:xfrm>
            <a:off x="3779520" y="3081528"/>
            <a:ext cx="1356360" cy="91440"/>
          </a:xfrm>
          <a:prstGeom prst="rect">
            <a:avLst/>
          </a:prstGeom>
          <a:solidFill>
            <a:srgbClr val="36316A"/>
          </a:solidFill>
          <a:ln/>
        </p:spPr>
        <p:txBody>
          <a:bodyPr/>
          <a:lstStyle/>
          <a:p>
            <a:endParaRPr lang="en-ZA"/>
          </a:p>
        </p:txBody>
      </p:sp>
      <p:sp>
        <p:nvSpPr>
          <p:cNvPr id="33" name="Shape 31"/>
          <p:cNvSpPr/>
          <p:nvPr/>
        </p:nvSpPr>
        <p:spPr>
          <a:xfrm>
            <a:off x="3779520" y="3081528"/>
            <a:ext cx="284836" cy="91440"/>
          </a:xfrm>
          <a:prstGeom prst="rect">
            <a:avLst/>
          </a:prstGeom>
          <a:solidFill>
            <a:srgbClr val="6C6790"/>
          </a:solidFill>
          <a:ln/>
        </p:spPr>
        <p:txBody>
          <a:bodyPr/>
          <a:lstStyle/>
          <a:p>
            <a:endParaRPr lang="en-ZA"/>
          </a:p>
        </p:txBody>
      </p:sp>
      <p:sp>
        <p:nvSpPr>
          <p:cNvPr id="34" name="Text 32"/>
          <p:cNvSpPr/>
          <p:nvPr/>
        </p:nvSpPr>
        <p:spPr>
          <a:xfrm>
            <a:off x="5209032" y="3035808"/>
            <a:ext cx="384048" cy="182880"/>
          </a:xfrm>
          <a:prstGeom prst="rect">
            <a:avLst/>
          </a:prstGeom>
          <a:noFill/>
          <a:ln/>
        </p:spPr>
        <p:txBody>
          <a:bodyPr wrap="square" lIns="0" tIns="0" rIns="0" bIns="0" rtlCol="0" anchor="ctr"/>
          <a:lstStyle/>
          <a:p>
            <a:pPr marL="0" indent="0" algn="r">
              <a:buNone/>
            </a:pPr>
            <a:r>
              <a:rPr lang="en-US" sz="1050" dirty="0">
                <a:solidFill>
                  <a:srgbClr val="ABA6C8"/>
                </a:solidFill>
                <a:latin typeface="Segoe UI" pitchFamily="34" charset="0"/>
                <a:ea typeface="Segoe UI" pitchFamily="34" charset="-122"/>
                <a:cs typeface="Segoe UI" pitchFamily="34" charset="-120"/>
              </a:rPr>
              <a:t>0.21</a:t>
            </a:r>
            <a:endParaRPr lang="en-US" sz="1050" dirty="0"/>
          </a:p>
        </p:txBody>
      </p:sp>
      <p:sp>
        <p:nvSpPr>
          <p:cNvPr id="35" name="Text 33"/>
          <p:cNvSpPr/>
          <p:nvPr/>
        </p:nvSpPr>
        <p:spPr>
          <a:xfrm>
            <a:off x="3550920" y="3273552"/>
            <a:ext cx="182880" cy="182880"/>
          </a:xfrm>
          <a:prstGeom prst="rect">
            <a:avLst/>
          </a:prstGeom>
          <a:noFill/>
          <a:ln/>
        </p:spPr>
        <p:txBody>
          <a:bodyPr wrap="square" lIns="0" tIns="0" rIns="0" bIns="0" rtlCol="0" anchor="ctr"/>
          <a:lstStyle/>
          <a:p>
            <a:pPr marL="0" indent="0">
              <a:buNone/>
            </a:pPr>
            <a:r>
              <a:rPr lang="en-US" sz="1050" dirty="0">
                <a:solidFill>
                  <a:srgbClr val="ECE9F8"/>
                </a:solidFill>
                <a:latin typeface="Consolas" pitchFamily="34" charset="0"/>
                <a:ea typeface="Consolas" pitchFamily="34" charset="-122"/>
                <a:cs typeface="Consolas" pitchFamily="34" charset="-120"/>
              </a:rPr>
              <a:t>c</a:t>
            </a:r>
            <a:endParaRPr lang="en-US" sz="1050" dirty="0"/>
          </a:p>
        </p:txBody>
      </p:sp>
      <p:sp>
        <p:nvSpPr>
          <p:cNvPr id="36" name="Shape 34"/>
          <p:cNvSpPr/>
          <p:nvPr/>
        </p:nvSpPr>
        <p:spPr>
          <a:xfrm>
            <a:off x="3779520" y="3319272"/>
            <a:ext cx="1356360" cy="91440"/>
          </a:xfrm>
          <a:prstGeom prst="rect">
            <a:avLst/>
          </a:prstGeom>
          <a:solidFill>
            <a:srgbClr val="36316A"/>
          </a:solidFill>
          <a:ln/>
        </p:spPr>
        <p:txBody>
          <a:bodyPr/>
          <a:lstStyle/>
          <a:p>
            <a:endParaRPr lang="en-ZA"/>
          </a:p>
        </p:txBody>
      </p:sp>
      <p:sp>
        <p:nvSpPr>
          <p:cNvPr id="37" name="Shape 35"/>
          <p:cNvSpPr/>
          <p:nvPr/>
        </p:nvSpPr>
        <p:spPr>
          <a:xfrm>
            <a:off x="3779520" y="3319272"/>
            <a:ext cx="162763" cy="91440"/>
          </a:xfrm>
          <a:prstGeom prst="rect">
            <a:avLst/>
          </a:prstGeom>
          <a:solidFill>
            <a:srgbClr val="6C6790"/>
          </a:solidFill>
          <a:ln/>
        </p:spPr>
        <p:txBody>
          <a:bodyPr/>
          <a:lstStyle/>
          <a:p>
            <a:endParaRPr lang="en-ZA"/>
          </a:p>
        </p:txBody>
      </p:sp>
      <p:sp>
        <p:nvSpPr>
          <p:cNvPr id="38" name="Text 36"/>
          <p:cNvSpPr/>
          <p:nvPr/>
        </p:nvSpPr>
        <p:spPr>
          <a:xfrm>
            <a:off x="5209032" y="3273552"/>
            <a:ext cx="384048" cy="182880"/>
          </a:xfrm>
          <a:prstGeom prst="rect">
            <a:avLst/>
          </a:prstGeom>
          <a:noFill/>
          <a:ln/>
        </p:spPr>
        <p:txBody>
          <a:bodyPr wrap="square" lIns="0" tIns="0" rIns="0" bIns="0" rtlCol="0" anchor="ctr"/>
          <a:lstStyle/>
          <a:p>
            <a:pPr marL="0" indent="0" algn="r">
              <a:buNone/>
            </a:pPr>
            <a:r>
              <a:rPr lang="en-US" sz="1050" dirty="0">
                <a:solidFill>
                  <a:srgbClr val="ABA6C8"/>
                </a:solidFill>
                <a:latin typeface="Segoe UI" pitchFamily="34" charset="0"/>
                <a:ea typeface="Segoe UI" pitchFamily="34" charset="-122"/>
                <a:cs typeface="Segoe UI" pitchFamily="34" charset="-120"/>
              </a:rPr>
              <a:t>0.12</a:t>
            </a:r>
            <a:endParaRPr lang="en-US" sz="1050" dirty="0"/>
          </a:p>
        </p:txBody>
      </p:sp>
      <p:sp>
        <p:nvSpPr>
          <p:cNvPr id="39" name="Text 37"/>
          <p:cNvSpPr/>
          <p:nvPr/>
        </p:nvSpPr>
        <p:spPr>
          <a:xfrm>
            <a:off x="3550920" y="3511296"/>
            <a:ext cx="182880" cy="182880"/>
          </a:xfrm>
          <a:prstGeom prst="rect">
            <a:avLst/>
          </a:prstGeom>
          <a:noFill/>
          <a:ln/>
        </p:spPr>
        <p:txBody>
          <a:bodyPr wrap="square" lIns="0" tIns="0" rIns="0" bIns="0" rtlCol="0" anchor="ctr"/>
          <a:lstStyle/>
          <a:p>
            <a:pPr marL="0" indent="0">
              <a:buNone/>
            </a:pPr>
            <a:r>
              <a:rPr lang="en-US" sz="1050" dirty="0">
                <a:solidFill>
                  <a:srgbClr val="ECE9F8"/>
                </a:solidFill>
                <a:latin typeface="Consolas" pitchFamily="34" charset="0"/>
                <a:ea typeface="Consolas" pitchFamily="34" charset="-122"/>
                <a:cs typeface="Consolas" pitchFamily="34" charset="-120"/>
              </a:rPr>
              <a:t>d</a:t>
            </a:r>
            <a:endParaRPr lang="en-US" sz="1050" dirty="0"/>
          </a:p>
        </p:txBody>
      </p:sp>
      <p:sp>
        <p:nvSpPr>
          <p:cNvPr id="40" name="Shape 38"/>
          <p:cNvSpPr/>
          <p:nvPr/>
        </p:nvSpPr>
        <p:spPr>
          <a:xfrm>
            <a:off x="3779520" y="3557016"/>
            <a:ext cx="1356360" cy="91440"/>
          </a:xfrm>
          <a:prstGeom prst="rect">
            <a:avLst/>
          </a:prstGeom>
          <a:solidFill>
            <a:srgbClr val="36316A"/>
          </a:solidFill>
          <a:ln/>
        </p:spPr>
        <p:txBody>
          <a:bodyPr/>
          <a:lstStyle/>
          <a:p>
            <a:endParaRPr lang="en-ZA"/>
          </a:p>
        </p:txBody>
      </p:sp>
      <p:sp>
        <p:nvSpPr>
          <p:cNvPr id="41" name="Shape 39"/>
          <p:cNvSpPr/>
          <p:nvPr/>
        </p:nvSpPr>
        <p:spPr>
          <a:xfrm>
            <a:off x="3779520" y="3557016"/>
            <a:ext cx="67818" cy="91440"/>
          </a:xfrm>
          <a:prstGeom prst="rect">
            <a:avLst/>
          </a:prstGeom>
          <a:solidFill>
            <a:srgbClr val="6C6790"/>
          </a:solidFill>
          <a:ln/>
        </p:spPr>
        <p:txBody>
          <a:bodyPr/>
          <a:lstStyle/>
          <a:p>
            <a:endParaRPr lang="en-ZA"/>
          </a:p>
        </p:txBody>
      </p:sp>
      <p:sp>
        <p:nvSpPr>
          <p:cNvPr id="42" name="Text 40"/>
          <p:cNvSpPr/>
          <p:nvPr/>
        </p:nvSpPr>
        <p:spPr>
          <a:xfrm>
            <a:off x="5209032" y="3511296"/>
            <a:ext cx="384048" cy="182880"/>
          </a:xfrm>
          <a:prstGeom prst="rect">
            <a:avLst/>
          </a:prstGeom>
          <a:noFill/>
          <a:ln/>
        </p:spPr>
        <p:txBody>
          <a:bodyPr wrap="square" lIns="0" tIns="0" rIns="0" bIns="0" rtlCol="0" anchor="ctr"/>
          <a:lstStyle/>
          <a:p>
            <a:pPr marL="0" indent="0" algn="r">
              <a:buNone/>
            </a:pPr>
            <a:r>
              <a:rPr lang="en-US" sz="1050" dirty="0">
                <a:solidFill>
                  <a:srgbClr val="ABA6C8"/>
                </a:solidFill>
                <a:latin typeface="Segoe UI" pitchFamily="34" charset="0"/>
                <a:ea typeface="Segoe UI" pitchFamily="34" charset="-122"/>
                <a:cs typeface="Segoe UI" pitchFamily="34" charset="-120"/>
              </a:rPr>
              <a:t>0.05</a:t>
            </a:r>
            <a:endParaRPr lang="en-US" sz="1050" dirty="0"/>
          </a:p>
        </p:txBody>
      </p:sp>
      <p:sp>
        <p:nvSpPr>
          <p:cNvPr id="43" name="Shape 41"/>
          <p:cNvSpPr/>
          <p:nvPr/>
        </p:nvSpPr>
        <p:spPr>
          <a:xfrm>
            <a:off x="6324600" y="3407054"/>
            <a:ext cx="329184" cy="76810"/>
          </a:xfrm>
          <a:prstGeom prst="rect">
            <a:avLst/>
          </a:prstGeom>
          <a:solidFill>
            <a:srgbClr val="6C6790"/>
          </a:solidFill>
          <a:ln/>
        </p:spPr>
        <p:txBody>
          <a:bodyPr/>
          <a:lstStyle/>
          <a:p>
            <a:endParaRPr lang="en-ZA"/>
          </a:p>
        </p:txBody>
      </p:sp>
      <p:sp>
        <p:nvSpPr>
          <p:cNvPr id="44" name="Text 42"/>
          <p:cNvSpPr/>
          <p:nvPr/>
        </p:nvSpPr>
        <p:spPr>
          <a:xfrm>
            <a:off x="6324600" y="3511296"/>
            <a:ext cx="329184" cy="182880"/>
          </a:xfrm>
          <a:prstGeom prst="rect">
            <a:avLst/>
          </a:prstGeom>
          <a:noFill/>
          <a:ln/>
        </p:spPr>
        <p:txBody>
          <a:bodyPr wrap="square" lIns="0" tIns="0" rIns="0" bIns="0" rtlCol="0" anchor="ctr"/>
          <a:lstStyle/>
          <a:p>
            <a:pPr marL="0" indent="0" algn="ctr">
              <a:buNone/>
            </a:pPr>
            <a:r>
              <a:rPr lang="en-US" sz="1050" dirty="0">
                <a:solidFill>
                  <a:srgbClr val="ABA6C8"/>
                </a:solidFill>
                <a:latin typeface="Segoe UI" pitchFamily="34" charset="0"/>
                <a:ea typeface="Segoe UI" pitchFamily="34" charset="-122"/>
                <a:cs typeface="Segoe UI" pitchFamily="34" charset="-120"/>
              </a:rPr>
              <a:t>0</a:t>
            </a:r>
            <a:endParaRPr lang="en-US" sz="1050" dirty="0"/>
          </a:p>
        </p:txBody>
      </p:sp>
      <p:sp>
        <p:nvSpPr>
          <p:cNvPr id="45" name="Shape 43"/>
          <p:cNvSpPr/>
          <p:nvPr/>
        </p:nvSpPr>
        <p:spPr>
          <a:xfrm>
            <a:off x="6895592" y="3368650"/>
            <a:ext cx="329184" cy="115214"/>
          </a:xfrm>
          <a:prstGeom prst="rect">
            <a:avLst/>
          </a:prstGeom>
          <a:solidFill>
            <a:srgbClr val="6C6790"/>
          </a:solidFill>
          <a:ln/>
        </p:spPr>
        <p:txBody>
          <a:bodyPr/>
          <a:lstStyle/>
          <a:p>
            <a:endParaRPr lang="en-ZA"/>
          </a:p>
        </p:txBody>
      </p:sp>
      <p:sp>
        <p:nvSpPr>
          <p:cNvPr id="46" name="Text 44"/>
          <p:cNvSpPr/>
          <p:nvPr/>
        </p:nvSpPr>
        <p:spPr>
          <a:xfrm>
            <a:off x="6895592" y="3511296"/>
            <a:ext cx="329184" cy="182880"/>
          </a:xfrm>
          <a:prstGeom prst="rect">
            <a:avLst/>
          </a:prstGeom>
          <a:noFill/>
          <a:ln/>
        </p:spPr>
        <p:txBody>
          <a:bodyPr wrap="square" lIns="0" tIns="0" rIns="0" bIns="0" rtlCol="0" anchor="ctr"/>
          <a:lstStyle/>
          <a:p>
            <a:pPr marL="0" indent="0" algn="ctr">
              <a:buNone/>
            </a:pPr>
            <a:r>
              <a:rPr lang="en-US" sz="1050" dirty="0">
                <a:solidFill>
                  <a:srgbClr val="ABA6C8"/>
                </a:solidFill>
                <a:latin typeface="Segoe UI" pitchFamily="34" charset="0"/>
                <a:ea typeface="Segoe UI" pitchFamily="34" charset="-122"/>
                <a:cs typeface="Segoe UI" pitchFamily="34" charset="-120"/>
              </a:rPr>
              <a:t>1</a:t>
            </a:r>
            <a:endParaRPr lang="en-US" sz="1050" dirty="0"/>
          </a:p>
        </p:txBody>
      </p:sp>
      <p:sp>
        <p:nvSpPr>
          <p:cNvPr id="47" name="Shape 45"/>
          <p:cNvSpPr/>
          <p:nvPr/>
        </p:nvSpPr>
        <p:spPr>
          <a:xfrm>
            <a:off x="7466584" y="3099816"/>
            <a:ext cx="329184" cy="384048"/>
          </a:xfrm>
          <a:prstGeom prst="rect">
            <a:avLst/>
          </a:prstGeom>
          <a:solidFill>
            <a:srgbClr val="FFD166"/>
          </a:solidFill>
          <a:ln/>
        </p:spPr>
        <p:txBody>
          <a:bodyPr/>
          <a:lstStyle/>
          <a:p>
            <a:endParaRPr lang="en-ZA"/>
          </a:p>
        </p:txBody>
      </p:sp>
      <p:sp>
        <p:nvSpPr>
          <p:cNvPr id="48" name="Text 46"/>
          <p:cNvSpPr/>
          <p:nvPr/>
        </p:nvSpPr>
        <p:spPr>
          <a:xfrm>
            <a:off x="7466584" y="3511296"/>
            <a:ext cx="329184" cy="182880"/>
          </a:xfrm>
          <a:prstGeom prst="rect">
            <a:avLst/>
          </a:prstGeom>
          <a:noFill/>
          <a:ln/>
        </p:spPr>
        <p:txBody>
          <a:bodyPr wrap="square" lIns="0" tIns="0" rIns="0" bIns="0" rtlCol="0" anchor="ctr"/>
          <a:lstStyle/>
          <a:p>
            <a:pPr marL="0" indent="0" algn="ctr">
              <a:buNone/>
            </a:pPr>
            <a:r>
              <a:rPr lang="en-US" sz="1050" dirty="0">
                <a:solidFill>
                  <a:srgbClr val="ABA6C8"/>
                </a:solidFill>
                <a:latin typeface="Segoe UI" pitchFamily="34" charset="0"/>
                <a:ea typeface="Segoe UI" pitchFamily="34" charset="-122"/>
                <a:cs typeface="Segoe UI" pitchFamily="34" charset="-120"/>
              </a:rPr>
              <a:t>2</a:t>
            </a:r>
            <a:endParaRPr lang="en-US" sz="1050" dirty="0"/>
          </a:p>
        </p:txBody>
      </p:sp>
      <p:sp>
        <p:nvSpPr>
          <p:cNvPr id="49" name="Shape 47"/>
          <p:cNvSpPr/>
          <p:nvPr/>
        </p:nvSpPr>
        <p:spPr>
          <a:xfrm>
            <a:off x="8037576" y="3291840"/>
            <a:ext cx="329184" cy="192024"/>
          </a:xfrm>
          <a:prstGeom prst="rect">
            <a:avLst/>
          </a:prstGeom>
          <a:solidFill>
            <a:srgbClr val="6C6790"/>
          </a:solidFill>
          <a:ln/>
        </p:spPr>
        <p:txBody>
          <a:bodyPr/>
          <a:lstStyle/>
          <a:p>
            <a:endParaRPr lang="en-ZA"/>
          </a:p>
        </p:txBody>
      </p:sp>
      <p:sp>
        <p:nvSpPr>
          <p:cNvPr id="50" name="Text 48"/>
          <p:cNvSpPr/>
          <p:nvPr/>
        </p:nvSpPr>
        <p:spPr>
          <a:xfrm>
            <a:off x="8037576" y="3511296"/>
            <a:ext cx="329184" cy="182880"/>
          </a:xfrm>
          <a:prstGeom prst="rect">
            <a:avLst/>
          </a:prstGeom>
          <a:noFill/>
          <a:ln/>
        </p:spPr>
        <p:txBody>
          <a:bodyPr wrap="square" lIns="0" tIns="0" rIns="0" bIns="0" rtlCol="0" anchor="ctr"/>
          <a:lstStyle/>
          <a:p>
            <a:pPr marL="0" indent="0" algn="ctr">
              <a:buNone/>
            </a:pPr>
            <a:r>
              <a:rPr lang="en-US" sz="1050" dirty="0">
                <a:solidFill>
                  <a:srgbClr val="ABA6C8"/>
                </a:solidFill>
                <a:latin typeface="Segoe UI" pitchFamily="34" charset="0"/>
                <a:ea typeface="Segoe UI" pitchFamily="34" charset="-122"/>
                <a:cs typeface="Segoe UI" pitchFamily="34" charset="-120"/>
              </a:rPr>
              <a:t>3</a:t>
            </a:r>
            <a:endParaRPr lang="en-US" sz="1050" dirty="0"/>
          </a:p>
        </p:txBody>
      </p:sp>
      <p:sp>
        <p:nvSpPr>
          <p:cNvPr id="51" name="Text 49"/>
          <p:cNvSpPr/>
          <p:nvPr/>
        </p:nvSpPr>
        <p:spPr>
          <a:xfrm>
            <a:off x="7025437" y="2752344"/>
            <a:ext cx="1097280" cy="201168"/>
          </a:xfrm>
          <a:prstGeom prst="rect">
            <a:avLst/>
          </a:prstGeom>
          <a:noFill/>
          <a:ln/>
        </p:spPr>
        <p:txBody>
          <a:bodyPr wrap="square" lIns="0" tIns="0" rIns="0" bIns="0" rtlCol="0" anchor="ctr"/>
          <a:lstStyle/>
          <a:p>
            <a:pPr marL="0" indent="0" algn="ctr">
              <a:buNone/>
            </a:pPr>
            <a:r>
              <a:rPr lang="en-US" sz="1050" dirty="0">
                <a:solidFill>
                  <a:srgbClr val="3DD6FF"/>
                </a:solidFill>
                <a:latin typeface="Segoe UI Semibold" pitchFamily="34" charset="0"/>
                <a:ea typeface="Segoe UI Semibold" pitchFamily="34" charset="-122"/>
                <a:cs typeface="Segoe UI Semibold" pitchFamily="34" charset="-120"/>
              </a:rPr>
              <a:t>score = 1.90</a:t>
            </a:r>
            <a:endParaRPr lang="en-US" sz="1050" dirty="0"/>
          </a:p>
        </p:txBody>
      </p:sp>
      <p:sp>
        <p:nvSpPr>
          <p:cNvPr id="52" name="Shape 50"/>
          <p:cNvSpPr/>
          <p:nvPr/>
        </p:nvSpPr>
        <p:spPr>
          <a:xfrm rot="10800000">
            <a:off x="7505497" y="2971800"/>
            <a:ext cx="137160" cy="91440"/>
          </a:xfrm>
          <a:prstGeom prst="triangle">
            <a:avLst/>
          </a:prstGeom>
          <a:solidFill>
            <a:srgbClr val="3DD6FF"/>
          </a:solidFill>
          <a:ln/>
        </p:spPr>
        <p:txBody>
          <a:bodyPr/>
          <a:lstStyle/>
          <a:p>
            <a:endParaRPr lang="en-Z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ellipse">
            <a:avLst/>
          </a:prstGeom>
          <a:solidFill>
            <a:srgbClr val="FFD166"/>
          </a:solidFill>
          <a:ln/>
        </p:spPr>
        <p:txBody>
          <a:bodyPr/>
          <a:lstStyle/>
          <a:p>
            <a:endParaRPr lang="en-ZA"/>
          </a:p>
        </p:txBody>
      </p:sp>
      <p:sp>
        <p:nvSpPr>
          <p:cNvPr id="3" name="Text 1"/>
          <p:cNvSpPr/>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NOUL</a:t>
            </a:r>
            <a:endParaRPr lang="en-US" sz="1100" dirty="0"/>
          </a:p>
        </p:txBody>
      </p:sp>
      <p:sp>
        <p:nvSpPr>
          <p:cNvPr id="4" name="Text 2"/>
          <p:cNvSpPr/>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05 / 14</a:t>
            </a:r>
            <a:endParaRPr lang="en-US" sz="1100" dirty="0"/>
          </a:p>
        </p:txBody>
      </p:sp>
      <p:sp>
        <p:nvSpPr>
          <p:cNvPr id="5" name="Text 3"/>
          <p:cNvSpPr/>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One probability, many policies</a:t>
            </a:r>
            <a:endParaRPr lang="en-US" sz="3400" dirty="0"/>
          </a:p>
        </p:txBody>
      </p:sp>
      <p:sp>
        <p:nvSpPr>
          <p:cNvPr id="6" name="Shape 4"/>
          <p:cNvSpPr/>
          <p:nvPr/>
        </p:nvSpPr>
        <p:spPr>
          <a:xfrm>
            <a:off x="548640" y="1691640"/>
            <a:ext cx="4023360" cy="2834640"/>
          </a:xfrm>
          <a:prstGeom prst="roundRect">
            <a:avLst>
              <a:gd name="adj" fmla="val 3871"/>
            </a:avLst>
          </a:prstGeom>
          <a:solidFill>
            <a:srgbClr val="110F2B"/>
          </a:solidFill>
          <a:ln/>
        </p:spPr>
        <p:txBody>
          <a:bodyPr/>
          <a:lstStyle/>
          <a:p>
            <a:endParaRPr lang="en-ZA"/>
          </a:p>
        </p:txBody>
      </p:sp>
      <p:sp>
        <p:nvSpPr>
          <p:cNvPr id="7" name="Text 5"/>
          <p:cNvSpPr/>
          <p:nvPr/>
        </p:nvSpPr>
        <p:spPr>
          <a:xfrm>
            <a:off x="777240" y="1874520"/>
            <a:ext cx="182880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REQUEST</a:t>
            </a:r>
            <a:endParaRPr lang="en-US" sz="1050" dirty="0"/>
          </a:p>
        </p:txBody>
      </p:sp>
      <p:sp>
        <p:nvSpPr>
          <p:cNvPr id="8" name="Text 6"/>
          <p:cNvSpPr/>
          <p:nvPr/>
        </p:nvSpPr>
        <p:spPr>
          <a:xfrm>
            <a:off x="777240" y="2167128"/>
            <a:ext cx="3611880" cy="868680"/>
          </a:xfrm>
          <a:prstGeom prst="rect">
            <a:avLst/>
          </a:prstGeom>
          <a:noFill/>
          <a:ln/>
        </p:spPr>
        <p:txBody>
          <a:bodyPr wrap="square" lIns="0" tIns="0" rIns="0" bIns="0" rtlCol="0" anchor="t"/>
          <a:lstStyle/>
          <a:p>
            <a:pPr marL="0" indent="0">
              <a:lnSpc>
                <a:spcPct val="100000"/>
              </a:lnSpc>
              <a:buNone/>
            </a:pPr>
            <a:r>
              <a:rPr lang="en-US" sz="1100" dirty="0">
                <a:solidFill>
                  <a:srgbClr val="ECE9F8"/>
                </a:solidFill>
                <a:latin typeface="Consolas" pitchFamily="34" charset="0"/>
                <a:ea typeface="Consolas" pitchFamily="34" charset="-122"/>
                <a:cs typeface="Consolas" pitchFamily="34" charset="-120"/>
              </a:rPr>
              <a:t>"nitro"</a:t>
            </a:r>
            <a:r>
              <a:rPr lang="en-US" sz="1100" dirty="0">
                <a:solidFill>
                  <a:srgbClr val="ABA6C8"/>
                </a:solidFill>
                <a:latin typeface="Consolas" pitchFamily="34" charset="0"/>
                <a:ea typeface="Consolas" pitchFamily="34" charset="-122"/>
                <a:cs typeface="Consolas" pitchFamily="34" charset="-120"/>
              </a:rPr>
              <a:t>: {</a:t>
            </a:r>
            <a:endParaRPr lang="en-US" sz="1100" dirty="0"/>
          </a:p>
          <a:p>
            <a:pPr marL="0" indent="0">
              <a:lnSpc>
                <a:spcPct val="100000"/>
              </a:lnSpc>
              <a:buNone/>
            </a:pPr>
            <a:r>
              <a:rPr lang="en-US" sz="1100" dirty="0">
                <a:solidFill>
                  <a:srgbClr val="ABA6C8"/>
                </a:solidFill>
                <a:latin typeface="Consolas" pitchFamily="34" charset="0"/>
                <a:ea typeface="Consolas" pitchFamily="34" charset="-122"/>
                <a:cs typeface="Consolas" pitchFamily="34" charset="-120"/>
              </a:rPr>
              <a:t>  </a:t>
            </a:r>
            <a:r>
              <a:rPr lang="en-US" sz="1100" dirty="0">
                <a:solidFill>
                  <a:srgbClr val="ECE9F8"/>
                </a:solidFill>
                <a:latin typeface="Consolas" pitchFamily="34" charset="0"/>
                <a:ea typeface="Consolas" pitchFamily="34" charset="-122"/>
                <a:cs typeface="Consolas" pitchFamily="34" charset="-120"/>
              </a:rPr>
              <a:t>"type"</a:t>
            </a:r>
            <a:r>
              <a:rPr lang="en-US" sz="1100" dirty="0">
                <a:solidFill>
                  <a:srgbClr val="ABA6C8"/>
                </a:solidFill>
                <a:latin typeface="Consolas" pitchFamily="34" charset="0"/>
                <a:ea typeface="Consolas" pitchFamily="34" charset="-122"/>
                <a:cs typeface="Consolas" pitchFamily="34" charset="-120"/>
              </a:rPr>
              <a:t>: </a:t>
            </a:r>
            <a:r>
              <a:rPr lang="en-US" sz="1100" dirty="0">
                <a:solidFill>
                  <a:srgbClr val="FFD166"/>
                </a:solidFill>
                <a:latin typeface="Consolas" pitchFamily="34" charset="0"/>
                <a:ea typeface="Consolas" pitchFamily="34" charset="-122"/>
                <a:cs typeface="Consolas" pitchFamily="34" charset="-120"/>
              </a:rPr>
              <a:t>"noul"</a:t>
            </a:r>
            <a:r>
              <a:rPr lang="en-US" sz="1100" dirty="0">
                <a:solidFill>
                  <a:srgbClr val="ABA6C8"/>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ABA6C8"/>
                </a:solidFill>
                <a:latin typeface="Consolas" pitchFamily="34" charset="0"/>
                <a:ea typeface="Consolas" pitchFamily="34" charset="-122"/>
                <a:cs typeface="Consolas" pitchFamily="34" charset="-120"/>
              </a:rPr>
              <a:t>  </a:t>
            </a:r>
            <a:r>
              <a:rPr lang="en-US" sz="1100" dirty="0">
                <a:solidFill>
                  <a:srgbClr val="ECE9F8"/>
                </a:solidFill>
                <a:latin typeface="Consolas" pitchFamily="34" charset="0"/>
                <a:ea typeface="Consolas" pitchFamily="34" charset="-122"/>
                <a:cs typeface="Consolas" pitchFamily="34" charset="-120"/>
              </a:rPr>
              <a:t>"instructions"</a:t>
            </a:r>
            <a:r>
              <a:rPr lang="en-US" sz="1100" dirty="0">
                <a:solidFill>
                  <a:srgbClr val="ABA6C8"/>
                </a:solidFill>
                <a:latin typeface="Consolas" pitchFamily="34" charset="0"/>
                <a:ea typeface="Consolas" pitchFamily="34" charset="-122"/>
                <a:cs typeface="Consolas" pitchFamily="34" charset="-120"/>
              </a:rPr>
              <a:t>:</a:t>
            </a:r>
            <a:endParaRPr lang="en-US" sz="1100" dirty="0"/>
          </a:p>
          <a:p>
            <a:pPr marL="0" indent="0">
              <a:lnSpc>
                <a:spcPct val="100000"/>
              </a:lnSpc>
              <a:buNone/>
            </a:pPr>
            <a:r>
              <a:rPr lang="en-US" sz="1100" dirty="0">
                <a:solidFill>
                  <a:srgbClr val="ABA6C8"/>
                </a:solidFill>
                <a:latin typeface="Consolas" pitchFamily="34" charset="0"/>
                <a:ea typeface="Consolas" pitchFamily="34" charset="-122"/>
                <a:cs typeface="Consolas" pitchFamily="34" charset="-120"/>
              </a:rPr>
              <a:t>    </a:t>
            </a:r>
            <a:r>
              <a:rPr lang="en-US" sz="1100" dirty="0">
                <a:solidFill>
                  <a:srgbClr val="FFD166"/>
                </a:solidFill>
                <a:latin typeface="Consolas" pitchFamily="34" charset="0"/>
                <a:ea typeface="Consolas" pitchFamily="34" charset="-122"/>
                <a:cs typeface="Consolas" pitchFamily="34" charset="-120"/>
              </a:rPr>
              <a:t>"Should the driver fire the nitro …"</a:t>
            </a:r>
            <a:endParaRPr lang="en-US" sz="1100" dirty="0"/>
          </a:p>
          <a:p>
            <a:pPr marL="0" indent="0">
              <a:lnSpc>
                <a:spcPct val="100000"/>
              </a:lnSpc>
              <a:buNone/>
            </a:pPr>
            <a:r>
              <a:rPr lang="en-US" sz="1100" dirty="0">
                <a:solidFill>
                  <a:srgbClr val="ABA6C8"/>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777240" y="3209544"/>
            <a:ext cx="182880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RESPONSE</a:t>
            </a:r>
            <a:endParaRPr lang="en-US" sz="1050" dirty="0"/>
          </a:p>
        </p:txBody>
      </p:sp>
      <p:sp>
        <p:nvSpPr>
          <p:cNvPr id="10" name="Text 8"/>
          <p:cNvSpPr/>
          <p:nvPr/>
        </p:nvSpPr>
        <p:spPr>
          <a:xfrm>
            <a:off x="777240" y="3502152"/>
            <a:ext cx="3611880" cy="201168"/>
          </a:xfrm>
          <a:prstGeom prst="rect">
            <a:avLst/>
          </a:prstGeom>
          <a:noFill/>
          <a:ln/>
        </p:spPr>
        <p:txBody>
          <a:bodyPr wrap="square" lIns="0" tIns="0" rIns="0" bIns="0" rtlCol="0" anchor="t"/>
          <a:lstStyle/>
          <a:p>
            <a:pPr marL="0" indent="0">
              <a:lnSpc>
                <a:spcPct val="100000"/>
              </a:lnSpc>
              <a:buNone/>
            </a:pPr>
            <a:r>
              <a:rPr lang="en-US" sz="1100" dirty="0">
                <a:solidFill>
                  <a:srgbClr val="ECE9F8"/>
                </a:solidFill>
                <a:latin typeface="Consolas" pitchFamily="34" charset="0"/>
                <a:ea typeface="Consolas" pitchFamily="34" charset="-122"/>
                <a:cs typeface="Consolas" pitchFamily="34" charset="-120"/>
              </a:rPr>
              <a:t>"nitro"</a:t>
            </a:r>
            <a:r>
              <a:rPr lang="en-US" sz="1100" dirty="0">
                <a:solidFill>
                  <a:srgbClr val="ABA6C8"/>
                </a:solidFill>
                <a:latin typeface="Consolas" pitchFamily="34" charset="0"/>
                <a:ea typeface="Consolas" pitchFamily="34" charset="-122"/>
                <a:cs typeface="Consolas" pitchFamily="34" charset="-120"/>
              </a:rPr>
              <a:t>: { </a:t>
            </a:r>
            <a:r>
              <a:rPr lang="en-US" sz="1100" dirty="0">
                <a:solidFill>
                  <a:srgbClr val="ECE9F8"/>
                </a:solidFill>
                <a:latin typeface="Consolas" pitchFamily="34" charset="0"/>
                <a:ea typeface="Consolas" pitchFamily="34" charset="-122"/>
                <a:cs typeface="Consolas" pitchFamily="34" charset="-120"/>
              </a:rPr>
              <a:t>"type"</a:t>
            </a:r>
            <a:r>
              <a:rPr lang="en-US" sz="1100" dirty="0">
                <a:solidFill>
                  <a:srgbClr val="ABA6C8"/>
                </a:solidFill>
                <a:latin typeface="Consolas" pitchFamily="34" charset="0"/>
                <a:ea typeface="Consolas" pitchFamily="34" charset="-122"/>
                <a:cs typeface="Consolas" pitchFamily="34" charset="-120"/>
              </a:rPr>
              <a:t>: </a:t>
            </a:r>
            <a:r>
              <a:rPr lang="en-US" sz="1100" dirty="0">
                <a:solidFill>
                  <a:srgbClr val="FFD166"/>
                </a:solidFill>
                <a:latin typeface="Consolas" pitchFamily="34" charset="0"/>
                <a:ea typeface="Consolas" pitchFamily="34" charset="-122"/>
                <a:cs typeface="Consolas" pitchFamily="34" charset="-120"/>
              </a:rPr>
              <a:t>"noul"</a:t>
            </a:r>
            <a:r>
              <a:rPr lang="en-US" sz="1100" dirty="0">
                <a:solidFill>
                  <a:srgbClr val="ABA6C8"/>
                </a:solidFill>
                <a:latin typeface="Consolas" pitchFamily="34" charset="0"/>
                <a:ea typeface="Consolas" pitchFamily="34" charset="-122"/>
                <a:cs typeface="Consolas" pitchFamily="34" charset="-120"/>
              </a:rPr>
              <a:t>, </a:t>
            </a:r>
            <a:r>
              <a:rPr lang="en-US" sz="1100" dirty="0">
                <a:solidFill>
                  <a:srgbClr val="ECE9F8"/>
                </a:solidFill>
                <a:latin typeface="Consolas" pitchFamily="34" charset="0"/>
                <a:ea typeface="Consolas" pitchFamily="34" charset="-122"/>
                <a:cs typeface="Consolas" pitchFamily="34" charset="-120"/>
              </a:rPr>
              <a:t>"noul"</a:t>
            </a:r>
            <a:r>
              <a:rPr lang="en-US" sz="1100" dirty="0">
                <a:solidFill>
                  <a:srgbClr val="ABA6C8"/>
                </a:solidFill>
                <a:latin typeface="Consolas" pitchFamily="34" charset="0"/>
                <a:ea typeface="Consolas" pitchFamily="34" charset="-122"/>
                <a:cs typeface="Consolas" pitchFamily="34" charset="-120"/>
              </a:rPr>
              <a:t>: </a:t>
            </a:r>
            <a:r>
              <a:rPr lang="en-US" sz="1100" dirty="0">
                <a:solidFill>
                  <a:srgbClr val="3DD6FF"/>
                </a:solidFill>
                <a:latin typeface="Consolas" pitchFamily="34" charset="0"/>
                <a:ea typeface="Consolas" pitchFamily="34" charset="-122"/>
                <a:cs typeface="Consolas" pitchFamily="34" charset="-120"/>
              </a:rPr>
              <a:t>0.62</a:t>
            </a:r>
            <a:r>
              <a:rPr lang="en-US" sz="1100" dirty="0">
                <a:solidFill>
                  <a:srgbClr val="ABA6C8"/>
                </a:solidFill>
                <a:latin typeface="Consolas" pitchFamily="34" charset="0"/>
                <a:ea typeface="Consolas" pitchFamily="34" charset="-122"/>
                <a:cs typeface="Consolas" pitchFamily="34" charset="-120"/>
              </a:rPr>
              <a:t> }</a:t>
            </a:r>
            <a:endParaRPr lang="en-US" sz="1100" dirty="0"/>
          </a:p>
        </p:txBody>
      </p:sp>
      <p:sp>
        <p:nvSpPr>
          <p:cNvPr id="12" name="Text 10"/>
          <p:cNvSpPr/>
          <p:nvPr/>
        </p:nvSpPr>
        <p:spPr>
          <a:xfrm>
            <a:off x="4846320" y="1874520"/>
            <a:ext cx="374904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SAME ANSWER, FIVE DRIVERS</a:t>
            </a:r>
            <a:endParaRPr lang="en-US" sz="1050" dirty="0"/>
          </a:p>
        </p:txBody>
      </p:sp>
      <p:sp>
        <p:nvSpPr>
          <p:cNvPr id="13" name="Shape 11"/>
          <p:cNvSpPr/>
          <p:nvPr/>
        </p:nvSpPr>
        <p:spPr>
          <a:xfrm>
            <a:off x="4846320" y="2788920"/>
            <a:ext cx="3749040" cy="73152"/>
          </a:xfrm>
          <a:prstGeom prst="rect">
            <a:avLst/>
          </a:prstGeom>
          <a:solidFill>
            <a:srgbClr val="36316A"/>
          </a:solidFill>
          <a:ln/>
        </p:spPr>
        <p:txBody>
          <a:bodyPr/>
          <a:lstStyle/>
          <a:p>
            <a:endParaRPr lang="en-ZA"/>
          </a:p>
        </p:txBody>
      </p:sp>
      <p:sp>
        <p:nvSpPr>
          <p:cNvPr id="14" name="Text 12"/>
          <p:cNvSpPr/>
          <p:nvPr/>
        </p:nvSpPr>
        <p:spPr>
          <a:xfrm>
            <a:off x="6330696" y="2258568"/>
            <a:ext cx="1280160" cy="219456"/>
          </a:xfrm>
          <a:prstGeom prst="rect">
            <a:avLst/>
          </a:prstGeom>
          <a:noFill/>
          <a:ln/>
        </p:spPr>
        <p:txBody>
          <a:bodyPr wrap="square" lIns="0" tIns="0" rIns="0" bIns="0" rtlCol="0" anchor="ctr"/>
          <a:lstStyle/>
          <a:p>
            <a:pPr marL="0" indent="0" algn="ctr">
              <a:buNone/>
            </a:pPr>
            <a:r>
              <a:rPr lang="en-US" sz="1100" dirty="0">
                <a:solidFill>
                  <a:srgbClr val="3DD6FF"/>
                </a:solidFill>
                <a:latin typeface="Segoe UI Semibold" pitchFamily="34" charset="0"/>
                <a:ea typeface="Segoe UI Semibold" pitchFamily="34" charset="-122"/>
                <a:cs typeface="Segoe UI Semibold" pitchFamily="34" charset="-120"/>
              </a:rPr>
              <a:t>noul = 0.62</a:t>
            </a:r>
            <a:endParaRPr lang="en-US" sz="1100" dirty="0"/>
          </a:p>
        </p:txBody>
      </p:sp>
      <p:sp>
        <p:nvSpPr>
          <p:cNvPr id="15" name="Shape 13"/>
          <p:cNvSpPr/>
          <p:nvPr/>
        </p:nvSpPr>
        <p:spPr>
          <a:xfrm>
            <a:off x="6959803" y="2514600"/>
            <a:ext cx="21946" cy="384048"/>
          </a:xfrm>
          <a:prstGeom prst="rect">
            <a:avLst/>
          </a:prstGeom>
          <a:solidFill>
            <a:srgbClr val="3DD6FF"/>
          </a:solidFill>
          <a:ln/>
        </p:spPr>
        <p:txBody>
          <a:bodyPr/>
          <a:lstStyle/>
          <a:p>
            <a:endParaRPr lang="en-ZA"/>
          </a:p>
        </p:txBody>
      </p:sp>
      <p:sp>
        <p:nvSpPr>
          <p:cNvPr id="16" name="Shape 14"/>
          <p:cNvSpPr/>
          <p:nvPr/>
        </p:nvSpPr>
        <p:spPr>
          <a:xfrm>
            <a:off x="5407152" y="2761488"/>
            <a:ext cx="128016" cy="128016"/>
          </a:xfrm>
          <a:prstGeom prst="ellipse">
            <a:avLst/>
          </a:prstGeom>
          <a:solidFill>
            <a:srgbClr val="ECE9F8"/>
          </a:solidFill>
          <a:ln/>
        </p:spPr>
        <p:txBody>
          <a:bodyPr/>
          <a:lstStyle/>
          <a:p>
            <a:endParaRPr lang="en-ZA"/>
          </a:p>
        </p:txBody>
      </p:sp>
      <p:sp>
        <p:nvSpPr>
          <p:cNvPr id="17" name="Text 15"/>
          <p:cNvSpPr/>
          <p:nvPr/>
        </p:nvSpPr>
        <p:spPr>
          <a:xfrm>
            <a:off x="5196840" y="2944368"/>
            <a:ext cx="548640" cy="182880"/>
          </a:xfrm>
          <a:prstGeom prst="rect">
            <a:avLst/>
          </a:prstGeom>
          <a:noFill/>
          <a:ln/>
        </p:spPr>
        <p:txBody>
          <a:bodyPr wrap="square" lIns="0" tIns="0" rIns="0" bIns="0" rtlCol="0" anchor="ctr"/>
          <a:lstStyle/>
          <a:p>
            <a:pPr marL="0" indent="0" algn="ctr">
              <a:buNone/>
            </a:pPr>
            <a:r>
              <a:rPr lang="en-US" sz="1100" dirty="0">
                <a:solidFill>
                  <a:srgbClr val="ABA6C8"/>
                </a:solidFill>
                <a:latin typeface="Segoe UI" pitchFamily="34" charset="0"/>
                <a:ea typeface="Segoe UI" pitchFamily="34" charset="-122"/>
                <a:cs typeface="Segoe UI" pitchFamily="34" charset="-120"/>
              </a:rPr>
              <a:t>0.50</a:t>
            </a:r>
            <a:endParaRPr lang="en-US" sz="1100" dirty="0"/>
          </a:p>
        </p:txBody>
      </p:sp>
      <p:sp>
        <p:nvSpPr>
          <p:cNvPr id="18" name="Shape 16"/>
          <p:cNvSpPr/>
          <p:nvPr/>
        </p:nvSpPr>
        <p:spPr>
          <a:xfrm>
            <a:off x="6656832" y="2761488"/>
            <a:ext cx="128016" cy="128016"/>
          </a:xfrm>
          <a:prstGeom prst="ellipse">
            <a:avLst/>
          </a:prstGeom>
          <a:solidFill>
            <a:srgbClr val="ECE9F8"/>
          </a:solidFill>
          <a:ln/>
        </p:spPr>
        <p:txBody>
          <a:bodyPr/>
          <a:lstStyle/>
          <a:p>
            <a:endParaRPr lang="en-ZA"/>
          </a:p>
        </p:txBody>
      </p:sp>
      <p:sp>
        <p:nvSpPr>
          <p:cNvPr id="19" name="Text 17"/>
          <p:cNvSpPr/>
          <p:nvPr/>
        </p:nvSpPr>
        <p:spPr>
          <a:xfrm>
            <a:off x="6446520" y="2944368"/>
            <a:ext cx="548640" cy="182880"/>
          </a:xfrm>
          <a:prstGeom prst="rect">
            <a:avLst/>
          </a:prstGeom>
          <a:noFill/>
          <a:ln/>
        </p:spPr>
        <p:txBody>
          <a:bodyPr wrap="square" lIns="0" tIns="0" rIns="0" bIns="0" rtlCol="0" anchor="ctr"/>
          <a:lstStyle/>
          <a:p>
            <a:pPr marL="0" indent="0" algn="ctr">
              <a:buNone/>
            </a:pPr>
            <a:r>
              <a:rPr lang="en-US" sz="1100" dirty="0">
                <a:solidFill>
                  <a:srgbClr val="ABA6C8"/>
                </a:solidFill>
                <a:latin typeface="Segoe UI" pitchFamily="34" charset="0"/>
                <a:ea typeface="Segoe UI" pitchFamily="34" charset="-122"/>
                <a:cs typeface="Segoe UI" pitchFamily="34" charset="-120"/>
              </a:rPr>
              <a:t>0.60</a:t>
            </a:r>
            <a:endParaRPr lang="en-US" sz="1100" dirty="0"/>
          </a:p>
        </p:txBody>
      </p:sp>
      <p:sp>
        <p:nvSpPr>
          <p:cNvPr id="20" name="Shape 18"/>
          <p:cNvSpPr/>
          <p:nvPr/>
        </p:nvSpPr>
        <p:spPr>
          <a:xfrm>
            <a:off x="7281672" y="2761488"/>
            <a:ext cx="128016" cy="128016"/>
          </a:xfrm>
          <a:prstGeom prst="ellipse">
            <a:avLst/>
          </a:prstGeom>
          <a:solidFill>
            <a:srgbClr val="ECE9F8"/>
          </a:solidFill>
          <a:ln/>
        </p:spPr>
        <p:txBody>
          <a:bodyPr/>
          <a:lstStyle/>
          <a:p>
            <a:endParaRPr lang="en-ZA"/>
          </a:p>
        </p:txBody>
      </p:sp>
      <p:sp>
        <p:nvSpPr>
          <p:cNvPr id="21" name="Text 19"/>
          <p:cNvSpPr/>
          <p:nvPr/>
        </p:nvSpPr>
        <p:spPr>
          <a:xfrm>
            <a:off x="7071360" y="2944368"/>
            <a:ext cx="548640" cy="182880"/>
          </a:xfrm>
          <a:prstGeom prst="rect">
            <a:avLst/>
          </a:prstGeom>
          <a:noFill/>
          <a:ln/>
        </p:spPr>
        <p:txBody>
          <a:bodyPr wrap="square" lIns="0" tIns="0" rIns="0" bIns="0" rtlCol="0" anchor="ctr"/>
          <a:lstStyle/>
          <a:p>
            <a:pPr marL="0" indent="0" algn="ctr">
              <a:buNone/>
            </a:pPr>
            <a:r>
              <a:rPr lang="en-US" sz="1100" dirty="0">
                <a:solidFill>
                  <a:srgbClr val="ABA6C8"/>
                </a:solidFill>
                <a:latin typeface="Segoe UI" pitchFamily="34" charset="0"/>
                <a:ea typeface="Segoe UI" pitchFamily="34" charset="-122"/>
                <a:cs typeface="Segoe UI" pitchFamily="34" charset="-120"/>
              </a:rPr>
              <a:t>0.65</a:t>
            </a:r>
            <a:endParaRPr lang="en-US" sz="1100" dirty="0"/>
          </a:p>
        </p:txBody>
      </p:sp>
      <p:sp>
        <p:nvSpPr>
          <p:cNvPr id="22" name="Text 20"/>
          <p:cNvSpPr/>
          <p:nvPr/>
        </p:nvSpPr>
        <p:spPr>
          <a:xfrm>
            <a:off x="4846320" y="3383280"/>
            <a:ext cx="640080" cy="310896"/>
          </a:xfrm>
          <a:prstGeom prst="rect">
            <a:avLst/>
          </a:prstGeom>
          <a:noFill/>
          <a:ln/>
        </p:spPr>
        <p:txBody>
          <a:bodyPr wrap="square" lIns="0" tIns="0" rIns="0" bIns="0" rtlCol="0" anchor="ctr"/>
          <a:lstStyle/>
          <a:p>
            <a:pPr marL="0" indent="0">
              <a:buNone/>
            </a:pPr>
            <a:r>
              <a:rPr lang="en-US" sz="1200" dirty="0">
                <a:solidFill>
                  <a:srgbClr val="ECE9F8"/>
                </a:solidFill>
                <a:latin typeface="Segoe UI Semibold" pitchFamily="34" charset="0"/>
                <a:ea typeface="Segoe UI Semibold" pitchFamily="34" charset="-122"/>
                <a:cs typeface="Segoe UI Semibold" pitchFamily="34" charset="-120"/>
              </a:rPr>
              <a:t>≥ 0.50</a:t>
            </a:r>
            <a:endParaRPr lang="en-US" sz="1200" dirty="0"/>
          </a:p>
        </p:txBody>
      </p:sp>
      <p:sp>
        <p:nvSpPr>
          <p:cNvPr id="23" name="Text 21"/>
          <p:cNvSpPr/>
          <p:nvPr/>
        </p:nvSpPr>
        <p:spPr>
          <a:xfrm>
            <a:off x="5577840" y="3383280"/>
            <a:ext cx="2377440" cy="310896"/>
          </a:xfrm>
          <a:prstGeom prst="rect">
            <a:avLst/>
          </a:prstGeom>
          <a:noFill/>
          <a:ln/>
        </p:spPr>
        <p:txBody>
          <a:bodyPr wrap="square" lIns="0" tIns="0" rIns="0" bIns="0" rtlCol="0" anchor="ctr"/>
          <a:lstStyle/>
          <a:p>
            <a:pPr marL="0" indent="0">
              <a:buNone/>
            </a:pPr>
            <a:r>
              <a:rPr lang="en-US" sz="1150" dirty="0">
                <a:solidFill>
                  <a:srgbClr val="ECE9F8"/>
                </a:solidFill>
                <a:latin typeface="Segoe UI" pitchFamily="34" charset="0"/>
                <a:ea typeface="Segoe UI" pitchFamily="34" charset="-122"/>
                <a:cs typeface="Segoe UI" pitchFamily="34" charset="-120"/>
              </a:rPr>
              <a:t>Vega, Rigel</a:t>
            </a:r>
            <a:r>
              <a:rPr lang="en-US" sz="1150" dirty="0">
                <a:solidFill>
                  <a:srgbClr val="ABA6C8"/>
                </a:solidFill>
                <a:latin typeface="Segoe UI" pitchFamily="34" charset="0"/>
                <a:ea typeface="Segoe UI" pitchFamily="34" charset="-122"/>
                <a:cs typeface="Segoe UI" pitchFamily="34" charset="-120"/>
              </a:rPr>
              <a:t>  aggressive · wildcard</a:t>
            </a:r>
            <a:endParaRPr lang="en-US" sz="1150" dirty="0"/>
          </a:p>
        </p:txBody>
      </p:sp>
      <p:sp>
        <p:nvSpPr>
          <p:cNvPr id="24" name="Text 22"/>
          <p:cNvSpPr/>
          <p:nvPr/>
        </p:nvSpPr>
        <p:spPr>
          <a:xfrm>
            <a:off x="7955280" y="3383280"/>
            <a:ext cx="640080" cy="310896"/>
          </a:xfrm>
          <a:prstGeom prst="rect">
            <a:avLst/>
          </a:prstGeom>
          <a:noFill/>
          <a:ln/>
        </p:spPr>
        <p:txBody>
          <a:bodyPr wrap="square" lIns="0" tIns="0" rIns="0" bIns="0" rtlCol="0" anchor="ctr"/>
          <a:lstStyle/>
          <a:p>
            <a:pPr marL="0" indent="0" algn="r">
              <a:buNone/>
            </a:pPr>
            <a:r>
              <a:rPr lang="en-US" sz="1100" b="1" kern="0" spc="200" dirty="0">
                <a:solidFill>
                  <a:srgbClr val="4ADE80"/>
                </a:solidFill>
                <a:latin typeface="Segoe UI Semibold" pitchFamily="34" charset="0"/>
                <a:ea typeface="Segoe UI Semibold" pitchFamily="34" charset="-122"/>
                <a:cs typeface="Segoe UI Semibold" pitchFamily="34" charset="-120"/>
              </a:rPr>
              <a:t>FIRE</a:t>
            </a:r>
            <a:endParaRPr lang="en-US" sz="1100" dirty="0"/>
          </a:p>
        </p:txBody>
      </p:sp>
      <p:sp>
        <p:nvSpPr>
          <p:cNvPr id="25" name="Text 23"/>
          <p:cNvSpPr/>
          <p:nvPr/>
        </p:nvSpPr>
        <p:spPr>
          <a:xfrm>
            <a:off x="4846320" y="3767328"/>
            <a:ext cx="640080" cy="310896"/>
          </a:xfrm>
          <a:prstGeom prst="rect">
            <a:avLst/>
          </a:prstGeom>
          <a:noFill/>
          <a:ln/>
        </p:spPr>
        <p:txBody>
          <a:bodyPr wrap="square" lIns="0" tIns="0" rIns="0" bIns="0" rtlCol="0" anchor="ctr"/>
          <a:lstStyle/>
          <a:p>
            <a:pPr marL="0" indent="0">
              <a:buNone/>
            </a:pPr>
            <a:r>
              <a:rPr lang="en-US" sz="1200" dirty="0">
                <a:solidFill>
                  <a:srgbClr val="ECE9F8"/>
                </a:solidFill>
                <a:latin typeface="Segoe UI Semibold" pitchFamily="34" charset="0"/>
                <a:ea typeface="Segoe UI Semibold" pitchFamily="34" charset="-122"/>
                <a:cs typeface="Segoe UI Semibold" pitchFamily="34" charset="-120"/>
              </a:rPr>
              <a:t>≥ 0.60</a:t>
            </a:r>
            <a:endParaRPr lang="en-US" sz="1200" dirty="0"/>
          </a:p>
        </p:txBody>
      </p:sp>
      <p:sp>
        <p:nvSpPr>
          <p:cNvPr id="26" name="Text 24"/>
          <p:cNvSpPr/>
          <p:nvPr/>
        </p:nvSpPr>
        <p:spPr>
          <a:xfrm>
            <a:off x="5577840" y="3767328"/>
            <a:ext cx="2377440" cy="310896"/>
          </a:xfrm>
          <a:prstGeom prst="rect">
            <a:avLst/>
          </a:prstGeom>
          <a:noFill/>
          <a:ln/>
        </p:spPr>
        <p:txBody>
          <a:bodyPr wrap="square" lIns="0" tIns="0" rIns="0" bIns="0" rtlCol="0" anchor="ctr"/>
          <a:lstStyle/>
          <a:p>
            <a:pPr marL="0" indent="0">
              <a:buNone/>
            </a:pPr>
            <a:r>
              <a:rPr lang="en-US" sz="1150" dirty="0">
                <a:solidFill>
                  <a:srgbClr val="ECE9F8"/>
                </a:solidFill>
                <a:latin typeface="Segoe UI" pitchFamily="34" charset="0"/>
                <a:ea typeface="Segoe UI" pitchFamily="34" charset="-122"/>
                <a:cs typeface="Segoe UI" pitchFamily="34" charset="-120"/>
              </a:rPr>
              <a:t>Orion</a:t>
            </a:r>
            <a:r>
              <a:rPr lang="en-US" sz="1150" dirty="0">
                <a:solidFill>
                  <a:srgbClr val="ABA6C8"/>
                </a:solidFill>
                <a:latin typeface="Segoe UI" pitchFamily="34" charset="0"/>
                <a:ea typeface="Segoe UI" pitchFamily="34" charset="-122"/>
                <a:cs typeface="Segoe UI" pitchFamily="34" charset="-120"/>
              </a:rPr>
              <a:t>  defensive</a:t>
            </a:r>
            <a:endParaRPr lang="en-US" sz="1150" dirty="0"/>
          </a:p>
        </p:txBody>
      </p:sp>
      <p:sp>
        <p:nvSpPr>
          <p:cNvPr id="27" name="Text 25"/>
          <p:cNvSpPr/>
          <p:nvPr/>
        </p:nvSpPr>
        <p:spPr>
          <a:xfrm>
            <a:off x="7955280" y="3767328"/>
            <a:ext cx="640080" cy="310896"/>
          </a:xfrm>
          <a:prstGeom prst="rect">
            <a:avLst/>
          </a:prstGeom>
          <a:noFill/>
          <a:ln/>
        </p:spPr>
        <p:txBody>
          <a:bodyPr wrap="square" lIns="0" tIns="0" rIns="0" bIns="0" rtlCol="0" anchor="ctr"/>
          <a:lstStyle/>
          <a:p>
            <a:pPr marL="0" indent="0" algn="r">
              <a:buNone/>
            </a:pPr>
            <a:r>
              <a:rPr lang="en-US" sz="1100" b="1" kern="0" spc="200" dirty="0">
                <a:solidFill>
                  <a:srgbClr val="4ADE80"/>
                </a:solidFill>
                <a:latin typeface="Segoe UI Semibold" pitchFamily="34" charset="0"/>
                <a:ea typeface="Segoe UI Semibold" pitchFamily="34" charset="-122"/>
                <a:cs typeface="Segoe UI Semibold" pitchFamily="34" charset="-120"/>
              </a:rPr>
              <a:t>FIRE</a:t>
            </a:r>
            <a:endParaRPr lang="en-US" sz="1100" dirty="0"/>
          </a:p>
        </p:txBody>
      </p:sp>
      <p:sp>
        <p:nvSpPr>
          <p:cNvPr id="28" name="Text 26"/>
          <p:cNvSpPr/>
          <p:nvPr/>
        </p:nvSpPr>
        <p:spPr>
          <a:xfrm>
            <a:off x="4846320" y="4151376"/>
            <a:ext cx="640080" cy="310896"/>
          </a:xfrm>
          <a:prstGeom prst="rect">
            <a:avLst/>
          </a:prstGeom>
          <a:noFill/>
          <a:ln/>
        </p:spPr>
        <p:txBody>
          <a:bodyPr wrap="square" lIns="0" tIns="0" rIns="0" bIns="0" rtlCol="0" anchor="ctr"/>
          <a:lstStyle/>
          <a:p>
            <a:pPr marL="0" indent="0">
              <a:buNone/>
            </a:pPr>
            <a:r>
              <a:rPr lang="en-US" sz="1200" dirty="0">
                <a:solidFill>
                  <a:srgbClr val="ECE9F8"/>
                </a:solidFill>
                <a:latin typeface="Segoe UI Semibold" pitchFamily="34" charset="0"/>
                <a:ea typeface="Segoe UI Semibold" pitchFamily="34" charset="-122"/>
                <a:cs typeface="Segoe UI Semibold" pitchFamily="34" charset="-120"/>
              </a:rPr>
              <a:t>≥ 0.65</a:t>
            </a:r>
            <a:endParaRPr lang="en-US" sz="1200" dirty="0"/>
          </a:p>
        </p:txBody>
      </p:sp>
      <p:sp>
        <p:nvSpPr>
          <p:cNvPr id="29" name="Text 27"/>
          <p:cNvSpPr/>
          <p:nvPr/>
        </p:nvSpPr>
        <p:spPr>
          <a:xfrm>
            <a:off x="5577840" y="4151376"/>
            <a:ext cx="2377440" cy="310896"/>
          </a:xfrm>
          <a:prstGeom prst="rect">
            <a:avLst/>
          </a:prstGeom>
          <a:noFill/>
          <a:ln/>
        </p:spPr>
        <p:txBody>
          <a:bodyPr wrap="square" lIns="0" tIns="0" rIns="0" bIns="0" rtlCol="0" anchor="ctr"/>
          <a:lstStyle/>
          <a:p>
            <a:pPr marL="0" indent="0">
              <a:buNone/>
            </a:pPr>
            <a:r>
              <a:rPr lang="en-US" sz="1150" dirty="0">
                <a:solidFill>
                  <a:srgbClr val="ECE9F8"/>
                </a:solidFill>
                <a:latin typeface="Segoe UI" pitchFamily="34" charset="0"/>
                <a:ea typeface="Segoe UI" pitchFamily="34" charset="-122"/>
                <a:cs typeface="Segoe UI" pitchFamily="34" charset="-120"/>
              </a:rPr>
              <a:t>Nova, Lyra</a:t>
            </a:r>
            <a:r>
              <a:rPr lang="en-US" sz="1150" dirty="0">
                <a:solidFill>
                  <a:srgbClr val="ABA6C8"/>
                </a:solidFill>
                <a:latin typeface="Segoe UI" pitchFamily="34" charset="0"/>
                <a:ea typeface="Segoe UI" pitchFamily="34" charset="-122"/>
                <a:cs typeface="Segoe UI" pitchFamily="34" charset="-120"/>
              </a:rPr>
              <a:t>  tactical · smooth</a:t>
            </a:r>
            <a:endParaRPr lang="en-US" sz="1150" dirty="0"/>
          </a:p>
        </p:txBody>
      </p:sp>
      <p:sp>
        <p:nvSpPr>
          <p:cNvPr id="30" name="Text 28"/>
          <p:cNvSpPr/>
          <p:nvPr/>
        </p:nvSpPr>
        <p:spPr>
          <a:xfrm>
            <a:off x="7955280" y="4151376"/>
            <a:ext cx="640080" cy="310896"/>
          </a:xfrm>
          <a:prstGeom prst="rect">
            <a:avLst/>
          </a:prstGeom>
          <a:noFill/>
          <a:ln/>
        </p:spPr>
        <p:txBody>
          <a:bodyPr wrap="square" lIns="0" tIns="0" rIns="0" bIns="0" rtlCol="0" anchor="ctr"/>
          <a:lstStyle/>
          <a:p>
            <a:pPr marL="0" indent="0" algn="r">
              <a:buNone/>
            </a:pPr>
            <a:r>
              <a:rPr lang="en-US" sz="1100" b="1" kern="0" spc="200" dirty="0">
                <a:solidFill>
                  <a:srgbClr val="FF5FA2"/>
                </a:solidFill>
                <a:latin typeface="Segoe UI Semibold" pitchFamily="34" charset="0"/>
                <a:ea typeface="Segoe UI Semibold" pitchFamily="34" charset="-122"/>
                <a:cs typeface="Segoe UI Semibold" pitchFamily="34" charset="-120"/>
              </a:rPr>
              <a:t>HOLD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ellipse">
            <a:avLst/>
          </a:prstGeom>
          <a:solidFill>
            <a:srgbClr val="FFD166"/>
          </a:solidFill>
          <a:ln/>
        </p:spPr>
        <p:txBody>
          <a:bodyPr/>
          <a:lstStyle/>
          <a:p>
            <a:endParaRPr lang="en-ZA"/>
          </a:p>
        </p:txBody>
      </p:sp>
      <p:sp>
        <p:nvSpPr>
          <p:cNvPr id="3" name="Text 1"/>
          <p:cNvSpPr/>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THE QUESTIONS</a:t>
            </a:r>
            <a:endParaRPr lang="en-US" sz="1100" dirty="0"/>
          </a:p>
        </p:txBody>
      </p:sp>
      <p:sp>
        <p:nvSpPr>
          <p:cNvPr id="4" name="Text 2"/>
          <p:cNvSpPr/>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06 / 14</a:t>
            </a:r>
            <a:endParaRPr lang="en-US" sz="1100" dirty="0"/>
          </a:p>
        </p:txBody>
      </p:sp>
      <p:sp>
        <p:nvSpPr>
          <p:cNvPr id="5" name="Text 3"/>
          <p:cNvSpPr/>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Eight questions, three callers</a:t>
            </a:r>
            <a:endParaRPr lang="en-US" sz="3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8046720" cy="2761488"/>
        </p:xfrm>
        <a:graphic>
          <a:graphicData uri="http://schemas.openxmlformats.org/drawingml/2006/table">
            <a:tbl>
              <a:tblPr/>
              <a:tblGrid>
                <a:gridCol w="13258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gridCol w="2423160">
                  <a:extLst>
                    <a:ext uri="{9D8B030D-6E8A-4147-A177-3AD203B41FA5}">
                      <a16:colId xmlns:a16="http://schemas.microsoft.com/office/drawing/2014/main" val="20004"/>
                    </a:ext>
                  </a:extLst>
                </a:gridCol>
              </a:tblGrid>
              <a:tr h="274320">
                <a:tc>
                  <a:txBody>
                    <a:bodyPr/>
                    <a:lstStyle/>
                    <a:p>
                      <a:pPr marL="0" indent="0">
                        <a:buNone/>
                      </a:pPr>
                      <a:r>
                        <a:rPr lang="en-US" sz="1000" kern="0" spc="200" dirty="0">
                          <a:solidFill>
                            <a:srgbClr val="ABA6C8"/>
                          </a:solidFill>
                          <a:latin typeface="Segoe UI Semibold" pitchFamily="34" charset="0"/>
                          <a:ea typeface="Segoe UI Semibold" pitchFamily="34" charset="-122"/>
                          <a:cs typeface="Segoe UI Semibold" pitchFamily="34" charset="-120"/>
                        </a:rPr>
                        <a:t>CALLER</a:t>
                      </a:r>
                      <a:endParaRPr lang="en-US" sz="1000" dirty="0">
                        <a:latin typeface="Segoe UI Semibold" charset="0"/>
                        <a:ea typeface="Segoe UI Semibold" charset="0"/>
                        <a:cs typeface="Segoe UI Semibold" charset="0"/>
                      </a:endParaRPr>
                    </a:p>
                  </a:txBody>
                  <a:tcPr marL="0" marR="54864" marT="0" marB="0" anchor="ctr">
                    <a:lnL w="0" cap="flat" cmpd="sng" algn="ctr">
                      <a:noFill/>
                    </a:lnL>
                    <a:lnR w="0" cap="flat" cmpd="sng" algn="ctr">
                      <a:noFill/>
                    </a:lnR>
                    <a:lnT w="0" cap="flat" cmpd="sng" algn="ctr">
                      <a:noFill/>
                    </a:lnT>
                    <a:lnB w="15875" cap="flat" cmpd="sng" algn="ctr">
                      <a:solidFill>
                        <a:srgbClr val="6C6790"/>
                      </a:solidFill>
                      <a:prstDash val="solid"/>
                      <a:round/>
                      <a:headEnd type="none" w="med" len="med"/>
                      <a:tailEnd type="none" w="med" len="med"/>
                    </a:lnB>
                    <a:solidFill>
                      <a:srgbClr val="07071A"/>
                    </a:solidFill>
                  </a:tcPr>
                </a:tc>
                <a:tc>
                  <a:txBody>
                    <a:bodyPr/>
                    <a:lstStyle/>
                    <a:p>
                      <a:pPr marL="0" indent="0">
                        <a:buNone/>
                      </a:pPr>
                      <a:r>
                        <a:rPr lang="en-US" sz="1000" kern="0" spc="200" dirty="0">
                          <a:solidFill>
                            <a:srgbClr val="ABA6C8"/>
                          </a:solidFill>
                          <a:latin typeface="Segoe UI Semibold" pitchFamily="34" charset="0"/>
                          <a:ea typeface="Segoe UI Semibold" pitchFamily="34" charset="-122"/>
                          <a:cs typeface="Segoe UI Semibold" pitchFamily="34" charset="-120"/>
                        </a:rPr>
                        <a:t>QUESTION</a:t>
                      </a:r>
                      <a:endParaRPr lang="en-US" sz="1000" dirty="0">
                        <a:latin typeface="Segoe UI Semibold" charset="0"/>
                        <a:ea typeface="Segoe UI Semibold" charset="0"/>
                        <a:cs typeface="Segoe UI Semibold" charset="0"/>
                      </a:endParaRPr>
                    </a:p>
                  </a:txBody>
                  <a:tcPr marL="54864" marR="54864" marT="0" marB="0" anchor="ctr">
                    <a:lnL w="0" cap="flat" cmpd="sng" algn="ctr">
                      <a:noFill/>
                    </a:lnL>
                    <a:lnR w="0" cap="flat" cmpd="sng" algn="ctr">
                      <a:noFill/>
                    </a:lnR>
                    <a:lnT w="0" cap="flat" cmpd="sng" algn="ctr">
                      <a:noFill/>
                    </a:lnT>
                    <a:lnB w="15875" cap="flat" cmpd="sng" algn="ctr">
                      <a:solidFill>
                        <a:srgbClr val="6C6790"/>
                      </a:solidFill>
                      <a:prstDash val="solid"/>
                      <a:round/>
                      <a:headEnd type="none" w="med" len="med"/>
                      <a:tailEnd type="none" w="med" len="med"/>
                    </a:lnB>
                    <a:solidFill>
                      <a:srgbClr val="07071A"/>
                    </a:solidFill>
                  </a:tcPr>
                </a:tc>
                <a:tc>
                  <a:txBody>
                    <a:bodyPr/>
                    <a:lstStyle/>
                    <a:p>
                      <a:pPr marL="0" indent="0">
                        <a:buNone/>
                      </a:pPr>
                      <a:r>
                        <a:rPr lang="en-US" sz="1000" kern="0" spc="200" dirty="0">
                          <a:solidFill>
                            <a:srgbClr val="ABA6C8"/>
                          </a:solidFill>
                          <a:latin typeface="Segoe UI Semibold" pitchFamily="34" charset="0"/>
                          <a:ea typeface="Segoe UI Semibold" pitchFamily="34" charset="-122"/>
                          <a:cs typeface="Segoe UI Semibold" pitchFamily="34" charset="-120"/>
                        </a:rPr>
                        <a:t>TYPE</a:t>
                      </a:r>
                      <a:endParaRPr lang="en-US" sz="1000" dirty="0">
                        <a:latin typeface="Segoe UI Semibold" charset="0"/>
                        <a:ea typeface="Segoe UI Semibold" charset="0"/>
                        <a:cs typeface="Segoe UI Semibold" charset="0"/>
                      </a:endParaRPr>
                    </a:p>
                  </a:txBody>
                  <a:tcPr marL="54864" marR="54864" marT="0" marB="0" anchor="ctr">
                    <a:lnL w="0" cap="flat" cmpd="sng" algn="ctr">
                      <a:noFill/>
                    </a:lnL>
                    <a:lnR w="0" cap="flat" cmpd="sng" algn="ctr">
                      <a:noFill/>
                    </a:lnR>
                    <a:lnT w="0" cap="flat" cmpd="sng" algn="ctr">
                      <a:noFill/>
                    </a:lnT>
                    <a:lnB w="15875" cap="flat" cmpd="sng" algn="ctr">
                      <a:solidFill>
                        <a:srgbClr val="6C6790"/>
                      </a:solidFill>
                      <a:prstDash val="solid"/>
                      <a:round/>
                      <a:headEnd type="none" w="med" len="med"/>
                      <a:tailEnd type="none" w="med" len="med"/>
                    </a:lnB>
                    <a:solidFill>
                      <a:srgbClr val="07071A"/>
                    </a:solidFill>
                  </a:tcPr>
                </a:tc>
                <a:tc>
                  <a:txBody>
                    <a:bodyPr/>
                    <a:lstStyle/>
                    <a:p>
                      <a:pPr marL="0" indent="0">
                        <a:buNone/>
                      </a:pPr>
                      <a:r>
                        <a:rPr lang="en-US" sz="1000" kern="0" spc="200" dirty="0">
                          <a:solidFill>
                            <a:srgbClr val="ABA6C8"/>
                          </a:solidFill>
                          <a:latin typeface="Segoe UI Semibold" pitchFamily="34" charset="0"/>
                          <a:ea typeface="Segoe UI Semibold" pitchFamily="34" charset="-122"/>
                          <a:cs typeface="Segoe UI Semibold" pitchFamily="34" charset="-120"/>
                        </a:rPr>
                        <a:t>ANSWER SPACE</a:t>
                      </a:r>
                      <a:endParaRPr lang="en-US" sz="1000" dirty="0">
                        <a:latin typeface="Segoe UI Semibold" charset="0"/>
                        <a:ea typeface="Segoe UI Semibold" charset="0"/>
                        <a:cs typeface="Segoe UI Semibold" charset="0"/>
                      </a:endParaRPr>
                    </a:p>
                  </a:txBody>
                  <a:tcPr marL="54864" marR="54864" marT="0" marB="0" anchor="ctr">
                    <a:lnL w="0" cap="flat" cmpd="sng" algn="ctr">
                      <a:noFill/>
                    </a:lnL>
                    <a:lnR w="0" cap="flat" cmpd="sng" algn="ctr">
                      <a:noFill/>
                    </a:lnR>
                    <a:lnT w="0" cap="flat" cmpd="sng" algn="ctr">
                      <a:noFill/>
                    </a:lnT>
                    <a:lnB w="15875" cap="flat" cmpd="sng" algn="ctr">
                      <a:solidFill>
                        <a:srgbClr val="6C6790"/>
                      </a:solidFill>
                      <a:prstDash val="solid"/>
                      <a:round/>
                      <a:headEnd type="none" w="med" len="med"/>
                      <a:tailEnd type="none" w="med" len="med"/>
                    </a:lnB>
                    <a:solidFill>
                      <a:srgbClr val="07071A"/>
                    </a:solidFill>
                  </a:tcPr>
                </a:tc>
                <a:tc>
                  <a:txBody>
                    <a:bodyPr/>
                    <a:lstStyle/>
                    <a:p>
                      <a:pPr marL="0" indent="0">
                        <a:buNone/>
                      </a:pPr>
                      <a:r>
                        <a:rPr lang="en-US" sz="1000" kern="0" spc="200" dirty="0">
                          <a:solidFill>
                            <a:srgbClr val="ABA6C8"/>
                          </a:solidFill>
                          <a:latin typeface="Segoe UI Semibold" pitchFamily="34" charset="0"/>
                          <a:ea typeface="Segoe UI Semibold" pitchFamily="34" charset="-122"/>
                          <a:cs typeface="Segoe UI Semibold" pitchFamily="34" charset="-120"/>
                        </a:rPr>
                        <a:t>GAME POLICY</a:t>
                      </a:r>
                      <a:endParaRPr lang="en-US" sz="1000" dirty="0">
                        <a:latin typeface="Segoe UI Semibold" charset="0"/>
                        <a:ea typeface="Segoe UI Semibold" charset="0"/>
                        <a:cs typeface="Segoe UI Semibold" charset="0"/>
                      </a:endParaRPr>
                    </a:p>
                  </a:txBody>
                  <a:tcPr marL="54864" marR="54864" marT="0" marB="0" anchor="ctr">
                    <a:lnL w="0" cap="flat" cmpd="sng" algn="ctr">
                      <a:noFill/>
                    </a:lnL>
                    <a:lnR w="0" cap="flat" cmpd="sng" algn="ctr">
                      <a:noFill/>
                    </a:lnR>
                    <a:lnT w="0" cap="flat" cmpd="sng" algn="ctr">
                      <a:noFill/>
                    </a:lnT>
                    <a:lnB w="15875" cap="flat" cmpd="sng" algn="ctr">
                      <a:solidFill>
                        <a:srgbClr val="6C6790"/>
                      </a:solidFill>
                      <a:prstDash val="solid"/>
                      <a:round/>
                      <a:headEnd type="none" w="med" len="med"/>
                      <a:tailEnd type="none" w="med" len="med"/>
                    </a:lnB>
                    <a:solidFill>
                      <a:srgbClr val="07071A"/>
                    </a:solidFill>
                  </a:tcPr>
                </a:tc>
                <a:extLst>
                  <a:ext uri="{0D108BD9-81ED-4DB2-BD59-A6C34878D82A}">
                    <a16:rowId xmlns:a16="http://schemas.microsoft.com/office/drawing/2014/main" val="10000"/>
                  </a:ext>
                </a:extLst>
              </a:tr>
              <a:tr h="310896">
                <a:tc rowSpan="3">
                  <a:txBody>
                    <a:bodyPr/>
                    <a:lstStyle/>
                    <a:p>
                      <a:pPr marL="0" indent="0">
                        <a:buNone/>
                      </a:pPr>
                      <a:r>
                        <a:rPr lang="en-US" sz="1100" dirty="0">
                          <a:solidFill>
                            <a:srgbClr val="ECE9F8"/>
                          </a:solidFill>
                          <a:latin typeface="Segoe UI Semibold" pitchFamily="34" charset="0"/>
                          <a:ea typeface="Segoe UI Semibold" pitchFamily="34" charset="-122"/>
                          <a:cs typeface="Segoe UI Semibold" pitchFamily="34" charset="-120"/>
                        </a:rPr>
                        <a:t>Rivals ×5</a:t>
                      </a:r>
                      <a:endParaRPr lang="en-US" sz="1200" dirty="0"/>
                    </a:p>
                    <a:p>
                      <a:pPr marL="0" indent="0">
                        <a:buNone/>
                      </a:pPr>
                      <a:r>
                        <a:rPr lang="en-US" sz="1050" dirty="0">
                          <a:solidFill>
                            <a:srgbClr val="ABA6C8"/>
                          </a:solidFill>
                          <a:latin typeface="Segoe UI" pitchFamily="34" charset="0"/>
                          <a:ea typeface="Segoe UI" pitchFamily="34" charset="-122"/>
                          <a:cs typeface="Segoe UI" pitchFamily="34" charset="-120"/>
                        </a:rPr>
                        <a:t>every 0.65–1.8 s</a:t>
                      </a:r>
                      <a:endParaRPr lang="en-US" sz="1200" dirty="0"/>
                    </a:p>
                  </a:txBody>
                  <a:tcPr marL="0" marR="54864" marT="0" marB="0" anchor="ctr">
                    <a:lnL w="0" cap="flat" cmpd="sng" algn="ctr">
                      <a:noFill/>
                    </a:lnL>
                    <a:lnR w="0" cap="flat" cmpd="sng" algn="ctr">
                      <a:noFill/>
                    </a:lnR>
                    <a:lnT w="15875" cap="flat" cmpd="sng" algn="ctr">
                      <a:solidFill>
                        <a:srgbClr val="6C6790"/>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ECE9F8"/>
                          </a:solidFill>
                          <a:latin typeface="Consolas" pitchFamily="34" charset="0"/>
                          <a:ea typeface="Consolas" pitchFamily="34" charset="-122"/>
                          <a:cs typeface="Consolas" pitchFamily="34" charset="-120"/>
                        </a:rPr>
                        <a:t>maneuver</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15875" cap="flat" cmpd="sng" algn="ctr">
                      <a:solidFill>
                        <a:srgbClr val="6C6790"/>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FFD166"/>
                          </a:solidFill>
                          <a:latin typeface="Consolas" pitchFamily="34" charset="0"/>
                          <a:ea typeface="Consolas" pitchFamily="34" charset="-122"/>
                          <a:cs typeface="Consolas" pitchFamily="34" charset="-120"/>
                        </a:rPr>
                        <a:t>choice</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15875" cap="flat" cmpd="sng" algn="ctr">
                      <a:solidFill>
                        <a:srgbClr val="6C6790"/>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ABA6C8"/>
                          </a:solidFill>
                          <a:latin typeface="Segoe UI" pitchFamily="34" charset="0"/>
                          <a:ea typeface="Segoe UI" pitchFamily="34" charset="-122"/>
                          <a:cs typeface="Segoe UI" pitchFamily="34" charset="-120"/>
                        </a:rPr>
                        <a:t>6 maneuvers</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15875" cap="flat" cmpd="sng" algn="ctr">
                      <a:solidFill>
                        <a:srgbClr val="6C6790"/>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ECE9F8"/>
                          </a:solidFill>
                          <a:latin typeface="Segoe UI" pitchFamily="34" charset="0"/>
                          <a:ea typeface="Segoe UI" pitchFamily="34" charset="-122"/>
                          <a:cs typeface="Segoe UI" pitchFamily="34" charset="-120"/>
                        </a:rPr>
                        <a:t>steer to the chosen line</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15875" cap="flat" cmpd="sng" algn="ctr">
                      <a:solidFill>
                        <a:srgbClr val="6C6790"/>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extLst>
                  <a:ext uri="{0D108BD9-81ED-4DB2-BD59-A6C34878D82A}">
                    <a16:rowId xmlns:a16="http://schemas.microsoft.com/office/drawing/2014/main" val="10001"/>
                  </a:ext>
                </a:extLst>
              </a:tr>
              <a:tr h="310896">
                <a:tc vMerge="1">
                  <a:txBody>
                    <a:bodyPr/>
                    <a:lstStyle/>
                    <a:p>
                      <a:endParaRPr lang="en-US"/>
                    </a:p>
                  </a:txBody>
                  <a:tcPr/>
                </a:tc>
                <a:tc>
                  <a:txBody>
                    <a:bodyPr/>
                    <a:lstStyle/>
                    <a:p>
                      <a:pPr marL="0" indent="0">
                        <a:buNone/>
                      </a:pPr>
                      <a:r>
                        <a:rPr lang="en-US" sz="1000" dirty="0">
                          <a:solidFill>
                            <a:srgbClr val="ECE9F8"/>
                          </a:solidFill>
                          <a:latin typeface="Consolas" pitchFamily="34" charset="0"/>
                          <a:ea typeface="Consolas" pitchFamily="34" charset="-122"/>
                          <a:cs typeface="Consolas" pitchFamily="34" charset="-120"/>
                        </a:rPr>
                        <a:t>pace</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FFD166"/>
                          </a:solidFill>
                          <a:latin typeface="Consolas" pitchFamily="34" charset="0"/>
                          <a:ea typeface="Consolas" pitchFamily="34" charset="-122"/>
                          <a:cs typeface="Consolas" pitchFamily="34" charset="-120"/>
                        </a:rPr>
                        <a:t>score</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ABA6C8"/>
                          </a:solidFill>
                          <a:latin typeface="Segoe UI" pitchFamily="34" charset="0"/>
                          <a:ea typeface="Segoe UI" pitchFamily="34" charset="-122"/>
                          <a:cs typeface="Segoe UI" pitchFamily="34" charset="-120"/>
                        </a:rPr>
                        <a:t>0–3, Conserve → Flat out</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ECE9F8"/>
                          </a:solidFill>
                          <a:latin typeface="Segoe UI" pitchFamily="34" charset="0"/>
                          <a:ea typeface="Segoe UI" pitchFamily="34" charset="-122"/>
                          <a:cs typeface="Segoe UI" pitchFamily="34" charset="-120"/>
                        </a:rPr>
                        <a:t>target = 92–101% of top speed</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extLst>
                  <a:ext uri="{0D108BD9-81ED-4DB2-BD59-A6C34878D82A}">
                    <a16:rowId xmlns:a16="http://schemas.microsoft.com/office/drawing/2014/main" val="10002"/>
                  </a:ext>
                </a:extLst>
              </a:tr>
              <a:tr h="310896">
                <a:tc vMerge="1">
                  <a:txBody>
                    <a:bodyPr/>
                    <a:lstStyle/>
                    <a:p>
                      <a:endParaRPr lang="en-US"/>
                    </a:p>
                  </a:txBody>
                  <a:tcPr/>
                </a:tc>
                <a:tc>
                  <a:txBody>
                    <a:bodyPr/>
                    <a:lstStyle/>
                    <a:p>
                      <a:pPr marL="0" indent="0">
                        <a:buNone/>
                      </a:pPr>
                      <a:r>
                        <a:rPr lang="en-US" sz="1000" dirty="0">
                          <a:solidFill>
                            <a:srgbClr val="ECE9F8"/>
                          </a:solidFill>
                          <a:latin typeface="Consolas" pitchFamily="34" charset="0"/>
                          <a:ea typeface="Consolas" pitchFamily="34" charset="-122"/>
                          <a:cs typeface="Consolas" pitchFamily="34" charset="-120"/>
                        </a:rPr>
                        <a:t>nitro</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FFD166"/>
                          </a:solidFill>
                          <a:latin typeface="Consolas" pitchFamily="34" charset="0"/>
                          <a:ea typeface="Consolas" pitchFamily="34" charset="-122"/>
                          <a:cs typeface="Consolas" pitchFamily="34" charset="-120"/>
                        </a:rPr>
                        <a:t>noul</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ABA6C8"/>
                          </a:solidFill>
                          <a:latin typeface="Segoe UI" pitchFamily="34" charset="0"/>
                          <a:ea typeface="Segoe UI" pitchFamily="34" charset="-122"/>
                          <a:cs typeface="Segoe UI" pitchFamily="34" charset="-120"/>
                        </a:rPr>
                        <a:t>p(true)</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ECE9F8"/>
                          </a:solidFill>
                          <a:latin typeface="Segoe UI" pitchFamily="34" charset="0"/>
                          <a:ea typeface="Segoe UI" pitchFamily="34" charset="-122"/>
                          <a:cs typeface="Segoe UI" pitchFamily="34" charset="-120"/>
                        </a:rPr>
                        <a:t>fire if p ≥ 0.50–0.65</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extLst>
                  <a:ext uri="{0D108BD9-81ED-4DB2-BD59-A6C34878D82A}">
                    <a16:rowId xmlns:a16="http://schemas.microsoft.com/office/drawing/2014/main" val="10003"/>
                  </a:ext>
                </a:extLst>
              </a:tr>
              <a:tr h="310896">
                <a:tc rowSpan="2">
                  <a:txBody>
                    <a:bodyPr/>
                    <a:lstStyle/>
                    <a:p>
                      <a:pPr marL="0" indent="0">
                        <a:buNone/>
                      </a:pPr>
                      <a:r>
                        <a:rPr lang="en-US" sz="1100" dirty="0">
                          <a:solidFill>
                            <a:srgbClr val="ECE9F8"/>
                          </a:solidFill>
                          <a:latin typeface="Segoe UI Semibold" pitchFamily="34" charset="0"/>
                          <a:ea typeface="Segoe UI Semibold" pitchFamily="34" charset="-122"/>
                          <a:cs typeface="Segoe UI Semibold" pitchFamily="34" charset="-120"/>
                        </a:rPr>
                        <a:t>Race Control</a:t>
                      </a:r>
                      <a:endParaRPr lang="en-US" sz="1200" dirty="0"/>
                    </a:p>
                    <a:p>
                      <a:pPr marL="0" indent="0">
                        <a:buNone/>
                      </a:pPr>
                      <a:r>
                        <a:rPr lang="en-US" sz="1050" dirty="0">
                          <a:solidFill>
                            <a:srgbClr val="ABA6C8"/>
                          </a:solidFill>
                          <a:latin typeface="Segoe UI" pitchFamily="34" charset="0"/>
                          <a:ea typeface="Segoe UI" pitchFamily="34" charset="-122"/>
                          <a:cs typeface="Segoe UI" pitchFamily="34" charset="-120"/>
                        </a:rPr>
                        <a:t>on contact</a:t>
                      </a:r>
                      <a:endParaRPr lang="en-US" sz="1200" dirty="0"/>
                    </a:p>
                  </a:txBody>
                  <a:tcPr marL="0"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ECE9F8"/>
                          </a:solidFill>
                          <a:latin typeface="Consolas" pitchFamily="34" charset="0"/>
                          <a:ea typeface="Consolas" pitchFamily="34" charset="-122"/>
                          <a:cs typeface="Consolas" pitchFamily="34" charset="-120"/>
                        </a:rPr>
                        <a:t>responsible</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FFD166"/>
                          </a:solidFill>
                          <a:latin typeface="Consolas" pitchFamily="34" charset="0"/>
                          <a:ea typeface="Consolas" pitchFamily="34" charset="-122"/>
                          <a:cs typeface="Consolas" pitchFamily="34" charset="-120"/>
                        </a:rPr>
                        <a:t>choice</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ABA6C8"/>
                          </a:solidFill>
                          <a:latin typeface="Segoe UI" pitchFamily="34" charset="0"/>
                          <a:ea typeface="Segoe UI" pitchFamily="34" charset="-122"/>
                          <a:cs typeface="Segoe UI" pitchFamily="34" charset="-120"/>
                        </a:rPr>
                        <a:t>player · rival · incident</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ECE9F8"/>
                          </a:solidFill>
                          <a:latin typeface="Segoe UI" pitchFamily="34" charset="0"/>
                          <a:ea typeface="Segoe UI" pitchFamily="34" charset="-122"/>
                          <a:cs typeface="Segoe UI" pitchFamily="34" charset="-120"/>
                        </a:rPr>
                        <a:t>blame needs p ≥ 0.60</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extLst>
                  <a:ext uri="{0D108BD9-81ED-4DB2-BD59-A6C34878D82A}">
                    <a16:rowId xmlns:a16="http://schemas.microsoft.com/office/drawing/2014/main" val="10004"/>
                  </a:ext>
                </a:extLst>
              </a:tr>
              <a:tr h="310896">
                <a:tc vMerge="1">
                  <a:txBody>
                    <a:bodyPr/>
                    <a:lstStyle/>
                    <a:p>
                      <a:endParaRPr lang="en-US"/>
                    </a:p>
                  </a:txBody>
                  <a:tcPr/>
                </a:tc>
                <a:tc>
                  <a:txBody>
                    <a:bodyPr/>
                    <a:lstStyle/>
                    <a:p>
                      <a:pPr marL="0" indent="0">
                        <a:buNone/>
                      </a:pPr>
                      <a:r>
                        <a:rPr lang="en-US" sz="1000" dirty="0">
                          <a:solidFill>
                            <a:srgbClr val="ECE9F8"/>
                          </a:solidFill>
                          <a:latin typeface="Consolas" pitchFamily="34" charset="0"/>
                          <a:ea typeface="Consolas" pitchFamily="34" charset="-122"/>
                          <a:cs typeface="Consolas" pitchFamily="34" charset="-120"/>
                        </a:rPr>
                        <a:t>severity</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FFD166"/>
                          </a:solidFill>
                          <a:latin typeface="Consolas" pitchFamily="34" charset="0"/>
                          <a:ea typeface="Consolas" pitchFamily="34" charset="-122"/>
                          <a:cs typeface="Consolas" pitchFamily="34" charset="-120"/>
                        </a:rPr>
                        <a:t>score</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ABA6C8"/>
                          </a:solidFill>
                          <a:latin typeface="Segoe UI" pitchFamily="34" charset="0"/>
                          <a:ea typeface="Segoe UI" pitchFamily="34" charset="-122"/>
                          <a:cs typeface="Segoe UI" pitchFamily="34" charset="-120"/>
                        </a:rPr>
                        <a:t>0–2, Light touch → Dangerous</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ECE9F8"/>
                          </a:solidFill>
                          <a:latin typeface="Segoe UI" pitchFamily="34" charset="0"/>
                          <a:ea typeface="Segoe UI" pitchFamily="34" charset="-122"/>
                          <a:cs typeface="Segoe UI" pitchFamily="34" charset="-120"/>
                        </a:rPr>
                        <a:t>≥ 0.8 → +2 s  ·  ≥ 1.5 → +5 s</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extLst>
                  <a:ext uri="{0D108BD9-81ED-4DB2-BD59-A6C34878D82A}">
                    <a16:rowId xmlns:a16="http://schemas.microsoft.com/office/drawing/2014/main" val="10005"/>
                  </a:ext>
                </a:extLst>
              </a:tr>
              <a:tr h="310896">
                <a:tc rowSpan="3">
                  <a:txBody>
                    <a:bodyPr/>
                    <a:lstStyle/>
                    <a:p>
                      <a:pPr marL="0" indent="0">
                        <a:buNone/>
                      </a:pPr>
                      <a:r>
                        <a:rPr lang="en-US" sz="1100" dirty="0">
                          <a:solidFill>
                            <a:srgbClr val="ECE9F8"/>
                          </a:solidFill>
                          <a:latin typeface="Segoe UI Semibold" pitchFamily="34" charset="0"/>
                          <a:ea typeface="Segoe UI Semibold" pitchFamily="34" charset="-122"/>
                          <a:cs typeface="Segoe UI Semibold" pitchFamily="34" charset="-120"/>
                        </a:rPr>
                        <a:t>Debrief</a:t>
                      </a:r>
                      <a:endParaRPr lang="en-US" sz="1200" dirty="0"/>
                    </a:p>
                    <a:p>
                      <a:pPr marL="0" indent="0">
                        <a:buNone/>
                      </a:pPr>
                      <a:r>
                        <a:rPr lang="en-US" sz="1050" dirty="0">
                          <a:solidFill>
                            <a:srgbClr val="ABA6C8"/>
                          </a:solidFill>
                          <a:latin typeface="Segoe UI" pitchFamily="34" charset="0"/>
                          <a:ea typeface="Segoe UI" pitchFamily="34" charset="-122"/>
                          <a:cs typeface="Segoe UI" pitchFamily="34" charset="-120"/>
                        </a:rPr>
                        <a:t>after the flag</a:t>
                      </a:r>
                      <a:endParaRPr lang="en-US" sz="1200" dirty="0"/>
                    </a:p>
                  </a:txBody>
                  <a:tcPr marL="0"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ECE9F8"/>
                          </a:solidFill>
                          <a:latin typeface="Consolas" pitchFamily="34" charset="0"/>
                          <a:ea typeface="Consolas" pitchFamily="34" charset="-122"/>
                          <a:cs typeface="Consolas" pitchFamily="34" charset="-120"/>
                        </a:rPr>
                        <a:t>rating</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FFD166"/>
                          </a:solidFill>
                          <a:latin typeface="Consolas" pitchFamily="34" charset="0"/>
                          <a:ea typeface="Consolas" pitchFamily="34" charset="-122"/>
                          <a:cs typeface="Consolas" pitchFamily="34" charset="-120"/>
                        </a:rPr>
                        <a:t>score</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ABA6C8"/>
                          </a:solidFill>
                          <a:latin typeface="Segoe UI" pitchFamily="34" charset="0"/>
                          <a:ea typeface="Segoe UI" pitchFamily="34" charset="-122"/>
                          <a:cs typeface="Segoe UI" pitchFamily="34" charset="-120"/>
                        </a:rPr>
                        <a:t>0–3, Rookie → Champion</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ECE9F8"/>
                          </a:solidFill>
                          <a:latin typeface="Segoe UI" pitchFamily="34" charset="0"/>
                          <a:ea typeface="Segoe UI" pitchFamily="34" charset="-122"/>
                          <a:cs typeface="Segoe UI" pitchFamily="34" charset="-120"/>
                        </a:rPr>
                        <a:t>results screen</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extLst>
                  <a:ext uri="{0D108BD9-81ED-4DB2-BD59-A6C34878D82A}">
                    <a16:rowId xmlns:a16="http://schemas.microsoft.com/office/drawing/2014/main" val="10006"/>
                  </a:ext>
                </a:extLst>
              </a:tr>
              <a:tr h="310896">
                <a:tc vMerge="1">
                  <a:txBody>
                    <a:bodyPr/>
                    <a:lstStyle/>
                    <a:p>
                      <a:endParaRPr lang="en-US"/>
                    </a:p>
                  </a:txBody>
                  <a:tcPr/>
                </a:tc>
                <a:tc>
                  <a:txBody>
                    <a:bodyPr/>
                    <a:lstStyle/>
                    <a:p>
                      <a:pPr marL="0" indent="0">
                        <a:buNone/>
                      </a:pPr>
                      <a:r>
                        <a:rPr lang="en-US" sz="1000" dirty="0">
                          <a:solidFill>
                            <a:srgbClr val="ECE9F8"/>
                          </a:solidFill>
                          <a:latin typeface="Consolas" pitchFamily="34" charset="0"/>
                          <a:ea typeface="Consolas" pitchFamily="34" charset="-122"/>
                          <a:cs typeface="Consolas" pitchFamily="34" charset="-120"/>
                        </a:rPr>
                        <a:t>driver_of_the_day</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FFD166"/>
                          </a:solidFill>
                          <a:latin typeface="Consolas" pitchFamily="34" charset="0"/>
                          <a:ea typeface="Consolas" pitchFamily="34" charset="-122"/>
                          <a:cs typeface="Consolas" pitchFamily="34" charset="-120"/>
                        </a:rPr>
                        <a:t>choice</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ABA6C8"/>
                          </a:solidFill>
                          <a:latin typeface="Segoe UI" pitchFamily="34" charset="0"/>
                          <a:ea typeface="Segoe UI" pitchFamily="34" charset="-122"/>
                          <a:cs typeface="Segoe UI" pitchFamily="34" charset="-120"/>
                        </a:rPr>
                        <a:t>you or one of the 5 rivals</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ECE9F8"/>
                          </a:solidFill>
                          <a:latin typeface="Segoe UI" pitchFamily="34" charset="0"/>
                          <a:ea typeface="Segoe UI" pitchFamily="34" charset="-122"/>
                          <a:cs typeface="Segoe UI" pitchFamily="34" charset="-120"/>
                        </a:rPr>
                        <a:t>results screen</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extLst>
                  <a:ext uri="{0D108BD9-81ED-4DB2-BD59-A6C34878D82A}">
                    <a16:rowId xmlns:a16="http://schemas.microsoft.com/office/drawing/2014/main" val="10007"/>
                  </a:ext>
                </a:extLst>
              </a:tr>
              <a:tr h="310896">
                <a:tc vMerge="1">
                  <a:txBody>
                    <a:bodyPr/>
                    <a:lstStyle/>
                    <a:p>
                      <a:endParaRPr lang="en-US"/>
                    </a:p>
                  </a:txBody>
                  <a:tcPr/>
                </a:tc>
                <a:tc>
                  <a:txBody>
                    <a:bodyPr/>
                    <a:lstStyle/>
                    <a:p>
                      <a:pPr marL="0" indent="0">
                        <a:buNone/>
                      </a:pPr>
                      <a:r>
                        <a:rPr lang="en-US" sz="1000" dirty="0">
                          <a:solidFill>
                            <a:srgbClr val="ECE9F8"/>
                          </a:solidFill>
                          <a:latin typeface="Consolas" pitchFamily="34" charset="0"/>
                          <a:ea typeface="Consolas" pitchFamily="34" charset="-122"/>
                          <a:cs typeface="Consolas" pitchFamily="34" charset="-120"/>
                        </a:rPr>
                        <a:t>clean_racer</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00" dirty="0">
                          <a:solidFill>
                            <a:srgbClr val="FFD166"/>
                          </a:solidFill>
                          <a:latin typeface="Consolas" pitchFamily="34" charset="0"/>
                          <a:ea typeface="Consolas" pitchFamily="34" charset="-122"/>
                          <a:cs typeface="Consolas" pitchFamily="34" charset="-120"/>
                        </a:rPr>
                        <a:t>noul</a:t>
                      </a:r>
                      <a:endParaRPr lang="en-US" sz="1000" dirty="0">
                        <a:latin typeface="Consolas" charset="0"/>
                        <a:ea typeface="Consolas" charset="0"/>
                        <a:cs typeface="Consolas"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ABA6C8"/>
                          </a:solidFill>
                          <a:latin typeface="Segoe UI" pitchFamily="34" charset="0"/>
                          <a:ea typeface="Segoe UI" pitchFamily="34" charset="-122"/>
                          <a:cs typeface="Segoe UI" pitchFamily="34" charset="-120"/>
                        </a:rPr>
                        <a:t>p(true)</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tc>
                  <a:txBody>
                    <a:bodyPr/>
                    <a:lstStyle/>
                    <a:p>
                      <a:pPr marL="0" indent="0">
                        <a:buNone/>
                      </a:pPr>
                      <a:r>
                        <a:rPr lang="en-US" sz="1050" dirty="0">
                          <a:solidFill>
                            <a:srgbClr val="ECE9F8"/>
                          </a:solidFill>
                          <a:latin typeface="Segoe UI" pitchFamily="34" charset="0"/>
                          <a:ea typeface="Segoe UI" pitchFamily="34" charset="-122"/>
                          <a:cs typeface="Segoe UI" pitchFamily="34" charset="-120"/>
                        </a:rPr>
                        <a:t>results screen</a:t>
                      </a:r>
                      <a:endParaRPr lang="en-US" sz="1050" dirty="0">
                        <a:latin typeface="Segoe UI" charset="0"/>
                        <a:ea typeface="Segoe UI" charset="0"/>
                        <a:cs typeface="Segoe UI" charset="0"/>
                      </a:endParaRPr>
                    </a:p>
                  </a:txBody>
                  <a:tcPr marL="54864" marR="54864" marT="0" marB="0" anchor="ctr">
                    <a:lnL w="0" cap="flat" cmpd="sng" algn="ctr">
                      <a:noFill/>
                    </a:lnL>
                    <a:lnR w="0" cap="flat" cmpd="sng" algn="ctr">
                      <a:noFill/>
                    </a:lnR>
                    <a:lnT w="9525" cap="flat" cmpd="sng" algn="ctr">
                      <a:solidFill>
                        <a:srgbClr val="36316A"/>
                      </a:solidFill>
                      <a:prstDash val="solid"/>
                      <a:round/>
                      <a:headEnd type="none" w="med" len="med"/>
                      <a:tailEnd type="none" w="med" len="med"/>
                    </a:lnT>
                    <a:lnB w="9525" cap="flat" cmpd="sng" algn="ctr">
                      <a:solidFill>
                        <a:srgbClr val="36316A"/>
                      </a:solidFill>
                      <a:prstDash val="solid"/>
                      <a:round/>
                      <a:headEnd type="none" w="med" len="med"/>
                      <a:tailEnd type="none" w="med" len="med"/>
                    </a:lnB>
                    <a:solidFill>
                      <a:srgbClr val="07071A"/>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 radio check, not a chat">
    <p:bg>
      <p:bgPr>
        <a:solidFill>
          <a:srgbClr val="07071A"/>
        </a:solidFill>
        <a:effectLst/>
      </p:bgPr>
    </p:bg>
    <p:spTree>
      <p:nvGrpSpPr>
        <p:cNvPr id="1" name=""/>
        <p:cNvGrpSpPr/>
        <p:nvPr/>
      </p:nvGrpSpPr>
      <p:grpSpPr>
        <a:xfrm>
          <a:off x="0" y="0"/>
          <a:ext cx="0" cy="0"/>
          <a:chOff x="0" y="0"/>
          <a:chExt cx="0" cy="0"/>
        </a:xfrm>
      </p:grpSpPr>
      <p:sp>
        <p:nvSpPr>
          <p:cNvPr id="2" name="Header dot"/>
          <p:cNvSpPr/>
          <p:nvPr/>
        </p:nvSpPr>
        <p:spPr>
          <a:xfrm>
            <a:off x="548640" y="484632"/>
            <a:ext cx="109728" cy="109728"/>
          </a:xfrm>
          <a:prstGeom prst="ellipse">
            <a:avLst/>
          </a:prstGeom>
          <a:solidFill>
            <a:srgbClr val="FFD166"/>
          </a:solidFill>
          <a:ln/>
        </p:spPr>
        <p:txBody>
          <a:bodyPr/>
          <a:lstStyle/>
          <a:p>
            <a:endParaRPr lang="en-ZA"/>
          </a:p>
        </p:txBody>
      </p:sp>
      <p:sp>
        <p:nvSpPr>
          <p:cNvPr id="3" name="Section label"/>
          <p:cNvSpPr txBox="1"/>
          <p:nvPr/>
        </p:nvSpPr>
        <p:spPr>
          <a:xfrm>
            <a:off x="749808" y="393192"/>
            <a:ext cx="5943600" cy="292608"/>
          </a:xfrm>
          <a:prstGeom prst="rect">
            <a:avLst/>
          </a:prstGeom>
          <a:noFill/>
          <a:ln/>
        </p:spPr>
        <p:txBody>
          <a:bodyPr wrap="square" lIns="0" tIns="0" rIns="0" bIns="0" anchor="ctr"/>
          <a:lstStyle/>
          <a:p>
            <a:pPr>
              <a:buNone/>
            </a:pPr>
            <a:r>
              <a:rPr lang="en-US" sz="1100" b="1" kern="0" spc="300">
                <a:solidFill>
                  <a:srgbClr val="ABA6C8"/>
                </a:solidFill>
                <a:latin typeface="Segoe UI Semibold"/>
              </a:rPr>
              <a:t>RIVAL DECISIONS</a:t>
            </a:r>
            <a:endParaRPr lang="en-US" sz="1100"/>
          </a:p>
        </p:txBody>
      </p:sp>
      <p:sp>
        <p:nvSpPr>
          <p:cNvPr id="4" name="Slide counter"/>
          <p:cNvSpPr txBox="1"/>
          <p:nvPr/>
        </p:nvSpPr>
        <p:spPr>
          <a:xfrm>
            <a:off x="7223760" y="393192"/>
            <a:ext cx="1371600" cy="292608"/>
          </a:xfrm>
          <a:prstGeom prst="rect">
            <a:avLst/>
          </a:prstGeom>
          <a:noFill/>
          <a:ln/>
        </p:spPr>
        <p:txBody>
          <a:bodyPr wrap="square" lIns="0" tIns="0" rIns="0" bIns="0" anchor="ctr"/>
          <a:lstStyle/>
          <a:p>
            <a:pPr algn="r">
              <a:buNone/>
            </a:pPr>
            <a:r>
              <a:rPr lang="en-US" sz="1100">
                <a:solidFill>
                  <a:srgbClr val="ABA6C8"/>
                </a:solidFill>
                <a:latin typeface="Segoe UI Semibold"/>
              </a:rPr>
              <a:t>07 / 14</a:t>
            </a:r>
            <a:endParaRPr lang="en-US" sz="1100"/>
          </a:p>
        </p:txBody>
      </p:sp>
      <p:sp>
        <p:nvSpPr>
          <p:cNvPr id="5" name="Slide title"/>
          <p:cNvSpPr txBox="1"/>
          <p:nvPr/>
        </p:nvSpPr>
        <p:spPr>
          <a:xfrm>
            <a:off x="548640" y="749808"/>
            <a:ext cx="8046720" cy="658368"/>
          </a:xfrm>
          <a:prstGeom prst="rect">
            <a:avLst/>
          </a:prstGeom>
          <a:noFill/>
          <a:ln/>
        </p:spPr>
        <p:txBody>
          <a:bodyPr wrap="square" lIns="0" tIns="0" rIns="0" bIns="0"/>
          <a:lstStyle/>
          <a:p>
            <a:pPr>
              <a:buNone/>
            </a:pPr>
            <a:r>
              <a:rPr lang="en-US" sz="3400" b="1" i="1">
                <a:solidFill>
                  <a:srgbClr val="ECE9F8"/>
                </a:solidFill>
                <a:latin typeface="Segoe UI Black"/>
              </a:rPr>
              <a:t>A radio check, not a chat</a:t>
            </a:r>
            <a:endParaRPr lang="en-US" sz="3400"/>
          </a:p>
        </p:txBody>
      </p:sp>
      <p:sp>
        <p:nvSpPr>
          <p:cNvPr id="6" name="Slide subtitle"/>
          <p:cNvSpPr txBox="1"/>
          <p:nvPr/>
        </p:nvSpPr>
        <p:spPr>
          <a:xfrm>
            <a:off x="548640" y="1417320"/>
            <a:ext cx="8046720" cy="292608"/>
          </a:xfrm>
          <a:prstGeom prst="rect">
            <a:avLst/>
          </a:prstGeom>
          <a:noFill/>
          <a:ln/>
        </p:spPr>
        <p:txBody>
          <a:bodyPr wrap="square" lIns="0" tIns="0" rIns="0" bIns="0"/>
          <a:lstStyle/>
          <a:p>
            <a:pPr>
              <a:buNone/>
            </a:pPr>
            <a:r>
              <a:rPr lang="en-US" sz="1450">
                <a:solidFill>
                  <a:srgbClr val="ABA6C8"/>
                </a:solidFill>
                <a:latin typeface="Segoe UI"/>
              </a:rPr>
              <a:t>Illustrative snapshot and reply; each request is about one driver.</a:t>
            </a:r>
            <a:endParaRPr lang="en-US" sz="1450"/>
          </a:p>
        </p:txBody>
      </p:sp>
      <p:sp>
        <p:nvSpPr>
          <p:cNvPr id="7" name="Input card"/>
          <p:cNvSpPr/>
          <p:nvPr/>
        </p:nvSpPr>
        <p:spPr>
          <a:xfrm>
            <a:off x="548640" y="1874520"/>
            <a:ext cx="3886200" cy="2148840"/>
          </a:xfrm>
          <a:prstGeom prst="roundRect">
            <a:avLst>
              <a:gd name="adj" fmla="val 9143"/>
            </a:avLst>
          </a:prstGeom>
          <a:solidFill>
            <a:srgbClr val="110F2B"/>
          </a:solidFill>
          <a:ln/>
        </p:spPr>
        <p:txBody>
          <a:bodyPr/>
          <a:lstStyle/>
          <a:p>
            <a:endParaRPr lang="en-ZA"/>
          </a:p>
        </p:txBody>
      </p:sp>
      <p:sp>
        <p:nvSpPr>
          <p:cNvPr id="8" name="Output card"/>
          <p:cNvSpPr/>
          <p:nvPr/>
        </p:nvSpPr>
        <p:spPr>
          <a:xfrm>
            <a:off x="4800600" y="1874520"/>
            <a:ext cx="3794760" cy="2148840"/>
          </a:xfrm>
          <a:prstGeom prst="roundRect">
            <a:avLst>
              <a:gd name="adj" fmla="val 9143"/>
            </a:avLst>
          </a:prstGeom>
          <a:solidFill>
            <a:srgbClr val="110F2B"/>
          </a:solidFill>
          <a:ln/>
        </p:spPr>
        <p:txBody>
          <a:bodyPr/>
          <a:lstStyle/>
          <a:p>
            <a:endParaRPr lang="en-ZA"/>
          </a:p>
        </p:txBody>
      </p:sp>
      <p:cxnSp>
        <p:nvCxnSpPr>
          <p:cNvPr id="9" name="Request to reply arrow"/>
          <p:cNvCxnSpPr/>
          <p:nvPr/>
        </p:nvCxnSpPr>
        <p:spPr>
          <a:xfrm>
            <a:off x="4480560" y="2971800"/>
            <a:ext cx="265176" cy="0"/>
          </a:xfrm>
          <a:prstGeom prst="line">
            <a:avLst/>
          </a:prstGeom>
          <a:ln w="22225">
            <a:solidFill>
              <a:srgbClr val="ABA6C8"/>
            </a:solidFill>
            <a:tailEnd type="triangle" w="med" len="med"/>
          </a:ln>
        </p:spPr>
      </p:cxnSp>
      <p:sp>
        <p:nvSpPr>
          <p:cNvPr id="10" name="Input label"/>
          <p:cNvSpPr txBox="1"/>
          <p:nvPr/>
        </p:nvSpPr>
        <p:spPr>
          <a:xfrm>
            <a:off x="777240" y="2048256"/>
            <a:ext cx="3429000" cy="219456"/>
          </a:xfrm>
          <a:prstGeom prst="rect">
            <a:avLst/>
          </a:prstGeom>
          <a:noFill/>
          <a:ln/>
        </p:spPr>
        <p:txBody>
          <a:bodyPr wrap="square" lIns="0" tIns="0" rIns="0" bIns="0"/>
          <a:lstStyle/>
          <a:p>
            <a:pPr>
              <a:buNone/>
            </a:pPr>
            <a:r>
              <a:rPr lang="en-US" sz="1050" b="1" spc="150">
                <a:solidFill>
                  <a:srgbClr val="3DD6FF"/>
                </a:solidFill>
                <a:latin typeface="Segoe UI Semibold"/>
              </a:rPr>
              <a:t>GAME SENDS TO THE MODEL</a:t>
            </a:r>
            <a:endParaRPr lang="en-US" sz="1050"/>
          </a:p>
        </p:txBody>
      </p:sp>
      <p:sp>
        <p:nvSpPr>
          <p:cNvPr id="11" name="Output label"/>
          <p:cNvSpPr txBox="1"/>
          <p:nvPr/>
        </p:nvSpPr>
        <p:spPr>
          <a:xfrm>
            <a:off x="5029200" y="2048256"/>
            <a:ext cx="3337560" cy="219456"/>
          </a:xfrm>
          <a:prstGeom prst="rect">
            <a:avLst/>
          </a:prstGeom>
          <a:noFill/>
          <a:ln/>
        </p:spPr>
        <p:txBody>
          <a:bodyPr wrap="square" lIns="0" tIns="0" rIns="0" bIns="0"/>
          <a:lstStyle/>
          <a:p>
            <a:pPr>
              <a:buNone/>
            </a:pPr>
            <a:r>
              <a:rPr lang="en-US" sz="1050" b="1" spc="150">
                <a:solidFill>
                  <a:srgbClr val="4ADE80"/>
                </a:solidFill>
                <a:latin typeface="Segoe UI Semibold"/>
              </a:rPr>
              <a:t>MODEL RETURNS TO THE GAME</a:t>
            </a:r>
            <a:endParaRPr lang="en-US" sz="1050"/>
          </a:p>
        </p:txBody>
      </p:sp>
      <p:sp>
        <p:nvSpPr>
          <p:cNvPr id="12" name="Driver heading"/>
          <p:cNvSpPr txBox="1"/>
          <p:nvPr/>
        </p:nvSpPr>
        <p:spPr>
          <a:xfrm>
            <a:off x="777240" y="2304288"/>
            <a:ext cx="3429000" cy="320040"/>
          </a:xfrm>
          <a:prstGeom prst="rect">
            <a:avLst/>
          </a:prstGeom>
          <a:noFill/>
          <a:ln/>
        </p:spPr>
        <p:txBody>
          <a:bodyPr wrap="square" lIns="0" tIns="0" rIns="0" bIns="0"/>
          <a:lstStyle/>
          <a:p>
            <a:pPr>
              <a:buNone/>
            </a:pPr>
            <a:r>
              <a:rPr lang="en-US" sz="1600" b="1">
                <a:solidFill>
                  <a:srgbClr val="ECE9F8"/>
                </a:solidFill>
                <a:latin typeface="Segoe UI Semibold"/>
              </a:rPr>
              <a:t>Vega (#7), aggressive</a:t>
            </a:r>
            <a:endParaRPr lang="en-US" sz="1600"/>
          </a:p>
        </p:txBody>
      </p:sp>
      <p:sp>
        <p:nvSpPr>
          <p:cNvPr id="13" name="Answers heading"/>
          <p:cNvSpPr txBox="1"/>
          <p:nvPr/>
        </p:nvSpPr>
        <p:spPr>
          <a:xfrm>
            <a:off x="5029200" y="2304288"/>
            <a:ext cx="3337560" cy="320040"/>
          </a:xfrm>
          <a:prstGeom prst="rect">
            <a:avLst/>
          </a:prstGeom>
          <a:noFill/>
          <a:ln/>
        </p:spPr>
        <p:txBody>
          <a:bodyPr wrap="square" lIns="0" tIns="0" rIns="0" bIns="0"/>
          <a:lstStyle/>
          <a:p>
            <a:pPr>
              <a:buNone/>
            </a:pPr>
            <a:r>
              <a:rPr lang="en-US" sz="1600" b="1">
                <a:solidFill>
                  <a:srgbClr val="ECE9F8"/>
                </a:solidFill>
                <a:latin typeface="Segoe UI Semibold"/>
              </a:rPr>
              <a:t>Three answers</a:t>
            </a:r>
            <a:endParaRPr lang="en-US" sz="1600"/>
          </a:p>
        </p:txBody>
      </p:sp>
      <p:sp>
        <p:nvSpPr>
          <p:cNvPr id="14" name="Driver snapshot"/>
          <p:cNvSpPr txBox="1"/>
          <p:nvPr/>
        </p:nvSpPr>
        <p:spPr>
          <a:xfrm>
            <a:off x="777240" y="2688336"/>
            <a:ext cx="3429000" cy="914400"/>
          </a:xfrm>
          <a:prstGeom prst="rect">
            <a:avLst/>
          </a:prstGeom>
          <a:noFill/>
          <a:ln/>
        </p:spPr>
        <p:txBody>
          <a:bodyPr wrap="square" lIns="0" tIns="0" rIns="0" bIns="0"/>
          <a:lstStyle/>
          <a:p>
            <a:pPr>
              <a:lnSpc>
                <a:spcPts val="1700"/>
              </a:lnSpc>
              <a:spcAft>
                <a:spcPts val="0"/>
              </a:spcAft>
              <a:buNone/>
            </a:pPr>
            <a:r>
              <a:rPr lang="en-US" sz="1250">
                <a:solidFill>
                  <a:srgbClr val="ECE9F8"/>
                </a:solidFill>
                <a:latin typeface="Segoe UI"/>
              </a:rPr>
              <a:t>Lap 2/3 · P2/6 · 260 km/h</a:t>
            </a:r>
            <a:endParaRPr lang="en-US" sz="1250"/>
          </a:p>
          <a:p>
            <a:pPr>
              <a:lnSpc>
                <a:spcPts val="1700"/>
              </a:lnSpc>
              <a:spcAft>
                <a:spcPts val="0"/>
              </a:spcAft>
              <a:buNone/>
            </a:pPr>
            <a:r>
              <a:rPr lang="en-US" sz="1250">
                <a:solidFill>
                  <a:srgbClr val="ECE9F8"/>
                </a:solidFill>
                <a:latin typeface="Segoe UI"/>
              </a:rPr>
              <a:t>Nitro tank 70% · 300 m of straight road</a:t>
            </a:r>
            <a:endParaRPr lang="en-US" sz="1250"/>
          </a:p>
          <a:p>
            <a:pPr>
              <a:lnSpc>
                <a:spcPts val="1700"/>
              </a:lnSpc>
              <a:spcAft>
                <a:spcPts val="0"/>
              </a:spcAft>
              <a:buNone/>
            </a:pPr>
            <a:r>
              <a:rPr lang="en-US" sz="1250">
                <a:solidFill>
                  <a:srgbClr val="ECE9F8"/>
                </a:solidFill>
                <a:latin typeface="Segoe UI"/>
              </a:rPr>
              <a:t>Player 18 m ahead, 12 km/h slower</a:t>
            </a:r>
            <a:endParaRPr lang="en-US" sz="1250"/>
          </a:p>
          <a:p>
            <a:pPr>
              <a:lnSpc>
                <a:spcPts val="1700"/>
              </a:lnSpc>
              <a:spcAft>
                <a:spcPts val="0"/>
              </a:spcAft>
              <a:buNone/>
            </a:pPr>
            <a:r>
              <a:rPr lang="en-US" sz="1250">
                <a:solidFill>
                  <a:srgbClr val="ECE9F8"/>
                </a:solidFill>
                <a:latin typeface="Segoe UI"/>
              </a:rPr>
              <a:t>Last move: slipstream, 1.2 s ago</a:t>
            </a:r>
            <a:endParaRPr lang="en-US" sz="1250"/>
          </a:p>
        </p:txBody>
      </p:sp>
      <p:sp>
        <p:nvSpPr>
          <p:cNvPr id="15" name="Three questions"/>
          <p:cNvSpPr txBox="1"/>
          <p:nvPr/>
        </p:nvSpPr>
        <p:spPr>
          <a:xfrm>
            <a:off x="777240" y="3694176"/>
            <a:ext cx="3429000" cy="256032"/>
          </a:xfrm>
          <a:prstGeom prst="rect">
            <a:avLst/>
          </a:prstGeom>
          <a:noFill/>
          <a:ln/>
        </p:spPr>
        <p:txBody>
          <a:bodyPr wrap="square" lIns="0" tIns="0" rIns="0" bIns="0"/>
          <a:lstStyle/>
          <a:p>
            <a:pPr>
              <a:buNone/>
            </a:pPr>
            <a:r>
              <a:rPr lang="en-US" sz="1250" b="1">
                <a:solidFill>
                  <a:srgbClr val="FFD166"/>
                </a:solidFill>
                <a:latin typeface="Segoe UI Semibold"/>
              </a:rPr>
              <a:t>Ask: Which move? How hard? Nitro?</a:t>
            </a:r>
            <a:endParaRPr lang="en-US" sz="1250"/>
          </a:p>
        </p:txBody>
      </p:sp>
      <p:sp>
        <p:nvSpPr>
          <p:cNvPr id="16" name="Maneuver key"/>
          <p:cNvSpPr txBox="1"/>
          <p:nvPr/>
        </p:nvSpPr>
        <p:spPr>
          <a:xfrm>
            <a:off x="5029200" y="2706624"/>
            <a:ext cx="1097280" cy="274320"/>
          </a:xfrm>
          <a:prstGeom prst="rect">
            <a:avLst/>
          </a:prstGeom>
          <a:noFill/>
          <a:ln/>
        </p:spPr>
        <p:txBody>
          <a:bodyPr wrap="square" lIns="0" tIns="0" rIns="0" bIns="0"/>
          <a:lstStyle/>
          <a:p>
            <a:pPr>
              <a:buNone/>
            </a:pPr>
            <a:r>
              <a:rPr lang="en-US" sz="1200">
                <a:solidFill>
                  <a:srgbClr val="ABA6C8"/>
                </a:solidFill>
                <a:latin typeface="Consolas"/>
              </a:rPr>
              <a:t>maneuver</a:t>
            </a:r>
            <a:endParaRPr lang="en-US" sz="1200"/>
          </a:p>
        </p:txBody>
      </p:sp>
      <p:sp>
        <p:nvSpPr>
          <p:cNvPr id="17" name="Maneuver value"/>
          <p:cNvSpPr txBox="1"/>
          <p:nvPr/>
        </p:nvSpPr>
        <p:spPr>
          <a:xfrm>
            <a:off x="6217920" y="2679192"/>
            <a:ext cx="2148840" cy="320040"/>
          </a:xfrm>
          <a:prstGeom prst="rect">
            <a:avLst/>
          </a:prstGeom>
          <a:noFill/>
          <a:ln/>
        </p:spPr>
        <p:txBody>
          <a:bodyPr wrap="square" lIns="0" tIns="0" rIns="0" bIns="0"/>
          <a:lstStyle/>
          <a:p>
            <a:pPr>
              <a:buNone/>
            </a:pPr>
            <a:r>
              <a:rPr lang="en-US" sz="1500" b="1">
                <a:solidFill>
                  <a:srgbClr val="3DD6FF"/>
                </a:solidFill>
                <a:latin typeface="Segoe UI Semibold"/>
              </a:rPr>
              <a:t>Overtake left</a:t>
            </a:r>
            <a:endParaRPr lang="en-US" sz="1500"/>
          </a:p>
        </p:txBody>
      </p:sp>
      <p:sp>
        <p:nvSpPr>
          <p:cNvPr id="18" name="Pace key"/>
          <p:cNvSpPr txBox="1"/>
          <p:nvPr/>
        </p:nvSpPr>
        <p:spPr>
          <a:xfrm>
            <a:off x="5029200" y="3035808"/>
            <a:ext cx="1097280" cy="274320"/>
          </a:xfrm>
          <a:prstGeom prst="rect">
            <a:avLst/>
          </a:prstGeom>
          <a:noFill/>
          <a:ln/>
        </p:spPr>
        <p:txBody>
          <a:bodyPr wrap="square" lIns="0" tIns="0" rIns="0" bIns="0"/>
          <a:lstStyle/>
          <a:p>
            <a:pPr>
              <a:buNone/>
            </a:pPr>
            <a:r>
              <a:rPr lang="en-US" sz="1200">
                <a:solidFill>
                  <a:srgbClr val="ABA6C8"/>
                </a:solidFill>
                <a:latin typeface="Consolas"/>
              </a:rPr>
              <a:t>pace</a:t>
            </a:r>
            <a:endParaRPr lang="en-US" sz="1200"/>
          </a:p>
        </p:txBody>
      </p:sp>
      <p:sp>
        <p:nvSpPr>
          <p:cNvPr id="19" name="Pace value"/>
          <p:cNvSpPr txBox="1"/>
          <p:nvPr/>
        </p:nvSpPr>
        <p:spPr>
          <a:xfrm>
            <a:off x="6217920" y="3008376"/>
            <a:ext cx="2148840" cy="320040"/>
          </a:xfrm>
          <a:prstGeom prst="rect">
            <a:avLst/>
          </a:prstGeom>
          <a:noFill/>
          <a:ln/>
        </p:spPr>
        <p:txBody>
          <a:bodyPr wrap="square" lIns="0" tIns="0" rIns="0" bIns="0"/>
          <a:lstStyle/>
          <a:p>
            <a:pPr>
              <a:buNone/>
            </a:pPr>
            <a:r>
              <a:rPr lang="en-US" sz="1500" b="1">
                <a:solidFill>
                  <a:srgbClr val="3DD6FF"/>
                </a:solidFill>
                <a:latin typeface="Segoe UI Semibold"/>
              </a:rPr>
              <a:t>2.4 / 3</a:t>
            </a:r>
            <a:endParaRPr lang="en-US" sz="1500"/>
          </a:p>
        </p:txBody>
      </p:sp>
      <p:sp>
        <p:nvSpPr>
          <p:cNvPr id="20" name="Nitro key"/>
          <p:cNvSpPr txBox="1"/>
          <p:nvPr/>
        </p:nvSpPr>
        <p:spPr>
          <a:xfrm>
            <a:off x="5029200" y="3364992"/>
            <a:ext cx="1097280" cy="274320"/>
          </a:xfrm>
          <a:prstGeom prst="rect">
            <a:avLst/>
          </a:prstGeom>
          <a:noFill/>
          <a:ln/>
        </p:spPr>
        <p:txBody>
          <a:bodyPr wrap="square" lIns="0" tIns="0" rIns="0" bIns="0"/>
          <a:lstStyle/>
          <a:p>
            <a:pPr>
              <a:buNone/>
            </a:pPr>
            <a:r>
              <a:rPr lang="en-US" sz="1200">
                <a:solidFill>
                  <a:srgbClr val="ABA6C8"/>
                </a:solidFill>
                <a:latin typeface="Consolas"/>
              </a:rPr>
              <a:t>nitro</a:t>
            </a:r>
            <a:endParaRPr lang="en-US" sz="1200"/>
          </a:p>
        </p:txBody>
      </p:sp>
      <p:sp>
        <p:nvSpPr>
          <p:cNvPr id="21" name="Nitro value"/>
          <p:cNvSpPr txBox="1"/>
          <p:nvPr/>
        </p:nvSpPr>
        <p:spPr>
          <a:xfrm>
            <a:off x="6217920" y="3337560"/>
            <a:ext cx="2148840" cy="320040"/>
          </a:xfrm>
          <a:prstGeom prst="rect">
            <a:avLst/>
          </a:prstGeom>
          <a:noFill/>
          <a:ln/>
        </p:spPr>
        <p:txBody>
          <a:bodyPr wrap="square" lIns="0" tIns="0" rIns="0" bIns="0"/>
          <a:lstStyle/>
          <a:p>
            <a:pPr>
              <a:buNone/>
            </a:pPr>
            <a:r>
              <a:rPr lang="en-US" sz="1500" b="1">
                <a:solidFill>
                  <a:srgbClr val="3DD6FF"/>
                </a:solidFill>
                <a:latin typeface="Segoe UI Semibold"/>
              </a:rPr>
              <a:t>0.78 (78%)</a:t>
            </a:r>
            <a:endParaRPr lang="en-US" sz="1500"/>
          </a:p>
        </p:txBody>
      </p:sp>
      <p:sp>
        <p:nvSpPr>
          <p:cNvPr id="22" name="Game action"/>
          <p:cNvSpPr txBox="1"/>
          <p:nvPr/>
        </p:nvSpPr>
        <p:spPr>
          <a:xfrm>
            <a:off x="5029200" y="3749040"/>
            <a:ext cx="3337560" cy="219456"/>
          </a:xfrm>
          <a:prstGeom prst="rect">
            <a:avLst/>
          </a:prstGeom>
          <a:noFill/>
          <a:ln/>
        </p:spPr>
        <p:txBody>
          <a:bodyPr wrap="square" lIns="0" tIns="0" rIns="0" bIns="0"/>
          <a:lstStyle/>
          <a:p>
            <a:pPr>
              <a:buNone/>
            </a:pPr>
            <a:r>
              <a:rPr lang="en-US" sz="1100">
                <a:solidFill>
                  <a:srgbClr val="ABA6C8"/>
                </a:solidFill>
                <a:latin typeface="Segoe UI"/>
              </a:rPr>
              <a:t>Game checks the boost threshold and tank.</a:t>
            </a:r>
            <a:endParaRPr lang="en-US" sz="1100"/>
          </a:p>
        </p:txBody>
      </p:sp>
      <p:sp>
        <p:nvSpPr>
          <p:cNvPr id="23" name="No chat history"/>
          <p:cNvSpPr txBox="1"/>
          <p:nvPr/>
        </p:nvSpPr>
        <p:spPr>
          <a:xfrm>
            <a:off x="548640" y="4206240"/>
            <a:ext cx="8046720" cy="256032"/>
          </a:xfrm>
          <a:prstGeom prst="rect">
            <a:avLst/>
          </a:prstGeom>
          <a:noFill/>
          <a:ln/>
        </p:spPr>
        <p:txBody>
          <a:bodyPr wrap="square" lIns="0" tIns="0" rIns="0" bIns="0"/>
          <a:lstStyle/>
          <a:p>
            <a:pPr>
              <a:buNone/>
            </a:pPr>
            <a:r>
              <a:rPr lang="en-US" sz="1200" b="1">
                <a:solidFill>
                  <a:srgbClr val="FFD166"/>
                </a:solidFill>
                <a:latin typeface="Segoe UI Semibold"/>
              </a:rPr>
              <a:t>No chat history: </a:t>
            </a:r>
            <a:r>
              <a:rPr lang="en-US" sz="1200">
                <a:solidFill>
                  <a:srgbClr val="ECE9F8"/>
                </a:solidFill>
                <a:latin typeface="Segoe UI"/>
              </a:rPr>
              <a:t>each repeat sends fresh data plus the previous move and its age.</a:t>
            </a:r>
            <a:endParaRPr lang="en-US" sz="1200"/>
          </a:p>
        </p:txBody>
      </p:sp>
      <p:sp>
        <p:nvSpPr>
          <p:cNvPr id="24" name="Independent requests"/>
          <p:cNvSpPr txBox="1"/>
          <p:nvPr/>
        </p:nvSpPr>
        <p:spPr>
          <a:xfrm>
            <a:off x="548640" y="4498848"/>
            <a:ext cx="8046720" cy="182880"/>
          </a:xfrm>
          <a:prstGeom prst="rect">
            <a:avLst/>
          </a:prstGeom>
          <a:noFill/>
          <a:ln/>
        </p:spPr>
        <p:txBody>
          <a:bodyPr wrap="square" lIns="0" tIns="0" rIns="0" bIns="0"/>
          <a:lstStyle/>
          <a:p>
            <a:pPr>
              <a:buNone/>
            </a:pPr>
            <a:r>
              <a:rPr lang="en-US" sz="1200" b="1">
                <a:solidFill>
                  <a:srgbClr val="FFD166"/>
                </a:solidFill>
                <a:latin typeface="Segoe UI Semibold"/>
              </a:rPr>
              <a:t>Five independent drivers: </a:t>
            </a:r>
            <a:r>
              <a:rPr lang="en-US" sz="1200">
                <a:solidFill>
                  <a:srgbClr val="ECE9F8"/>
                </a:solidFill>
                <a:latin typeface="Segoe UI"/>
              </a:rPr>
              <a:t>requests can overlap; rivals do not exchange plans.</a:t>
            </a:r>
            <a:endParaRPr 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One request, three answers">
    <p:bg>
      <p:bgPr>
        <a:solidFill>
          <a:srgbClr val="07071A"/>
        </a:solidFill>
        <a:effectLst/>
      </p:bgPr>
    </p:bg>
    <p:spTree>
      <p:nvGrpSpPr>
        <p:cNvPr id="1" name=""/>
        <p:cNvGrpSpPr/>
        <p:nvPr/>
      </p:nvGrpSpPr>
      <p:grpSpPr>
        <a:xfrm>
          <a:off x="0" y="0"/>
          <a:ext cx="0" cy="0"/>
          <a:chOff x="0" y="0"/>
          <a:chExt cx="0" cy="0"/>
        </a:xfrm>
      </p:grpSpPr>
      <p:sp>
        <p:nvSpPr>
          <p:cNvPr id="2" name="Header dot"/>
          <p:cNvSpPr/>
          <p:nvPr/>
        </p:nvSpPr>
        <p:spPr>
          <a:xfrm>
            <a:off x="548640" y="484632"/>
            <a:ext cx="109728" cy="109728"/>
          </a:xfrm>
          <a:prstGeom prst="ellipse">
            <a:avLst/>
          </a:prstGeom>
          <a:solidFill>
            <a:srgbClr val="FFD166"/>
          </a:solidFill>
          <a:ln/>
        </p:spPr>
        <p:txBody>
          <a:bodyPr/>
          <a:lstStyle/>
          <a:p>
            <a:endParaRPr lang="en-ZA"/>
          </a:p>
        </p:txBody>
      </p:sp>
      <p:sp>
        <p:nvSpPr>
          <p:cNvPr id="3" name="Section label"/>
          <p:cNvSpPr txBox="1"/>
          <p:nvPr/>
        </p:nvSpPr>
        <p:spPr>
          <a:xfrm>
            <a:off x="749808" y="393192"/>
            <a:ext cx="5943600" cy="292608"/>
          </a:xfrm>
          <a:prstGeom prst="rect">
            <a:avLst/>
          </a:prstGeom>
          <a:noFill/>
          <a:ln/>
        </p:spPr>
        <p:txBody>
          <a:bodyPr wrap="square" lIns="0" tIns="0" rIns="0" bIns="0" anchor="ctr"/>
          <a:lstStyle/>
          <a:p>
            <a:pPr>
              <a:buNone/>
            </a:pPr>
            <a:r>
              <a:rPr lang="en-US" sz="1100" b="1" kern="0" spc="300">
                <a:solidFill>
                  <a:srgbClr val="ABA6C8"/>
                </a:solidFill>
                <a:latin typeface="Segoe UI Semibold"/>
              </a:rPr>
              <a:t>THE JSON EXCHANGE</a:t>
            </a:r>
            <a:endParaRPr lang="en-US" sz="1100"/>
          </a:p>
        </p:txBody>
      </p:sp>
      <p:sp>
        <p:nvSpPr>
          <p:cNvPr id="4" name="Slide counter"/>
          <p:cNvSpPr txBox="1"/>
          <p:nvPr/>
        </p:nvSpPr>
        <p:spPr>
          <a:xfrm>
            <a:off x="7223760" y="393192"/>
            <a:ext cx="1371600" cy="292608"/>
          </a:xfrm>
          <a:prstGeom prst="rect">
            <a:avLst/>
          </a:prstGeom>
          <a:noFill/>
          <a:ln/>
        </p:spPr>
        <p:txBody>
          <a:bodyPr wrap="square" lIns="0" tIns="0" rIns="0" bIns="0" anchor="ctr"/>
          <a:lstStyle/>
          <a:p>
            <a:pPr algn="r">
              <a:buNone/>
            </a:pPr>
            <a:r>
              <a:rPr lang="en-US" sz="1100">
                <a:solidFill>
                  <a:srgbClr val="ABA6C8"/>
                </a:solidFill>
                <a:latin typeface="Segoe UI Semibold"/>
              </a:rPr>
              <a:t>08 / 14</a:t>
            </a:r>
            <a:endParaRPr lang="en-US" sz="1100"/>
          </a:p>
        </p:txBody>
      </p:sp>
      <p:sp>
        <p:nvSpPr>
          <p:cNvPr id="5" name="Slide title"/>
          <p:cNvSpPr txBox="1"/>
          <p:nvPr/>
        </p:nvSpPr>
        <p:spPr>
          <a:xfrm>
            <a:off x="548640" y="749808"/>
            <a:ext cx="8046720" cy="658368"/>
          </a:xfrm>
          <a:prstGeom prst="rect">
            <a:avLst/>
          </a:prstGeom>
          <a:noFill/>
          <a:ln/>
        </p:spPr>
        <p:txBody>
          <a:bodyPr wrap="square" lIns="0" tIns="0" rIns="0" bIns="0"/>
          <a:lstStyle/>
          <a:p>
            <a:pPr>
              <a:buNone/>
            </a:pPr>
            <a:r>
              <a:rPr lang="en-US" sz="3400" b="1" i="1">
                <a:solidFill>
                  <a:srgbClr val="ECE9F8"/>
                </a:solidFill>
                <a:latin typeface="Segoe UI Black"/>
              </a:rPr>
              <a:t>One request, three answers</a:t>
            </a:r>
            <a:endParaRPr lang="en-US" sz="3400"/>
          </a:p>
        </p:txBody>
      </p:sp>
      <p:sp>
        <p:nvSpPr>
          <p:cNvPr id="6" name="Slide subtitle"/>
          <p:cNvSpPr txBox="1"/>
          <p:nvPr/>
        </p:nvSpPr>
        <p:spPr>
          <a:xfrm>
            <a:off x="548640" y="1417320"/>
            <a:ext cx="8046720" cy="320040"/>
          </a:xfrm>
          <a:prstGeom prst="rect">
            <a:avLst/>
          </a:prstGeom>
          <a:noFill/>
          <a:ln/>
        </p:spPr>
        <p:txBody>
          <a:bodyPr wrap="square" lIns="0" tIns="0" rIns="0" bIns="0"/>
          <a:lstStyle/>
          <a:p>
            <a:pPr>
              <a:buNone/>
            </a:pPr>
            <a:r>
              <a:rPr lang="en-US" sz="1450">
                <a:solidFill>
                  <a:srgbClr val="ABA6C8"/>
                </a:solidFill>
                <a:latin typeface="Segoe UI"/>
              </a:rPr>
              <a:t>Abbreviated JSON: one driver's situation in, three named answers out.</a:t>
            </a:r>
            <a:endParaRPr lang="en-US" sz="1450"/>
          </a:p>
        </p:txBody>
      </p:sp>
      <p:sp>
        <p:nvSpPr>
          <p:cNvPr id="7" name="Request card"/>
          <p:cNvSpPr/>
          <p:nvPr/>
        </p:nvSpPr>
        <p:spPr>
          <a:xfrm>
            <a:off x="548640" y="1874520"/>
            <a:ext cx="3794760" cy="2651760"/>
          </a:xfrm>
          <a:prstGeom prst="roundRect">
            <a:avLst>
              <a:gd name="adj" fmla="val 9143"/>
            </a:avLst>
          </a:prstGeom>
          <a:solidFill>
            <a:srgbClr val="110F2B"/>
          </a:solidFill>
          <a:ln/>
        </p:spPr>
        <p:txBody>
          <a:bodyPr/>
          <a:lstStyle/>
          <a:p>
            <a:endParaRPr lang="en-ZA"/>
          </a:p>
        </p:txBody>
      </p:sp>
      <p:sp>
        <p:nvSpPr>
          <p:cNvPr id="8" name="Response card"/>
          <p:cNvSpPr/>
          <p:nvPr/>
        </p:nvSpPr>
        <p:spPr>
          <a:xfrm>
            <a:off x="4663440" y="1874520"/>
            <a:ext cx="3931920" cy="2651760"/>
          </a:xfrm>
          <a:prstGeom prst="roundRect">
            <a:avLst>
              <a:gd name="adj" fmla="val 9143"/>
            </a:avLst>
          </a:prstGeom>
          <a:solidFill>
            <a:srgbClr val="110F2B"/>
          </a:solidFill>
          <a:ln/>
        </p:spPr>
        <p:txBody>
          <a:bodyPr/>
          <a:lstStyle/>
          <a:p>
            <a:endParaRPr lang="en-ZA"/>
          </a:p>
        </p:txBody>
      </p:sp>
      <p:sp>
        <p:nvSpPr>
          <p:cNvPr id="9" name="Request label"/>
          <p:cNvSpPr txBox="1"/>
          <p:nvPr/>
        </p:nvSpPr>
        <p:spPr>
          <a:xfrm>
            <a:off x="777240" y="2039112"/>
            <a:ext cx="1828800" cy="237744"/>
          </a:xfrm>
          <a:prstGeom prst="rect">
            <a:avLst/>
          </a:prstGeom>
          <a:noFill/>
          <a:ln/>
        </p:spPr>
        <p:txBody>
          <a:bodyPr wrap="square" lIns="0" tIns="0" rIns="0" bIns="0"/>
          <a:lstStyle/>
          <a:p>
            <a:pPr>
              <a:buNone/>
            </a:pPr>
            <a:r>
              <a:rPr lang="en-US" sz="1050" b="1" spc="200">
                <a:solidFill>
                  <a:srgbClr val="ABA6C8"/>
                </a:solidFill>
                <a:latin typeface="Segoe UI Semibold"/>
              </a:rPr>
              <a:t>REQUEST</a:t>
            </a:r>
            <a:endParaRPr lang="en-US" sz="1050"/>
          </a:p>
        </p:txBody>
      </p:sp>
      <p:sp>
        <p:nvSpPr>
          <p:cNvPr id="10" name="Response label"/>
          <p:cNvSpPr txBox="1"/>
          <p:nvPr/>
        </p:nvSpPr>
        <p:spPr>
          <a:xfrm>
            <a:off x="4892040" y="2039112"/>
            <a:ext cx="1828800" cy="237744"/>
          </a:xfrm>
          <a:prstGeom prst="rect">
            <a:avLst/>
          </a:prstGeom>
          <a:noFill/>
          <a:ln/>
        </p:spPr>
        <p:txBody>
          <a:bodyPr wrap="square" lIns="0" tIns="0" rIns="0" bIns="0"/>
          <a:lstStyle/>
          <a:p>
            <a:pPr>
              <a:buNone/>
            </a:pPr>
            <a:r>
              <a:rPr lang="en-US" sz="1050" b="1" spc="200">
                <a:solidFill>
                  <a:srgbClr val="ABA6C8"/>
                </a:solidFill>
                <a:latin typeface="Segoe UI Semibold"/>
              </a:rPr>
              <a:t>RESPONSE</a:t>
            </a:r>
            <a:endParaRPr lang="en-US" sz="1050"/>
          </a:p>
        </p:txBody>
      </p:sp>
      <p:sp>
        <p:nvSpPr>
          <p:cNvPr id="11" name="Request JSON"/>
          <p:cNvSpPr txBox="1"/>
          <p:nvPr/>
        </p:nvSpPr>
        <p:spPr>
          <a:xfrm>
            <a:off x="777240" y="2322576"/>
            <a:ext cx="3337560" cy="1764792"/>
          </a:xfrm>
          <a:prstGeom prst="rect">
            <a:avLst/>
          </a:prstGeom>
          <a:noFill/>
          <a:ln/>
        </p:spPr>
        <p:txBody>
          <a:bodyPr wrap="square" lIns="0" tIns="0" rIns="0" bIns="0"/>
          <a:lstStyle/>
          <a:p>
            <a:pPr>
              <a:lnSpc>
                <a:spcPts val="1150"/>
              </a:lnSpc>
              <a:buNone/>
            </a:pPr>
            <a:r>
              <a:rPr lang="en-US" sz="1050">
                <a:solidFill>
                  <a:srgbClr val="3DD6FF"/>
                </a:solidFill>
                <a:latin typeface="Consolas"/>
              </a:rPr>
              <a:t>POST …/providers/microsoft/v1/systemone</a:t>
            </a:r>
            <a:endParaRPr sz="1050"/>
          </a:p>
          <a:p>
            <a:pPr>
              <a:lnSpc>
                <a:spcPts val="1150"/>
              </a:lnSpc>
              <a:buNone/>
            </a:pPr>
            <a:r>
              <a:rPr lang="en-US" sz="1050">
                <a:solidFill>
                  <a:srgbClr val="ABA6C8"/>
                </a:solidFill>
                <a:latin typeface="Consolas"/>
              </a:rPr>
              <a:t>{</a:t>
            </a:r>
            <a:endParaRPr sz="1050"/>
          </a:p>
          <a:p>
            <a:pPr>
              <a:lnSpc>
                <a:spcPts val="1150"/>
              </a:lnSpc>
              <a:buNone/>
            </a:pPr>
            <a:r>
              <a:rPr lang="en-US" sz="1050">
                <a:solidFill>
                  <a:srgbClr val="ECE9F8"/>
                </a:solidFill>
                <a:latin typeface="Consolas"/>
              </a:rPr>
              <a:t>  "model": </a:t>
            </a:r>
            <a:r>
              <a:rPr lang="en-US" sz="1050">
                <a:solidFill>
                  <a:srgbClr val="FFD166"/>
                </a:solidFill>
                <a:latin typeface="Consolas"/>
              </a:rPr>
              <a:t>"&lt;deployment-name&gt;",</a:t>
            </a:r>
            <a:endParaRPr sz="1050"/>
          </a:p>
          <a:p>
            <a:pPr>
              <a:lnSpc>
                <a:spcPts val="1150"/>
              </a:lnSpc>
              <a:buNone/>
            </a:pPr>
            <a:r>
              <a:rPr lang="en-US" sz="1050">
                <a:solidFill>
                  <a:srgbClr val="ECE9F8"/>
                </a:solidFill>
                <a:latin typeface="Consolas"/>
              </a:rPr>
              <a:t>  "state": </a:t>
            </a:r>
            <a:r>
              <a:rPr lang="en-US" sz="1050">
                <a:solidFill>
                  <a:srgbClr val="FFD166"/>
                </a:solidFill>
                <a:latin typeface="Consolas"/>
              </a:rPr>
              <a:t>"&lt;Vega's snapshot&gt;",</a:t>
            </a:r>
            <a:endParaRPr sz="1050"/>
          </a:p>
          <a:p>
            <a:pPr>
              <a:lnSpc>
                <a:spcPts val="1150"/>
              </a:lnSpc>
              <a:buNone/>
            </a:pPr>
            <a:r>
              <a:rPr lang="en-US" sz="1050">
                <a:solidFill>
                  <a:srgbClr val="ECE9F8"/>
                </a:solidFill>
                <a:latin typeface="Consolas"/>
              </a:rPr>
              <a:t>  "questions": {</a:t>
            </a:r>
            <a:endParaRPr sz="1050"/>
          </a:p>
          <a:p>
            <a:pPr>
              <a:lnSpc>
                <a:spcPts val="1150"/>
              </a:lnSpc>
              <a:buNone/>
            </a:pPr>
            <a:r>
              <a:rPr lang="en-US" sz="1050">
                <a:solidFill>
                  <a:srgbClr val="ECE9F8"/>
                </a:solidFill>
                <a:latin typeface="Consolas"/>
              </a:rPr>
              <a:t>    "maneuver": { "type": </a:t>
            </a:r>
            <a:r>
              <a:rPr lang="en-US" sz="1050">
                <a:solidFill>
                  <a:srgbClr val="FFD166"/>
                </a:solidFill>
                <a:latin typeface="Consolas"/>
              </a:rPr>
              <a:t>"choice", … },</a:t>
            </a:r>
            <a:endParaRPr sz="1050"/>
          </a:p>
          <a:p>
            <a:pPr>
              <a:lnSpc>
                <a:spcPts val="1150"/>
              </a:lnSpc>
              <a:buNone/>
            </a:pPr>
            <a:r>
              <a:rPr lang="en-US" sz="1050">
                <a:solidFill>
                  <a:srgbClr val="ECE9F8"/>
                </a:solidFill>
                <a:latin typeface="Consolas"/>
              </a:rPr>
              <a:t>    "pace": { "type": </a:t>
            </a:r>
            <a:r>
              <a:rPr lang="en-US" sz="1050">
                <a:solidFill>
                  <a:srgbClr val="FFD166"/>
                </a:solidFill>
                <a:latin typeface="Consolas"/>
              </a:rPr>
              <a:t>"score", … },</a:t>
            </a:r>
            <a:endParaRPr sz="1050"/>
          </a:p>
          <a:p>
            <a:pPr>
              <a:lnSpc>
                <a:spcPts val="1150"/>
              </a:lnSpc>
              <a:buNone/>
            </a:pPr>
            <a:r>
              <a:rPr lang="en-US" sz="1050">
                <a:solidFill>
                  <a:srgbClr val="ECE9F8"/>
                </a:solidFill>
                <a:latin typeface="Consolas"/>
              </a:rPr>
              <a:t>    "nitro": { "type": </a:t>
            </a:r>
            <a:r>
              <a:rPr lang="en-US" sz="1050">
                <a:solidFill>
                  <a:srgbClr val="FFD166"/>
                </a:solidFill>
                <a:latin typeface="Consolas"/>
              </a:rPr>
              <a:t>"noul", … }</a:t>
            </a:r>
            <a:endParaRPr sz="1050"/>
          </a:p>
          <a:p>
            <a:pPr>
              <a:lnSpc>
                <a:spcPts val="1150"/>
              </a:lnSpc>
              <a:buNone/>
            </a:pPr>
            <a:r>
              <a:rPr lang="en-US" sz="1050">
                <a:solidFill>
                  <a:srgbClr val="ABA6C8"/>
                </a:solidFill>
                <a:latin typeface="Consolas"/>
              </a:rPr>
              <a:t>  }</a:t>
            </a:r>
            <a:endParaRPr sz="1050"/>
          </a:p>
          <a:p>
            <a:pPr>
              <a:lnSpc>
                <a:spcPts val="1150"/>
              </a:lnSpc>
              <a:buNone/>
            </a:pPr>
            <a:r>
              <a:rPr lang="en-US" sz="1050">
                <a:solidFill>
                  <a:srgbClr val="ABA6C8"/>
                </a:solidFill>
                <a:latin typeface="Consolas"/>
              </a:rPr>
              <a:t>}</a:t>
            </a:r>
            <a:endParaRPr sz="1050"/>
          </a:p>
        </p:txBody>
      </p:sp>
      <p:sp>
        <p:nvSpPr>
          <p:cNvPr id="12" name="Response JSON"/>
          <p:cNvSpPr txBox="1"/>
          <p:nvPr/>
        </p:nvSpPr>
        <p:spPr>
          <a:xfrm>
            <a:off x="4892040" y="2322576"/>
            <a:ext cx="3474720" cy="1874520"/>
          </a:xfrm>
          <a:prstGeom prst="rect">
            <a:avLst/>
          </a:prstGeom>
          <a:noFill/>
          <a:ln/>
        </p:spPr>
        <p:txBody>
          <a:bodyPr wrap="square" lIns="0" tIns="0" rIns="0" bIns="0"/>
          <a:lstStyle/>
          <a:p>
            <a:pPr>
              <a:lnSpc>
                <a:spcPts val="1150"/>
              </a:lnSpc>
              <a:buNone/>
            </a:pPr>
            <a:r>
              <a:rPr lang="en-US" sz="1050">
                <a:solidFill>
                  <a:srgbClr val="4ADE80"/>
                </a:solidFill>
                <a:latin typeface="Consolas"/>
              </a:rPr>
              <a:t>200 OK</a:t>
            </a:r>
            <a:endParaRPr sz="1050"/>
          </a:p>
          <a:p>
            <a:pPr>
              <a:lnSpc>
                <a:spcPts val="1150"/>
              </a:lnSpc>
              <a:buNone/>
            </a:pPr>
            <a:r>
              <a:rPr lang="en-US" sz="1050">
                <a:solidFill>
                  <a:srgbClr val="ABA6C8"/>
                </a:solidFill>
                <a:latin typeface="Consolas"/>
              </a:rPr>
              <a:t>{</a:t>
            </a:r>
            <a:endParaRPr sz="1050"/>
          </a:p>
          <a:p>
            <a:pPr>
              <a:lnSpc>
                <a:spcPts val="1150"/>
              </a:lnSpc>
              <a:buNone/>
            </a:pPr>
            <a:r>
              <a:rPr lang="en-US" sz="1050">
                <a:solidFill>
                  <a:srgbClr val="ECE9F8"/>
                </a:solidFill>
                <a:latin typeface="Consolas"/>
              </a:rPr>
              <a:t>  "model": </a:t>
            </a:r>
            <a:r>
              <a:rPr lang="en-US" sz="1050">
                <a:solidFill>
                  <a:srgbClr val="FFD166"/>
                </a:solidFill>
                <a:latin typeface="Consolas"/>
              </a:rPr>
              <a:t>"microsoft-decision-1",</a:t>
            </a:r>
            <a:endParaRPr sz="1050"/>
          </a:p>
          <a:p>
            <a:pPr>
              <a:lnSpc>
                <a:spcPts val="1150"/>
              </a:lnSpc>
              <a:buNone/>
            </a:pPr>
            <a:r>
              <a:rPr lang="en-US" sz="1050">
                <a:solidFill>
                  <a:srgbClr val="ECE9F8"/>
                </a:solidFill>
                <a:latin typeface="Consolas"/>
              </a:rPr>
              <a:t>  "answers": {</a:t>
            </a:r>
            <a:endParaRPr sz="1050"/>
          </a:p>
          <a:p>
            <a:pPr>
              <a:lnSpc>
                <a:spcPts val="1150"/>
              </a:lnSpc>
              <a:buNone/>
            </a:pPr>
            <a:r>
              <a:rPr lang="en-US" sz="1050">
                <a:solidFill>
                  <a:srgbClr val="ECE9F8"/>
                </a:solidFill>
                <a:latin typeface="Consolas"/>
              </a:rPr>
              <a:t>    "maneuver": {</a:t>
            </a:r>
            <a:endParaRPr sz="1050"/>
          </a:p>
          <a:p>
            <a:pPr>
              <a:lnSpc>
                <a:spcPts val="1150"/>
              </a:lnSpc>
              <a:buNone/>
            </a:pPr>
            <a:r>
              <a:rPr lang="en-US" sz="1050">
                <a:solidFill>
                  <a:srgbClr val="ECE9F8"/>
                </a:solidFill>
                <a:latin typeface="Consolas"/>
              </a:rPr>
              <a:t>      "choice": </a:t>
            </a:r>
            <a:r>
              <a:rPr lang="en-US" sz="1050">
                <a:solidFill>
                  <a:srgbClr val="FFD166"/>
                </a:solidFill>
                <a:latin typeface="Consolas"/>
              </a:rPr>
              <a:t>"overtake_left", …</a:t>
            </a:r>
            <a:endParaRPr sz="1050"/>
          </a:p>
          <a:p>
            <a:pPr>
              <a:lnSpc>
                <a:spcPts val="1150"/>
              </a:lnSpc>
              <a:buNone/>
            </a:pPr>
            <a:r>
              <a:rPr lang="en-US" sz="1050">
                <a:solidFill>
                  <a:srgbClr val="ABA6C8"/>
                </a:solidFill>
                <a:latin typeface="Consolas"/>
              </a:rPr>
              <a:t>    },</a:t>
            </a:r>
            <a:endParaRPr sz="1050"/>
          </a:p>
          <a:p>
            <a:pPr>
              <a:lnSpc>
                <a:spcPts val="1150"/>
              </a:lnSpc>
              <a:buNone/>
            </a:pPr>
            <a:r>
              <a:rPr lang="en-US" sz="1050">
                <a:solidFill>
                  <a:srgbClr val="ECE9F8"/>
                </a:solidFill>
                <a:latin typeface="Consolas"/>
              </a:rPr>
              <a:t>    "pace": { "score": </a:t>
            </a:r>
            <a:r>
              <a:rPr lang="en-US" sz="1050">
                <a:solidFill>
                  <a:srgbClr val="3DD6FF"/>
                </a:solidFill>
                <a:latin typeface="Consolas"/>
              </a:rPr>
              <a:t>2.4, … },</a:t>
            </a:r>
            <a:endParaRPr sz="1050"/>
          </a:p>
          <a:p>
            <a:pPr>
              <a:lnSpc>
                <a:spcPts val="1150"/>
              </a:lnSpc>
              <a:buNone/>
            </a:pPr>
            <a:r>
              <a:rPr lang="en-US" sz="1050">
                <a:solidFill>
                  <a:srgbClr val="ECE9F8"/>
                </a:solidFill>
                <a:latin typeface="Consolas"/>
              </a:rPr>
              <a:t>    "nitro": { "noul": </a:t>
            </a:r>
            <a:r>
              <a:rPr lang="en-US" sz="1050">
                <a:solidFill>
                  <a:srgbClr val="3DD6FF"/>
                </a:solidFill>
                <a:latin typeface="Consolas"/>
              </a:rPr>
              <a:t>0.78, … }</a:t>
            </a:r>
            <a:endParaRPr sz="1050"/>
          </a:p>
          <a:p>
            <a:pPr>
              <a:lnSpc>
                <a:spcPts val="1150"/>
              </a:lnSpc>
              <a:buNone/>
            </a:pPr>
            <a:r>
              <a:rPr lang="en-US" sz="1050">
                <a:solidFill>
                  <a:srgbClr val="ABA6C8"/>
                </a:solidFill>
                <a:latin typeface="Consolas"/>
              </a:rPr>
              <a:t>  },</a:t>
            </a:r>
            <a:endParaRPr sz="1050"/>
          </a:p>
          <a:p>
            <a:pPr>
              <a:lnSpc>
                <a:spcPts val="1150"/>
              </a:lnSpc>
              <a:buNone/>
            </a:pPr>
            <a:r>
              <a:rPr lang="en-US" sz="1050">
                <a:solidFill>
                  <a:srgbClr val="ECE9F8"/>
                </a:solidFill>
                <a:latin typeface="Consolas"/>
              </a:rPr>
              <a:t>  "usage": { "output_tokens": </a:t>
            </a:r>
            <a:r>
              <a:rPr lang="en-US" sz="1050">
                <a:solidFill>
                  <a:srgbClr val="3DD6FF"/>
                </a:solidFill>
                <a:latin typeface="Consolas"/>
              </a:rPr>
              <a:t>3, … }</a:t>
            </a:r>
            <a:endParaRPr sz="1050"/>
          </a:p>
          <a:p>
            <a:pPr>
              <a:lnSpc>
                <a:spcPts val="1150"/>
              </a:lnSpc>
              <a:buNone/>
            </a:pPr>
            <a:r>
              <a:rPr lang="en-US" sz="1050">
                <a:solidFill>
                  <a:srgbClr val="ABA6C8"/>
                </a:solidFill>
                <a:latin typeface="Consolas"/>
              </a:rPr>
              <a:t>}</a:t>
            </a:r>
            <a:endParaRPr sz="1050"/>
          </a:p>
        </p:txBody>
      </p:sp>
      <p:sp>
        <p:nvSpPr>
          <p:cNvPr id="13" name="Omitted request fields"/>
          <p:cNvSpPr txBox="1"/>
          <p:nvPr/>
        </p:nvSpPr>
        <p:spPr>
          <a:xfrm>
            <a:off x="777240" y="4050792"/>
            <a:ext cx="3337560" cy="365760"/>
          </a:xfrm>
          <a:prstGeom prst="rect">
            <a:avLst/>
          </a:prstGeom>
          <a:noFill/>
          <a:ln/>
        </p:spPr>
        <p:txBody>
          <a:bodyPr wrap="square" lIns="0" tIns="0" rIns="0" bIns="0"/>
          <a:lstStyle/>
          <a:p>
            <a:pPr>
              <a:lnSpc>
                <a:spcPts val="1200"/>
              </a:lnSpc>
              <a:buNone/>
            </a:pPr>
            <a:r>
              <a:rPr lang="en-US" sz="1050">
                <a:solidFill>
                  <a:srgbClr val="ABA6C8"/>
                </a:solidFill>
                <a:latin typeface="Segoe UI"/>
              </a:rPr>
              <a:t>All three include instructions.</a:t>
            </a:r>
            <a:endParaRPr sz="1050"/>
          </a:p>
          <a:p>
            <a:pPr>
              <a:lnSpc>
                <a:spcPts val="1200"/>
              </a:lnSpc>
              <a:buNone/>
            </a:pPr>
            <a:r>
              <a:rPr lang="en-US" sz="1050">
                <a:solidFill>
                  <a:srgbClr val="ABA6C8"/>
                </a:solidFill>
                <a:latin typeface="Segoe UI"/>
              </a:rPr>
              <a:t>Choice and score add criteria (options).</a:t>
            </a:r>
            <a:endParaRPr sz="1050"/>
          </a:p>
        </p:txBody>
      </p:sp>
      <p:sp>
        <p:nvSpPr>
          <p:cNvPr id="14" name="Illustrative response caveat"/>
          <p:cNvSpPr txBox="1"/>
          <p:nvPr/>
        </p:nvSpPr>
        <p:spPr>
          <a:xfrm>
            <a:off x="4892040" y="4261104"/>
            <a:ext cx="3474720" cy="182880"/>
          </a:xfrm>
          <a:prstGeom prst="rect">
            <a:avLst/>
          </a:prstGeom>
          <a:noFill/>
          <a:ln/>
        </p:spPr>
        <p:txBody>
          <a:bodyPr wrap="square" lIns="0" tIns="0" rIns="0" bIns="0"/>
          <a:lstStyle/>
          <a:p>
            <a:pPr>
              <a:buNone/>
            </a:pPr>
            <a:r>
              <a:rPr lang="en-US" sz="1050">
                <a:solidFill>
                  <a:srgbClr val="ABA6C8"/>
                </a:solidFill>
                <a:latin typeface="Segoe UI"/>
              </a:rPr>
              <a:t>Illustrative reply; extra fields omitted.</a:t>
            </a:r>
            <a:endParaRPr lang="en-US" sz="10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How rivals follow the line">
    <p:bg>
      <p:bgPr>
        <a:solidFill>
          <a:srgbClr val="07071A"/>
        </a:solidFill>
        <a:effectLst/>
      </p:bgPr>
    </p:bg>
    <p:spTree>
      <p:nvGrpSpPr>
        <p:cNvPr id="1" name=""/>
        <p:cNvGrpSpPr/>
        <p:nvPr/>
      </p:nvGrpSpPr>
      <p:grpSpPr>
        <a:xfrm>
          <a:off x="0" y="0"/>
          <a:ext cx="0" cy="0"/>
          <a:chOff x="0" y="0"/>
          <a:chExt cx="0" cy="0"/>
        </a:xfrm>
      </p:grpSpPr>
      <p:sp>
        <p:nvSpPr>
          <p:cNvPr id="2" name="Header dot"/>
          <p:cNvSpPr/>
          <p:nvPr/>
        </p:nvSpPr>
        <p:spPr>
          <a:xfrm>
            <a:off x="548640" y="484632"/>
            <a:ext cx="109728" cy="109728"/>
          </a:xfrm>
          <a:prstGeom prst="ellipse">
            <a:avLst/>
          </a:prstGeom>
          <a:solidFill>
            <a:srgbClr val="FFD166"/>
          </a:solidFill>
          <a:ln>
            <a:noFill/>
          </a:ln>
        </p:spPr>
        <p:txBody>
          <a:bodyPr/>
          <a:lstStyle/>
          <a:p>
            <a:endParaRPr lang="en-ZA"/>
          </a:p>
        </p:txBody>
      </p:sp>
      <p:sp>
        <p:nvSpPr>
          <p:cNvPr id="3" name="Section label"/>
          <p:cNvSpPr txBox="1"/>
          <p:nvPr/>
        </p:nvSpPr>
        <p:spPr>
          <a:xfrm>
            <a:off x="749808" y="393192"/>
            <a:ext cx="5943600" cy="292608"/>
          </a:xfrm>
          <a:prstGeom prst="rect">
            <a:avLst/>
          </a:prstGeom>
          <a:noFill/>
          <a:ln>
            <a:noFill/>
          </a:ln>
        </p:spPr>
        <p:txBody>
          <a:bodyPr wrap="none" lIns="0" tIns="0" rIns="0" bIns="0" anchor="ctr"/>
          <a:lstStyle/>
          <a:p>
            <a:pPr>
              <a:buNone/>
            </a:pPr>
            <a:r>
              <a:rPr lang="en-US" sz="1100" b="1" spc="300">
                <a:solidFill>
                  <a:srgbClr val="ABA6C8"/>
                </a:solidFill>
                <a:latin typeface="Segoe UI Semibold"/>
              </a:rPr>
              <a:t>RACING LINE</a:t>
            </a:r>
          </a:p>
        </p:txBody>
      </p:sp>
      <p:sp>
        <p:nvSpPr>
          <p:cNvPr id="4" name="Slide counter"/>
          <p:cNvSpPr txBox="1"/>
          <p:nvPr/>
        </p:nvSpPr>
        <p:spPr>
          <a:xfrm>
            <a:off x="7223760" y="393192"/>
            <a:ext cx="1371600" cy="292608"/>
          </a:xfrm>
          <a:prstGeom prst="rect">
            <a:avLst/>
          </a:prstGeom>
          <a:noFill/>
          <a:ln>
            <a:noFill/>
          </a:ln>
        </p:spPr>
        <p:txBody>
          <a:bodyPr wrap="none" lIns="0" tIns="0" rIns="0" bIns="0" anchor="ctr"/>
          <a:lstStyle/>
          <a:p>
            <a:pPr algn="r">
              <a:buNone/>
            </a:pPr>
            <a:r>
              <a:rPr lang="en-US" sz="1100">
                <a:solidFill>
                  <a:srgbClr val="ABA6C8"/>
                </a:solidFill>
                <a:latin typeface="Segoe UI Semibold"/>
              </a:rPr>
              <a:t>09 / 14</a:t>
            </a:r>
          </a:p>
        </p:txBody>
      </p:sp>
      <p:sp>
        <p:nvSpPr>
          <p:cNvPr id="5" name="Slide title"/>
          <p:cNvSpPr txBox="1"/>
          <p:nvPr/>
        </p:nvSpPr>
        <p:spPr>
          <a:xfrm>
            <a:off x="548640" y="731520"/>
            <a:ext cx="8046720" cy="658368"/>
          </a:xfrm>
          <a:prstGeom prst="rect">
            <a:avLst/>
          </a:prstGeom>
          <a:noFill/>
          <a:ln>
            <a:noFill/>
          </a:ln>
        </p:spPr>
        <p:txBody>
          <a:bodyPr wrap="none" lIns="0" tIns="0" rIns="0" bIns="0"/>
          <a:lstStyle/>
          <a:p>
            <a:pPr>
              <a:buNone/>
            </a:pPr>
            <a:r>
              <a:rPr lang="en-US" sz="3400" b="1" i="1">
                <a:solidFill>
                  <a:srgbClr val="ECE9F8"/>
                </a:solidFill>
                <a:latin typeface="Segoe UI Black"/>
              </a:rPr>
              <a:t>How rivals follow the line</a:t>
            </a:r>
          </a:p>
        </p:txBody>
      </p:sp>
      <p:sp>
        <p:nvSpPr>
          <p:cNvPr id="6" name="Racing-line approximation"/>
          <p:cNvSpPr txBox="1"/>
          <p:nvPr/>
        </p:nvSpPr>
        <p:spPr>
          <a:xfrm>
            <a:off x="548640" y="1362456"/>
            <a:ext cx="8046720" cy="274320"/>
          </a:xfrm>
          <a:prstGeom prst="rect">
            <a:avLst/>
          </a:prstGeom>
          <a:noFill/>
          <a:ln>
            <a:noFill/>
          </a:ln>
        </p:spPr>
        <p:txBody>
          <a:bodyPr wrap="none" lIns="0" tIns="0" rIns="0" bIns="0"/>
          <a:lstStyle/>
          <a:p>
            <a:pPr>
              <a:buNone/>
            </a:pPr>
            <a:r>
              <a:rPr lang="en-US" sz="1370">
                <a:solidFill>
                  <a:srgbClr val="ABA6C8"/>
                </a:solidFill>
                <a:latin typeface="Segoe UI"/>
              </a:rPr>
              <a:t>The model selects racing_line; game code computes the target and steers at 60 Hz.</a:t>
            </a:r>
          </a:p>
        </p:txBody>
      </p:sp>
      <p:pic>
        <p:nvPicPr>
          <p:cNvPr id="7" name="Actual LUNA GP game capture" descr="Controlled scene captured in the actual game: the player is P3 and Lyra, the purple rival labelled LINE, is P2 on a right-hand bend. The matching live model request is for Lyra, not the player."/>
          <p:cNvPicPr>
            <a:picLocks noChangeAspect="1"/>
          </p:cNvPicPr>
          <p:nvPr/>
        </p:nvPicPr>
        <p:blipFill>
          <a:blip r:embed="rId3"/>
          <a:stretch>
            <a:fillRect/>
          </a:stretch>
        </p:blipFill>
        <p:spPr>
          <a:xfrm>
            <a:off x="548640" y="1737360"/>
            <a:ext cx="4480560" cy="2520315"/>
          </a:xfrm>
          <a:prstGeom prst="rect">
            <a:avLst/>
          </a:prstGeom>
          <a:ln>
            <a:noFill/>
          </a:ln>
        </p:spPr>
      </p:pic>
      <p:sp>
        <p:nvSpPr>
          <p:cNvPr id="8" name="Racing-line contrast underlay"/>
          <p:cNvSpPr/>
          <p:nvPr/>
        </p:nvSpPr>
        <p:spPr>
          <a:xfrm>
            <a:off x="548640" y="1737360"/>
            <a:ext cx="4480560" cy="2520315"/>
          </a:xfrm>
          <a:custGeom>
            <a:avLst/>
            <a:gdLst/>
            <a:ahLst/>
            <a:cxnLst/>
            <a:rect l="0" t="0" r="r" b="b"/>
            <a:pathLst>
              <a:path w="1280" h="720" fill="none">
                <a:moveTo>
                  <a:pt x="839" y="536"/>
                </a:moveTo>
                <a:lnTo>
                  <a:pt x="824" y="510"/>
                </a:lnTo>
                <a:lnTo>
                  <a:pt x="812" y="490"/>
                </a:lnTo>
                <a:lnTo>
                  <a:pt x="803" y="473"/>
                </a:lnTo>
                <a:lnTo>
                  <a:pt x="796" y="459"/>
                </a:lnTo>
                <a:lnTo>
                  <a:pt x="791" y="447"/>
                </a:lnTo>
                <a:lnTo>
                  <a:pt x="786" y="437"/>
                </a:lnTo>
                <a:lnTo>
                  <a:pt x="784" y="428"/>
                </a:lnTo>
                <a:lnTo>
                  <a:pt x="781" y="420"/>
                </a:lnTo>
                <a:lnTo>
                  <a:pt x="780" y="414"/>
                </a:lnTo>
                <a:lnTo>
                  <a:pt x="778" y="408"/>
                </a:lnTo>
                <a:lnTo>
                  <a:pt x="779" y="402"/>
                </a:lnTo>
                <a:lnTo>
                  <a:pt x="779" y="397"/>
                </a:lnTo>
                <a:lnTo>
                  <a:pt x="779" y="393"/>
                </a:lnTo>
                <a:moveTo>
                  <a:pt x="826" y="352"/>
                </a:moveTo>
                <a:lnTo>
                  <a:pt x="834" y="349"/>
                </a:lnTo>
                <a:lnTo>
                  <a:pt x="845" y="345"/>
                </a:lnTo>
                <a:lnTo>
                  <a:pt x="857" y="342"/>
                </a:lnTo>
                <a:lnTo>
                  <a:pt x="871" y="339"/>
                </a:lnTo>
                <a:lnTo>
                  <a:pt x="887" y="336"/>
                </a:lnTo>
                <a:lnTo>
                  <a:pt x="908" y="333"/>
                </a:lnTo>
                <a:lnTo>
                  <a:pt x="925" y="331"/>
                </a:lnTo>
              </a:path>
            </a:pathLst>
          </a:custGeom>
          <a:noFill/>
          <a:ln w="66040" cap="rnd">
            <a:solidFill>
              <a:srgbClr val="07071A">
                <a:alpha val="80000"/>
              </a:srgbClr>
            </a:solidFill>
            <a:round/>
          </a:ln>
        </p:spPr>
        <p:txBody>
          <a:bodyPr/>
          <a:lstStyle/>
          <a:p>
            <a:endParaRPr lang="en-ZA"/>
          </a:p>
        </p:txBody>
      </p:sp>
      <p:sp>
        <p:nvSpPr>
          <p:cNvPr id="9" name="Editable racing-line target - near" descr="Projected engine target: offset = clamp(0.12 * avgCurveAhead(position, 40), -0.55, 0.55). These points are sampled from the actual game's projection. Interrupted behind Lyra's car so the overlay does not paint over it."/>
          <p:cNvSpPr/>
          <p:nvPr/>
        </p:nvSpPr>
        <p:spPr>
          <a:xfrm>
            <a:off x="548640" y="1737360"/>
            <a:ext cx="4480560" cy="2520315"/>
          </a:xfrm>
          <a:custGeom>
            <a:avLst/>
            <a:gdLst/>
            <a:ahLst/>
            <a:cxnLst/>
            <a:rect l="0" t="0" r="r" b="b"/>
            <a:pathLst>
              <a:path w="1280" h="720" fill="none">
                <a:moveTo>
                  <a:pt x="839" y="536"/>
                </a:moveTo>
                <a:lnTo>
                  <a:pt x="824" y="510"/>
                </a:lnTo>
                <a:lnTo>
                  <a:pt x="812" y="490"/>
                </a:lnTo>
                <a:lnTo>
                  <a:pt x="803" y="473"/>
                </a:lnTo>
                <a:lnTo>
                  <a:pt x="796" y="459"/>
                </a:lnTo>
                <a:lnTo>
                  <a:pt x="791" y="447"/>
                </a:lnTo>
                <a:lnTo>
                  <a:pt x="786" y="437"/>
                </a:lnTo>
                <a:lnTo>
                  <a:pt x="784" y="428"/>
                </a:lnTo>
                <a:lnTo>
                  <a:pt x="781" y="420"/>
                </a:lnTo>
                <a:lnTo>
                  <a:pt x="780" y="414"/>
                </a:lnTo>
                <a:lnTo>
                  <a:pt x="778" y="408"/>
                </a:lnTo>
                <a:lnTo>
                  <a:pt x="779" y="402"/>
                </a:lnTo>
                <a:lnTo>
                  <a:pt x="779" y="397"/>
                </a:lnTo>
                <a:lnTo>
                  <a:pt x="779" y="393"/>
                </a:lnTo>
              </a:path>
            </a:pathLst>
          </a:custGeom>
          <a:noFill/>
          <a:ln w="33020" cap="rnd">
            <a:solidFill>
              <a:srgbClr val="FFD166"/>
            </a:solidFill>
            <a:round/>
          </a:ln>
        </p:spPr>
        <p:txBody>
          <a:bodyPr/>
          <a:lstStyle/>
          <a:p>
            <a:endParaRPr lang="en-ZA"/>
          </a:p>
        </p:txBody>
      </p:sp>
      <p:sp>
        <p:nvSpPr>
          <p:cNvPr id="10" name="Editable racing-line target - ahead" descr="The target line continues ahead of Lyra toward the inside of this right-hand bend. An explanatory annotation, not a path returned by the AI."/>
          <p:cNvSpPr/>
          <p:nvPr/>
        </p:nvSpPr>
        <p:spPr>
          <a:xfrm>
            <a:off x="548640" y="1737360"/>
            <a:ext cx="4480560" cy="2520315"/>
          </a:xfrm>
          <a:custGeom>
            <a:avLst/>
            <a:gdLst/>
            <a:ahLst/>
            <a:cxnLst/>
            <a:rect l="0" t="0" r="r" b="b"/>
            <a:pathLst>
              <a:path w="1280" h="720" fill="none">
                <a:moveTo>
                  <a:pt x="826" y="352"/>
                </a:moveTo>
                <a:lnTo>
                  <a:pt x="834" y="349"/>
                </a:lnTo>
                <a:lnTo>
                  <a:pt x="845" y="345"/>
                </a:lnTo>
                <a:lnTo>
                  <a:pt x="857" y="342"/>
                </a:lnTo>
                <a:lnTo>
                  <a:pt x="871" y="339"/>
                </a:lnTo>
                <a:lnTo>
                  <a:pt x="887" y="336"/>
                </a:lnTo>
                <a:lnTo>
                  <a:pt x="908" y="333"/>
                </a:lnTo>
                <a:lnTo>
                  <a:pt x="925" y="331"/>
                </a:lnTo>
              </a:path>
            </a:pathLst>
          </a:custGeom>
          <a:noFill/>
          <a:ln w="21590" cap="rnd">
            <a:solidFill>
              <a:srgbClr val="FFD166"/>
            </a:solidFill>
            <a:round/>
            <a:tailEnd type="triangle" w="sm" len="sm"/>
          </a:ln>
        </p:spPr>
        <p:txBody>
          <a:bodyPr/>
          <a:lstStyle/>
          <a:p>
            <a:endParaRPr lang="en-ZA"/>
          </a:p>
        </p:txBody>
      </p:sp>
      <p:sp>
        <p:nvSpPr>
          <p:cNvPr id="11" name="Lyra request-to-screenshot callout"/>
          <p:cNvSpPr txBox="1"/>
          <p:nvPr/>
        </p:nvSpPr>
        <p:spPr>
          <a:xfrm>
            <a:off x="786384" y="2468880"/>
            <a:ext cx="2651760" cy="274320"/>
          </a:xfrm>
          <a:prstGeom prst="roundRect">
            <a:avLst>
              <a:gd name="adj" fmla="val 18000"/>
            </a:avLst>
          </a:prstGeom>
          <a:solidFill>
            <a:srgbClr val="07071A">
              <a:alpha val="90000"/>
            </a:srgbClr>
          </a:solidFill>
          <a:ln>
            <a:noFill/>
          </a:ln>
        </p:spPr>
        <p:txBody>
          <a:bodyPr wrap="none" lIns="91440" tIns="0" rIns="91440" bIns="0" anchor="ctr"/>
          <a:lstStyle/>
          <a:p>
            <a:pPr>
              <a:buNone/>
            </a:pPr>
            <a:r>
              <a:rPr lang="en-US" sz="1100" b="1">
                <a:solidFill>
                  <a:srgbClr val="D7BCFF"/>
                </a:solidFill>
                <a:latin typeface="Segoe UI Semibold"/>
              </a:rPr>
              <a:t>LYRA #22 / P2 / 268 km/h</a:t>
            </a:r>
          </a:p>
        </p:txBody>
      </p:sp>
      <p:sp>
        <p:nvSpPr>
          <p:cNvPr id="12" name="Capture provenance"/>
          <p:cNvSpPr txBox="1"/>
          <p:nvPr/>
        </p:nvSpPr>
        <p:spPr>
          <a:xfrm>
            <a:off x="548640" y="4352544"/>
            <a:ext cx="4480560" cy="201168"/>
          </a:xfrm>
          <a:prstGeom prst="rect">
            <a:avLst/>
          </a:prstGeom>
          <a:noFill/>
          <a:ln>
            <a:noFill/>
          </a:ln>
        </p:spPr>
        <p:txBody>
          <a:bodyPr wrap="none" lIns="0" tIns="0" rIns="0" bIns="0"/>
          <a:lstStyle/>
          <a:p>
            <a:pPr>
              <a:buNone/>
            </a:pPr>
            <a:r>
              <a:rPr lang="en-US" sz="1100">
                <a:solidFill>
                  <a:srgbClr val="ABA6C8"/>
                </a:solidFill>
                <a:latin typeface="Segoe UI"/>
              </a:rPr>
              <a:t>Yellow: engine target. Controlled game capture; overlay added.</a:t>
            </a:r>
          </a:p>
        </p:txBody>
      </p:sp>
      <p:sp>
        <p:nvSpPr>
          <p:cNvPr id="13" name="How the engine follows the line"/>
          <p:cNvSpPr txBox="1"/>
          <p:nvPr/>
        </p:nvSpPr>
        <p:spPr>
          <a:xfrm>
            <a:off x="548640" y="4544568"/>
            <a:ext cx="4480560" cy="201168"/>
          </a:xfrm>
          <a:prstGeom prst="rect">
            <a:avLst/>
          </a:prstGeom>
          <a:noFill/>
          <a:ln>
            <a:noFill/>
          </a:ln>
        </p:spPr>
        <p:txBody>
          <a:bodyPr wrap="none" lIns="0" tIns="0" rIns="0" bIns="0"/>
          <a:lstStyle/>
          <a:p>
            <a:pPr>
              <a:buNone/>
            </a:pPr>
            <a:r>
              <a:rPr lang="en-US" sz="1140" b="1">
                <a:solidFill>
                  <a:srgbClr val="ECE9F8"/>
                </a:solidFill>
                <a:latin typeface="Segoe UI Semibold"/>
              </a:rPr>
              <a:t>40-segment lookahead; inside bias, not a full apex line.</a:t>
            </a:r>
          </a:p>
        </p:txBody>
      </p:sp>
      <p:sp>
        <p:nvSpPr>
          <p:cNvPr id="14" name="Request card"/>
          <p:cNvSpPr/>
          <p:nvPr/>
        </p:nvSpPr>
        <p:spPr>
          <a:xfrm>
            <a:off x="5349240" y="1737360"/>
            <a:ext cx="3246120" cy="1572768"/>
          </a:xfrm>
          <a:prstGeom prst="roundRect">
            <a:avLst>
              <a:gd name="adj" fmla="val 14000"/>
            </a:avLst>
          </a:prstGeom>
          <a:solidFill>
            <a:srgbClr val="110F26"/>
          </a:solidFill>
          <a:ln>
            <a:noFill/>
          </a:ln>
        </p:spPr>
        <p:txBody>
          <a:bodyPr/>
          <a:lstStyle/>
          <a:p>
            <a:endParaRPr lang="en-ZA"/>
          </a:p>
        </p:txBody>
      </p:sp>
      <p:sp>
        <p:nvSpPr>
          <p:cNvPr id="15" name="AI request label"/>
          <p:cNvSpPr txBox="1"/>
          <p:nvPr/>
        </p:nvSpPr>
        <p:spPr>
          <a:xfrm>
            <a:off x="5532120" y="1883664"/>
            <a:ext cx="2880360" cy="182880"/>
          </a:xfrm>
          <a:prstGeom prst="rect">
            <a:avLst/>
          </a:prstGeom>
          <a:noFill/>
          <a:ln>
            <a:noFill/>
          </a:ln>
        </p:spPr>
        <p:txBody>
          <a:bodyPr wrap="none" lIns="0" tIns="0" rIns="0" bIns="0"/>
          <a:lstStyle/>
          <a:p>
            <a:pPr>
              <a:buNone/>
            </a:pPr>
            <a:r>
              <a:rPr lang="en-US" sz="1050" b="1" spc="80">
                <a:solidFill>
                  <a:srgbClr val="3DD6FF"/>
                </a:solidFill>
                <a:latin typeface="Segoe UI Semibold"/>
              </a:rPr>
              <a:t>AI REQUEST / STATE SUMMARY</a:t>
            </a:r>
          </a:p>
        </p:txBody>
      </p:sp>
      <p:sp>
        <p:nvSpPr>
          <p:cNvPr id="16" name="Matching Lyra telemetry"/>
          <p:cNvSpPr txBox="1"/>
          <p:nvPr/>
        </p:nvSpPr>
        <p:spPr>
          <a:xfrm>
            <a:off x="5532120" y="2121408"/>
            <a:ext cx="2880360" cy="694944"/>
          </a:xfrm>
          <a:prstGeom prst="rect">
            <a:avLst/>
          </a:prstGeom>
          <a:noFill/>
          <a:ln>
            <a:noFill/>
          </a:ln>
        </p:spPr>
        <p:txBody>
          <a:bodyPr wrap="none" lIns="0" tIns="0" rIns="0" bIns="0"/>
          <a:lstStyle/>
          <a:p>
            <a:pPr>
              <a:lnSpc>
                <a:spcPts val="1600"/>
              </a:lnSpc>
              <a:buNone/>
            </a:pPr>
            <a:r>
              <a:rPr lang="en-US" sz="1300" b="1">
                <a:solidFill>
                  <a:srgbClr val="ECE9F8"/>
                </a:solidFill>
                <a:latin typeface="Segoe UI Semibold"/>
              </a:rPr>
              <a:t>Lyra #22 / smooth / lap 1/3 / P2</a:t>
            </a:r>
          </a:p>
          <a:p>
            <a:pPr>
              <a:lnSpc>
                <a:spcPts val="1600"/>
              </a:lnSpc>
              <a:buNone/>
            </a:pPr>
            <a:r>
              <a:rPr lang="en-US" sz="1300">
                <a:solidFill>
                  <a:srgbClr val="ECE9F8"/>
                </a:solidFill>
                <a:latin typeface="Segoe UI"/>
              </a:rPr>
              <a:t>268 km/h / medium right / uphill</a:t>
            </a:r>
          </a:p>
          <a:p>
            <a:pPr>
              <a:lnSpc>
                <a:spcPts val="1600"/>
              </a:lnSpc>
              <a:buNone/>
            </a:pPr>
            <a:r>
              <a:rPr lang="en-US" sz="1300">
                <a:solidFill>
                  <a:srgbClr val="ECE9F8"/>
                </a:solidFill>
                <a:latin typeface="Segoe UI"/>
              </a:rPr>
              <a:t>No car ahead within 150 m</a:t>
            </a:r>
          </a:p>
        </p:txBody>
      </p:sp>
      <p:sp>
        <p:nvSpPr>
          <p:cNvPr id="17" name="Three typed questions"/>
          <p:cNvSpPr txBox="1"/>
          <p:nvPr/>
        </p:nvSpPr>
        <p:spPr>
          <a:xfrm>
            <a:off x="5532120" y="2852928"/>
            <a:ext cx="2880360" cy="347472"/>
          </a:xfrm>
          <a:prstGeom prst="rect">
            <a:avLst/>
          </a:prstGeom>
          <a:noFill/>
          <a:ln>
            <a:noFill/>
          </a:ln>
        </p:spPr>
        <p:txBody>
          <a:bodyPr wrap="none" lIns="0" tIns="0" rIns="0" bIns="0"/>
          <a:lstStyle/>
          <a:p>
            <a:pPr>
              <a:lnSpc>
                <a:spcPts val="1300"/>
              </a:lnSpc>
              <a:buNone/>
            </a:pPr>
            <a:r>
              <a:rPr lang="en-US" sz="1130">
                <a:solidFill>
                  <a:srgbClr val="3DD6FF"/>
                </a:solidFill>
                <a:latin typeface="Consolas"/>
              </a:rPr>
              <a:t>maneuver: choice</a:t>
            </a:r>
          </a:p>
          <a:p>
            <a:pPr>
              <a:lnSpc>
                <a:spcPts val="1300"/>
              </a:lnSpc>
              <a:buNone/>
            </a:pPr>
            <a:r>
              <a:rPr lang="en-US" sz="1130">
                <a:solidFill>
                  <a:srgbClr val="3DD6FF"/>
                </a:solidFill>
                <a:latin typeface="Consolas"/>
              </a:rPr>
              <a:t>pace: score    nitro: noul</a:t>
            </a:r>
          </a:p>
        </p:txBody>
      </p:sp>
      <p:sp>
        <p:nvSpPr>
          <p:cNvPr id="18" name="Live result card"/>
          <p:cNvSpPr/>
          <p:nvPr/>
        </p:nvSpPr>
        <p:spPr>
          <a:xfrm>
            <a:off x="5349240" y="3493008"/>
            <a:ext cx="3246120" cy="1188720"/>
          </a:xfrm>
          <a:prstGeom prst="roundRect">
            <a:avLst>
              <a:gd name="adj" fmla="val 14000"/>
            </a:avLst>
          </a:prstGeom>
          <a:solidFill>
            <a:srgbClr val="110F26"/>
          </a:solidFill>
          <a:ln>
            <a:noFill/>
          </a:ln>
        </p:spPr>
        <p:txBody>
          <a:bodyPr/>
          <a:lstStyle/>
          <a:p>
            <a:endParaRPr lang="en-ZA"/>
          </a:p>
        </p:txBody>
      </p:sp>
      <p:sp>
        <p:nvSpPr>
          <p:cNvPr id="19" name="Live response label"/>
          <p:cNvSpPr txBox="1"/>
          <p:nvPr/>
        </p:nvSpPr>
        <p:spPr>
          <a:xfrm>
            <a:off x="5532120" y="3639312"/>
            <a:ext cx="2880360" cy="182880"/>
          </a:xfrm>
          <a:prstGeom prst="rect">
            <a:avLst/>
          </a:prstGeom>
          <a:noFill/>
          <a:ln>
            <a:noFill/>
          </a:ln>
        </p:spPr>
        <p:txBody>
          <a:bodyPr wrap="none" lIns="0" tIns="0" rIns="0" bIns="0"/>
          <a:lstStyle/>
          <a:p>
            <a:pPr>
              <a:buNone/>
            </a:pPr>
            <a:r>
              <a:rPr lang="en-US" sz="1050" b="1" spc="80">
                <a:solidFill>
                  <a:srgbClr val="45E89A"/>
                </a:solidFill>
                <a:latin typeface="Segoe UI Semibold"/>
              </a:rPr>
              <a:t>LIVE RESULT / 358 ms</a:t>
            </a:r>
          </a:p>
        </p:txBody>
      </p:sp>
      <p:sp>
        <p:nvSpPr>
          <p:cNvPr id="20" name="Chosen maneuver"/>
          <p:cNvSpPr txBox="1"/>
          <p:nvPr/>
        </p:nvSpPr>
        <p:spPr>
          <a:xfrm>
            <a:off x="5532120" y="3904488"/>
            <a:ext cx="1911096" cy="274320"/>
          </a:xfrm>
          <a:prstGeom prst="rect">
            <a:avLst/>
          </a:prstGeom>
          <a:noFill/>
          <a:ln>
            <a:noFill/>
          </a:ln>
        </p:spPr>
        <p:txBody>
          <a:bodyPr wrap="none" lIns="0" tIns="0" rIns="0" bIns="0"/>
          <a:lstStyle/>
          <a:p>
            <a:pPr>
              <a:buNone/>
            </a:pPr>
            <a:r>
              <a:rPr lang="en-US" sz="1800" b="1">
                <a:solidFill>
                  <a:srgbClr val="3DD6FF"/>
                </a:solidFill>
                <a:latin typeface="Consolas"/>
              </a:rPr>
              <a:t>racing_line</a:t>
            </a:r>
          </a:p>
        </p:txBody>
      </p:sp>
      <p:sp>
        <p:nvSpPr>
          <p:cNvPr id="21" name="Maneuver probability"/>
          <p:cNvSpPr txBox="1"/>
          <p:nvPr/>
        </p:nvSpPr>
        <p:spPr>
          <a:xfrm>
            <a:off x="7242048" y="3977640"/>
            <a:ext cx="1170432" cy="182880"/>
          </a:xfrm>
          <a:prstGeom prst="rect">
            <a:avLst/>
          </a:prstGeom>
          <a:noFill/>
          <a:ln>
            <a:noFill/>
          </a:ln>
        </p:spPr>
        <p:txBody>
          <a:bodyPr wrap="none" lIns="0" tIns="0" rIns="0" bIns="0"/>
          <a:lstStyle/>
          <a:p>
            <a:pPr algn="r">
              <a:buNone/>
            </a:pPr>
            <a:r>
              <a:rPr lang="en-US" sz="1050" b="1">
                <a:solidFill>
                  <a:srgbClr val="45E89A"/>
                </a:solidFill>
                <a:latin typeface="Segoe UI Semibold"/>
              </a:rPr>
              <a:t>choice: 99.24%</a:t>
            </a:r>
          </a:p>
        </p:txBody>
      </p:sp>
      <p:sp>
        <p:nvSpPr>
          <p:cNvPr id="22" name="Pace and nitro results"/>
          <p:cNvSpPr txBox="1"/>
          <p:nvPr/>
        </p:nvSpPr>
        <p:spPr>
          <a:xfrm>
            <a:off x="5532120" y="4187952"/>
            <a:ext cx="2880360" cy="228600"/>
          </a:xfrm>
          <a:prstGeom prst="rect">
            <a:avLst/>
          </a:prstGeom>
          <a:noFill/>
          <a:ln>
            <a:noFill/>
          </a:ln>
        </p:spPr>
        <p:txBody>
          <a:bodyPr wrap="none" lIns="0" tIns="0" rIns="0" bIns="0"/>
          <a:lstStyle/>
          <a:p>
            <a:pPr>
              <a:buNone/>
            </a:pPr>
            <a:r>
              <a:rPr lang="en-US" sz="1250">
                <a:solidFill>
                  <a:srgbClr val="ECE9F8"/>
                </a:solidFill>
                <a:latin typeface="Consolas"/>
              </a:rPr>
              <a:t>pace 1.46 / 3   nitro 0.095</a:t>
            </a:r>
          </a:p>
        </p:txBody>
      </p:sp>
      <p:sp>
        <p:nvSpPr>
          <p:cNvPr id="23" name="Nitro threshold policy"/>
          <p:cNvSpPr txBox="1"/>
          <p:nvPr/>
        </p:nvSpPr>
        <p:spPr>
          <a:xfrm>
            <a:off x="5532120" y="4425696"/>
            <a:ext cx="2880360" cy="201168"/>
          </a:xfrm>
          <a:prstGeom prst="rect">
            <a:avLst/>
          </a:prstGeom>
          <a:noFill/>
          <a:ln>
            <a:noFill/>
          </a:ln>
        </p:spPr>
        <p:txBody>
          <a:bodyPr wrap="none" lIns="0" tIns="0" rIns="0" bIns="0"/>
          <a:lstStyle/>
          <a:p>
            <a:pPr>
              <a:buNone/>
            </a:pPr>
            <a:r>
              <a:rPr lang="en-US" sz="1100">
                <a:solidFill>
                  <a:srgbClr val="ABA6C8"/>
                </a:solidFill>
                <a:latin typeface="Segoe UI"/>
              </a:rPr>
              <a:t>No boost: nitro 0.095 &lt; Lyra's 0.65.</a:t>
            </a:r>
          </a:p>
        </p:txBody>
      </p:sp>
      <p:sp>
        <p:nvSpPr>
          <p:cNvPr id="24" name="Leader identifying Lyra"/>
          <p:cNvSpPr/>
          <p:nvPr/>
        </p:nvSpPr>
        <p:spPr>
          <a:xfrm>
            <a:off x="2980944" y="2743200"/>
            <a:ext cx="192024" cy="283464"/>
          </a:xfrm>
          <a:custGeom>
            <a:avLst/>
            <a:gdLst/>
            <a:ahLst/>
            <a:cxnLst/>
            <a:rect l="0" t="0" r="r" b="b"/>
            <a:pathLst>
              <a:path w="1000" h="1000" fill="none">
                <a:moveTo>
                  <a:pt x="0" y="0"/>
                </a:moveTo>
                <a:lnTo>
                  <a:pt x="1000" y="1000"/>
                </a:lnTo>
              </a:path>
            </a:pathLst>
          </a:custGeom>
          <a:noFill/>
          <a:ln w="16510" cap="rnd">
            <a:solidFill>
              <a:srgbClr val="D7BCFF"/>
            </a:solidFill>
            <a:tailEnd type="triangle" w="sm" len="sm"/>
          </a:ln>
        </p:spPr>
        <p:txBody>
          <a:bodyPr/>
          <a:lstStyle/>
          <a:p>
            <a:endParaRPr lang="en-ZA"/>
          </a:p>
        </p:txBody>
      </p:sp>
      <p:sp>
        <p:nvSpPr>
          <p:cNvPr id="25" name="Identify the player HUD"/>
          <p:cNvSpPr txBox="1"/>
          <p:nvPr/>
        </p:nvSpPr>
        <p:spPr>
          <a:xfrm>
            <a:off x="1179576" y="1892808"/>
            <a:ext cx="594360" cy="182880"/>
          </a:xfrm>
          <a:prstGeom prst="rect">
            <a:avLst/>
          </a:prstGeom>
          <a:noFill/>
          <a:ln>
            <a:noFill/>
          </a:ln>
        </p:spPr>
        <p:txBody>
          <a:bodyPr wrap="none" lIns="0" tIns="0" rIns="0" bIns="0"/>
          <a:lstStyle/>
          <a:p>
            <a:pPr>
              <a:buNone/>
            </a:pPr>
            <a:r>
              <a:rPr lang="en-US" sz="950" b="1">
                <a:solidFill>
                  <a:srgbClr val="3DD6FF"/>
                </a:solidFill>
                <a:latin typeface="Segoe UI Semibold"/>
              </a:rPr>
              <a:t>YOU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ellipse">
            <a:avLst/>
          </a:prstGeom>
          <a:solidFill>
            <a:srgbClr val="FFD166"/>
          </a:solidFill>
          <a:ln/>
        </p:spPr>
        <p:txBody>
          <a:bodyPr/>
          <a:lstStyle/>
          <a:p>
            <a:endParaRPr lang="en-ZA"/>
          </a:p>
        </p:txBody>
      </p:sp>
      <p:sp>
        <p:nvSpPr>
          <p:cNvPr id="3" name="Text 1"/>
          <p:cNvSpPr/>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SEQUENCE</a:t>
            </a:r>
            <a:endParaRPr lang="en-US" sz="1100" dirty="0"/>
          </a:p>
        </p:txBody>
      </p:sp>
      <p:sp>
        <p:nvSpPr>
          <p:cNvPr id="4" name="Text 2"/>
          <p:cNvSpPr/>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10 / 14</a:t>
            </a:r>
            <a:endParaRPr lang="en-US" sz="1100" dirty="0"/>
          </a:p>
        </p:txBody>
      </p:sp>
      <p:sp>
        <p:nvSpPr>
          <p:cNvPr id="5" name="Text 3"/>
          <p:cNvSpPr/>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One rival decision, end to end</a:t>
            </a:r>
            <a:endParaRPr lang="en-US" sz="3400" dirty="0"/>
          </a:p>
        </p:txBody>
      </p:sp>
      <p:pic>
        <p:nvPicPr>
          <p:cNvPr id="6" name="Image 0" descr="Sequence diagram: the browser posts telemetry to the game server, which calls Microsoft-Decision-1 and returns maneuver, pace and nitro probability; on failure the browser uses a local heuristic. Model round trip median 0.26 to 0.42 s, p90 about 0.55 s; timeouts 4 s in the browser and 8 s to Foundry"/>
          <p:cNvPicPr>
            <a:picLocks noChangeAspect="1"/>
          </p:cNvPicPr>
          <p:nvPr/>
        </p:nvPicPr>
        <p:blipFill>
          <a:blip r:embed="rId3"/>
          <a:stretch>
            <a:fillRect/>
          </a:stretch>
        </p:blipFill>
        <p:spPr>
          <a:xfrm>
            <a:off x="548640" y="1622464"/>
            <a:ext cx="8046720" cy="29038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7071A"/>
        </a:solidFill>
        <a:effectLst/>
      </p:bgPr>
    </p:bg>
    <p:spTree>
      <p:nvGrpSpPr>
        <p:cNvPr id="1" name=""/>
        <p:cNvGrpSpPr/>
        <p:nvPr/>
      </p:nvGrpSpPr>
      <p:grpSpPr>
        <a:xfrm>
          <a:off x="0" y="0"/>
          <a:ext cx="0" cy="0"/>
          <a:chOff x="0" y="0"/>
          <a:chExt cx="0" cy="0"/>
        </a:xfrm>
      </p:grpSpPr>
      <p:sp>
        <p:nvSpPr>
          <p:cNvPr id="2" name="Shape 2"/>
          <p:cNvSpPr/>
          <p:nvPr/>
        </p:nvSpPr>
        <p:spPr>
          <a:xfrm>
            <a:off x="548640" y="484632"/>
            <a:ext cx="109728" cy="109728"/>
          </a:xfrm>
          <a:prstGeom prst="ellipse">
            <a:avLst/>
          </a:prstGeom>
          <a:solidFill>
            <a:srgbClr val="FFD166"/>
          </a:solidFill>
          <a:ln/>
        </p:spPr>
        <p:txBody>
          <a:bodyPr/>
          <a:lstStyle/>
          <a:p>
            <a:endParaRPr lang="en-ZA"/>
          </a:p>
        </p:txBody>
      </p:sp>
      <p:sp>
        <p:nvSpPr>
          <p:cNvPr id="3" name="Text 3"/>
          <p:cNvSpPr txBox="1"/>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HOSTING</a:t>
            </a:r>
            <a:endParaRPr lang="en-US" sz="1100" dirty="0"/>
          </a:p>
        </p:txBody>
      </p:sp>
      <p:sp>
        <p:nvSpPr>
          <p:cNvPr id="4" name="Text 4"/>
          <p:cNvSpPr txBox="1"/>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11 / 14</a:t>
            </a:r>
            <a:endParaRPr lang="en-US" sz="1100" dirty="0"/>
          </a:p>
        </p:txBody>
      </p:sp>
      <p:sp>
        <p:nvSpPr>
          <p:cNvPr id="5" name="Text 5"/>
          <p:cNvSpPr txBox="1"/>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One web app, one Node process</a:t>
            </a:r>
            <a:endParaRPr lang="en-US" sz="3400" dirty="0"/>
          </a:p>
        </p:txBody>
      </p:sp>
      <p:sp>
        <p:nvSpPr>
          <p:cNvPr id="6" name="Text 6"/>
          <p:cNvSpPr txBox="1"/>
          <p:nvPr/>
        </p:nvSpPr>
        <p:spPr>
          <a:xfrm>
            <a:off x="548640" y="1508760"/>
            <a:ext cx="8046720" cy="320040"/>
          </a:xfrm>
          <a:prstGeom prst="rect">
            <a:avLst/>
          </a:prstGeom>
          <a:noFill/>
          <a:ln/>
        </p:spPr>
        <p:txBody>
          <a:bodyPr wrap="square" lIns="0" tIns="0" rIns="0" bIns="0" rtlCol="0" anchor="t"/>
          <a:lstStyle/>
          <a:p>
            <a:pPr marL="0" indent="0">
              <a:buNone/>
            </a:pPr>
            <a:r>
              <a:rPr lang="en-US" sz="1600" dirty="0">
                <a:solidFill>
                  <a:srgbClr val="ECE9F8"/>
                </a:solidFill>
                <a:latin typeface="Segoe UI" pitchFamily="34" charset="0"/>
                <a:ea typeface="Segoe UI" pitchFamily="34" charset="-122"/>
                <a:cs typeface="Segoe UI" pitchFamily="34" charset="-120"/>
              </a:rPr>
              <a:t>The game runs </a:t>
            </a:r>
            <a:r>
              <a:rPr lang="en-US" sz="1600" b="1" dirty="0">
                <a:solidFill>
                  <a:srgbClr val="FFD166"/>
                </a:solidFill>
                <a:latin typeface="Segoe UI" pitchFamily="34" charset="0"/>
                <a:ea typeface="Segoe UI" pitchFamily="34" charset="-122"/>
                <a:cs typeface="Segoe UI" pitchFamily="34" charset="-120"/>
              </a:rPr>
              <a:t>in the browser</a:t>
            </a:r>
            <a:r>
              <a:rPr lang="en-US" sz="1600" dirty="0">
                <a:solidFill>
                  <a:srgbClr val="ECE9F8"/>
                </a:solidFill>
                <a:latin typeface="Segoe UI" pitchFamily="34" charset="0"/>
                <a:ea typeface="Segoe UI" pitchFamily="34" charset="-122"/>
                <a:cs typeface="Segoe UI" pitchFamily="34" charset="-120"/>
              </a:rPr>
              <a:t>. The server only serves files and asks the model.</a:t>
            </a:r>
            <a:endParaRPr lang="en-US" sz="1600" dirty="0"/>
          </a:p>
        </p:txBody>
      </p:sp>
      <p:sp>
        <p:nvSpPr>
          <p:cNvPr id="7" name="Card 7"/>
          <p:cNvSpPr/>
          <p:nvPr/>
        </p:nvSpPr>
        <p:spPr>
          <a:xfrm>
            <a:off x="548640" y="2148840"/>
            <a:ext cx="2407920" cy="1874520"/>
          </a:xfrm>
          <a:prstGeom prst="roundRect">
            <a:avLst>
              <a:gd name="adj" fmla="val 9143"/>
            </a:avLst>
          </a:prstGeom>
          <a:solidFill>
            <a:srgbClr val="110F2B"/>
          </a:solidFill>
          <a:ln/>
        </p:spPr>
        <p:txBody>
          <a:bodyPr/>
          <a:lstStyle/>
          <a:p>
            <a:endParaRPr lang="en-ZA"/>
          </a:p>
        </p:txBody>
      </p:sp>
      <p:pic>
        <p:nvPicPr>
          <p:cNvPr id="8" name="Image 8" descr="Monitor icon"/>
          <p:cNvPicPr>
            <a:picLocks noChangeAspect="1"/>
          </p:cNvPicPr>
          <p:nvPr/>
        </p:nvPicPr>
        <p:blipFill>
          <a:blip r:embed="rId3"/>
          <a:stretch>
            <a:fillRect/>
          </a:stretch>
        </p:blipFill>
        <p:spPr>
          <a:xfrm>
            <a:off x="777240" y="2377440"/>
            <a:ext cx="384048" cy="384048"/>
          </a:xfrm>
          <a:prstGeom prst="rect">
            <a:avLst/>
          </a:prstGeom>
        </p:spPr>
      </p:pic>
      <p:sp>
        <p:nvSpPr>
          <p:cNvPr id="9" name="Text 9"/>
          <p:cNvSpPr txBox="1"/>
          <p:nvPr/>
        </p:nvSpPr>
        <p:spPr>
          <a:xfrm>
            <a:off x="1298448" y="2377440"/>
            <a:ext cx="1429512" cy="384048"/>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BROWSER</a:t>
            </a:r>
            <a:endParaRPr lang="en-US" sz="1050" dirty="0"/>
          </a:p>
        </p:txBody>
      </p:sp>
      <p:sp>
        <p:nvSpPr>
          <p:cNvPr id="10" name="Text 10"/>
          <p:cNvSpPr txBox="1"/>
          <p:nvPr/>
        </p:nvSpPr>
        <p:spPr>
          <a:xfrm>
            <a:off x="777240" y="2926080"/>
            <a:ext cx="1950720" cy="292608"/>
          </a:xfrm>
          <a:prstGeom prst="rect">
            <a:avLst/>
          </a:prstGeom>
          <a:noFill/>
          <a:ln/>
        </p:spPr>
        <p:txBody>
          <a:bodyPr wrap="square" lIns="0" tIns="0" rIns="0" bIns="0" rtlCol="0" anchor="ctr"/>
          <a:lstStyle/>
          <a:p>
            <a:pPr marL="0" indent="0">
              <a:buNone/>
            </a:pPr>
            <a:r>
              <a:rPr lang="en-US" sz="1400" b="1" dirty="0">
                <a:solidFill>
                  <a:srgbClr val="ECE9F8"/>
                </a:solidFill>
                <a:latin typeface="Segoe UI" pitchFamily="34" charset="0"/>
                <a:ea typeface="Segoe UI" pitchFamily="34" charset="-122"/>
                <a:cs typeface="Segoe UI" pitchFamily="34" charset="-120"/>
              </a:rPr>
              <a:t>The whole game</a:t>
            </a:r>
            <a:endParaRPr lang="en-US" sz="1400" dirty="0"/>
          </a:p>
        </p:txBody>
      </p:sp>
      <p:sp>
        <p:nvSpPr>
          <p:cNvPr id="11" name="Text 11"/>
          <p:cNvSpPr txBox="1"/>
          <p:nvPr/>
        </p:nvSpPr>
        <p:spPr>
          <a:xfrm>
            <a:off x="777240" y="3291840"/>
            <a:ext cx="1950720" cy="548640"/>
          </a:xfrm>
          <a:prstGeom prst="rect">
            <a:avLst/>
          </a:prstGeom>
          <a:noFill/>
          <a:ln/>
        </p:spPr>
        <p:txBody>
          <a:bodyPr wrap="square" lIns="0" tIns="0" rIns="0" bIns="0" rtlCol="0" anchor="t"/>
          <a:lstStyle/>
          <a:p>
            <a:pPr marL="0" indent="0">
              <a:buNone/>
            </a:pPr>
            <a:r>
              <a:rPr lang="en-US" sz="1150" dirty="0">
                <a:solidFill>
                  <a:srgbClr val="ABA6C8"/>
                </a:solidFill>
                <a:latin typeface="Segoe UI" pitchFamily="34" charset="0"/>
                <a:ea typeface="Segoe UI" pitchFamily="34" charset="-122"/>
                <a:cs typeface="Segoe UI" pitchFamily="34" charset="-120"/>
              </a:rPr>
              <a:t>Physics, rival driving, crashes, laps and drawing, 60 times a second.</a:t>
            </a:r>
            <a:endParaRPr lang="en-US" sz="1150" dirty="0"/>
          </a:p>
        </p:txBody>
      </p:sp>
      <p:cxnSp>
        <p:nvCxnSpPr>
          <p:cNvPr id="12" name="Arrow 12"/>
          <p:cNvCxnSpPr/>
          <p:nvPr/>
        </p:nvCxnSpPr>
        <p:spPr>
          <a:xfrm>
            <a:off x="3020568" y="3086100"/>
            <a:ext cx="283464" cy="0"/>
          </a:xfrm>
          <a:prstGeom prst="line">
            <a:avLst/>
          </a:prstGeom>
          <a:ln w="22225" cap="rnd">
            <a:solidFill>
              <a:srgbClr val="ABA6C8"/>
            </a:solidFill>
            <a:headEnd type="triangle" w="med" len="med"/>
            <a:tailEnd type="triangle" w="med" len="med"/>
          </a:ln>
        </p:spPr>
      </p:cxnSp>
      <p:sp>
        <p:nvSpPr>
          <p:cNvPr id="13" name="Card 13"/>
          <p:cNvSpPr/>
          <p:nvPr/>
        </p:nvSpPr>
        <p:spPr>
          <a:xfrm>
            <a:off x="3368040" y="2148840"/>
            <a:ext cx="2407920" cy="1874520"/>
          </a:xfrm>
          <a:prstGeom prst="roundRect">
            <a:avLst>
              <a:gd name="adj" fmla="val 9143"/>
            </a:avLst>
          </a:prstGeom>
          <a:solidFill>
            <a:srgbClr val="110F2B"/>
          </a:solidFill>
          <a:ln/>
        </p:spPr>
        <p:txBody>
          <a:bodyPr/>
          <a:lstStyle/>
          <a:p>
            <a:endParaRPr lang="en-ZA"/>
          </a:p>
        </p:txBody>
      </p:sp>
      <p:pic>
        <p:nvPicPr>
          <p:cNvPr id="14" name="Image 14" descr="Server icon"/>
          <p:cNvPicPr>
            <a:picLocks noChangeAspect="1"/>
          </p:cNvPicPr>
          <p:nvPr/>
        </p:nvPicPr>
        <p:blipFill>
          <a:blip r:embed="rId4"/>
          <a:stretch>
            <a:fillRect/>
          </a:stretch>
        </p:blipFill>
        <p:spPr>
          <a:xfrm>
            <a:off x="3596640" y="2377440"/>
            <a:ext cx="384048" cy="384048"/>
          </a:xfrm>
          <a:prstGeom prst="rect">
            <a:avLst/>
          </a:prstGeom>
        </p:spPr>
      </p:pic>
      <p:sp>
        <p:nvSpPr>
          <p:cNvPr id="15" name="Text 15"/>
          <p:cNvSpPr txBox="1"/>
          <p:nvPr/>
        </p:nvSpPr>
        <p:spPr>
          <a:xfrm>
            <a:off x="4117848" y="2377440"/>
            <a:ext cx="1429512" cy="384048"/>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APP SERVICE</a:t>
            </a:r>
            <a:endParaRPr lang="en-US" sz="1050" dirty="0"/>
          </a:p>
        </p:txBody>
      </p:sp>
      <p:sp>
        <p:nvSpPr>
          <p:cNvPr id="16" name="Text 16"/>
          <p:cNvSpPr txBox="1"/>
          <p:nvPr/>
        </p:nvSpPr>
        <p:spPr>
          <a:xfrm>
            <a:off x="3596640" y="2926080"/>
            <a:ext cx="1950720" cy="292608"/>
          </a:xfrm>
          <a:prstGeom prst="rect">
            <a:avLst/>
          </a:prstGeom>
          <a:noFill/>
          <a:ln/>
        </p:spPr>
        <p:txBody>
          <a:bodyPr wrap="square" lIns="0" tIns="0" rIns="0" bIns="0" rtlCol="0" anchor="ctr"/>
          <a:lstStyle/>
          <a:p>
            <a:pPr marL="0" indent="0">
              <a:buNone/>
            </a:pPr>
            <a:r>
              <a:rPr lang="en-US" sz="1400" b="1" dirty="0">
                <a:solidFill>
                  <a:srgbClr val="ECE9F8"/>
                </a:solidFill>
                <a:latin typeface="Consolas" pitchFamily="34" charset="0"/>
                <a:ea typeface="Consolas" pitchFamily="34" charset="-122"/>
                <a:cs typeface="Consolas" pitchFamily="34" charset="-120"/>
              </a:rPr>
              <a:t>node server.js</a:t>
            </a:r>
            <a:endParaRPr lang="en-US" sz="1400" dirty="0"/>
          </a:p>
        </p:txBody>
      </p:sp>
      <p:sp>
        <p:nvSpPr>
          <p:cNvPr id="17" name="Text 17"/>
          <p:cNvSpPr txBox="1"/>
          <p:nvPr/>
        </p:nvSpPr>
        <p:spPr>
          <a:xfrm>
            <a:off x="3596640" y="3291840"/>
            <a:ext cx="1950720" cy="548640"/>
          </a:xfrm>
          <a:prstGeom prst="rect">
            <a:avLst/>
          </a:prstGeom>
          <a:noFill/>
          <a:ln/>
        </p:spPr>
        <p:txBody>
          <a:bodyPr wrap="square" lIns="0" tIns="0" rIns="0" bIns="0" rtlCol="0" anchor="t"/>
          <a:lstStyle/>
          <a:p>
            <a:pPr marL="0" indent="0">
              <a:buNone/>
            </a:pPr>
            <a:r>
              <a:rPr lang="en-US" sz="1150" dirty="0">
                <a:solidFill>
                  <a:srgbClr val="ABA6C8"/>
                </a:solidFill>
                <a:latin typeface="Segoe UI" pitchFamily="34" charset="0"/>
                <a:ea typeface="Segoe UI" pitchFamily="34" charset="-122"/>
                <a:cs typeface="Segoe UI" pitchFamily="34" charset="-120"/>
              </a:rPr>
              <a:t>Serves the game files. Its /api endpoints build the questions and call the model.</a:t>
            </a:r>
            <a:endParaRPr lang="en-US" sz="1150" dirty="0"/>
          </a:p>
        </p:txBody>
      </p:sp>
      <p:cxnSp>
        <p:nvCxnSpPr>
          <p:cNvPr id="18" name="Arrow 18"/>
          <p:cNvCxnSpPr/>
          <p:nvPr/>
        </p:nvCxnSpPr>
        <p:spPr>
          <a:xfrm>
            <a:off x="5839968" y="3086100"/>
            <a:ext cx="283464" cy="0"/>
          </a:xfrm>
          <a:prstGeom prst="line">
            <a:avLst/>
          </a:prstGeom>
          <a:ln w="22225" cap="rnd">
            <a:solidFill>
              <a:srgbClr val="ABA6C8"/>
            </a:solidFill>
            <a:headEnd type="triangle" w="med" len="med"/>
            <a:tailEnd type="triangle" w="med" len="med"/>
          </a:ln>
        </p:spPr>
      </p:cxnSp>
      <p:sp>
        <p:nvSpPr>
          <p:cNvPr id="19" name="Card 19"/>
          <p:cNvSpPr/>
          <p:nvPr/>
        </p:nvSpPr>
        <p:spPr>
          <a:xfrm>
            <a:off x="6187440" y="2148840"/>
            <a:ext cx="2407920" cy="1874520"/>
          </a:xfrm>
          <a:prstGeom prst="roundRect">
            <a:avLst>
              <a:gd name="adj" fmla="val 9143"/>
            </a:avLst>
          </a:prstGeom>
          <a:solidFill>
            <a:srgbClr val="110F2B"/>
          </a:solidFill>
          <a:ln/>
        </p:spPr>
        <p:txBody>
          <a:bodyPr/>
          <a:lstStyle/>
          <a:p>
            <a:endParaRPr lang="en-ZA"/>
          </a:p>
        </p:txBody>
      </p:sp>
      <p:pic>
        <p:nvPicPr>
          <p:cNvPr id="20" name="Image 20" descr="Brain circuit icon"/>
          <p:cNvPicPr>
            <a:picLocks noChangeAspect="1"/>
          </p:cNvPicPr>
          <p:nvPr/>
        </p:nvPicPr>
        <p:blipFill>
          <a:blip r:embed="rId5"/>
          <a:stretch>
            <a:fillRect/>
          </a:stretch>
        </p:blipFill>
        <p:spPr>
          <a:xfrm>
            <a:off x="6416040" y="2377440"/>
            <a:ext cx="384048" cy="384048"/>
          </a:xfrm>
          <a:prstGeom prst="rect">
            <a:avLst/>
          </a:prstGeom>
        </p:spPr>
      </p:pic>
      <p:sp>
        <p:nvSpPr>
          <p:cNvPr id="21" name="Text 21"/>
          <p:cNvSpPr txBox="1"/>
          <p:nvPr/>
        </p:nvSpPr>
        <p:spPr>
          <a:xfrm>
            <a:off x="6937248" y="2377440"/>
            <a:ext cx="1429512" cy="384048"/>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FOUNDRY</a:t>
            </a:r>
            <a:endParaRPr lang="en-US" sz="1050" dirty="0"/>
          </a:p>
        </p:txBody>
      </p:sp>
      <p:sp>
        <p:nvSpPr>
          <p:cNvPr id="22" name="Text 22"/>
          <p:cNvSpPr txBox="1"/>
          <p:nvPr/>
        </p:nvSpPr>
        <p:spPr>
          <a:xfrm>
            <a:off x="6416040" y="2926080"/>
            <a:ext cx="1950720" cy="292608"/>
          </a:xfrm>
          <a:prstGeom prst="rect">
            <a:avLst/>
          </a:prstGeom>
          <a:noFill/>
          <a:ln/>
        </p:spPr>
        <p:txBody>
          <a:bodyPr wrap="square" lIns="0" tIns="0" rIns="0" bIns="0" rtlCol="0" anchor="ctr"/>
          <a:lstStyle/>
          <a:p>
            <a:pPr marL="0" indent="0">
              <a:buNone/>
            </a:pPr>
            <a:r>
              <a:rPr lang="en-US" sz="1400" b="1" dirty="0">
                <a:solidFill>
                  <a:srgbClr val="ECE9F8"/>
                </a:solidFill>
                <a:latin typeface="Segoe UI" pitchFamily="34" charset="0"/>
                <a:ea typeface="Segoe UI" pitchFamily="34" charset="-122"/>
                <a:cs typeface="Segoe UI" pitchFamily="34" charset="-120"/>
              </a:rPr>
              <a:t>Microsoft-Decision-1</a:t>
            </a:r>
            <a:endParaRPr lang="en-US" sz="1400" dirty="0"/>
          </a:p>
        </p:txBody>
      </p:sp>
      <p:sp>
        <p:nvSpPr>
          <p:cNvPr id="23" name="Text 23"/>
          <p:cNvSpPr txBox="1"/>
          <p:nvPr/>
        </p:nvSpPr>
        <p:spPr>
          <a:xfrm>
            <a:off x="6416040" y="3291840"/>
            <a:ext cx="1950720" cy="548640"/>
          </a:xfrm>
          <a:prstGeom prst="rect">
            <a:avLst/>
          </a:prstGeom>
          <a:noFill/>
          <a:ln/>
        </p:spPr>
        <p:txBody>
          <a:bodyPr wrap="square" lIns="0" tIns="0" rIns="0" bIns="0" rtlCol="0" anchor="t"/>
          <a:lstStyle/>
          <a:p>
            <a:pPr marL="0" indent="0">
              <a:buNone/>
            </a:pPr>
            <a:r>
              <a:rPr lang="en-US" sz="1150" dirty="0">
                <a:solidFill>
                  <a:srgbClr val="ABA6C8"/>
                </a:solidFill>
                <a:latin typeface="Segoe UI" pitchFamily="34" charset="0"/>
                <a:ea typeface="Segoe UI" pitchFamily="34" charset="-122"/>
                <a:cs typeface="Segoe UI" pitchFamily="34" charset="-120"/>
              </a:rPr>
              <a:t>Answers rival, steward and debrief questions. Called with the app’s managed identity.</a:t>
            </a:r>
            <a:endParaRPr lang="en-US" sz="1150" dirty="0"/>
          </a:p>
        </p:txBody>
      </p:sp>
      <p:sp>
        <p:nvSpPr>
          <p:cNvPr id="24" name="Text 24"/>
          <p:cNvSpPr txBox="1"/>
          <p:nvPr/>
        </p:nvSpPr>
        <p:spPr>
          <a:xfrm>
            <a:off x="548640" y="4297680"/>
            <a:ext cx="8046720" cy="274320"/>
          </a:xfrm>
          <a:prstGeom prst="rect">
            <a:avLst/>
          </a:prstGeom>
          <a:noFill/>
          <a:ln/>
        </p:spPr>
        <p:txBody>
          <a:bodyPr wrap="square" lIns="0" tIns="0" rIns="0" bIns="0" rtlCol="0" anchor="ctr"/>
          <a:lstStyle/>
          <a:p>
            <a:pPr marL="0" indent="0">
              <a:buNone/>
            </a:pPr>
            <a:r>
              <a:rPr lang="en-US" sz="1200" b="1" dirty="0">
                <a:solidFill>
                  <a:srgbClr val="FFD166"/>
                </a:solidFill>
                <a:latin typeface="Segoe UI" pitchFamily="34" charset="0"/>
                <a:ea typeface="Segoe UI" pitchFamily="34" charset="-122"/>
                <a:cs typeface="Segoe UI" pitchFamily="34" charset="-120"/>
              </a:rPr>
              <a:t>Not a container app: </a:t>
            </a:r>
            <a:r>
              <a:rPr lang="en-US" sz="1200" dirty="0">
                <a:solidFill>
                  <a:srgbClr val="ABA6C8"/>
                </a:solidFill>
                <a:latin typeface="Segoe UI" pitchFamily="34" charset="0"/>
                <a:ea typeface="Segoe UI" pitchFamily="34" charset="-122"/>
                <a:cs typeface="Segoe UI" pitchFamily="34" charset="-120"/>
              </a:rPr>
              <a:t>no image, background workers, queues or database. Deploy is a zip pushed to the web app.</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ellipse">
            <a:avLst/>
          </a:prstGeom>
          <a:solidFill>
            <a:srgbClr val="FFD166"/>
          </a:solidFill>
          <a:ln/>
        </p:spPr>
        <p:txBody>
          <a:bodyPr/>
          <a:lstStyle/>
          <a:p>
            <a:endParaRPr lang="en-ZA"/>
          </a:p>
        </p:txBody>
      </p:sp>
      <p:sp>
        <p:nvSpPr>
          <p:cNvPr id="3" name="Text 1"/>
          <p:cNvSpPr/>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GUARD RAILS</a:t>
            </a:r>
            <a:endParaRPr lang="en-US" sz="1100" dirty="0"/>
          </a:p>
        </p:txBody>
      </p:sp>
      <p:sp>
        <p:nvSpPr>
          <p:cNvPr id="4" name="Text 2"/>
          <p:cNvSpPr/>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12 / 14</a:t>
            </a:r>
            <a:endParaRPr lang="en-US" sz="1100" dirty="0"/>
          </a:p>
        </p:txBody>
      </p:sp>
      <p:sp>
        <p:nvSpPr>
          <p:cNvPr id="5" name="Text 3"/>
          <p:cNvSpPr/>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Safe to put on the internet</a:t>
            </a:r>
            <a:endParaRPr lang="en-US" sz="3400" dirty="0"/>
          </a:p>
        </p:txBody>
      </p:sp>
      <p:sp>
        <p:nvSpPr>
          <p:cNvPr id="6" name="Shape 4"/>
          <p:cNvSpPr/>
          <p:nvPr/>
        </p:nvSpPr>
        <p:spPr>
          <a:xfrm>
            <a:off x="548640" y="1691640"/>
            <a:ext cx="3886200" cy="1280160"/>
          </a:xfrm>
          <a:prstGeom prst="roundRect">
            <a:avLst>
              <a:gd name="adj" fmla="val 8571"/>
            </a:avLst>
          </a:prstGeom>
          <a:solidFill>
            <a:srgbClr val="110F2B"/>
          </a:solidFill>
          <a:ln/>
        </p:spPr>
        <p:txBody>
          <a:bodyPr/>
          <a:lstStyle/>
          <a:p>
            <a:endParaRPr lang="en-ZA"/>
          </a:p>
        </p:txBody>
      </p:sp>
      <p:pic>
        <p:nvPicPr>
          <p:cNvPr id="7" name="Image 0" descr="Key icon"/>
          <p:cNvPicPr>
            <a:picLocks noChangeAspect="1"/>
          </p:cNvPicPr>
          <p:nvPr/>
        </p:nvPicPr>
        <p:blipFill>
          <a:blip r:embed="rId3"/>
          <a:stretch>
            <a:fillRect/>
          </a:stretch>
        </p:blipFill>
        <p:spPr>
          <a:xfrm>
            <a:off x="795528" y="1911096"/>
            <a:ext cx="292608" cy="292608"/>
          </a:xfrm>
          <a:prstGeom prst="rect">
            <a:avLst/>
          </a:prstGeom>
        </p:spPr>
      </p:pic>
      <p:sp>
        <p:nvSpPr>
          <p:cNvPr id="8" name="Text 5"/>
          <p:cNvSpPr/>
          <p:nvPr/>
        </p:nvSpPr>
        <p:spPr>
          <a:xfrm>
            <a:off x="1234440" y="1856232"/>
            <a:ext cx="2971800" cy="402336"/>
          </a:xfrm>
          <a:prstGeom prst="rect">
            <a:avLst/>
          </a:prstGeom>
          <a:noFill/>
          <a:ln/>
        </p:spPr>
        <p:txBody>
          <a:bodyPr wrap="square" lIns="0" tIns="0" rIns="0" bIns="0" rtlCol="0" anchor="ctr"/>
          <a:lstStyle/>
          <a:p>
            <a:pPr marL="0" indent="0">
              <a:buNone/>
            </a:pPr>
            <a:r>
              <a:rPr lang="en-US" sz="1500" dirty="0">
                <a:solidFill>
                  <a:srgbClr val="ECE9F8"/>
                </a:solidFill>
                <a:latin typeface="Segoe UI Black" pitchFamily="34" charset="0"/>
                <a:ea typeface="Segoe UI Black" pitchFamily="34" charset="-122"/>
                <a:cs typeface="Segoe UI Black" pitchFamily="34" charset="-120"/>
              </a:rPr>
              <a:t>Auth</a:t>
            </a:r>
            <a:endParaRPr lang="en-US" sz="1500" dirty="0"/>
          </a:p>
        </p:txBody>
      </p:sp>
      <p:sp>
        <p:nvSpPr>
          <p:cNvPr id="9" name="Text 6"/>
          <p:cNvSpPr/>
          <p:nvPr/>
        </p:nvSpPr>
        <p:spPr>
          <a:xfrm>
            <a:off x="777240" y="2295144"/>
            <a:ext cx="3429000" cy="548640"/>
          </a:xfrm>
          <a:prstGeom prst="rect">
            <a:avLst/>
          </a:prstGeom>
          <a:noFill/>
          <a:ln/>
        </p:spPr>
        <p:txBody>
          <a:bodyPr wrap="square" lIns="0" tIns="0" rIns="0" bIns="0" rtlCol="0" anchor="t"/>
          <a:lstStyle/>
          <a:p>
            <a:pPr marL="0" indent="0">
              <a:buNone/>
            </a:pPr>
            <a:r>
              <a:rPr lang="en-US" sz="1150" dirty="0">
                <a:solidFill>
                  <a:srgbClr val="ABA6C8"/>
                </a:solidFill>
                <a:latin typeface="Segoe UI" pitchFamily="34" charset="0"/>
                <a:ea typeface="Segoe UI" pitchFamily="34" charset="-122"/>
                <a:cs typeface="Segoe UI" pitchFamily="34" charset="-120"/>
              </a:rPr>
              <a:t>API key → managed identity → Azure CLI login.</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Tokens are cached and refreshed 5 min early;</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the first one is fetched at startup.</a:t>
            </a:r>
            <a:endParaRPr lang="en-US" sz="1150" dirty="0"/>
          </a:p>
        </p:txBody>
      </p:sp>
      <p:sp>
        <p:nvSpPr>
          <p:cNvPr id="10" name="Shape 7"/>
          <p:cNvSpPr/>
          <p:nvPr/>
        </p:nvSpPr>
        <p:spPr>
          <a:xfrm>
            <a:off x="4709160" y="1691640"/>
            <a:ext cx="3886200" cy="1280160"/>
          </a:xfrm>
          <a:prstGeom prst="roundRect">
            <a:avLst>
              <a:gd name="adj" fmla="val 8571"/>
            </a:avLst>
          </a:prstGeom>
          <a:solidFill>
            <a:srgbClr val="110F2B"/>
          </a:solidFill>
          <a:ln/>
        </p:spPr>
        <p:txBody>
          <a:bodyPr/>
          <a:lstStyle/>
          <a:p>
            <a:endParaRPr lang="en-ZA"/>
          </a:p>
        </p:txBody>
      </p:sp>
      <p:pic>
        <p:nvPicPr>
          <p:cNvPr id="11" name="Image 1" descr="Shield icon"/>
          <p:cNvPicPr>
            <a:picLocks noChangeAspect="1"/>
          </p:cNvPicPr>
          <p:nvPr/>
        </p:nvPicPr>
        <p:blipFill>
          <a:blip r:embed="rId4"/>
          <a:stretch>
            <a:fillRect/>
          </a:stretch>
        </p:blipFill>
        <p:spPr>
          <a:xfrm>
            <a:off x="4937760" y="1892808"/>
            <a:ext cx="329184" cy="329184"/>
          </a:xfrm>
          <a:prstGeom prst="rect">
            <a:avLst/>
          </a:prstGeom>
        </p:spPr>
      </p:pic>
      <p:sp>
        <p:nvSpPr>
          <p:cNvPr id="12" name="Text 8"/>
          <p:cNvSpPr/>
          <p:nvPr/>
        </p:nvSpPr>
        <p:spPr>
          <a:xfrm>
            <a:off x="5394960" y="1856232"/>
            <a:ext cx="2971800" cy="402336"/>
          </a:xfrm>
          <a:prstGeom prst="rect">
            <a:avLst/>
          </a:prstGeom>
          <a:noFill/>
          <a:ln/>
        </p:spPr>
        <p:txBody>
          <a:bodyPr wrap="square" lIns="0" tIns="0" rIns="0" bIns="0" rtlCol="0" anchor="ctr"/>
          <a:lstStyle/>
          <a:p>
            <a:pPr marL="0" indent="0">
              <a:buNone/>
            </a:pPr>
            <a:r>
              <a:rPr lang="en-US" sz="1500" dirty="0">
                <a:solidFill>
                  <a:srgbClr val="ECE9F8"/>
                </a:solidFill>
                <a:latin typeface="Segoe UI Black" pitchFamily="34" charset="0"/>
                <a:ea typeface="Segoe UI Black" pitchFamily="34" charset="-122"/>
                <a:cs typeface="Segoe UI Black" pitchFamily="34" charset="-120"/>
              </a:rPr>
              <a:t>Input</a:t>
            </a:r>
            <a:endParaRPr lang="en-US" sz="1500" dirty="0"/>
          </a:p>
        </p:txBody>
      </p:sp>
      <p:sp>
        <p:nvSpPr>
          <p:cNvPr id="13" name="Text 9"/>
          <p:cNvSpPr/>
          <p:nvPr/>
        </p:nvSpPr>
        <p:spPr>
          <a:xfrm>
            <a:off x="4937760" y="2295144"/>
            <a:ext cx="3429000" cy="548640"/>
          </a:xfrm>
          <a:prstGeom prst="rect">
            <a:avLst/>
          </a:prstGeom>
          <a:noFill/>
          <a:ln/>
        </p:spPr>
        <p:txBody>
          <a:bodyPr wrap="square" lIns="0" tIns="0" rIns="0" bIns="0" rtlCol="0" anchor="t"/>
          <a:lstStyle/>
          <a:p>
            <a:pPr marL="0" indent="0">
              <a:buNone/>
            </a:pPr>
            <a:r>
              <a:rPr lang="en-US" sz="1150" dirty="0">
                <a:solidFill>
                  <a:srgbClr val="ABA6C8"/>
                </a:solidFill>
                <a:latin typeface="Segoe UI" pitchFamily="34" charset="0"/>
                <a:ea typeface="Segoe UI" pitchFamily="34" charset="-122"/>
                <a:cs typeface="Segoe UI" pitchFamily="34" charset="-120"/>
              </a:rPr>
              <a:t>Same-origin only. The browser sends telemetry,</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never questions; every field is clamped.</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Request bodies are capped at 16–32 KB.</a:t>
            </a:r>
            <a:endParaRPr lang="en-US" sz="1150" dirty="0"/>
          </a:p>
        </p:txBody>
      </p:sp>
      <p:sp>
        <p:nvSpPr>
          <p:cNvPr id="14" name="Shape 10"/>
          <p:cNvSpPr/>
          <p:nvPr/>
        </p:nvSpPr>
        <p:spPr>
          <a:xfrm>
            <a:off x="548640" y="3246120"/>
            <a:ext cx="3886200" cy="1280160"/>
          </a:xfrm>
          <a:prstGeom prst="roundRect">
            <a:avLst>
              <a:gd name="adj" fmla="val 8571"/>
            </a:avLst>
          </a:prstGeom>
          <a:solidFill>
            <a:srgbClr val="110F2B"/>
          </a:solidFill>
          <a:ln/>
        </p:spPr>
        <p:txBody>
          <a:bodyPr/>
          <a:lstStyle/>
          <a:p>
            <a:endParaRPr lang="en-ZA"/>
          </a:p>
        </p:txBody>
      </p:sp>
      <p:pic>
        <p:nvPicPr>
          <p:cNvPr id="15" name="Image 2" descr="Stopwatch icon"/>
          <p:cNvPicPr>
            <a:picLocks noChangeAspect="1"/>
          </p:cNvPicPr>
          <p:nvPr/>
        </p:nvPicPr>
        <p:blipFill>
          <a:blip r:embed="rId5"/>
          <a:stretch>
            <a:fillRect/>
          </a:stretch>
        </p:blipFill>
        <p:spPr>
          <a:xfrm>
            <a:off x="777240" y="3447288"/>
            <a:ext cx="329184" cy="329184"/>
          </a:xfrm>
          <a:prstGeom prst="rect">
            <a:avLst/>
          </a:prstGeom>
        </p:spPr>
      </p:pic>
      <p:sp>
        <p:nvSpPr>
          <p:cNvPr id="16" name="Text 11"/>
          <p:cNvSpPr/>
          <p:nvPr/>
        </p:nvSpPr>
        <p:spPr>
          <a:xfrm>
            <a:off x="1234440" y="3410712"/>
            <a:ext cx="2971800" cy="402336"/>
          </a:xfrm>
          <a:prstGeom prst="rect">
            <a:avLst/>
          </a:prstGeom>
          <a:noFill/>
          <a:ln/>
        </p:spPr>
        <p:txBody>
          <a:bodyPr wrap="square" lIns="0" tIns="0" rIns="0" bIns="0" rtlCol="0" anchor="ctr"/>
          <a:lstStyle/>
          <a:p>
            <a:pPr marL="0" indent="0">
              <a:buNone/>
            </a:pPr>
            <a:r>
              <a:rPr lang="en-US" sz="1500" dirty="0">
                <a:solidFill>
                  <a:srgbClr val="ECE9F8"/>
                </a:solidFill>
                <a:latin typeface="Segoe UI Black" pitchFamily="34" charset="0"/>
                <a:ea typeface="Segoe UI Black" pitchFamily="34" charset="-122"/>
                <a:cs typeface="Segoe UI Black" pitchFamily="34" charset="-120"/>
              </a:rPr>
              <a:t>Limits</a:t>
            </a:r>
            <a:endParaRPr lang="en-US" sz="1500" dirty="0"/>
          </a:p>
        </p:txBody>
      </p:sp>
      <p:sp>
        <p:nvSpPr>
          <p:cNvPr id="17" name="Text 12"/>
          <p:cNvSpPr/>
          <p:nvPr/>
        </p:nvSpPr>
        <p:spPr>
          <a:xfrm>
            <a:off x="777240" y="3849624"/>
            <a:ext cx="3429000" cy="548640"/>
          </a:xfrm>
          <a:prstGeom prst="rect">
            <a:avLst/>
          </a:prstGeom>
          <a:noFill/>
          <a:ln/>
        </p:spPr>
        <p:txBody>
          <a:bodyPr wrap="square" lIns="0" tIns="0" rIns="0" bIns="0" rtlCol="0" anchor="t"/>
          <a:lstStyle/>
          <a:p>
            <a:pPr marL="0" indent="0">
              <a:buNone/>
            </a:pPr>
            <a:r>
              <a:rPr lang="en-US" sz="1150" dirty="0">
                <a:solidFill>
                  <a:srgbClr val="ABA6C8"/>
                </a:solidFill>
                <a:latin typeface="Segoe UI" pitchFamily="34" charset="0"/>
                <a:ea typeface="Segoe UI" pitchFamily="34" charset="-122"/>
                <a:cs typeface="Segoe UI" pitchFamily="34" charset="-120"/>
              </a:rPr>
              <a:t>16 calls in flight, 20,000 a day, then 429.</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Rival timeouts: 4 s in the browser, 8 s to Foundry.</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Answers after 4 s are billed but go unused.</a:t>
            </a:r>
            <a:endParaRPr lang="en-US" sz="1150" dirty="0"/>
          </a:p>
        </p:txBody>
      </p:sp>
      <p:sp>
        <p:nvSpPr>
          <p:cNvPr id="18" name="Shape 13"/>
          <p:cNvSpPr/>
          <p:nvPr/>
        </p:nvSpPr>
        <p:spPr>
          <a:xfrm>
            <a:off x="4709160" y="3246120"/>
            <a:ext cx="3886200" cy="1280160"/>
          </a:xfrm>
          <a:prstGeom prst="roundRect">
            <a:avLst>
              <a:gd name="adj" fmla="val 8571"/>
            </a:avLst>
          </a:prstGeom>
          <a:solidFill>
            <a:srgbClr val="110F2B"/>
          </a:solidFill>
          <a:ln/>
        </p:spPr>
        <p:txBody>
          <a:bodyPr/>
          <a:lstStyle/>
          <a:p>
            <a:endParaRPr lang="en-ZA"/>
          </a:p>
        </p:txBody>
      </p:sp>
      <p:pic>
        <p:nvPicPr>
          <p:cNvPr id="19" name="Image 3" descr="Unplugged cable icon"/>
          <p:cNvPicPr>
            <a:picLocks noChangeAspect="1"/>
          </p:cNvPicPr>
          <p:nvPr/>
        </p:nvPicPr>
        <p:blipFill>
          <a:blip r:embed="rId6"/>
          <a:stretch>
            <a:fillRect/>
          </a:stretch>
        </p:blipFill>
        <p:spPr>
          <a:xfrm>
            <a:off x="4956048" y="3465576"/>
            <a:ext cx="292608" cy="292608"/>
          </a:xfrm>
          <a:prstGeom prst="rect">
            <a:avLst/>
          </a:prstGeom>
        </p:spPr>
      </p:pic>
      <p:sp>
        <p:nvSpPr>
          <p:cNvPr id="20" name="Text 14"/>
          <p:cNvSpPr/>
          <p:nvPr/>
        </p:nvSpPr>
        <p:spPr>
          <a:xfrm>
            <a:off x="5394960" y="3410712"/>
            <a:ext cx="2971800" cy="402336"/>
          </a:xfrm>
          <a:prstGeom prst="rect">
            <a:avLst/>
          </a:prstGeom>
          <a:noFill/>
          <a:ln/>
        </p:spPr>
        <p:txBody>
          <a:bodyPr wrap="square" lIns="0" tIns="0" rIns="0" bIns="0" rtlCol="0" anchor="ctr"/>
          <a:lstStyle/>
          <a:p>
            <a:pPr marL="0" indent="0">
              <a:buNone/>
            </a:pPr>
            <a:r>
              <a:rPr lang="en-US" sz="1500" dirty="0">
                <a:solidFill>
                  <a:srgbClr val="ECE9F8"/>
                </a:solidFill>
                <a:latin typeface="Segoe UI Black" pitchFamily="34" charset="0"/>
                <a:ea typeface="Segoe UI Black" pitchFamily="34" charset="-122"/>
                <a:cs typeface="Segoe UI Black" pitchFamily="34" charset="-120"/>
              </a:rPr>
              <a:t>Fallback</a:t>
            </a:r>
            <a:endParaRPr lang="en-US" sz="1500" dirty="0"/>
          </a:p>
        </p:txBody>
      </p:sp>
      <p:sp>
        <p:nvSpPr>
          <p:cNvPr id="21" name="Text 15"/>
          <p:cNvSpPr/>
          <p:nvPr/>
        </p:nvSpPr>
        <p:spPr>
          <a:xfrm>
            <a:off x="4937760" y="3849624"/>
            <a:ext cx="3429000" cy="548640"/>
          </a:xfrm>
          <a:prstGeom prst="rect">
            <a:avLst/>
          </a:prstGeom>
          <a:noFill/>
          <a:ln/>
        </p:spPr>
        <p:txBody>
          <a:bodyPr wrap="square" lIns="0" tIns="0" rIns="0" bIns="0" rtlCol="0" anchor="t"/>
          <a:lstStyle/>
          <a:p>
            <a:pPr marL="0" indent="0">
              <a:buNone/>
            </a:pPr>
            <a:r>
              <a:rPr lang="en-US" sz="1150" dirty="0">
                <a:solidFill>
                  <a:srgbClr val="ABA6C8"/>
                </a:solidFill>
                <a:latin typeface="Segoe UI" pitchFamily="34" charset="0"/>
                <a:ea typeface="Segoe UI" pitchFamily="34" charset="-122"/>
                <a:cs typeface="Segoe UI" pitchFamily="34" charset="-120"/>
              </a:rPr>
              <a:t>Errors fall back to a local heuristic.</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A 503 or four failures in a row pause calls for 8 s;</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then the next decision tries the model again.</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548640" y="484632"/>
            <a:ext cx="109728" cy="109728"/>
          </a:xfrm>
          <a:prstGeom prst="ellipse">
            <a:avLst/>
          </a:prstGeom>
          <a:solidFill>
            <a:srgbClr val="FFD166"/>
          </a:solidFill>
          <a:ln/>
        </p:spPr>
        <p:txBody>
          <a:bodyPr/>
          <a:lstStyle/>
          <a:p>
            <a:endParaRPr lang="en-ZA"/>
          </a:p>
        </p:txBody>
      </p:sp>
      <p:sp>
        <p:nvSpPr>
          <p:cNvPr id="3" name="Text 1"/>
          <p:cNvSpPr/>
          <p:nvPr/>
        </p:nvSpPr>
        <p:spPr>
          <a:xfrm>
            <a:off x="749808" y="393192"/>
            <a:ext cx="5943600" cy="292608"/>
          </a:xfrm>
          <a:prstGeom prst="rect">
            <a:avLst/>
          </a:prstGeom>
          <a:noFill/>
          <a:ln/>
        </p:spPr>
        <p:txBody>
          <a:bodyPr wrap="square" lIns="0" tIns="0" rIns="0" bIns="0" rtlCol="0" anchor="ctr"/>
          <a:lstStyle/>
          <a:p>
            <a:pPr marL="0" indent="0">
              <a:buNone/>
            </a:pPr>
            <a:r>
              <a:rPr lang="en-US" sz="1100" kern="0" spc="300" dirty="0">
                <a:solidFill>
                  <a:srgbClr val="ABA6C8"/>
                </a:solidFill>
                <a:latin typeface="Segoe UI Semibold" pitchFamily="34" charset="0"/>
                <a:ea typeface="Segoe UI Semibold" pitchFamily="34" charset="-122"/>
                <a:cs typeface="Segoe UI Semibold" pitchFamily="34" charset="-120"/>
              </a:rPr>
              <a:t>THROUGHPUT AND COST</a:t>
            </a:r>
            <a:endParaRPr lang="en-US" sz="1100" dirty="0"/>
          </a:p>
        </p:txBody>
      </p:sp>
      <p:sp>
        <p:nvSpPr>
          <p:cNvPr id="4" name="Text 2"/>
          <p:cNvSpPr/>
          <p:nvPr/>
        </p:nvSpPr>
        <p:spPr>
          <a:xfrm>
            <a:off x="7223760" y="393192"/>
            <a:ext cx="1371600" cy="292608"/>
          </a:xfrm>
          <a:prstGeom prst="rect">
            <a:avLst/>
          </a:prstGeom>
          <a:noFill/>
          <a:ln/>
        </p:spPr>
        <p:txBody>
          <a:bodyPr wrap="square" lIns="0" tIns="0" rIns="0" bIns="0" rtlCol="0" anchor="ctr"/>
          <a:lstStyle/>
          <a:p>
            <a:pPr marL="0" indent="0" algn="r">
              <a:buNone/>
            </a:pPr>
            <a:r>
              <a:rPr lang="en-US" sz="1100" dirty="0">
                <a:solidFill>
                  <a:srgbClr val="ABA6C8"/>
                </a:solidFill>
                <a:latin typeface="Segoe UI Semibold" pitchFamily="34" charset="0"/>
                <a:ea typeface="Segoe UI Semibold" pitchFamily="34" charset="-122"/>
                <a:cs typeface="Segoe UI Semibold" pitchFamily="34" charset="-120"/>
              </a:rPr>
              <a:t>13 / 14</a:t>
            </a:r>
            <a:endParaRPr lang="en-US" sz="1100" dirty="0"/>
          </a:p>
        </p:txBody>
      </p:sp>
      <p:sp>
        <p:nvSpPr>
          <p:cNvPr id="5" name="Text 3"/>
          <p:cNvSpPr/>
          <p:nvPr/>
        </p:nvSpPr>
        <p:spPr>
          <a:xfrm>
            <a:off x="548640" y="749808"/>
            <a:ext cx="8046720" cy="658368"/>
          </a:xfrm>
          <a:prstGeom prst="rect">
            <a:avLst/>
          </a:prstGeom>
          <a:noFill/>
          <a:ln/>
        </p:spPr>
        <p:txBody>
          <a:bodyPr wrap="square" lIns="0" tIns="0" rIns="0" bIns="0" rtlCol="0" anchor="t"/>
          <a:lstStyle/>
          <a:p>
            <a:pPr marL="0" indent="0">
              <a:buNone/>
            </a:pPr>
            <a:r>
              <a:rPr lang="en-US" sz="3400" i="1" dirty="0">
                <a:solidFill>
                  <a:srgbClr val="ECE9F8"/>
                </a:solidFill>
                <a:latin typeface="Segoe UI Black" pitchFamily="34" charset="0"/>
                <a:ea typeface="Segoe UI Black" pitchFamily="34" charset="-122"/>
                <a:cs typeface="Segoe UI Black" pitchFamily="34" charset="-120"/>
              </a:rPr>
              <a:t>About 1.5¢ a race</a:t>
            </a:r>
            <a:endParaRPr lang="en-US" sz="3400" dirty="0"/>
          </a:p>
        </p:txBody>
      </p:sp>
      <p:sp>
        <p:nvSpPr>
          <p:cNvPr id="6" name="Text 4"/>
          <p:cNvSpPr/>
          <p:nvPr/>
        </p:nvSpPr>
        <p:spPr>
          <a:xfrm>
            <a:off x="548640" y="1920240"/>
            <a:ext cx="2011680" cy="777240"/>
          </a:xfrm>
          <a:prstGeom prst="rect">
            <a:avLst/>
          </a:prstGeom>
          <a:noFill/>
          <a:ln/>
        </p:spPr>
        <p:txBody>
          <a:bodyPr wrap="square" lIns="0" tIns="0" rIns="0" bIns="0" rtlCol="0" anchor="ctr"/>
          <a:lstStyle/>
          <a:p>
            <a:pPr marL="0" indent="0" algn="ctr">
              <a:buNone/>
            </a:pPr>
            <a:r>
              <a:rPr lang="en-US" sz="3600" i="1" dirty="0">
                <a:solidFill>
                  <a:srgbClr val="ECE9F8"/>
                </a:solidFill>
                <a:latin typeface="Segoe UI Black" pitchFamily="34" charset="0"/>
                <a:ea typeface="Segoe UI Black" pitchFamily="34" charset="-122"/>
                <a:cs typeface="Segoe UI Black" pitchFamily="34" charset="-120"/>
              </a:rPr>
              <a:t>≈630</a:t>
            </a:r>
            <a:endParaRPr lang="en-US" sz="3600" dirty="0"/>
          </a:p>
        </p:txBody>
      </p:sp>
      <p:sp>
        <p:nvSpPr>
          <p:cNvPr id="7" name="Text 5"/>
          <p:cNvSpPr/>
          <p:nvPr/>
        </p:nvSpPr>
        <p:spPr>
          <a:xfrm>
            <a:off x="640080" y="2788920"/>
            <a:ext cx="1828800" cy="457200"/>
          </a:xfrm>
          <a:prstGeom prst="rect">
            <a:avLst/>
          </a:prstGeom>
          <a:noFill/>
          <a:ln/>
        </p:spPr>
        <p:txBody>
          <a:bodyPr wrap="square" lIns="0" tIns="0" rIns="0" bIns="0" rtlCol="0" anchor="t"/>
          <a:lstStyle/>
          <a:p>
            <a:pPr marL="0" indent="0" algn="ctr">
              <a:buNone/>
            </a:pPr>
            <a:r>
              <a:rPr lang="en-US" sz="1200" dirty="0">
                <a:solidFill>
                  <a:srgbClr val="ABA6C8"/>
                </a:solidFill>
                <a:latin typeface="Segoe UI" pitchFamily="34" charset="0"/>
                <a:ea typeface="Segoe UI" pitchFamily="34" charset="-122"/>
                <a:cs typeface="Segoe UI" pitchFamily="34" charset="-120"/>
              </a:rPr>
              <a:t>input tokens</a:t>
            </a:r>
            <a:endParaRPr lang="en-US" sz="1200" dirty="0"/>
          </a:p>
          <a:p>
            <a:pPr marL="0" indent="0" algn="ctr">
              <a:buNone/>
            </a:pPr>
            <a:r>
              <a:rPr lang="en-US" sz="1200" dirty="0">
                <a:solidFill>
                  <a:srgbClr val="ABA6C8"/>
                </a:solidFill>
                <a:latin typeface="Segoe UI" pitchFamily="34" charset="0"/>
                <a:ea typeface="Segoe UI" pitchFamily="34" charset="-122"/>
                <a:cs typeface="Segoe UI" pitchFamily="34" charset="-120"/>
              </a:rPr>
              <a:t>per rival decision</a:t>
            </a:r>
            <a:endParaRPr lang="en-US" sz="1200" dirty="0"/>
          </a:p>
        </p:txBody>
      </p:sp>
      <p:sp>
        <p:nvSpPr>
          <p:cNvPr id="8" name="Text 6"/>
          <p:cNvSpPr/>
          <p:nvPr/>
        </p:nvSpPr>
        <p:spPr>
          <a:xfrm>
            <a:off x="2560320" y="1920240"/>
            <a:ext cx="2011680" cy="777240"/>
          </a:xfrm>
          <a:prstGeom prst="rect">
            <a:avLst/>
          </a:prstGeom>
          <a:noFill/>
          <a:ln/>
        </p:spPr>
        <p:txBody>
          <a:bodyPr wrap="square" lIns="0" tIns="0" rIns="0" bIns="0" rtlCol="0" anchor="ctr"/>
          <a:lstStyle/>
          <a:p>
            <a:pPr marL="0" indent="0" algn="ctr">
              <a:buNone/>
            </a:pPr>
            <a:r>
              <a:rPr lang="en-US" sz="3600" i="1" dirty="0">
                <a:solidFill>
                  <a:srgbClr val="ECE9F8"/>
                </a:solidFill>
                <a:latin typeface="Segoe UI Black" pitchFamily="34" charset="0"/>
                <a:ea typeface="Segoe UI Black" pitchFamily="34" charset="-122"/>
                <a:cs typeface="Segoe UI Black" pitchFamily="34" charset="-120"/>
              </a:rPr>
              <a:t>≈250</a:t>
            </a:r>
            <a:endParaRPr lang="en-US" sz="3600" dirty="0"/>
          </a:p>
        </p:txBody>
      </p:sp>
      <p:sp>
        <p:nvSpPr>
          <p:cNvPr id="9" name="Text 7"/>
          <p:cNvSpPr/>
          <p:nvPr/>
        </p:nvSpPr>
        <p:spPr>
          <a:xfrm>
            <a:off x="2651760" y="2788920"/>
            <a:ext cx="1828800" cy="457200"/>
          </a:xfrm>
          <a:prstGeom prst="rect">
            <a:avLst/>
          </a:prstGeom>
          <a:noFill/>
          <a:ln/>
        </p:spPr>
        <p:txBody>
          <a:bodyPr wrap="square" lIns="0" tIns="0" rIns="0" bIns="0" rtlCol="0" anchor="t"/>
          <a:lstStyle/>
          <a:p>
            <a:pPr marL="0" indent="0" algn="ctr">
              <a:buNone/>
            </a:pPr>
            <a:r>
              <a:rPr lang="en-US" sz="1200" dirty="0">
                <a:solidFill>
                  <a:srgbClr val="ABA6C8"/>
                </a:solidFill>
                <a:latin typeface="Segoe UI" pitchFamily="34" charset="0"/>
                <a:ea typeface="Segoe UI" pitchFamily="34" charset="-122"/>
                <a:cs typeface="Segoe UI" pitchFamily="34" charset="-120"/>
              </a:rPr>
              <a:t>rival calls</a:t>
            </a:r>
            <a:endParaRPr lang="en-US" sz="1200" dirty="0"/>
          </a:p>
          <a:p>
            <a:pPr marL="0" indent="0" algn="ctr">
              <a:buNone/>
            </a:pPr>
            <a:r>
              <a:rPr lang="en-US" sz="1200" dirty="0">
                <a:solidFill>
                  <a:srgbClr val="ABA6C8"/>
                </a:solidFill>
                <a:latin typeface="Segoe UI" pitchFamily="34" charset="0"/>
                <a:ea typeface="Segoe UI" pitchFamily="34" charset="-122"/>
                <a:cs typeface="Segoe UI" pitchFamily="34" charset="-120"/>
              </a:rPr>
              <a:t>per race minute</a:t>
            </a:r>
            <a:endParaRPr lang="en-US" sz="1200" dirty="0"/>
          </a:p>
        </p:txBody>
      </p:sp>
      <p:sp>
        <p:nvSpPr>
          <p:cNvPr id="10" name="Text 8"/>
          <p:cNvSpPr/>
          <p:nvPr/>
        </p:nvSpPr>
        <p:spPr>
          <a:xfrm>
            <a:off x="4572000" y="1920240"/>
            <a:ext cx="2011680" cy="777240"/>
          </a:xfrm>
          <a:prstGeom prst="rect">
            <a:avLst/>
          </a:prstGeom>
          <a:noFill/>
          <a:ln/>
        </p:spPr>
        <p:txBody>
          <a:bodyPr wrap="square" lIns="0" tIns="0" rIns="0" bIns="0" rtlCol="0" anchor="ctr"/>
          <a:lstStyle/>
          <a:p>
            <a:pPr marL="0" indent="0" algn="ctr">
              <a:buNone/>
            </a:pPr>
            <a:r>
              <a:rPr lang="en-US" sz="3600" i="1" dirty="0">
                <a:solidFill>
                  <a:srgbClr val="ECE9F8"/>
                </a:solidFill>
                <a:latin typeface="Segoe UI Black" pitchFamily="34" charset="0"/>
                <a:ea typeface="Segoe UI Black" pitchFamily="34" charset="-122"/>
                <a:cs typeface="Segoe UI Black" pitchFamily="34" charset="-120"/>
              </a:rPr>
              <a:t>≈0.6¢</a:t>
            </a:r>
            <a:endParaRPr lang="en-US" sz="3600" dirty="0"/>
          </a:p>
        </p:txBody>
      </p:sp>
      <p:sp>
        <p:nvSpPr>
          <p:cNvPr id="11" name="Text 9"/>
          <p:cNvSpPr/>
          <p:nvPr/>
        </p:nvSpPr>
        <p:spPr>
          <a:xfrm>
            <a:off x="4663440" y="2788920"/>
            <a:ext cx="1828800" cy="457200"/>
          </a:xfrm>
          <a:prstGeom prst="rect">
            <a:avLst/>
          </a:prstGeom>
          <a:noFill/>
          <a:ln/>
        </p:spPr>
        <p:txBody>
          <a:bodyPr wrap="square" lIns="0" tIns="0" rIns="0" bIns="0" rtlCol="0" anchor="t"/>
          <a:lstStyle/>
          <a:p>
            <a:pPr marL="0" indent="0" algn="ctr">
              <a:buNone/>
            </a:pPr>
            <a:r>
              <a:rPr lang="en-US" sz="1200" dirty="0">
                <a:solidFill>
                  <a:srgbClr val="ABA6C8"/>
                </a:solidFill>
                <a:latin typeface="Segoe UI" pitchFamily="34" charset="0"/>
                <a:ea typeface="Segoe UI" pitchFamily="34" charset="-122"/>
                <a:cs typeface="Segoe UI" pitchFamily="34" charset="-120"/>
              </a:rPr>
              <a:t>model cost</a:t>
            </a:r>
            <a:endParaRPr lang="en-US" sz="1200" dirty="0"/>
          </a:p>
          <a:p>
            <a:pPr marL="0" indent="0" algn="ctr">
              <a:buNone/>
            </a:pPr>
            <a:r>
              <a:rPr lang="en-US" sz="1200" dirty="0">
                <a:solidFill>
                  <a:srgbClr val="ABA6C8"/>
                </a:solidFill>
                <a:latin typeface="Segoe UI" pitchFamily="34" charset="0"/>
                <a:ea typeface="Segoe UI" pitchFamily="34" charset="-122"/>
                <a:cs typeface="Segoe UI" pitchFamily="34" charset="-120"/>
              </a:rPr>
              <a:t>per race minute</a:t>
            </a:r>
            <a:endParaRPr lang="en-US" sz="1200" dirty="0"/>
          </a:p>
        </p:txBody>
      </p:sp>
      <p:sp>
        <p:nvSpPr>
          <p:cNvPr id="12" name="Text 10"/>
          <p:cNvSpPr/>
          <p:nvPr/>
        </p:nvSpPr>
        <p:spPr>
          <a:xfrm>
            <a:off x="6583680" y="1920240"/>
            <a:ext cx="2011680" cy="777240"/>
          </a:xfrm>
          <a:prstGeom prst="rect">
            <a:avLst/>
          </a:prstGeom>
          <a:noFill/>
          <a:ln/>
        </p:spPr>
        <p:txBody>
          <a:bodyPr wrap="square" lIns="0" tIns="0" rIns="0" bIns="0" rtlCol="0" anchor="ctr"/>
          <a:lstStyle/>
          <a:p>
            <a:pPr marL="0" indent="0" algn="ctr">
              <a:buNone/>
            </a:pPr>
            <a:r>
              <a:rPr lang="en-US" sz="3600" i="1" dirty="0">
                <a:solidFill>
                  <a:srgbClr val="FFD166"/>
                </a:solidFill>
                <a:latin typeface="Segoe UI Black" pitchFamily="34" charset="0"/>
                <a:ea typeface="Segoe UI Black" pitchFamily="34" charset="-122"/>
                <a:cs typeface="Segoe UI Black" pitchFamily="34" charset="-120"/>
              </a:rPr>
              <a:t>≈1.5¢</a:t>
            </a:r>
            <a:endParaRPr lang="en-US" sz="3600" dirty="0"/>
          </a:p>
        </p:txBody>
      </p:sp>
      <p:sp>
        <p:nvSpPr>
          <p:cNvPr id="13" name="Text 11"/>
          <p:cNvSpPr/>
          <p:nvPr/>
        </p:nvSpPr>
        <p:spPr>
          <a:xfrm>
            <a:off x="6675120" y="2788920"/>
            <a:ext cx="1828800" cy="457200"/>
          </a:xfrm>
          <a:prstGeom prst="rect">
            <a:avLst/>
          </a:prstGeom>
          <a:noFill/>
          <a:ln/>
        </p:spPr>
        <p:txBody>
          <a:bodyPr wrap="square" lIns="0" tIns="0" rIns="0" bIns="0" rtlCol="0" anchor="t"/>
          <a:lstStyle/>
          <a:p>
            <a:pPr marL="0" indent="0" algn="ctr">
              <a:buNone/>
            </a:pPr>
            <a:r>
              <a:rPr lang="en-US" sz="1200" dirty="0">
                <a:solidFill>
                  <a:srgbClr val="ABA6C8"/>
                </a:solidFill>
                <a:latin typeface="Segoe UI" pitchFamily="34" charset="0"/>
                <a:ea typeface="Segoe UI" pitchFamily="34" charset="-122"/>
                <a:cs typeface="Segoe UI" pitchFamily="34" charset="-120"/>
              </a:rPr>
              <a:t>per 3-lap race</a:t>
            </a:r>
            <a:endParaRPr lang="en-US" sz="1200" dirty="0"/>
          </a:p>
          <a:p>
            <a:pPr marL="0" indent="0" algn="ctr">
              <a:buNone/>
            </a:pPr>
            <a:r>
              <a:rPr lang="en-US" sz="1200" dirty="0">
                <a:solidFill>
                  <a:srgbClr val="ABA6C8"/>
                </a:solidFill>
                <a:latin typeface="Segoe UI" pitchFamily="34" charset="0"/>
                <a:ea typeface="Segoe UI" pitchFamily="34" charset="-122"/>
                <a:cs typeface="Segoe UI" pitchFamily="34" charset="-120"/>
              </a:rPr>
              <a:t>(about 2.5 minutes)</a:t>
            </a:r>
            <a:endParaRPr lang="en-US" sz="1200" dirty="0"/>
          </a:p>
        </p:txBody>
      </p:sp>
      <p:sp>
        <p:nvSpPr>
          <p:cNvPr id="14" name="Shape 12"/>
          <p:cNvSpPr/>
          <p:nvPr/>
        </p:nvSpPr>
        <p:spPr>
          <a:xfrm>
            <a:off x="548640" y="3794760"/>
            <a:ext cx="8046720" cy="731520"/>
          </a:xfrm>
          <a:prstGeom prst="roundRect">
            <a:avLst>
              <a:gd name="adj" fmla="val 15000"/>
            </a:avLst>
          </a:prstGeom>
          <a:solidFill>
            <a:srgbClr val="110F2B"/>
          </a:solidFill>
          <a:ln/>
        </p:spPr>
        <p:txBody>
          <a:bodyPr/>
          <a:lstStyle/>
          <a:p>
            <a:endParaRPr lang="en-ZA"/>
          </a:p>
        </p:txBody>
      </p:sp>
      <p:pic>
        <p:nvPicPr>
          <p:cNvPr id="15" name="Image 0" descr="Coins icon"/>
          <p:cNvPicPr>
            <a:picLocks noChangeAspect="1"/>
          </p:cNvPicPr>
          <p:nvPr/>
        </p:nvPicPr>
        <p:blipFill>
          <a:blip r:embed="rId3"/>
          <a:stretch>
            <a:fillRect/>
          </a:stretch>
        </p:blipFill>
        <p:spPr>
          <a:xfrm>
            <a:off x="777240" y="3986784"/>
            <a:ext cx="347472" cy="347472"/>
          </a:xfrm>
          <a:prstGeom prst="rect">
            <a:avLst/>
          </a:prstGeom>
        </p:spPr>
      </p:pic>
      <p:sp>
        <p:nvSpPr>
          <p:cNvPr id="16" name="Text 13"/>
          <p:cNvSpPr/>
          <p:nvPr/>
        </p:nvSpPr>
        <p:spPr>
          <a:xfrm>
            <a:off x="1325880" y="3794760"/>
            <a:ext cx="7086600" cy="731520"/>
          </a:xfrm>
          <a:prstGeom prst="rect">
            <a:avLst/>
          </a:prstGeom>
          <a:noFill/>
          <a:ln/>
        </p:spPr>
        <p:txBody>
          <a:bodyPr wrap="square" lIns="0" tIns="0" rIns="0" bIns="0" rtlCol="0" anchor="ctr"/>
          <a:lstStyle/>
          <a:p>
            <a:pPr marL="0" indent="0">
              <a:spcAft>
                <a:spcPts val="300"/>
              </a:spcAft>
              <a:buNone/>
            </a:pPr>
            <a:r>
              <a:rPr lang="en-US" sz="1200" dirty="0">
                <a:solidFill>
                  <a:srgbClr val="ECE9F8"/>
                </a:solidFill>
                <a:latin typeface="Segoe UI" pitchFamily="34" charset="0"/>
                <a:ea typeface="Segoe UI" pitchFamily="34" charset="-122"/>
                <a:cs typeface="Segoe UI" pitchFamily="34" charset="-120"/>
              </a:rPr>
              <a:t>$0.04 per 1M tokens, one rate for input and output; a rival call returns 3 tokens.</a:t>
            </a:r>
            <a:endParaRPr lang="en-US" sz="1200" dirty="0"/>
          </a:p>
          <a:p>
            <a:pPr marL="0" indent="0">
              <a:spcAft>
                <a:spcPts val="300"/>
              </a:spcAft>
              <a:buNone/>
            </a:pPr>
            <a:r>
              <a:rPr lang="en-US" sz="1200" dirty="0">
                <a:solidFill>
                  <a:srgbClr val="ECE9F8"/>
                </a:solidFill>
                <a:latin typeface="Segoe UI" pitchFamily="34" charset="0"/>
                <a:ea typeface="Segoe UI" pitchFamily="34" charset="-122"/>
                <a:cs typeface="Segoe UI" pitchFamily="34" charset="-120"/>
              </a:rPr>
              <a:t>Daily cap: 20,000 calls ≈ 80 minutes of racing ≈ $0.50. 500 RPM covers two races at once.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07071A"/>
        </a:solidFill>
        <a:effectLst/>
      </p:bgPr>
    </p:bg>
    <p:spTree>
      <p:nvGrpSpPr>
        <p:cNvPr id="1" name=""/>
        <p:cNvGrpSpPr/>
        <p:nvPr/>
      </p:nvGrpSpPr>
      <p:grpSpPr>
        <a:xfrm>
          <a:off x="0" y="0"/>
          <a:ext cx="0" cy="0"/>
          <a:chOff x="0" y="0"/>
          <a:chExt cx="0" cy="0"/>
        </a:xfrm>
      </p:grpSpPr>
      <p:sp>
        <p:nvSpPr>
          <p:cNvPr id="2" name="Shape 0"/>
          <p:cNvSpPr/>
          <p:nvPr/>
        </p:nvSpPr>
        <p:spPr>
          <a:xfrm>
            <a:off x="640080" y="548640"/>
            <a:ext cx="27432" cy="27432"/>
          </a:xfrm>
          <a:prstGeom prst="ellipse">
            <a:avLst/>
          </a:prstGeom>
          <a:solidFill>
            <a:srgbClr val="FFFFFF">
              <a:alpha val="50000"/>
            </a:srgbClr>
          </a:solidFill>
          <a:ln/>
        </p:spPr>
        <p:txBody>
          <a:bodyPr/>
          <a:lstStyle/>
          <a:p>
            <a:endParaRPr lang="en-ZA"/>
          </a:p>
        </p:txBody>
      </p:sp>
      <p:sp>
        <p:nvSpPr>
          <p:cNvPr id="3" name="Shape 1"/>
          <p:cNvSpPr/>
          <p:nvPr/>
        </p:nvSpPr>
        <p:spPr>
          <a:xfrm>
            <a:off x="2834640" y="548640"/>
            <a:ext cx="36576" cy="36576"/>
          </a:xfrm>
          <a:prstGeom prst="ellipse">
            <a:avLst/>
          </a:prstGeom>
          <a:solidFill>
            <a:srgbClr val="FFFFFF">
              <a:alpha val="60000"/>
            </a:srgbClr>
          </a:solidFill>
          <a:ln/>
        </p:spPr>
        <p:txBody>
          <a:bodyPr/>
          <a:lstStyle/>
          <a:p>
            <a:endParaRPr lang="en-ZA"/>
          </a:p>
        </p:txBody>
      </p:sp>
      <p:sp>
        <p:nvSpPr>
          <p:cNvPr id="4" name="Shape 2"/>
          <p:cNvSpPr/>
          <p:nvPr/>
        </p:nvSpPr>
        <p:spPr>
          <a:xfrm>
            <a:off x="4754880" y="594360"/>
            <a:ext cx="27432" cy="27432"/>
          </a:xfrm>
          <a:prstGeom prst="ellipse">
            <a:avLst/>
          </a:prstGeom>
          <a:solidFill>
            <a:srgbClr val="FFFFFF">
              <a:alpha val="45000"/>
            </a:srgbClr>
          </a:solidFill>
          <a:ln/>
        </p:spPr>
        <p:txBody>
          <a:bodyPr/>
          <a:lstStyle/>
          <a:p>
            <a:endParaRPr lang="en-ZA"/>
          </a:p>
        </p:txBody>
      </p:sp>
      <p:sp>
        <p:nvSpPr>
          <p:cNvPr id="5" name="Shape 3"/>
          <p:cNvSpPr/>
          <p:nvPr/>
        </p:nvSpPr>
        <p:spPr>
          <a:xfrm>
            <a:off x="6035040" y="502920"/>
            <a:ext cx="32004" cy="32004"/>
          </a:xfrm>
          <a:prstGeom prst="ellipse">
            <a:avLst/>
          </a:prstGeom>
          <a:solidFill>
            <a:srgbClr val="FFFFFF">
              <a:alpha val="55000"/>
            </a:srgbClr>
          </a:solidFill>
          <a:ln/>
        </p:spPr>
        <p:txBody>
          <a:bodyPr/>
          <a:lstStyle/>
          <a:p>
            <a:endParaRPr lang="en-ZA"/>
          </a:p>
        </p:txBody>
      </p:sp>
      <p:sp>
        <p:nvSpPr>
          <p:cNvPr id="6" name="Shape 4"/>
          <p:cNvSpPr/>
          <p:nvPr/>
        </p:nvSpPr>
        <p:spPr>
          <a:xfrm>
            <a:off x="8595360" y="3017520"/>
            <a:ext cx="27432" cy="27432"/>
          </a:xfrm>
          <a:prstGeom prst="ellipse">
            <a:avLst/>
          </a:prstGeom>
          <a:solidFill>
            <a:srgbClr val="FFFFFF">
              <a:alpha val="50000"/>
            </a:srgbClr>
          </a:solidFill>
          <a:ln/>
        </p:spPr>
        <p:txBody>
          <a:bodyPr/>
          <a:lstStyle/>
          <a:p>
            <a:endParaRPr lang="en-ZA"/>
          </a:p>
        </p:txBody>
      </p:sp>
      <p:sp>
        <p:nvSpPr>
          <p:cNvPr id="7" name="Shape 5"/>
          <p:cNvSpPr/>
          <p:nvPr/>
        </p:nvSpPr>
        <p:spPr>
          <a:xfrm>
            <a:off x="4480560" y="4846320"/>
            <a:ext cx="27432" cy="27432"/>
          </a:xfrm>
          <a:prstGeom prst="ellipse">
            <a:avLst/>
          </a:prstGeom>
          <a:solidFill>
            <a:srgbClr val="FFFFFF">
              <a:alpha val="45000"/>
            </a:srgbClr>
          </a:solidFill>
          <a:ln/>
        </p:spPr>
        <p:txBody>
          <a:bodyPr/>
          <a:lstStyle/>
          <a:p>
            <a:endParaRPr lang="en-ZA"/>
          </a:p>
        </p:txBody>
      </p:sp>
      <p:sp>
        <p:nvSpPr>
          <p:cNvPr id="8" name="Shape 6"/>
          <p:cNvSpPr/>
          <p:nvPr/>
        </p:nvSpPr>
        <p:spPr>
          <a:xfrm>
            <a:off x="2651760" y="4864608"/>
            <a:ext cx="22860" cy="22860"/>
          </a:xfrm>
          <a:prstGeom prst="ellipse">
            <a:avLst/>
          </a:prstGeom>
          <a:solidFill>
            <a:srgbClr val="FFFFFF">
              <a:alpha val="40000"/>
            </a:srgbClr>
          </a:solidFill>
          <a:ln/>
        </p:spPr>
        <p:txBody>
          <a:bodyPr/>
          <a:lstStyle/>
          <a:p>
            <a:endParaRPr lang="en-ZA"/>
          </a:p>
        </p:txBody>
      </p:sp>
      <p:sp>
        <p:nvSpPr>
          <p:cNvPr id="9" name="Shape 7"/>
          <p:cNvSpPr/>
          <p:nvPr/>
        </p:nvSpPr>
        <p:spPr>
          <a:xfrm>
            <a:off x="7680960" y="4846320"/>
            <a:ext cx="27432" cy="27432"/>
          </a:xfrm>
          <a:prstGeom prst="ellipse">
            <a:avLst/>
          </a:prstGeom>
          <a:solidFill>
            <a:srgbClr val="FFFFFF">
              <a:alpha val="45000"/>
            </a:srgbClr>
          </a:solidFill>
          <a:ln/>
        </p:spPr>
        <p:txBody>
          <a:bodyPr/>
          <a:lstStyle/>
          <a:p>
            <a:endParaRPr lang="en-ZA"/>
          </a:p>
        </p:txBody>
      </p:sp>
      <p:pic>
        <p:nvPicPr>
          <p:cNvPr id="10" name="Image 0" descr="Moon"/>
          <p:cNvPicPr>
            <a:picLocks noChangeAspect="1"/>
          </p:cNvPicPr>
          <p:nvPr/>
        </p:nvPicPr>
        <p:blipFill>
          <a:blip r:embed="rId3"/>
          <a:stretch>
            <a:fillRect/>
          </a:stretch>
        </p:blipFill>
        <p:spPr>
          <a:xfrm>
            <a:off x="6720840" y="137160"/>
            <a:ext cx="2103120" cy="2103120"/>
          </a:xfrm>
          <a:prstGeom prst="rect">
            <a:avLst/>
          </a:prstGeom>
        </p:spPr>
      </p:pic>
      <p:sp>
        <p:nvSpPr>
          <p:cNvPr id="11" name="Text 8"/>
          <p:cNvSpPr/>
          <p:nvPr/>
        </p:nvSpPr>
        <p:spPr>
          <a:xfrm>
            <a:off x="548640" y="777240"/>
            <a:ext cx="6035040" cy="822960"/>
          </a:xfrm>
          <a:prstGeom prst="rect">
            <a:avLst/>
          </a:prstGeom>
          <a:noFill/>
          <a:ln/>
        </p:spPr>
        <p:txBody>
          <a:bodyPr wrap="square" lIns="0" tIns="0" rIns="0" bIns="0" rtlCol="0" anchor="ctr"/>
          <a:lstStyle/>
          <a:p>
            <a:pPr marL="0" indent="0">
              <a:buNone/>
            </a:pPr>
            <a:r>
              <a:rPr lang="en-US" sz="4400" i="1" dirty="0">
                <a:solidFill>
                  <a:srgbClr val="ECE9F8"/>
                </a:solidFill>
                <a:latin typeface="Segoe UI Black" pitchFamily="34" charset="0"/>
                <a:ea typeface="Segoe UI Black" pitchFamily="34" charset="-122"/>
                <a:cs typeface="Segoe UI Black" pitchFamily="34" charset="-120"/>
              </a:rPr>
              <a:t>Start your engines</a:t>
            </a:r>
            <a:endParaRPr lang="en-US" sz="4400" dirty="0"/>
          </a:p>
        </p:txBody>
      </p:sp>
      <p:sp>
        <p:nvSpPr>
          <p:cNvPr id="12" name="Shape 9"/>
          <p:cNvSpPr/>
          <p:nvPr/>
        </p:nvSpPr>
        <p:spPr>
          <a:xfrm>
            <a:off x="548640" y="2011680"/>
            <a:ext cx="3840480" cy="713232"/>
          </a:xfrm>
          <a:prstGeom prst="roundRect">
            <a:avLst>
              <a:gd name="adj" fmla="val 15385"/>
            </a:avLst>
          </a:prstGeom>
          <a:solidFill>
            <a:srgbClr val="110F2B"/>
          </a:solidFill>
          <a:ln/>
        </p:spPr>
        <p:txBody>
          <a:bodyPr/>
          <a:lstStyle/>
          <a:p>
            <a:endParaRPr lang="en-ZA"/>
          </a:p>
        </p:txBody>
      </p:sp>
      <p:sp>
        <p:nvSpPr>
          <p:cNvPr id="13" name="Text 10"/>
          <p:cNvSpPr/>
          <p:nvPr/>
        </p:nvSpPr>
        <p:spPr>
          <a:xfrm>
            <a:off x="777240" y="2112264"/>
            <a:ext cx="338328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PLAY IT NOW</a:t>
            </a:r>
            <a:endParaRPr lang="en-US" sz="1050" dirty="0"/>
          </a:p>
        </p:txBody>
      </p:sp>
      <p:sp>
        <p:nvSpPr>
          <p:cNvPr id="14" name="Text 11"/>
          <p:cNvSpPr/>
          <p:nvPr/>
        </p:nvSpPr>
        <p:spPr>
          <a:xfrm>
            <a:off x="777240" y="2359152"/>
            <a:ext cx="3383280" cy="274320"/>
          </a:xfrm>
          <a:prstGeom prst="rect">
            <a:avLst/>
          </a:prstGeom>
          <a:noFill/>
          <a:ln/>
        </p:spPr>
        <p:txBody>
          <a:bodyPr wrap="square" lIns="0" tIns="0" rIns="0" bIns="0" rtlCol="0" anchor="ctr"/>
          <a:lstStyle/>
          <a:p>
            <a:pPr marL="0" indent="0">
              <a:buNone/>
            </a:pPr>
            <a:r>
              <a:rPr lang="en-US" sz="1600" dirty="0">
                <a:solidFill>
                  <a:srgbClr val="3DD6FF"/>
                </a:solidFill>
                <a:latin typeface="Segoe UI Semibold" pitchFamily="34" charset="0"/>
                <a:ea typeface="Segoe UI Semibold" pitchFamily="34" charset="-122"/>
                <a:cs typeface="Segoe UI Semibold" pitchFamily="34" charset="-120"/>
              </a:rPr>
              <a:t>aka.ms/racing</a:t>
            </a:r>
            <a:endParaRPr lang="en-US" sz="1600" dirty="0"/>
          </a:p>
        </p:txBody>
      </p:sp>
      <p:sp>
        <p:nvSpPr>
          <p:cNvPr id="15" name="Shape 12">
            <a:hlinkClick r:id="rId4" tooltip="Play LUNA GP"/>
          </p:cNvPr>
          <p:cNvSpPr/>
          <p:nvPr/>
        </p:nvSpPr>
        <p:spPr>
          <a:xfrm>
            <a:off x="548640" y="2011680"/>
            <a:ext cx="3840480" cy="713232"/>
          </a:xfrm>
          <a:prstGeom prst="rect">
            <a:avLst/>
          </a:prstGeom>
          <a:solidFill>
            <a:srgbClr val="07071A">
              <a:alpha val="0"/>
            </a:srgbClr>
          </a:solidFill>
          <a:ln/>
        </p:spPr>
        <p:txBody>
          <a:bodyPr/>
          <a:lstStyle/>
          <a:p>
            <a:endParaRPr lang="en-ZA"/>
          </a:p>
        </p:txBody>
      </p:sp>
      <p:sp>
        <p:nvSpPr>
          <p:cNvPr id="16" name="Shape 13"/>
          <p:cNvSpPr/>
          <p:nvPr/>
        </p:nvSpPr>
        <p:spPr>
          <a:xfrm>
            <a:off x="548640" y="2862072"/>
            <a:ext cx="3840480" cy="713232"/>
          </a:xfrm>
          <a:prstGeom prst="roundRect">
            <a:avLst>
              <a:gd name="adj" fmla="val 15385"/>
            </a:avLst>
          </a:prstGeom>
          <a:solidFill>
            <a:srgbClr val="110F2B"/>
          </a:solidFill>
          <a:ln/>
        </p:spPr>
        <p:txBody>
          <a:bodyPr/>
          <a:lstStyle/>
          <a:p>
            <a:endParaRPr lang="en-ZA"/>
          </a:p>
        </p:txBody>
      </p:sp>
      <p:sp>
        <p:nvSpPr>
          <p:cNvPr id="17" name="Text 14"/>
          <p:cNvSpPr/>
          <p:nvPr/>
        </p:nvSpPr>
        <p:spPr>
          <a:xfrm>
            <a:off x="777240" y="2962656"/>
            <a:ext cx="3383280" cy="237744"/>
          </a:xfrm>
          <a:prstGeom prst="rect">
            <a:avLst/>
          </a:prstGeom>
          <a:noFill/>
          <a:ln/>
        </p:spPr>
        <p:txBody>
          <a:bodyPr wrap="square" lIns="0" tIns="0" rIns="0" bIns="0" rtlCol="0" anchor="ctr"/>
          <a:lstStyle/>
          <a:p>
            <a:pPr marL="0" indent="0">
              <a:buNone/>
            </a:pPr>
            <a:r>
              <a:rPr lang="en-US" sz="1050" kern="0" spc="200" dirty="0">
                <a:solidFill>
                  <a:srgbClr val="ABA6C8"/>
                </a:solidFill>
                <a:latin typeface="Segoe UI Semibold" pitchFamily="34" charset="0"/>
                <a:ea typeface="Segoe UI Semibold" pitchFamily="34" charset="-122"/>
                <a:cs typeface="Segoe UI Semibold" pitchFamily="34" charset="-120"/>
              </a:rPr>
              <a:t>OR RUN YOUR OWN</a:t>
            </a:r>
            <a:endParaRPr lang="en-US" sz="1050" dirty="0"/>
          </a:p>
        </p:txBody>
      </p:sp>
      <p:sp>
        <p:nvSpPr>
          <p:cNvPr id="18" name="Text 15"/>
          <p:cNvSpPr/>
          <p:nvPr/>
        </p:nvSpPr>
        <p:spPr>
          <a:xfrm>
            <a:off x="777240" y="3209544"/>
            <a:ext cx="3383280" cy="274320"/>
          </a:xfrm>
          <a:prstGeom prst="rect">
            <a:avLst/>
          </a:prstGeom>
          <a:noFill/>
          <a:ln/>
        </p:spPr>
        <p:txBody>
          <a:bodyPr wrap="square" lIns="0" tIns="0" rIns="0" bIns="0" rtlCol="0" anchor="ctr"/>
          <a:lstStyle/>
          <a:p>
            <a:pPr marL="0" indent="0">
              <a:buNone/>
            </a:pPr>
            <a:r>
              <a:rPr lang="en-US" sz="1300" dirty="0">
                <a:solidFill>
                  <a:srgbClr val="FFD166"/>
                </a:solidFill>
                <a:latin typeface="Consolas" pitchFamily="34" charset="0"/>
                <a:ea typeface="Consolas" pitchFamily="34" charset="-122"/>
                <a:cs typeface="Consolas" pitchFamily="34" charset="-120"/>
              </a:rPr>
              <a:t>npm start</a:t>
            </a:r>
            <a:r>
              <a:rPr lang="en-US" sz="1300" dirty="0">
                <a:solidFill>
                  <a:srgbClr val="ABA6C8"/>
                </a:solidFill>
                <a:latin typeface="Consolas" pitchFamily="34" charset="0"/>
                <a:ea typeface="Consolas" pitchFamily="34" charset="-122"/>
                <a:cs typeface="Consolas" pitchFamily="34" charset="-120"/>
              </a:rPr>
              <a:t>  →  </a:t>
            </a:r>
            <a:r>
              <a:rPr lang="en-US" sz="1300" dirty="0">
                <a:solidFill>
                  <a:srgbClr val="3DD6FF"/>
                </a:solidFill>
                <a:latin typeface="Consolas" pitchFamily="34" charset="0"/>
                <a:ea typeface="Consolas" pitchFamily="34" charset="-122"/>
                <a:cs typeface="Consolas" pitchFamily="34" charset="-120"/>
              </a:rPr>
              <a:t>http://127.0.0.1:3000</a:t>
            </a:r>
            <a:endParaRPr lang="en-US" sz="1300" dirty="0"/>
          </a:p>
        </p:txBody>
      </p:sp>
      <p:sp>
        <p:nvSpPr>
          <p:cNvPr id="19" name="Text 16"/>
          <p:cNvSpPr/>
          <p:nvPr/>
        </p:nvSpPr>
        <p:spPr>
          <a:xfrm>
            <a:off x="548640" y="3712464"/>
            <a:ext cx="3840480" cy="411480"/>
          </a:xfrm>
          <a:prstGeom prst="rect">
            <a:avLst/>
          </a:prstGeom>
          <a:noFill/>
          <a:ln/>
        </p:spPr>
        <p:txBody>
          <a:bodyPr wrap="square" lIns="0" tIns="0" rIns="0" bIns="0" rtlCol="0" anchor="t"/>
          <a:lstStyle/>
          <a:p>
            <a:pPr marL="0" indent="0">
              <a:buNone/>
            </a:pPr>
            <a:r>
              <a:rPr lang="en-US" sz="1150" dirty="0">
                <a:solidFill>
                  <a:srgbClr val="ABA6C8"/>
                </a:solidFill>
                <a:latin typeface="Segoe UI" pitchFamily="34" charset="0"/>
                <a:ea typeface="Segoe UI" pitchFamily="34" charset="-122"/>
                <a:cs typeface="Segoe UI" pitchFamily="34" charset="-120"/>
              </a:rPr>
              <a:t>Node.js 20+, no install step.</a:t>
            </a:r>
            <a:endParaRPr lang="en-US" sz="1150" dirty="0"/>
          </a:p>
          <a:p>
            <a:pPr marL="0" indent="0">
              <a:buNone/>
            </a:pPr>
            <a:r>
              <a:rPr lang="en-US" sz="1150" dirty="0">
                <a:solidFill>
                  <a:srgbClr val="ABA6C8"/>
                </a:solidFill>
                <a:latin typeface="Segoe UI" pitchFamily="34" charset="0"/>
                <a:ea typeface="Segoe UI" pitchFamily="34" charset="-122"/>
                <a:cs typeface="Segoe UI" pitchFamily="34" charset="-120"/>
              </a:rPr>
              <a:t>No </a:t>
            </a:r>
            <a:r>
              <a:rPr lang="en-US" sz="1150" dirty="0">
                <a:solidFill>
                  <a:srgbClr val="ECE9F8"/>
                </a:solidFill>
                <a:latin typeface="Consolas" pitchFamily="34" charset="0"/>
                <a:ea typeface="Consolas" pitchFamily="34" charset="-122"/>
                <a:cs typeface="Consolas" pitchFamily="34" charset="-120"/>
              </a:rPr>
              <a:t>FOUNDRY_ENDPOINT</a:t>
            </a:r>
            <a:r>
              <a:rPr lang="en-US" sz="1150" dirty="0">
                <a:solidFill>
                  <a:srgbClr val="ABA6C8"/>
                </a:solidFill>
                <a:latin typeface="Segoe UI" pitchFamily="34" charset="0"/>
                <a:ea typeface="Segoe UI" pitchFamily="34" charset="-122"/>
                <a:cs typeface="Segoe UI" pitchFamily="34" charset="-120"/>
              </a:rPr>
              <a:t>? Rivals use offline heuristics.</a:t>
            </a:r>
            <a:endParaRPr lang="en-US" sz="1150" dirty="0"/>
          </a:p>
        </p:txBody>
      </p:sp>
      <p:sp>
        <p:nvSpPr>
          <p:cNvPr id="20" name="Shape 17"/>
          <p:cNvSpPr/>
          <p:nvPr/>
        </p:nvSpPr>
        <p:spPr>
          <a:xfrm>
            <a:off x="4937760" y="2011680"/>
            <a:ext cx="777240" cy="274320"/>
          </a:xfrm>
          <a:prstGeom prst="roundRect">
            <a:avLst>
              <a:gd name="adj" fmla="val 20000"/>
            </a:avLst>
          </a:prstGeom>
          <a:solidFill>
            <a:srgbClr val="1A1740"/>
          </a:solidFill>
          <a:ln w="12700">
            <a:solidFill>
              <a:srgbClr val="36316A"/>
            </a:solidFill>
            <a:prstDash val="solid"/>
          </a:ln>
        </p:spPr>
        <p:txBody>
          <a:bodyPr/>
          <a:lstStyle/>
          <a:p>
            <a:endParaRPr lang="en-ZA"/>
          </a:p>
        </p:txBody>
      </p:sp>
      <p:pic>
        <p:nvPicPr>
          <p:cNvPr id="21" name="Image 1" descr="Left arrow key"/>
          <p:cNvPicPr>
            <a:picLocks noChangeAspect="1"/>
          </p:cNvPicPr>
          <p:nvPr/>
        </p:nvPicPr>
        <p:blipFill>
          <a:blip r:embed="rId5"/>
          <a:stretch>
            <a:fillRect/>
          </a:stretch>
        </p:blipFill>
        <p:spPr>
          <a:xfrm>
            <a:off x="5134356" y="2071116"/>
            <a:ext cx="155448" cy="155448"/>
          </a:xfrm>
          <a:prstGeom prst="rect">
            <a:avLst/>
          </a:prstGeom>
        </p:spPr>
      </p:pic>
      <p:pic>
        <p:nvPicPr>
          <p:cNvPr id="22" name="Image 2" descr="Right arrow key"/>
          <p:cNvPicPr>
            <a:picLocks noChangeAspect="1"/>
          </p:cNvPicPr>
          <p:nvPr/>
        </p:nvPicPr>
        <p:blipFill>
          <a:blip r:embed="rId6"/>
          <a:stretch>
            <a:fillRect/>
          </a:stretch>
        </p:blipFill>
        <p:spPr>
          <a:xfrm>
            <a:off x="5362956" y="2071116"/>
            <a:ext cx="155448" cy="155448"/>
          </a:xfrm>
          <a:prstGeom prst="rect">
            <a:avLst/>
          </a:prstGeom>
        </p:spPr>
      </p:pic>
      <p:sp>
        <p:nvSpPr>
          <p:cNvPr id="23" name="Text 18"/>
          <p:cNvSpPr/>
          <p:nvPr/>
        </p:nvSpPr>
        <p:spPr>
          <a:xfrm>
            <a:off x="5897880" y="2011680"/>
            <a:ext cx="2651760" cy="274320"/>
          </a:xfrm>
          <a:prstGeom prst="rect">
            <a:avLst/>
          </a:prstGeom>
          <a:noFill/>
          <a:ln/>
        </p:spPr>
        <p:txBody>
          <a:bodyPr wrap="square" lIns="0" tIns="0" rIns="0" bIns="0" rtlCol="0" anchor="ctr"/>
          <a:lstStyle/>
          <a:p>
            <a:pPr marL="0" indent="0">
              <a:buNone/>
            </a:pPr>
            <a:r>
              <a:rPr lang="en-US" sz="1400" dirty="0">
                <a:solidFill>
                  <a:srgbClr val="ECE9F8"/>
                </a:solidFill>
                <a:latin typeface="Segoe UI" pitchFamily="34" charset="0"/>
                <a:ea typeface="Segoe UI" pitchFamily="34" charset="-122"/>
                <a:cs typeface="Segoe UI" pitchFamily="34" charset="-120"/>
              </a:rPr>
              <a:t>Steer</a:t>
            </a:r>
            <a:endParaRPr lang="en-US" sz="1400" dirty="0"/>
          </a:p>
        </p:txBody>
      </p:sp>
      <p:sp>
        <p:nvSpPr>
          <p:cNvPr id="24" name="Shape 19"/>
          <p:cNvSpPr/>
          <p:nvPr/>
        </p:nvSpPr>
        <p:spPr>
          <a:xfrm>
            <a:off x="4937760" y="2432304"/>
            <a:ext cx="777240" cy="274320"/>
          </a:xfrm>
          <a:prstGeom prst="roundRect">
            <a:avLst>
              <a:gd name="adj" fmla="val 20000"/>
            </a:avLst>
          </a:prstGeom>
          <a:solidFill>
            <a:srgbClr val="1A1740"/>
          </a:solidFill>
          <a:ln w="12700">
            <a:solidFill>
              <a:srgbClr val="36316A"/>
            </a:solidFill>
            <a:prstDash val="solid"/>
          </a:ln>
        </p:spPr>
        <p:txBody>
          <a:bodyPr/>
          <a:lstStyle/>
          <a:p>
            <a:endParaRPr lang="en-ZA"/>
          </a:p>
        </p:txBody>
      </p:sp>
      <p:pic>
        <p:nvPicPr>
          <p:cNvPr id="25" name="Image 3" descr="Up arrow key"/>
          <p:cNvPicPr>
            <a:picLocks noChangeAspect="1"/>
          </p:cNvPicPr>
          <p:nvPr/>
        </p:nvPicPr>
        <p:blipFill>
          <a:blip r:embed="rId7"/>
          <a:stretch>
            <a:fillRect/>
          </a:stretch>
        </p:blipFill>
        <p:spPr>
          <a:xfrm>
            <a:off x="5248656" y="2491740"/>
            <a:ext cx="155448" cy="155448"/>
          </a:xfrm>
          <a:prstGeom prst="rect">
            <a:avLst/>
          </a:prstGeom>
        </p:spPr>
      </p:pic>
      <p:sp>
        <p:nvSpPr>
          <p:cNvPr id="26" name="Text 20"/>
          <p:cNvSpPr/>
          <p:nvPr/>
        </p:nvSpPr>
        <p:spPr>
          <a:xfrm>
            <a:off x="5897880" y="2432304"/>
            <a:ext cx="2651760" cy="274320"/>
          </a:xfrm>
          <a:prstGeom prst="rect">
            <a:avLst/>
          </a:prstGeom>
          <a:noFill/>
          <a:ln/>
        </p:spPr>
        <p:txBody>
          <a:bodyPr wrap="square" lIns="0" tIns="0" rIns="0" bIns="0" rtlCol="0" anchor="ctr"/>
          <a:lstStyle/>
          <a:p>
            <a:pPr marL="0" indent="0">
              <a:buNone/>
            </a:pPr>
            <a:r>
              <a:rPr lang="en-US" sz="1400" dirty="0">
                <a:solidFill>
                  <a:srgbClr val="ECE9F8"/>
                </a:solidFill>
                <a:latin typeface="Segoe UI" pitchFamily="34" charset="0"/>
                <a:ea typeface="Segoe UI" pitchFamily="34" charset="-122"/>
                <a:cs typeface="Segoe UI" pitchFamily="34" charset="-120"/>
              </a:rPr>
              <a:t>Throttle</a:t>
            </a:r>
            <a:endParaRPr lang="en-US" sz="1400" dirty="0"/>
          </a:p>
        </p:txBody>
      </p:sp>
      <p:sp>
        <p:nvSpPr>
          <p:cNvPr id="27" name="Shape 21"/>
          <p:cNvSpPr/>
          <p:nvPr/>
        </p:nvSpPr>
        <p:spPr>
          <a:xfrm>
            <a:off x="4937760" y="2852928"/>
            <a:ext cx="777240" cy="274320"/>
          </a:xfrm>
          <a:prstGeom prst="roundRect">
            <a:avLst>
              <a:gd name="adj" fmla="val 20000"/>
            </a:avLst>
          </a:prstGeom>
          <a:solidFill>
            <a:srgbClr val="1A1740"/>
          </a:solidFill>
          <a:ln w="12700">
            <a:solidFill>
              <a:srgbClr val="36316A"/>
            </a:solidFill>
            <a:prstDash val="solid"/>
          </a:ln>
        </p:spPr>
        <p:txBody>
          <a:bodyPr/>
          <a:lstStyle/>
          <a:p>
            <a:endParaRPr lang="en-ZA"/>
          </a:p>
        </p:txBody>
      </p:sp>
      <p:pic>
        <p:nvPicPr>
          <p:cNvPr id="28" name="Image 4" descr="Down arrow key"/>
          <p:cNvPicPr>
            <a:picLocks noChangeAspect="1"/>
          </p:cNvPicPr>
          <p:nvPr/>
        </p:nvPicPr>
        <p:blipFill>
          <a:blip r:embed="rId8"/>
          <a:stretch>
            <a:fillRect/>
          </a:stretch>
        </p:blipFill>
        <p:spPr>
          <a:xfrm>
            <a:off x="5248656" y="2912364"/>
            <a:ext cx="155448" cy="155448"/>
          </a:xfrm>
          <a:prstGeom prst="rect">
            <a:avLst/>
          </a:prstGeom>
        </p:spPr>
      </p:pic>
      <p:sp>
        <p:nvSpPr>
          <p:cNvPr id="29" name="Text 22"/>
          <p:cNvSpPr/>
          <p:nvPr/>
        </p:nvSpPr>
        <p:spPr>
          <a:xfrm>
            <a:off x="5897880" y="2852928"/>
            <a:ext cx="2651760" cy="274320"/>
          </a:xfrm>
          <a:prstGeom prst="rect">
            <a:avLst/>
          </a:prstGeom>
          <a:noFill/>
          <a:ln/>
        </p:spPr>
        <p:txBody>
          <a:bodyPr wrap="square" lIns="0" tIns="0" rIns="0" bIns="0" rtlCol="0" anchor="ctr"/>
          <a:lstStyle/>
          <a:p>
            <a:pPr marL="0" indent="0">
              <a:buNone/>
            </a:pPr>
            <a:r>
              <a:rPr lang="en-US" sz="1400" dirty="0">
                <a:solidFill>
                  <a:srgbClr val="ECE9F8"/>
                </a:solidFill>
                <a:latin typeface="Segoe UI" pitchFamily="34" charset="0"/>
                <a:ea typeface="Segoe UI" pitchFamily="34" charset="-122"/>
                <a:cs typeface="Segoe UI" pitchFamily="34" charset="-120"/>
              </a:rPr>
              <a:t>Brake</a:t>
            </a:r>
            <a:endParaRPr lang="en-US" sz="1400" dirty="0"/>
          </a:p>
        </p:txBody>
      </p:sp>
      <p:sp>
        <p:nvSpPr>
          <p:cNvPr id="30" name="Shape 23"/>
          <p:cNvSpPr/>
          <p:nvPr/>
        </p:nvSpPr>
        <p:spPr>
          <a:xfrm>
            <a:off x="4937760" y="3273552"/>
            <a:ext cx="777240" cy="274320"/>
          </a:xfrm>
          <a:prstGeom prst="roundRect">
            <a:avLst>
              <a:gd name="adj" fmla="val 20000"/>
            </a:avLst>
          </a:prstGeom>
          <a:solidFill>
            <a:srgbClr val="1A1740"/>
          </a:solidFill>
          <a:ln w="12700">
            <a:solidFill>
              <a:srgbClr val="36316A"/>
            </a:solidFill>
            <a:prstDash val="solid"/>
          </a:ln>
        </p:spPr>
        <p:txBody>
          <a:bodyPr/>
          <a:lstStyle/>
          <a:p>
            <a:endParaRPr lang="en-ZA"/>
          </a:p>
        </p:txBody>
      </p:sp>
      <p:sp>
        <p:nvSpPr>
          <p:cNvPr id="31" name="Text 24"/>
          <p:cNvSpPr/>
          <p:nvPr/>
        </p:nvSpPr>
        <p:spPr>
          <a:xfrm>
            <a:off x="4937760" y="3273552"/>
            <a:ext cx="777240" cy="274320"/>
          </a:xfrm>
          <a:prstGeom prst="rect">
            <a:avLst/>
          </a:prstGeom>
          <a:noFill/>
          <a:ln/>
        </p:spPr>
        <p:txBody>
          <a:bodyPr wrap="square" lIns="0" tIns="0" rIns="0" bIns="0" rtlCol="0" anchor="ctr"/>
          <a:lstStyle/>
          <a:p>
            <a:pPr marL="0" indent="0" algn="ctr">
              <a:buNone/>
            </a:pPr>
            <a:r>
              <a:rPr lang="en-US" sz="1200" dirty="0">
                <a:solidFill>
                  <a:srgbClr val="ECE9F8"/>
                </a:solidFill>
                <a:latin typeface="Segoe UI Semibold" pitchFamily="34" charset="0"/>
                <a:ea typeface="Segoe UI Semibold" pitchFamily="34" charset="-122"/>
                <a:cs typeface="Segoe UI Semibold" pitchFamily="34" charset="-120"/>
              </a:rPr>
              <a:t>Space</a:t>
            </a:r>
            <a:endParaRPr lang="en-US" sz="1200" dirty="0"/>
          </a:p>
        </p:txBody>
      </p:sp>
      <p:sp>
        <p:nvSpPr>
          <p:cNvPr id="32" name="Text 25"/>
          <p:cNvSpPr/>
          <p:nvPr/>
        </p:nvSpPr>
        <p:spPr>
          <a:xfrm>
            <a:off x="5897880" y="3273552"/>
            <a:ext cx="2651760" cy="274320"/>
          </a:xfrm>
          <a:prstGeom prst="rect">
            <a:avLst/>
          </a:prstGeom>
          <a:noFill/>
          <a:ln/>
        </p:spPr>
        <p:txBody>
          <a:bodyPr wrap="square" lIns="0" tIns="0" rIns="0" bIns="0" rtlCol="0" anchor="ctr"/>
          <a:lstStyle/>
          <a:p>
            <a:pPr marL="0" indent="0">
              <a:buNone/>
            </a:pPr>
            <a:r>
              <a:rPr lang="en-US" sz="1400" dirty="0">
                <a:solidFill>
                  <a:srgbClr val="ECE9F8"/>
                </a:solidFill>
                <a:latin typeface="Segoe UI" pitchFamily="34" charset="0"/>
                <a:ea typeface="Segoe UI" pitchFamily="34" charset="-122"/>
                <a:cs typeface="Segoe UI" pitchFamily="34" charset="-120"/>
              </a:rPr>
              <a:t>Nitro</a:t>
            </a:r>
            <a:endParaRPr lang="en-US" sz="1400" dirty="0"/>
          </a:p>
        </p:txBody>
      </p:sp>
      <p:sp>
        <p:nvSpPr>
          <p:cNvPr id="33" name="Shape 26"/>
          <p:cNvSpPr/>
          <p:nvPr/>
        </p:nvSpPr>
        <p:spPr>
          <a:xfrm>
            <a:off x="4937760" y="3694176"/>
            <a:ext cx="777240" cy="274320"/>
          </a:xfrm>
          <a:prstGeom prst="roundRect">
            <a:avLst>
              <a:gd name="adj" fmla="val 20000"/>
            </a:avLst>
          </a:prstGeom>
          <a:solidFill>
            <a:srgbClr val="1A1740"/>
          </a:solidFill>
          <a:ln w="12700">
            <a:solidFill>
              <a:srgbClr val="36316A"/>
            </a:solidFill>
            <a:prstDash val="solid"/>
          </a:ln>
        </p:spPr>
        <p:txBody>
          <a:bodyPr/>
          <a:lstStyle/>
          <a:p>
            <a:endParaRPr lang="en-ZA"/>
          </a:p>
        </p:txBody>
      </p:sp>
      <p:sp>
        <p:nvSpPr>
          <p:cNvPr id="34" name="Text 27"/>
          <p:cNvSpPr/>
          <p:nvPr/>
        </p:nvSpPr>
        <p:spPr>
          <a:xfrm>
            <a:off x="4937760" y="3694176"/>
            <a:ext cx="777240" cy="274320"/>
          </a:xfrm>
          <a:prstGeom prst="rect">
            <a:avLst/>
          </a:prstGeom>
          <a:noFill/>
          <a:ln/>
        </p:spPr>
        <p:txBody>
          <a:bodyPr wrap="square" lIns="0" tIns="0" rIns="0" bIns="0" rtlCol="0" anchor="ctr"/>
          <a:lstStyle/>
          <a:p>
            <a:pPr marL="0" indent="0" algn="ctr">
              <a:buNone/>
            </a:pPr>
            <a:r>
              <a:rPr lang="en-US" sz="1200" dirty="0">
                <a:solidFill>
                  <a:srgbClr val="ECE9F8"/>
                </a:solidFill>
                <a:latin typeface="Segoe UI Semibold" pitchFamily="34" charset="0"/>
                <a:ea typeface="Segoe UI Semibold" pitchFamily="34" charset="-122"/>
                <a:cs typeface="Segoe UI Semibold" pitchFamily="34" charset="-120"/>
              </a:rPr>
              <a:t>L</a:t>
            </a:r>
            <a:endParaRPr lang="en-US" sz="1200" dirty="0"/>
          </a:p>
        </p:txBody>
      </p:sp>
      <p:sp>
        <p:nvSpPr>
          <p:cNvPr id="35" name="Text 28"/>
          <p:cNvSpPr/>
          <p:nvPr/>
        </p:nvSpPr>
        <p:spPr>
          <a:xfrm>
            <a:off x="5897880" y="3694176"/>
            <a:ext cx="2651760" cy="274320"/>
          </a:xfrm>
          <a:prstGeom prst="rect">
            <a:avLst/>
          </a:prstGeom>
          <a:noFill/>
          <a:ln/>
        </p:spPr>
        <p:txBody>
          <a:bodyPr wrap="square" lIns="0" tIns="0" rIns="0" bIns="0" rtlCol="0" anchor="ctr"/>
          <a:lstStyle/>
          <a:p>
            <a:pPr marL="0" indent="0">
              <a:buNone/>
            </a:pPr>
            <a:r>
              <a:rPr lang="en-US" sz="1400" dirty="0">
                <a:solidFill>
                  <a:srgbClr val="ECE9F8"/>
                </a:solidFill>
                <a:latin typeface="Segoe UI" pitchFamily="34" charset="0"/>
                <a:ea typeface="Segoe UI" pitchFamily="34" charset="-122"/>
                <a:cs typeface="Segoe UI" pitchFamily="34" charset="-120"/>
              </a:rPr>
              <a:t>AI decision tags</a:t>
            </a:r>
            <a:endParaRPr lang="en-US" sz="1400" dirty="0"/>
          </a:p>
        </p:txBody>
      </p:sp>
      <p:pic>
        <p:nvPicPr>
          <p:cNvPr id="36" name="Image 5" descr="GitHub icon"/>
          <p:cNvPicPr>
            <a:picLocks noChangeAspect="1"/>
          </p:cNvPicPr>
          <p:nvPr/>
        </p:nvPicPr>
        <p:blipFill>
          <a:blip r:embed="rId9"/>
          <a:stretch>
            <a:fillRect/>
          </a:stretch>
        </p:blipFill>
        <p:spPr>
          <a:xfrm>
            <a:off x="548640" y="4233672"/>
            <a:ext cx="219456" cy="219456"/>
          </a:xfrm>
          <a:prstGeom prst="rect">
            <a:avLst/>
          </a:prstGeom>
        </p:spPr>
      </p:pic>
      <p:sp>
        <p:nvSpPr>
          <p:cNvPr id="37" name="Text 29"/>
          <p:cNvSpPr/>
          <p:nvPr/>
        </p:nvSpPr>
        <p:spPr>
          <a:xfrm>
            <a:off x="859536" y="4206240"/>
            <a:ext cx="3529584" cy="274320"/>
          </a:xfrm>
          <a:prstGeom prst="rect">
            <a:avLst/>
          </a:prstGeom>
          <a:noFill/>
          <a:ln/>
        </p:spPr>
        <p:txBody>
          <a:bodyPr wrap="square" lIns="0" tIns="0" rIns="0" bIns="0" rtlCol="0" anchor="ctr"/>
          <a:lstStyle/>
          <a:p>
            <a:pPr marL="0" indent="0">
              <a:buNone/>
            </a:pPr>
            <a:r>
              <a:rPr lang="en-US" sz="1300" dirty="0">
                <a:solidFill>
                  <a:srgbClr val="ECE9F8"/>
                </a:solidFill>
                <a:latin typeface="Segoe UI Semibold" pitchFamily="34" charset="0"/>
                <a:ea typeface="Segoe UI Semibold" pitchFamily="34" charset="-122"/>
                <a:cs typeface="Segoe UI Semibold" pitchFamily="34" charset="-120"/>
              </a:rPr>
              <a:t>github.com/roryp/racing</a:t>
            </a:r>
            <a:endParaRPr lang="en-US" sz="1300" dirty="0"/>
          </a:p>
        </p:txBody>
      </p:sp>
      <p:sp>
        <p:nvSpPr>
          <p:cNvPr id="38" name="Shape 30">
            <a:hlinkClick r:id="rId10" tooltip="Open the repository"/>
          </p:cNvPr>
          <p:cNvSpPr/>
          <p:nvPr/>
        </p:nvSpPr>
        <p:spPr>
          <a:xfrm>
            <a:off x="548640" y="4206240"/>
            <a:ext cx="2423160" cy="274320"/>
          </a:xfrm>
          <a:prstGeom prst="rect">
            <a:avLst/>
          </a:prstGeom>
          <a:solidFill>
            <a:srgbClr val="07071A">
              <a:alpha val="0"/>
            </a:srgbClr>
          </a:solidFill>
          <a:ln/>
        </p:spPr>
        <p:txBody>
          <a:bodyPr/>
          <a:lstStyle/>
          <a:p>
            <a:endParaRPr lang="en-ZA"/>
          </a:p>
        </p:txBody>
      </p:sp>
      <p:sp>
        <p:nvSpPr>
          <p:cNvPr id="39" name="Text 31"/>
          <p:cNvSpPr/>
          <p:nvPr/>
        </p:nvSpPr>
        <p:spPr>
          <a:xfrm>
            <a:off x="4937760" y="4206240"/>
            <a:ext cx="3657600" cy="274320"/>
          </a:xfrm>
          <a:prstGeom prst="rect">
            <a:avLst/>
          </a:prstGeom>
          <a:noFill/>
          <a:ln/>
        </p:spPr>
        <p:txBody>
          <a:bodyPr wrap="square" lIns="0" tIns="0" rIns="0" bIns="0" rtlCol="0" anchor="ctr"/>
          <a:lstStyle/>
          <a:p>
            <a:pPr marL="0" indent="0">
              <a:buNone/>
            </a:pPr>
            <a:r>
              <a:rPr lang="en-US" sz="1200" dirty="0">
                <a:solidFill>
                  <a:srgbClr val="ABA6C8"/>
                </a:solidFill>
                <a:latin typeface="Segoe UI" pitchFamily="34" charset="0"/>
                <a:ea typeface="Segoe UI" pitchFamily="34" charset="-122"/>
                <a:cs typeface="Segoe UI" pitchFamily="34" charset="-120"/>
              </a:rPr>
              <a:t>Phones and tablets get touch controls.</a:t>
            </a:r>
            <a:endParaRPr lang="en-US" sz="1200" dirty="0"/>
          </a:p>
        </p:txBody>
      </p:sp>
      <p:sp>
        <p:nvSpPr>
          <p:cNvPr id="40" name="Text 32"/>
          <p:cNvSpPr txBox="1"/>
          <p:nvPr/>
        </p:nvSpPr>
        <p:spPr>
          <a:xfrm>
            <a:off x="548640" y="1691640"/>
            <a:ext cx="5900000" cy="292608"/>
          </a:xfrm>
          <a:prstGeom prst="rect">
            <a:avLst/>
          </a:prstGeom>
          <a:noFill/>
          <a:ln/>
        </p:spPr>
        <p:txBody>
          <a:bodyPr wrap="none" lIns="0" tIns="0" rIns="0" bIns="0" rtlCol="0" anchor="ctr"/>
          <a:lstStyle/>
          <a:p>
            <a:pPr marL="0" indent="0">
              <a:buNone/>
            </a:pPr>
            <a:r>
              <a:rPr lang="en-US" sz="1000" b="1" dirty="0">
                <a:solidFill>
                  <a:srgbClr val="FFD166"/>
                </a:solidFill>
                <a:latin typeface="Segoe UI Semibold" pitchFamily="34" charset="0"/>
                <a:ea typeface="Segoe UI Semibold" pitchFamily="34" charset="-122"/>
                <a:cs typeface="Segoe UI Semibold" pitchFamily="34" charset="-120"/>
              </a:rPr>
              <a:t>FUTURE PROJECT</a:t>
            </a:r>
            <a:r>
              <a:rPr lang="en-US" sz="1200" dirty="0">
                <a:solidFill>
                  <a:srgbClr val="ABA6C8"/>
                </a:solidFill>
                <a:latin typeface="Segoe UI" pitchFamily="34" charset="0"/>
                <a:ea typeface="Segoe UI" pitchFamily="34" charset="-122"/>
                <a:cs typeface="Segoe UI" pitchFamily="34" charset="-120"/>
              </a:rPr>
              <a:t>  ·  </a:t>
            </a:r>
            <a:r>
              <a:rPr lang="en-US" sz="1500" b="1" dirty="0">
                <a:solidFill>
                  <a:srgbClr val="ECE9F8"/>
                </a:solidFill>
                <a:latin typeface="Segoe UI Semibold" pitchFamily="34" charset="0"/>
                <a:ea typeface="Segoe UI Semibold" pitchFamily="34" charset="-122"/>
                <a:cs typeface="Segoe UI Semibold" pitchFamily="34" charset="-120"/>
              </a:rPr>
              <a:t>Build a coordinated AI-driver swarm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18</TotalTime>
  <Words>4312</Words>
  <Application>Microsoft Office PowerPoint</Application>
  <PresentationFormat>On-screen Show (16:9)</PresentationFormat>
  <Paragraphs>316</Paragraphs>
  <Slides>16</Slides>
  <Notes>13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Consolas</vt:lpstr>
      <vt:lpstr>Segoe UI</vt:lpstr>
      <vt:lpstr>Segoe UI Black</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LUNA GP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LUNA GP</dc:title>
  <dc:subject>How LUNA GP uses Microsoft-Decision-1</dc:subject>
  <dc:creator>LUNA GP</dc:creator>
  <cp:lastModifiedBy>Rory Preddy</cp:lastModifiedBy>
  <cp:revision>4</cp:revision>
  <dcterms:created xsi:type="dcterms:W3CDTF">2026-10-27T19:13:30Z</dcterms:created>
  <dcterms:modified xsi:type="dcterms:W3CDTF">2026-10-29T08:29:25Z</dcterms:modified>
</cp:coreProperties>
</file>