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LUNA GP is a pseudo-3D night-time arcade racer. You drive; every rival driver, the race stewards and the post-race debrief are powered by Microsoft-Decision-1 on Microsoft Foundry. This deck is about how the game uses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of work: the player drives, the game engine handles rendering and physics at a fixed 60 Hz step, and the model only makes decisions: the five rivals' tactics, Race Control rulings and the post-race debrief.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LUNA GP uses a deployment named decision-1-dz (DataZoneStandard, 500 requests per minute). The request's model field is the deployment name; the response names the underlying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(here 0.15 + 1.0 + 0.75 = 1.90), so it can fall between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noul is the yes/no type: the request has only instructions (criteria with true/false definitions are optional; LUNA GP doesn't send them) and the answer is one probability. The model never decides to fire: each rival compares p with its personality threshold (aggressive and wildcard 0.50, defensive 0.60, tactical and smooth 0.65), so the same answer of 0.62 fires three cars and holds two. A boost also needs at least 34% of the tank. The debrief's clean_racer question is a noul too. Internally the game builds OpenAI-style 'predicate' questions and lib/decisions.js maps them to noul.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the game makes. Five rivals ask maneuver/pace/nitro in one request, about every 0.65 to 1.05 s in traffic and 1.4 to 1.8 s otherwise. The pace score sets target speed (then scaled for corners). Race Control asks two questions on each contact with the player (at most once every 4 s per rival) and penalizes the responsible driver when the model is at least 60% sure and severity is at least 0.8. The debrief's driver_of_the_day options are generated per race, one per driver. All policies (thresholds, penalties, the speed formula) live in game code, not in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rival request, as lib/decisions.js sends it. model is the deployment name; the response's model names the underlying model. state is a few lines of plain text the server writes from validated telemetry (personality, lap, gaps, speed, nitro tank, track ahead, neighbours). Questions are keyed by name and answers come back under the same names; usage reports input and output tokens. A rival decision is about 600 input tokens. Instructions and criteria are abbreviated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rival decision. The browser posts validated telemetry to /api/rival (4 s timeout). The server builds the state and three questions, attaches a cached Entra ID bearer token and calls the systemone endpoint (8 s timeout). It maps the answers, adds latency and token counts, and returns maneuver, pace and nitro p. The browser steers, sets speed and gates nitro. On an error, timeout or 429, that rival uses a local heuristic with the same answer shape. Source: docs/images/decision-sequence.excalidraw.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Race Control and the debrief get longer browser timeouts (9 s and 12 s). Answers are applied per question, so one refused or invalid answer only falls back for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Microsoft-Decision-1 is billed per token at $0.04 per million. A rival decision is about 600 input tokens and a race makes roughly 250 to 300 rival calls a minute, so racing costs about half a cent per minute. A DataZoneStandard deployment with capacity 500 allows 500 requests per minute: one or two simultaneous races. For more, add deployments in other quota pools or request more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Requirements: Node.js 20+ and, for AI rivals, FOUNDRY_ENDPOINT plus an Azure CLI login with access to the Foundry resource. Without it the game still runs with offline heuristics. P or Esc pauses, M mutes.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6" Type="http://schemas.openxmlformats.org/officeDocument/2006/relationships/hyperlink" Target="https://github.com/roryp/racing" TargetMode="External"/><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685800" y="548640"/>
            <a:ext cx="36576" cy="36576"/>
          </a:xfrm>
          <a:prstGeom prst="ellipse">
            <a:avLst/>
          </a:prstGeom>
          <a:solidFill>
            <a:srgbClr val="FFFFFF">
              <a:alpha val="60000"/>
            </a:srgbClr>
          </a:solidFill>
          <a:ln/>
        </p:spPr>
      </p:sp>
      <p:sp>
        <p:nvSpPr>
          <p:cNvPr id="3" name="Shape 1"/>
          <p:cNvSpPr/>
          <p:nvPr/>
        </p:nvSpPr>
        <p:spPr>
          <a:xfrm>
            <a:off x="1920240" y="868680"/>
            <a:ext cx="27432" cy="27432"/>
          </a:xfrm>
          <a:prstGeom prst="ellipse">
            <a:avLst/>
          </a:prstGeom>
          <a:solidFill>
            <a:srgbClr val="FFFFFF">
              <a:alpha val="45000"/>
            </a:srgbClr>
          </a:solidFill>
          <a:ln/>
        </p:spPr>
      </p:sp>
      <p:sp>
        <p:nvSpPr>
          <p:cNvPr id="4" name="Shape 2"/>
          <p:cNvSpPr/>
          <p:nvPr/>
        </p:nvSpPr>
        <p:spPr>
          <a:xfrm>
            <a:off x="3108960" y="566928"/>
            <a:ext cx="32004" cy="32004"/>
          </a:xfrm>
          <a:prstGeom prst="ellipse">
            <a:avLst/>
          </a:prstGeom>
          <a:solidFill>
            <a:srgbClr val="FFFFFF">
              <a:alpha val="50000"/>
            </a:srgbClr>
          </a:solidFill>
          <a:ln/>
        </p:spPr>
      </p:sp>
      <p:sp>
        <p:nvSpPr>
          <p:cNvPr id="5" name="Shape 3"/>
          <p:cNvSpPr/>
          <p:nvPr/>
        </p:nvSpPr>
        <p:spPr>
          <a:xfrm>
            <a:off x="4206240" y="777240"/>
            <a:ext cx="27432" cy="27432"/>
          </a:xfrm>
          <a:prstGeom prst="ellipse">
            <a:avLst/>
          </a:prstGeom>
          <a:solidFill>
            <a:srgbClr val="FFFFFF">
              <a:alpha val="40000"/>
            </a:srgbClr>
          </a:solidFill>
          <a:ln/>
        </p:spPr>
      </p:sp>
      <p:sp>
        <p:nvSpPr>
          <p:cNvPr id="6" name="Shape 4"/>
          <p:cNvSpPr/>
          <p:nvPr/>
        </p:nvSpPr>
        <p:spPr>
          <a:xfrm>
            <a:off x="5029200" y="548640"/>
            <a:ext cx="36576" cy="36576"/>
          </a:xfrm>
          <a:prstGeom prst="ellipse">
            <a:avLst/>
          </a:prstGeom>
          <a:solidFill>
            <a:srgbClr val="FFFFFF">
              <a:alpha val="55000"/>
            </a:srgbClr>
          </a:solidFill>
          <a:ln/>
        </p:spPr>
      </p:sp>
      <p:sp>
        <p:nvSpPr>
          <p:cNvPr id="7" name="Shape 5"/>
          <p:cNvSpPr/>
          <p:nvPr/>
        </p:nvSpPr>
        <p:spPr>
          <a:xfrm>
            <a:off x="8503920" y="594360"/>
            <a:ext cx="27432" cy="27432"/>
          </a:xfrm>
          <a:prstGeom prst="ellipse">
            <a:avLst/>
          </a:prstGeom>
          <a:solidFill>
            <a:srgbClr val="FFFFFF">
              <a:alpha val="50000"/>
            </a:srgbClr>
          </a:solidFill>
          <a:ln/>
        </p:spPr>
      </p:sp>
      <p:sp>
        <p:nvSpPr>
          <p:cNvPr id="8" name="Shape 6"/>
          <p:cNvSpPr/>
          <p:nvPr/>
        </p:nvSpPr>
        <p:spPr>
          <a:xfrm>
            <a:off x="8595360" y="3611880"/>
            <a:ext cx="32004" cy="32004"/>
          </a:xfrm>
          <a:prstGeom prst="ellipse">
            <a:avLst/>
          </a:prstGeom>
          <a:solidFill>
            <a:srgbClr val="FFFFFF">
              <a:alpha val="55000"/>
            </a:srgbClr>
          </a:solidFill>
          <a:ln/>
        </p:spPr>
      </p:sp>
      <p:sp>
        <p:nvSpPr>
          <p:cNvPr id="9" name="Shape 7"/>
          <p:cNvSpPr/>
          <p:nvPr/>
        </p:nvSpPr>
        <p:spPr>
          <a:xfrm>
            <a:off x="5577840" y="4160520"/>
            <a:ext cx="27432" cy="27432"/>
          </a:xfrm>
          <a:prstGeom prst="ellipse">
            <a:avLst/>
          </a:prstGeom>
          <a:solidFill>
            <a:srgbClr val="FFFFFF">
              <a:alpha val="40000"/>
            </a:srgbClr>
          </a:solidFill>
          <a:ln/>
        </p:spPr>
      </p:sp>
      <p:sp>
        <p:nvSpPr>
          <p:cNvPr id="10" name="Shape 8"/>
          <p:cNvSpPr/>
          <p:nvPr/>
        </p:nvSpPr>
        <p:spPr>
          <a:xfrm>
            <a:off x="7863840" y="4526280"/>
            <a:ext cx="32004" cy="32004"/>
          </a:xfrm>
          <a:prstGeom prst="ellipse">
            <a:avLst/>
          </a:prstGeom>
          <a:solidFill>
            <a:srgbClr val="FFFFFF">
              <a:alpha val="50000"/>
            </a:srgbClr>
          </a:solidFill>
          <a:ln/>
        </p:spPr>
      </p:sp>
      <p:sp>
        <p:nvSpPr>
          <p:cNvPr id="11" name="Shape 9"/>
          <p:cNvSpPr/>
          <p:nvPr/>
        </p:nvSpPr>
        <p:spPr>
          <a:xfrm>
            <a:off x="4480560" y="3977640"/>
            <a:ext cx="27432" cy="27432"/>
          </a:xfrm>
          <a:prstGeom prst="ellipse">
            <a:avLst/>
          </a:prstGeom>
          <a:solidFill>
            <a:srgbClr val="FFFFFF">
              <a:alpha val="45000"/>
            </a:srgbClr>
          </a:solidFill>
          <a:ln/>
        </p:spPr>
      </p:sp>
      <p:sp>
        <p:nvSpPr>
          <p:cNvPr id="12" name="Shape 10"/>
          <p:cNvSpPr/>
          <p:nvPr/>
        </p:nvSpPr>
        <p:spPr>
          <a:xfrm>
            <a:off x="2651760" y="3840480"/>
            <a:ext cx="22860" cy="22860"/>
          </a:xfrm>
          <a:prstGeom prst="ellipse">
            <a:avLst/>
          </a:prstGeom>
          <a:solidFill>
            <a:srgbClr val="FFFFFF">
              <a:alpha val="40000"/>
            </a:srgbClr>
          </a:solidFill>
          <a:ln/>
        </p:spPr>
      </p:sp>
      <p:sp>
        <p:nvSpPr>
          <p:cNvPr id="13" name="Shape 11"/>
          <p:cNvSpPr/>
          <p:nvPr/>
        </p:nvSpPr>
        <p:spPr>
          <a:xfrm>
            <a:off x="1097280" y="3794760"/>
            <a:ext cx="27432" cy="27432"/>
          </a:xfrm>
          <a:prstGeom prst="ellipse">
            <a:avLst/>
          </a:prstGeom>
          <a:solidFill>
            <a:srgbClr val="FFFFFF">
              <a:alpha val="50000"/>
            </a:srgbClr>
          </a:solidFill>
          <a:ln/>
        </p:spPr>
      </p:sp>
      <p:pic>
        <p:nvPicPr>
          <p:cNvPr id="14" name="Image 0" descr="Moon">    </p:cNvPr>
          <p:cNvPicPr>
            <a:picLocks noChangeAspect="1"/>
          </p:cNvPicPr>
          <p:nvPr/>
        </p:nvPicPr>
        <p:blipFill>
          <a:blip r:embed="rId1"/>
          <a:stretch>
            <a:fillRect/>
          </a:stretch>
        </p:blipFill>
        <p:spPr>
          <a:xfrm>
            <a:off x="4997196" y="379476"/>
            <a:ext cx="3995928" cy="3995928"/>
          </a:xfrm>
          <a:prstGeom prst="rect">
            <a:avLst/>
          </a:prstGeom>
        </p:spPr>
      </p:pic>
      <p:sp>
        <p:nvSpPr>
          <p:cNvPr id="15" name="Text 12"/>
          <p:cNvSpPr/>
          <p:nvPr/>
        </p:nvSpPr>
        <p:spPr>
          <a:xfrm>
            <a:off x="548640" y="1280160"/>
            <a:ext cx="4937760" cy="1188720"/>
          </a:xfrm>
          <a:prstGeom prst="rect">
            <a:avLst/>
          </a:prstGeom>
          <a:noFill/>
          <a:ln/>
        </p:spPr>
        <p:txBody>
          <a:bodyPr wrap="square" lIns="0" tIns="0" rIns="0" bIns="0" rtlCol="0" anchor="ctr"/>
          <a:lstStyle/>
          <a:p>
            <a:pPr indent="0" marL="0">
              <a:buNone/>
            </a:pPr>
            <a:r>
              <a:rPr lang="en-US" sz="7200" i="1" dirty="0">
                <a:solidFill>
                  <a:srgbClr val="FFD166"/>
                </a:solidFill>
                <a:latin typeface="Segoe UI Black" pitchFamily="34" charset="0"/>
                <a:ea typeface="Segoe UI Black" pitchFamily="34" charset="-122"/>
                <a:cs typeface="Segoe UI Black" pitchFamily="34" charset="-120"/>
              </a:rPr>
              <a:t>LUNA</a:t>
            </a:r>
            <a:pPr indent="0" marL="0">
              <a:buNone/>
            </a:pPr>
            <a:r>
              <a:rPr lang="en-US" sz="7200" i="1" dirty="0">
                <a:solidFill>
                  <a:srgbClr val="3DD6FF"/>
                </a:solidFill>
                <a:latin typeface="Segoe UI Black" pitchFamily="34" charset="0"/>
                <a:ea typeface="Segoe UI Black" pitchFamily="34" charset="-122"/>
                <a:cs typeface="Segoe UI Black" pitchFamily="34" charset="-120"/>
              </a:rPr>
              <a:t> GP</a:t>
            </a:r>
            <a:endParaRPr lang="en-US" sz="7200" dirty="0"/>
          </a:p>
        </p:txBody>
      </p:sp>
      <p:sp>
        <p:nvSpPr>
          <p:cNvPr id="16" name="Text 13"/>
          <p:cNvSpPr/>
          <p:nvPr/>
        </p:nvSpPr>
        <p:spPr>
          <a:xfrm>
            <a:off x="548640" y="2606040"/>
            <a:ext cx="4572000" cy="868680"/>
          </a:xfrm>
          <a:prstGeom prst="rect">
            <a:avLst/>
          </a:prstGeom>
          <a:noFill/>
          <a:ln/>
        </p:spPr>
        <p:txBody>
          <a:bodyPr wrap="square" lIns="0" tIns="0" rIns="0" bIns="0" rtlCol="0" anchor="t"/>
          <a:lstStyle/>
          <a:p>
            <a:pPr indent="0" marL="0">
              <a:buNone/>
            </a:pPr>
            <a:r>
              <a:rPr lang="en-US" sz="2000" dirty="0">
                <a:solidFill>
                  <a:srgbClr val="ECE9F8"/>
                </a:solidFill>
                <a:latin typeface="Segoe UI" pitchFamily="34" charset="0"/>
                <a:ea typeface="Segoe UI" pitchFamily="34" charset="-122"/>
                <a:cs typeface="Segoe UI" pitchFamily="34" charset="-120"/>
              </a:rPr>
              <a:t>A night-time arcade racer where every rival thinks with </a:t>
            </a:r>
            <a:pPr indent="0" marL="0">
              <a:buNone/>
            </a:pPr>
            <a:r>
              <a:rPr lang="en-US" sz="2000" b="1" dirty="0">
                <a:solidFill>
                  <a:srgbClr val="FFD166"/>
                </a:solidFill>
                <a:latin typeface="Segoe UI" pitchFamily="34" charset="0"/>
                <a:ea typeface="Segoe UI" pitchFamily="34" charset="-122"/>
                <a:cs typeface="Segoe UI" pitchFamily="34" charset="-120"/>
              </a:rPr>
              <a:t>Microsoft-Decision-1</a:t>
            </a:r>
            <a:pPr indent="0" marL="0">
              <a:buNone/>
            </a:pPr>
            <a:r>
              <a:rPr lang="en-US" sz="2000" dirty="0">
                <a:solidFill>
                  <a:srgbClr val="ECE9F8"/>
                </a:solidFill>
                <a:latin typeface="Segoe UI" pitchFamily="34" charset="0"/>
                <a:ea typeface="Segoe UI" pitchFamily="34" charset="-122"/>
                <a:cs typeface="Segoe UI" pitchFamily="34" charset="-120"/>
              </a:rPr>
              <a:t>.</a:t>
            </a:r>
            <a:endParaRPr lang="en-US" sz="2000" dirty="0"/>
          </a:p>
        </p:txBody>
      </p:sp>
      <p:sp>
        <p:nvSpPr>
          <p:cNvPr id="17" name="Text 14"/>
          <p:cNvSpPr/>
          <p:nvPr/>
        </p:nvSpPr>
        <p:spPr>
          <a:xfrm>
            <a:off x="548640" y="4251960"/>
            <a:ext cx="4937760" cy="274320"/>
          </a:xfrm>
          <a:prstGeom prst="rect">
            <a:avLst/>
          </a:prstGeom>
          <a:noFill/>
          <a:ln/>
        </p:spPr>
        <p:txBody>
          <a:bodyPr wrap="square" lIns="0" tIns="0" rIns="0" bIns="0" rtlCol="0" anchor="ctr"/>
          <a:lstStyle/>
          <a:p>
            <a:pPr indent="0" marL="0">
              <a:buNone/>
            </a:pPr>
            <a:r>
              <a:rPr lang="en-US" sz="1200" dirty="0">
                <a:solidFill>
                  <a:srgbClr val="9A95B8"/>
                </a:solidFill>
                <a:latin typeface="Segoe UI" pitchFamily="34" charset="0"/>
                <a:ea typeface="Segoe UI" pitchFamily="34" charset="-122"/>
                <a:cs typeface="Segoe UI" pitchFamily="34" charset="-120"/>
              </a:rPr>
              <a:t>Microsoft Foundry  ·  Node.js  ·  HTML5 canvas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9A95B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9A95B8"/>
                </a:solidFill>
                <a:latin typeface="Segoe UI Semibold" pitchFamily="34" charset="0"/>
                <a:ea typeface="Segoe UI Semibold" pitchFamily="34" charset="-122"/>
                <a:cs typeface="Segoe UI Semibold" pitchFamily="34" charset="-120"/>
              </a:rPr>
              <a:t>02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sp>
        <p:nvSpPr>
          <p:cNvPr id="6" name="Shape 4"/>
          <p:cNvSpPr/>
          <p:nvPr/>
        </p:nvSpPr>
        <p:spPr>
          <a:xfrm>
            <a:off x="548640" y="1691640"/>
            <a:ext cx="822960" cy="822960"/>
          </a:xfrm>
          <a:prstGeom prst="ellipse">
            <a:avLst/>
          </a:prstGeom>
          <a:solidFill>
            <a:srgbClr val="231E5A"/>
          </a:solidFill>
          <a:ln/>
        </p:spPr>
      </p:sp>
      <p:pic>
        <p:nvPicPr>
          <p:cNvPr id="7" name="Image 0" descr="Steering wheel icon">    </p:cNvPr>
          <p:cNvPicPr>
            <a:picLocks noChangeAspect="1"/>
          </p:cNvPicPr>
          <p:nvPr/>
        </p:nvPicPr>
        <p:blipFill>
          <a:blip r:embed="rId1"/>
          <a:stretch>
            <a:fillRect/>
          </a:stretch>
        </p:blipFill>
        <p:spPr>
          <a:xfrm>
            <a:off x="740664" y="1883664"/>
            <a:ext cx="438912" cy="438912"/>
          </a:xfrm>
          <a:prstGeom prst="rect">
            <a:avLst/>
          </a:prstGeom>
        </p:spPr>
      </p:pic>
      <p:sp>
        <p:nvSpPr>
          <p:cNvPr id="8" name="Text 5"/>
          <p:cNvSpPr/>
          <p:nvPr/>
        </p:nvSpPr>
        <p:spPr>
          <a:xfrm>
            <a:off x="548640" y="2697480"/>
            <a:ext cx="2499055" cy="411480"/>
          </a:xfrm>
          <a:prstGeom prst="rect">
            <a:avLst/>
          </a:prstGeom>
          <a:noFill/>
          <a:ln/>
        </p:spPr>
        <p:txBody>
          <a:bodyPr wrap="square" lIns="0" tIns="0" rIns="0" bIns="0" rtlCol="0" anchor="ctr"/>
          <a:lstStyle/>
          <a:p>
            <a:pPr indent="0" marL="0">
              <a:buNone/>
            </a:pPr>
            <a:r>
              <a:rPr lang="en-US" sz="2200" dirty="0">
                <a:solidFill>
                  <a:srgbClr val="ECE9F8"/>
                </a:solidFill>
                <a:latin typeface="Segoe UI Black" pitchFamily="34" charset="0"/>
                <a:ea typeface="Segoe UI Black" pitchFamily="34" charset="-122"/>
                <a:cs typeface="Segoe UI Black" pitchFamily="34" charset="-120"/>
              </a:rPr>
              <a:t>You</a:t>
            </a:r>
            <a:endParaRPr lang="en-US" sz="2200" dirty="0"/>
          </a:p>
        </p:txBody>
      </p:sp>
      <p:sp>
        <p:nvSpPr>
          <p:cNvPr id="9" name="Text 6"/>
          <p:cNvSpPr/>
          <p:nvPr/>
        </p:nvSpPr>
        <p:spPr>
          <a:xfrm>
            <a:off x="548640" y="3172968"/>
            <a:ext cx="2499055" cy="548640"/>
          </a:xfrm>
          <a:prstGeom prst="rect">
            <a:avLst/>
          </a:prstGeom>
          <a:noFill/>
          <a:ln/>
        </p:spPr>
        <p:txBody>
          <a:bodyPr wrap="square" lIns="0" tIns="0" rIns="0" bIns="0" rtlCol="0" anchor="t"/>
          <a:lstStyle/>
          <a:p>
            <a:pPr indent="0" marL="0">
              <a:buNone/>
            </a:pPr>
            <a:r>
              <a:rPr lang="en-US" sz="1400" dirty="0">
                <a:solidFill>
                  <a:srgbClr val="9A95B8"/>
                </a:solidFill>
                <a:latin typeface="Segoe UI" pitchFamily="34" charset="0"/>
                <a:ea typeface="Segoe UI" pitchFamily="34" charset="-122"/>
                <a:cs typeface="Segoe UI" pitchFamily="34" charset="-120"/>
              </a:rPr>
              <a:t>Steer, brake and fire nitro</a:t>
            </a:r>
            <a:endParaRPr lang="en-US" sz="1400" dirty="0"/>
          </a:p>
          <a:p>
            <a:pPr indent="0" marL="0">
              <a:buNone/>
            </a:pPr>
            <a:r>
              <a:rPr lang="en-US" sz="1400" dirty="0">
                <a:solidFill>
                  <a:srgbClr val="9A95B8"/>
                </a:solidFill>
                <a:latin typeface="Segoe UI" pitchFamily="34" charset="0"/>
                <a:ea typeface="Segoe UI" pitchFamily="34" charset="-122"/>
                <a:cs typeface="Segoe UI" pitchFamily="34" charset="-120"/>
              </a:rPr>
              <a:t>on keyboard or touch.</a:t>
            </a:r>
            <a:endParaRPr lang="en-US" sz="1400" dirty="0"/>
          </a:p>
        </p:txBody>
      </p:sp>
      <p:sp>
        <p:nvSpPr>
          <p:cNvPr id="10" name="Shape 7"/>
          <p:cNvSpPr/>
          <p:nvPr/>
        </p:nvSpPr>
        <p:spPr>
          <a:xfrm>
            <a:off x="3322015" y="1691640"/>
            <a:ext cx="822960" cy="822960"/>
          </a:xfrm>
          <a:prstGeom prst="ellipse">
            <a:avLst/>
          </a:prstGeom>
          <a:solidFill>
            <a:srgbClr val="231E5A"/>
          </a:solidFill>
          <a:ln/>
        </p:spPr>
      </p:sp>
      <p:pic>
        <p:nvPicPr>
          <p:cNvPr id="11" name="Image 1" descr="Gauge icon">    </p:cNvPr>
          <p:cNvPicPr>
            <a:picLocks noChangeAspect="1"/>
          </p:cNvPicPr>
          <p:nvPr/>
        </p:nvPicPr>
        <p:blipFill>
          <a:blip r:embed="rId2"/>
          <a:stretch>
            <a:fillRect/>
          </a:stretch>
        </p:blipFill>
        <p:spPr>
          <a:xfrm>
            <a:off x="3514039" y="1883664"/>
            <a:ext cx="438912" cy="438912"/>
          </a:xfrm>
          <a:prstGeom prst="rect">
            <a:avLst/>
          </a:prstGeom>
        </p:spPr>
      </p:pic>
      <p:sp>
        <p:nvSpPr>
          <p:cNvPr id="12" name="Text 8"/>
          <p:cNvSpPr/>
          <p:nvPr/>
        </p:nvSpPr>
        <p:spPr>
          <a:xfrm>
            <a:off x="3322015" y="2697480"/>
            <a:ext cx="2499055" cy="411480"/>
          </a:xfrm>
          <a:prstGeom prst="rect">
            <a:avLst/>
          </a:prstGeom>
          <a:noFill/>
          <a:ln/>
        </p:spPr>
        <p:txBody>
          <a:bodyPr wrap="square" lIns="0" tIns="0" rIns="0" bIns="0" rtlCol="0" anchor="ctr"/>
          <a:lstStyle/>
          <a:p>
            <a:pPr indent="0" marL="0">
              <a:buNone/>
            </a:pPr>
            <a:r>
              <a:rPr lang="en-US" sz="2200" dirty="0">
                <a:solidFill>
                  <a:srgbClr val="ECE9F8"/>
                </a:solidFill>
                <a:latin typeface="Segoe UI Black" pitchFamily="34" charset="0"/>
                <a:ea typeface="Segoe UI Black" pitchFamily="34" charset="-122"/>
                <a:cs typeface="Segoe UI Black" pitchFamily="34" charset="-120"/>
              </a:rPr>
              <a:t>The engine</a:t>
            </a:r>
            <a:endParaRPr lang="en-US" sz="2200" dirty="0"/>
          </a:p>
        </p:txBody>
      </p:sp>
      <p:sp>
        <p:nvSpPr>
          <p:cNvPr id="13" name="Text 9"/>
          <p:cNvSpPr/>
          <p:nvPr/>
        </p:nvSpPr>
        <p:spPr>
          <a:xfrm>
            <a:off x="3322015" y="3172968"/>
            <a:ext cx="2499055" cy="548640"/>
          </a:xfrm>
          <a:prstGeom prst="rect">
            <a:avLst/>
          </a:prstGeom>
          <a:noFill/>
          <a:ln/>
        </p:spPr>
        <p:txBody>
          <a:bodyPr wrap="square" lIns="0" tIns="0" rIns="0" bIns="0" rtlCol="0" anchor="t"/>
          <a:lstStyle/>
          <a:p>
            <a:pPr indent="0" marL="0">
              <a:buNone/>
            </a:pPr>
            <a:r>
              <a:rPr lang="en-US" sz="1400" dirty="0">
                <a:solidFill>
                  <a:srgbClr val="9A95B8"/>
                </a:solidFill>
                <a:latin typeface="Segoe UI" pitchFamily="34" charset="0"/>
                <a:ea typeface="Segoe UI" pitchFamily="34" charset="-122"/>
                <a:cs typeface="Segoe UI" pitchFamily="34" charset="-120"/>
              </a:rPr>
              <a:t>Draws the pseudo-3D road</a:t>
            </a:r>
            <a:endParaRPr lang="en-US" sz="1400" dirty="0"/>
          </a:p>
          <a:p>
            <a:pPr indent="0" marL="0">
              <a:buNone/>
            </a:pPr>
            <a:r>
              <a:rPr lang="en-US" sz="1400" dirty="0">
                <a:solidFill>
                  <a:srgbClr val="9A95B8"/>
                </a:solidFill>
                <a:latin typeface="Segoe UI" pitchFamily="34" charset="0"/>
                <a:ea typeface="Segoe UI" pitchFamily="34" charset="-122"/>
                <a:cs typeface="Segoe UI" pitchFamily="34" charset="-120"/>
              </a:rPr>
              <a:t>and runs the physics.</a:t>
            </a:r>
            <a:endParaRPr lang="en-US" sz="1400" dirty="0"/>
          </a:p>
        </p:txBody>
      </p:sp>
      <p:sp>
        <p:nvSpPr>
          <p:cNvPr id="14" name="Shape 10"/>
          <p:cNvSpPr/>
          <p:nvPr/>
        </p:nvSpPr>
        <p:spPr>
          <a:xfrm>
            <a:off x="6095390" y="1691640"/>
            <a:ext cx="822960" cy="822960"/>
          </a:xfrm>
          <a:prstGeom prst="ellipse">
            <a:avLst/>
          </a:prstGeom>
          <a:solidFill>
            <a:srgbClr val="231E5A"/>
          </a:solidFill>
          <a:ln/>
        </p:spPr>
      </p:sp>
      <p:pic>
        <p:nvPicPr>
          <p:cNvPr id="15" name="Image 2" descr="Brain circuit icon">    </p:cNvPr>
          <p:cNvPicPr>
            <a:picLocks noChangeAspect="1"/>
          </p:cNvPicPr>
          <p:nvPr/>
        </p:nvPicPr>
        <p:blipFill>
          <a:blip r:embed="rId3"/>
          <a:stretch>
            <a:fillRect/>
          </a:stretch>
        </p:blipFill>
        <p:spPr>
          <a:xfrm>
            <a:off x="6287414" y="1883664"/>
            <a:ext cx="438912" cy="438912"/>
          </a:xfrm>
          <a:prstGeom prst="rect">
            <a:avLst/>
          </a:prstGeom>
        </p:spPr>
      </p:pic>
      <p:sp>
        <p:nvSpPr>
          <p:cNvPr id="16" name="Text 11"/>
          <p:cNvSpPr/>
          <p:nvPr/>
        </p:nvSpPr>
        <p:spPr>
          <a:xfrm>
            <a:off x="6095390" y="2697480"/>
            <a:ext cx="2499055" cy="411480"/>
          </a:xfrm>
          <a:prstGeom prst="rect">
            <a:avLst/>
          </a:prstGeom>
          <a:noFill/>
          <a:ln/>
        </p:spPr>
        <p:txBody>
          <a:bodyPr wrap="square" lIns="0" tIns="0" rIns="0" bIns="0" rtlCol="0" anchor="ctr"/>
          <a:lstStyle/>
          <a:p>
            <a:pPr indent="0" marL="0">
              <a:buNone/>
            </a:pPr>
            <a:r>
              <a:rPr lang="en-US" sz="2200" dirty="0">
                <a:solidFill>
                  <a:srgbClr val="ECE9F8"/>
                </a:solidFill>
                <a:latin typeface="Segoe UI Black" pitchFamily="34" charset="0"/>
                <a:ea typeface="Segoe UI Black" pitchFamily="34" charset="-122"/>
                <a:cs typeface="Segoe UI Black" pitchFamily="34" charset="-120"/>
              </a:rPr>
              <a:t>The model</a:t>
            </a:r>
            <a:endParaRPr lang="en-US" sz="2200" dirty="0"/>
          </a:p>
        </p:txBody>
      </p:sp>
      <p:sp>
        <p:nvSpPr>
          <p:cNvPr id="17" name="Text 12"/>
          <p:cNvSpPr/>
          <p:nvPr/>
        </p:nvSpPr>
        <p:spPr>
          <a:xfrm>
            <a:off x="6095390" y="3172968"/>
            <a:ext cx="2499055" cy="548640"/>
          </a:xfrm>
          <a:prstGeom prst="rect">
            <a:avLst/>
          </a:prstGeom>
          <a:noFill/>
          <a:ln/>
        </p:spPr>
        <p:txBody>
          <a:bodyPr wrap="square" lIns="0" tIns="0" rIns="0" bIns="0" rtlCol="0" anchor="t"/>
          <a:lstStyle/>
          <a:p>
            <a:pPr indent="0" marL="0">
              <a:buNone/>
            </a:pPr>
            <a:r>
              <a:rPr lang="en-US" sz="1400" dirty="0">
                <a:solidFill>
                  <a:srgbClr val="9A95B8"/>
                </a:solidFill>
                <a:latin typeface="Segoe UI" pitchFamily="34" charset="0"/>
                <a:ea typeface="Segoe UI" pitchFamily="34" charset="-122"/>
                <a:cs typeface="Segoe UI" pitchFamily="34" charset="-120"/>
              </a:rPr>
              <a:t>Microsoft-Decision-1 makes</a:t>
            </a:r>
            <a:endParaRPr lang="en-US" sz="1400" dirty="0"/>
          </a:p>
          <a:p>
            <a:pPr indent="0" marL="0">
              <a:buNone/>
            </a:pPr>
            <a:r>
              <a:rPr lang="en-US" sz="1400" dirty="0">
                <a:solidFill>
                  <a:srgbClr val="9A95B8"/>
                </a:solidFill>
                <a:latin typeface="Segoe UI" pitchFamily="34" charset="0"/>
                <a:ea typeface="Segoe UI" pitchFamily="34" charset="-122"/>
                <a:cs typeface="Segoe UI" pitchFamily="34" charset="-120"/>
              </a:rPr>
              <a:t>every tactical call.</a:t>
            </a:r>
            <a:endParaRPr lang="en-US" sz="1400" dirty="0"/>
          </a:p>
        </p:txBody>
      </p:sp>
      <p:sp>
        <p:nvSpPr>
          <p:cNvPr id="18" name="Shape 13"/>
          <p:cNvSpPr/>
          <p:nvPr/>
        </p:nvSpPr>
        <p:spPr>
          <a:xfrm>
            <a:off x="548640" y="3977640"/>
            <a:ext cx="8046720" cy="548640"/>
          </a:xfrm>
          <a:prstGeom prst="roundRect">
            <a:avLst>
              <a:gd name="adj" fmla="val 20000"/>
            </a:avLst>
          </a:prstGeom>
          <a:solidFill>
            <a:srgbClr val="110F2B"/>
          </a:solidFill>
          <a:ln/>
        </p:spPr>
      </p:sp>
      <p:pic>
        <p:nvPicPr>
          <p:cNvPr id="19" name="Image 3" descr="Workflow icon">    </p:cNvPr>
          <p:cNvPicPr>
            <a:picLocks noChangeAspect="1"/>
          </p:cNvPicPr>
          <p:nvPr/>
        </p:nvPicPr>
        <p:blipFill>
          <a:blip r:embed="rId4"/>
          <a:stretch>
            <a:fillRect/>
          </a:stretch>
        </p:blipFill>
        <p:spPr>
          <a:xfrm>
            <a:off x="777240" y="4078224"/>
            <a:ext cx="347472" cy="347472"/>
          </a:xfrm>
          <a:prstGeom prst="rect">
            <a:avLst/>
          </a:prstGeom>
        </p:spPr>
      </p:pic>
      <p:sp>
        <p:nvSpPr>
          <p:cNvPr id="20" name="Text 14"/>
          <p:cNvSpPr/>
          <p:nvPr/>
        </p:nvSpPr>
        <p:spPr>
          <a:xfrm>
            <a:off x="1325880" y="3977640"/>
            <a:ext cx="7086600" cy="54864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The model never moves a car. It answers typed questions; game code acts on the probabilities.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9A95B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9A95B8"/>
                </a:solidFill>
                <a:latin typeface="Segoe UI Semibold" pitchFamily="34" charset="0"/>
                <a:ea typeface="Segoe UI Semibold" pitchFamily="34" charset="-122"/>
                <a:cs typeface="Segoe UI Semibold" pitchFamily="34" charset="-120"/>
              </a:rPr>
              <a:t>03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691640"/>
            <a:ext cx="8046720" cy="685800"/>
          </a:xfrm>
          <a:prstGeom prst="rect">
            <a:avLst/>
          </a:prstGeom>
          <a:noFill/>
          <a:ln/>
        </p:spPr>
        <p:txBody>
          <a:bodyPr wrap="square" lIns="0" tIns="0" rIns="0" bIns="0" rtlCol="0" anchor="t"/>
          <a:lstStyle/>
          <a:p>
            <a:pPr indent="0" marL="0">
              <a:buNone/>
            </a:pPr>
            <a:r>
              <a:rPr lang="en-US" sz="1800" dirty="0">
                <a:solidFill>
                  <a:srgbClr val="ECE9F8"/>
                </a:solidFill>
                <a:latin typeface="Segoe UI" pitchFamily="34" charset="0"/>
                <a:ea typeface="Segoe UI" pitchFamily="34" charset="-122"/>
                <a:cs typeface="Segoe UI" pitchFamily="34" charset="-120"/>
              </a:rPr>
              <a:t>Give it a situation and closed questions; it returns a </a:t>
            </a:r>
            <a:pPr indent="0" marL="0">
              <a:buNone/>
            </a:pPr>
            <a:r>
              <a:rPr lang="en-US" sz="1800" b="1" dirty="0">
                <a:solidFill>
                  <a:srgbClr val="FFD166"/>
                </a:solidFill>
                <a:latin typeface="Segoe UI" pitchFamily="34" charset="0"/>
                <a:ea typeface="Segoe UI" pitchFamily="34" charset="-122"/>
                <a:cs typeface="Segoe UI" pitchFamily="34" charset="-120"/>
              </a:rPr>
              <a:t>calibrated probability</a:t>
            </a:r>
            <a:pPr indent="0" marL="0">
              <a:buNone/>
            </a:pPr>
            <a:r>
              <a:rPr lang="en-US" sz="1800" dirty="0">
                <a:solidFill>
                  <a:srgbClr val="ECE9F8"/>
                </a:solidFill>
                <a:latin typeface="Segoe UI" pitchFamily="34" charset="0"/>
                <a:ea typeface="Segoe UI" pitchFamily="34" charset="-122"/>
                <a:cs typeface="Segoe UI" pitchFamily="34" charset="-120"/>
              </a:rPr>
              <a:t> for every answer option. No prose, no rationale.</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sp>
      <p:sp>
        <p:nvSpPr>
          <p:cNvPr id="8" name="Text 6"/>
          <p:cNvSpPr/>
          <p:nvPr/>
        </p:nvSpPr>
        <p:spPr>
          <a:xfrm>
            <a:off x="777240" y="2798064"/>
            <a:ext cx="2042160" cy="237744"/>
          </a:xfrm>
          <a:prstGeom prst="rect">
            <a:avLst/>
          </a:prstGeom>
          <a:noFill/>
          <a:ln/>
        </p:spPr>
        <p:txBody>
          <a:bodyPr wrap="square" lIns="0" tIns="0" rIns="0" bIns="0" rtlCol="0" anchor="ctr"/>
          <a:lstStyle/>
          <a:p>
            <a:pPr indent="0" marL="0">
              <a:buNone/>
            </a:pPr>
            <a:r>
              <a:rPr lang="en-US" sz="950" spc="200" kern="0" dirty="0">
                <a:solidFill>
                  <a:srgbClr val="9A95B8"/>
                </a:solidFill>
                <a:latin typeface="Segoe UI Semibold" pitchFamily="34" charset="0"/>
                <a:ea typeface="Segoe UI Semibold" pitchFamily="34" charset="-122"/>
                <a:cs typeface="Segoe UI Semibold" pitchFamily="34" charset="-120"/>
              </a:rPr>
              <a:t>BASE MODEL</a:t>
            </a:r>
            <a:endParaRPr lang="en-US" sz="9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sp>
      <p:sp>
        <p:nvSpPr>
          <p:cNvPr id="11" name="Text 9"/>
          <p:cNvSpPr/>
          <p:nvPr/>
        </p:nvSpPr>
        <p:spPr>
          <a:xfrm>
            <a:off x="3550920" y="2798064"/>
            <a:ext cx="2042160" cy="237744"/>
          </a:xfrm>
          <a:prstGeom prst="rect">
            <a:avLst/>
          </a:prstGeom>
          <a:noFill/>
          <a:ln/>
        </p:spPr>
        <p:txBody>
          <a:bodyPr wrap="square" lIns="0" tIns="0" rIns="0" bIns="0" rtlCol="0" anchor="ctr"/>
          <a:lstStyle/>
          <a:p>
            <a:pPr indent="0" marL="0">
              <a:buNone/>
            </a:pPr>
            <a:r>
              <a:rPr lang="en-US" sz="950" spc="200" kern="0" dirty="0">
                <a:solidFill>
                  <a:srgbClr val="9A95B8"/>
                </a:solidFill>
                <a:latin typeface="Segoe UI Semibold" pitchFamily="34" charset="0"/>
                <a:ea typeface="Segoe UI Semibold" pitchFamily="34" charset="-122"/>
                <a:cs typeface="Segoe UI Semibold" pitchFamily="34" charset="-120"/>
              </a:rPr>
              <a:t>INPUT · TEXT OR JSON</a:t>
            </a:r>
            <a:endParaRPr lang="en-US" sz="9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sp>
      <p:sp>
        <p:nvSpPr>
          <p:cNvPr id="14" name="Text 12"/>
          <p:cNvSpPr/>
          <p:nvPr/>
        </p:nvSpPr>
        <p:spPr>
          <a:xfrm>
            <a:off x="6324600" y="2798064"/>
            <a:ext cx="2042160" cy="237744"/>
          </a:xfrm>
          <a:prstGeom prst="rect">
            <a:avLst/>
          </a:prstGeom>
          <a:noFill/>
          <a:ln/>
        </p:spPr>
        <p:txBody>
          <a:bodyPr wrap="square" lIns="0" tIns="0" rIns="0" bIns="0" rtlCol="0" anchor="ctr"/>
          <a:lstStyle/>
          <a:p>
            <a:pPr indent="0" marL="0">
              <a:buNone/>
            </a:pPr>
            <a:r>
              <a:rPr lang="en-US" sz="950" spc="200" kern="0" dirty="0">
                <a:solidFill>
                  <a:srgbClr val="9A95B8"/>
                </a:solidFill>
                <a:latin typeface="Segoe UI Semibold" pitchFamily="34" charset="0"/>
                <a:ea typeface="Segoe UI Semibold" pitchFamily="34" charset="-122"/>
                <a:cs typeface="Segoe UI Semibold" pitchFamily="34" charset="-120"/>
              </a:rPr>
              <a:t>PRICE</a:t>
            </a:r>
            <a:endParaRPr lang="en-US" sz="9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$0.04 per 1M tokens</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sp>
      <p:sp>
        <p:nvSpPr>
          <p:cNvPr id="17" name="Text 15"/>
          <p:cNvSpPr/>
          <p:nvPr/>
        </p:nvSpPr>
        <p:spPr>
          <a:xfrm>
            <a:off x="777240" y="3872484"/>
            <a:ext cx="2042160" cy="237744"/>
          </a:xfrm>
          <a:prstGeom prst="rect">
            <a:avLst/>
          </a:prstGeom>
          <a:noFill/>
          <a:ln/>
        </p:spPr>
        <p:txBody>
          <a:bodyPr wrap="square" lIns="0" tIns="0" rIns="0" bIns="0" rtlCol="0" anchor="ctr"/>
          <a:lstStyle/>
          <a:p>
            <a:pPr indent="0" marL="0">
              <a:buNone/>
            </a:pPr>
            <a:r>
              <a:rPr lang="en-US" sz="950" spc="200" kern="0" dirty="0">
                <a:solidFill>
                  <a:srgbClr val="9A95B8"/>
                </a:solidFill>
                <a:latin typeface="Segoe UI Semibold" pitchFamily="34" charset="0"/>
                <a:ea typeface="Segoe UI Semibold" pitchFamily="34" charset="-122"/>
                <a:cs typeface="Segoe UI Semibold" pitchFamily="34" charset="-120"/>
              </a:rPr>
              <a:t>QUESTION TYPES</a:t>
            </a:r>
            <a:endParaRPr lang="en-US" sz="9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indent="0" marL="0">
              <a:buNone/>
            </a:pPr>
            <a:r>
              <a:rPr lang="en-US" sz="1200" dirty="0">
                <a:solidFill>
                  <a:srgbClr val="FFD166"/>
                </a:solidFill>
                <a:latin typeface="Consolas" pitchFamily="34" charset="0"/>
                <a:ea typeface="Consolas" pitchFamily="34" charset="-122"/>
                <a:cs typeface="Consolas" pitchFamily="34" charset="-120"/>
              </a:rPr>
              <a:t>noul</a:t>
            </a:r>
            <a:pPr indent="0" marL="0">
              <a:buNone/>
            </a:pPr>
            <a:r>
              <a:rPr lang="en-US" sz="1200" dirty="0">
                <a:solidFill>
                  <a:srgbClr val="9A95B8"/>
                </a:solidFill>
                <a:latin typeface="Consolas" pitchFamily="34" charset="0"/>
                <a:ea typeface="Consolas" pitchFamily="34" charset="-122"/>
                <a:cs typeface="Consolas" pitchFamily="34" charset="-120"/>
              </a:rPr>
              <a:t> · </a:t>
            </a:r>
            <a:pPr indent="0" marL="0">
              <a:buNone/>
            </a:pPr>
            <a:r>
              <a:rPr lang="en-US" sz="1200" dirty="0">
                <a:solidFill>
                  <a:srgbClr val="FFD166"/>
                </a:solidFill>
                <a:latin typeface="Consolas" pitchFamily="34" charset="0"/>
                <a:ea typeface="Consolas" pitchFamily="34" charset="-122"/>
                <a:cs typeface="Consolas" pitchFamily="34" charset="-120"/>
              </a:rPr>
              <a:t>choice</a:t>
            </a:r>
            <a:pPr indent="0" marL="0">
              <a:buNone/>
            </a:pPr>
            <a:r>
              <a:rPr lang="en-US" sz="1200" dirty="0">
                <a:solidFill>
                  <a:srgbClr val="9A95B8"/>
                </a:solidFill>
                <a:latin typeface="Consolas" pitchFamily="34" charset="0"/>
                <a:ea typeface="Consolas" pitchFamily="34" charset="-122"/>
                <a:cs typeface="Consolas" pitchFamily="34" charset="-120"/>
              </a:rPr>
              <a:t> · </a:t>
            </a:r>
            <a:pPr indent="0" marL="0">
              <a:buNone/>
            </a:pP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sp>
      <p:sp>
        <p:nvSpPr>
          <p:cNvPr id="20" name="Text 18"/>
          <p:cNvSpPr/>
          <p:nvPr/>
        </p:nvSpPr>
        <p:spPr>
          <a:xfrm>
            <a:off x="3550920" y="3872484"/>
            <a:ext cx="4815840" cy="237744"/>
          </a:xfrm>
          <a:prstGeom prst="rect">
            <a:avLst/>
          </a:prstGeom>
          <a:noFill/>
          <a:ln/>
        </p:spPr>
        <p:txBody>
          <a:bodyPr wrap="square" lIns="0" tIns="0" rIns="0" bIns="0" rtlCol="0" anchor="ctr"/>
          <a:lstStyle/>
          <a:p>
            <a:pPr indent="0" marL="0">
              <a:buNone/>
            </a:pPr>
            <a:r>
              <a:rPr lang="en-US" sz="950" spc="200" kern="0" dirty="0">
                <a:solidFill>
                  <a:srgbClr val="9A95B8"/>
                </a:solidFill>
                <a:latin typeface="Segoe UI Semibold" pitchFamily="34" charset="0"/>
                <a:ea typeface="Segoe UI Semibold" pitchFamily="34" charset="-122"/>
                <a:cs typeface="Segoe UI Semibold" pitchFamily="34" charset="-120"/>
              </a:rPr>
              <a:t>ENDPOINT</a:t>
            </a:r>
            <a:endParaRPr lang="en-US" sz="9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indent="0" marL="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9A95B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9A95B8"/>
                </a:solidFill>
                <a:latin typeface="Segoe UI Semibold" pitchFamily="34" charset="0"/>
                <a:ea typeface="Segoe UI Semibold" pitchFamily="34" charset="-122"/>
                <a:cs typeface="Segoe UI Semibold" pitchFamily="34" charset="-120"/>
              </a:rPr>
              <a:t>04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9A95B8"/>
                </a:solidFill>
                <a:latin typeface="Segoe UI" pitchFamily="34" charset="0"/>
                <a:ea typeface="Segoe UI" pitchFamily="34" charset="-122"/>
                <a:cs typeface="Segoe UI" pitchFamily="34" charset="-120"/>
              </a:rPr>
              <a:t>One request carries one state and any mix of typed questions; a single pass answers them all.</a:t>
            </a:r>
            <a:endParaRPr lang="en-US" sz="1400" dirty="0"/>
          </a:p>
        </p:txBody>
      </p:sp>
      <p:sp>
        <p:nvSpPr>
          <p:cNvPr id="7" name="Shape 5"/>
          <p:cNvSpPr/>
          <p:nvPr/>
        </p:nvSpPr>
        <p:spPr>
          <a:xfrm>
            <a:off x="548640" y="1874520"/>
            <a:ext cx="2499360" cy="2651760"/>
          </a:xfrm>
          <a:prstGeom prst="roundRect">
            <a:avLst>
              <a:gd name="adj" fmla="val 4390"/>
            </a:avLst>
          </a:prstGeom>
          <a:solidFill>
            <a:srgbClr val="110F2B"/>
          </a:solidFill>
          <a:ln/>
        </p:spPr>
      </p:sp>
      <p:sp>
        <p:nvSpPr>
          <p:cNvPr id="8" name="Text 6"/>
          <p:cNvSpPr/>
          <p:nvPr/>
        </p:nvSpPr>
        <p:spPr>
          <a:xfrm>
            <a:off x="77724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0" name="Text 8"/>
          <p:cNvSpPr/>
          <p:nvPr/>
        </p:nvSpPr>
        <p:spPr>
          <a:xfrm>
            <a:off x="777240" y="3776472"/>
            <a:ext cx="2042160" cy="237744"/>
          </a:xfrm>
          <a:prstGeom prst="rect">
            <a:avLst/>
          </a:prstGeom>
          <a:noFill/>
          <a:ln/>
        </p:spPr>
        <p:txBody>
          <a:bodyPr wrap="square" lIns="0" tIns="0" rIns="0" bIns="0" rtlCol="0" anchor="ctr"/>
          <a:lstStyle/>
          <a:p>
            <a:pPr indent="0" marL="0">
              <a:buNone/>
            </a:pPr>
            <a:r>
              <a:rPr lang="en-US" sz="1000" dirty="0">
                <a:solidFill>
                  <a:srgbClr val="ECE9F8"/>
                </a:solidFill>
                <a:latin typeface="Consolas" pitchFamily="34" charset="0"/>
                <a:ea typeface="Consolas" pitchFamily="34" charset="-122"/>
                <a:cs typeface="Consolas" pitchFamily="34" charset="-120"/>
              </a:rPr>
              <a:t>"noul": p(true)</a:t>
            </a:r>
            <a:endParaRPr lang="en-US" sz="1000" dirty="0"/>
          </a:p>
        </p:txBody>
      </p:sp>
      <p:sp>
        <p:nvSpPr>
          <p:cNvPr id="11" name="Text 9"/>
          <p:cNvSpPr/>
          <p:nvPr/>
        </p:nvSpPr>
        <p:spPr>
          <a:xfrm>
            <a:off x="777240" y="4050792"/>
            <a:ext cx="2042160" cy="256032"/>
          </a:xfrm>
          <a:prstGeom prst="rect">
            <a:avLst/>
          </a:prstGeom>
          <a:noFill/>
          <a:ln/>
        </p:spPr>
        <p:txBody>
          <a:bodyPr wrap="square" lIns="0" tIns="0" rIns="0" bIns="0" rtlCol="0" anchor="ctr"/>
          <a:lstStyle/>
          <a:p>
            <a:pPr indent="0" marL="0">
              <a:buNone/>
            </a:pPr>
            <a:r>
              <a:rPr lang="en-US" sz="1150" dirty="0">
                <a:solidFill>
                  <a:srgbClr val="9A95B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sp>
      <p:sp>
        <p:nvSpPr>
          <p:cNvPr id="13" name="Text 11"/>
          <p:cNvSpPr/>
          <p:nvPr/>
        </p:nvSpPr>
        <p:spPr>
          <a:xfrm>
            <a:off x="355092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5" name="Text 13"/>
          <p:cNvSpPr/>
          <p:nvPr/>
        </p:nvSpPr>
        <p:spPr>
          <a:xfrm>
            <a:off x="3550920" y="3776472"/>
            <a:ext cx="2042160" cy="237744"/>
          </a:xfrm>
          <a:prstGeom prst="rect">
            <a:avLst/>
          </a:prstGeom>
          <a:noFill/>
          <a:ln/>
        </p:spPr>
        <p:txBody>
          <a:bodyPr wrap="square" lIns="0" tIns="0" rIns="0" bIns="0" rtlCol="0" anchor="ctr"/>
          <a:lstStyle/>
          <a:p>
            <a:pPr indent="0" marL="0">
              <a:buNone/>
            </a:pPr>
            <a:r>
              <a:rPr lang="en-US" sz="1000" dirty="0">
                <a:solidFill>
                  <a:srgbClr val="ECE9F8"/>
                </a:solidFill>
                <a:latin typeface="Consolas" pitchFamily="34" charset="0"/>
                <a:ea typeface="Consolas" pitchFamily="34" charset="-122"/>
                <a:cs typeface="Consolas" pitchFamily="34" charset="-120"/>
              </a:rPr>
              <a:t>"choice" + p per option</a:t>
            </a:r>
            <a:endParaRPr lang="en-US" sz="1000" dirty="0"/>
          </a:p>
        </p:txBody>
      </p:sp>
      <p:sp>
        <p:nvSpPr>
          <p:cNvPr id="16" name="Text 14"/>
          <p:cNvSpPr/>
          <p:nvPr/>
        </p:nvSpPr>
        <p:spPr>
          <a:xfrm>
            <a:off x="3550920" y="4050792"/>
            <a:ext cx="2042160" cy="256032"/>
          </a:xfrm>
          <a:prstGeom prst="rect">
            <a:avLst/>
          </a:prstGeom>
          <a:noFill/>
          <a:ln/>
        </p:spPr>
        <p:txBody>
          <a:bodyPr wrap="square" lIns="0" tIns="0" rIns="0" bIns="0" rtlCol="0" anchor="ctr"/>
          <a:lstStyle/>
          <a:p>
            <a:pPr indent="0" marL="0">
              <a:buNone/>
            </a:pPr>
            <a:r>
              <a:rPr lang="en-US" sz="1150" dirty="0">
                <a:solidFill>
                  <a:srgbClr val="9A95B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sp>
      <p:sp>
        <p:nvSpPr>
          <p:cNvPr id="18" name="Text 16"/>
          <p:cNvSpPr/>
          <p:nvPr/>
        </p:nvSpPr>
        <p:spPr>
          <a:xfrm>
            <a:off x="632460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0" name="Text 18"/>
          <p:cNvSpPr/>
          <p:nvPr/>
        </p:nvSpPr>
        <p:spPr>
          <a:xfrm>
            <a:off x="6324600" y="3776472"/>
            <a:ext cx="2042160" cy="237744"/>
          </a:xfrm>
          <a:prstGeom prst="rect">
            <a:avLst/>
          </a:prstGeom>
          <a:noFill/>
          <a:ln/>
        </p:spPr>
        <p:txBody>
          <a:bodyPr wrap="square" lIns="0" tIns="0" rIns="0" bIns="0" rtlCol="0" anchor="ctr"/>
          <a:lstStyle/>
          <a:p>
            <a:pPr indent="0" marL="0">
              <a:buNone/>
            </a:pPr>
            <a:r>
              <a:rPr lang="en-US" sz="1000" dirty="0">
                <a:solidFill>
                  <a:srgbClr val="ECE9F8"/>
                </a:solidFill>
                <a:latin typeface="Consolas" pitchFamily="34" charset="0"/>
                <a:ea typeface="Consolas" pitchFamily="34" charset="-122"/>
                <a:cs typeface="Consolas" pitchFamily="34" charset="-120"/>
              </a:rPr>
              <a:t>"score" = Σ i · p(i)</a:t>
            </a:r>
            <a:endParaRPr lang="en-US" sz="1000" dirty="0"/>
          </a:p>
        </p:txBody>
      </p:sp>
      <p:sp>
        <p:nvSpPr>
          <p:cNvPr id="21" name="Text 19"/>
          <p:cNvSpPr/>
          <p:nvPr/>
        </p:nvSpPr>
        <p:spPr>
          <a:xfrm>
            <a:off x="6324600" y="4050792"/>
            <a:ext cx="2042160" cy="256032"/>
          </a:xfrm>
          <a:prstGeom prst="rect">
            <a:avLst/>
          </a:prstGeom>
          <a:noFill/>
          <a:ln/>
        </p:spPr>
        <p:txBody>
          <a:bodyPr wrap="square" lIns="0" tIns="0" rIns="0" bIns="0" rtlCol="0" anchor="ctr"/>
          <a:lstStyle/>
          <a:p>
            <a:pPr indent="0" marL="0">
              <a:buNone/>
            </a:pPr>
            <a:r>
              <a:rPr lang="en-US" sz="1150" dirty="0">
                <a:solidFill>
                  <a:srgbClr val="9A95B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770632"/>
            <a:ext cx="2042160" cy="457200"/>
          </a:xfrm>
          <a:prstGeom prst="rect">
            <a:avLst/>
          </a:prstGeom>
          <a:noFill/>
          <a:ln/>
        </p:spPr>
        <p:txBody>
          <a:bodyPr wrap="square" lIns="0" tIns="0" rIns="0" bIns="0" rtlCol="0" anchor="ctr"/>
          <a:lstStyle/>
          <a:p>
            <a:pPr indent="0" marL="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337560"/>
            <a:ext cx="2042160" cy="91440"/>
          </a:xfrm>
          <a:prstGeom prst="rect">
            <a:avLst/>
          </a:prstGeom>
          <a:solidFill>
            <a:srgbClr val="36316A"/>
          </a:solidFill>
          <a:ln/>
        </p:spPr>
      </p:sp>
      <p:sp>
        <p:nvSpPr>
          <p:cNvPr id="24" name="Shape 22"/>
          <p:cNvSpPr/>
          <p:nvPr/>
        </p:nvSpPr>
        <p:spPr>
          <a:xfrm>
            <a:off x="777240" y="3337560"/>
            <a:ext cx="1490777" cy="91440"/>
          </a:xfrm>
          <a:prstGeom prst="rect">
            <a:avLst/>
          </a:prstGeom>
          <a:solidFill>
            <a:srgbClr val="3DD6FF"/>
          </a:solidFill>
          <a:ln/>
        </p:spPr>
      </p:sp>
      <p:sp>
        <p:nvSpPr>
          <p:cNvPr id="25" name="Text 23"/>
          <p:cNvSpPr/>
          <p:nvPr/>
        </p:nvSpPr>
        <p:spPr>
          <a:xfrm>
            <a:off x="777240" y="3511296"/>
            <a:ext cx="914400" cy="182880"/>
          </a:xfrm>
          <a:prstGeom prst="rect">
            <a:avLst/>
          </a:prstGeom>
          <a:noFill/>
          <a:ln/>
        </p:spPr>
        <p:txBody>
          <a:bodyPr wrap="square" lIns="0" tIns="0" rIns="0" bIns="0" rtlCol="0" anchor="ctr"/>
          <a:lstStyle/>
          <a:p>
            <a:pPr indent="0" marL="0">
              <a:buNone/>
            </a:pPr>
            <a:r>
              <a:rPr lang="en-US" sz="1050" dirty="0">
                <a:solidFill>
                  <a:srgbClr val="9A95B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511296"/>
            <a:ext cx="914400" cy="182880"/>
          </a:xfrm>
          <a:prstGeom prst="rect">
            <a:avLst/>
          </a:prstGeom>
          <a:noFill/>
          <a:ln/>
        </p:spPr>
        <p:txBody>
          <a:bodyPr wrap="square" lIns="0" tIns="0" rIns="0" bIns="0" rtlCol="0" anchor="ctr"/>
          <a:lstStyle/>
          <a:p>
            <a:pPr algn="r" indent="0" marL="0">
              <a:buNone/>
            </a:pPr>
            <a:r>
              <a:rPr lang="en-US" sz="1050" dirty="0">
                <a:solidFill>
                  <a:srgbClr val="9A95B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798064"/>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843784"/>
            <a:ext cx="1356360" cy="91440"/>
          </a:xfrm>
          <a:prstGeom prst="rect">
            <a:avLst/>
          </a:prstGeom>
          <a:solidFill>
            <a:srgbClr val="36316A"/>
          </a:solidFill>
          <a:ln/>
        </p:spPr>
      </p:sp>
      <p:sp>
        <p:nvSpPr>
          <p:cNvPr id="29" name="Shape 27"/>
          <p:cNvSpPr/>
          <p:nvPr/>
        </p:nvSpPr>
        <p:spPr>
          <a:xfrm>
            <a:off x="3779520" y="2843784"/>
            <a:ext cx="840943" cy="91440"/>
          </a:xfrm>
          <a:prstGeom prst="rect">
            <a:avLst/>
          </a:prstGeom>
          <a:solidFill>
            <a:srgbClr val="FFD166"/>
          </a:solidFill>
          <a:ln/>
        </p:spPr>
      </p:sp>
      <p:sp>
        <p:nvSpPr>
          <p:cNvPr id="30" name="Text 28"/>
          <p:cNvSpPr/>
          <p:nvPr/>
        </p:nvSpPr>
        <p:spPr>
          <a:xfrm>
            <a:off x="5209032" y="2798064"/>
            <a:ext cx="384048" cy="182880"/>
          </a:xfrm>
          <a:prstGeom prst="rect">
            <a:avLst/>
          </a:prstGeom>
          <a:noFill/>
          <a:ln/>
        </p:spPr>
        <p:txBody>
          <a:bodyPr wrap="square" lIns="0" tIns="0" rIns="0" bIns="0" rtlCol="0" anchor="ctr"/>
          <a:lstStyle/>
          <a:p>
            <a:pPr algn="r" indent="0" marL="0">
              <a:buNone/>
            </a:pPr>
            <a:r>
              <a:rPr lang="en-US" sz="1050" dirty="0">
                <a:solidFill>
                  <a:srgbClr val="9A95B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035808"/>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081528"/>
            <a:ext cx="1356360" cy="91440"/>
          </a:xfrm>
          <a:prstGeom prst="rect">
            <a:avLst/>
          </a:prstGeom>
          <a:solidFill>
            <a:srgbClr val="36316A"/>
          </a:solidFill>
          <a:ln/>
        </p:spPr>
      </p:sp>
      <p:sp>
        <p:nvSpPr>
          <p:cNvPr id="33" name="Shape 31"/>
          <p:cNvSpPr/>
          <p:nvPr/>
        </p:nvSpPr>
        <p:spPr>
          <a:xfrm>
            <a:off x="3779520" y="3081528"/>
            <a:ext cx="284836" cy="91440"/>
          </a:xfrm>
          <a:prstGeom prst="rect">
            <a:avLst/>
          </a:prstGeom>
          <a:solidFill>
            <a:srgbClr val="6C6790"/>
          </a:solidFill>
          <a:ln/>
        </p:spPr>
      </p:sp>
      <p:sp>
        <p:nvSpPr>
          <p:cNvPr id="34" name="Text 32"/>
          <p:cNvSpPr/>
          <p:nvPr/>
        </p:nvSpPr>
        <p:spPr>
          <a:xfrm>
            <a:off x="5209032" y="3035808"/>
            <a:ext cx="384048" cy="182880"/>
          </a:xfrm>
          <a:prstGeom prst="rect">
            <a:avLst/>
          </a:prstGeom>
          <a:noFill/>
          <a:ln/>
        </p:spPr>
        <p:txBody>
          <a:bodyPr wrap="square" lIns="0" tIns="0" rIns="0" bIns="0" rtlCol="0" anchor="ctr"/>
          <a:lstStyle/>
          <a:p>
            <a:pPr algn="r" indent="0" marL="0">
              <a:buNone/>
            </a:pPr>
            <a:r>
              <a:rPr lang="en-US" sz="1050" dirty="0">
                <a:solidFill>
                  <a:srgbClr val="9A95B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273552"/>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319272"/>
            <a:ext cx="1356360" cy="91440"/>
          </a:xfrm>
          <a:prstGeom prst="rect">
            <a:avLst/>
          </a:prstGeom>
          <a:solidFill>
            <a:srgbClr val="36316A"/>
          </a:solidFill>
          <a:ln/>
        </p:spPr>
      </p:sp>
      <p:sp>
        <p:nvSpPr>
          <p:cNvPr id="37" name="Shape 35"/>
          <p:cNvSpPr/>
          <p:nvPr/>
        </p:nvSpPr>
        <p:spPr>
          <a:xfrm>
            <a:off x="3779520" y="3319272"/>
            <a:ext cx="162763" cy="91440"/>
          </a:xfrm>
          <a:prstGeom prst="rect">
            <a:avLst/>
          </a:prstGeom>
          <a:solidFill>
            <a:srgbClr val="6C6790"/>
          </a:solidFill>
          <a:ln/>
        </p:spPr>
      </p:sp>
      <p:sp>
        <p:nvSpPr>
          <p:cNvPr id="38" name="Text 36"/>
          <p:cNvSpPr/>
          <p:nvPr/>
        </p:nvSpPr>
        <p:spPr>
          <a:xfrm>
            <a:off x="5209032" y="3273552"/>
            <a:ext cx="384048" cy="182880"/>
          </a:xfrm>
          <a:prstGeom prst="rect">
            <a:avLst/>
          </a:prstGeom>
          <a:noFill/>
          <a:ln/>
        </p:spPr>
        <p:txBody>
          <a:bodyPr wrap="square" lIns="0" tIns="0" rIns="0" bIns="0" rtlCol="0" anchor="ctr"/>
          <a:lstStyle/>
          <a:p>
            <a:pPr algn="r" indent="0" marL="0">
              <a:buNone/>
            </a:pPr>
            <a:r>
              <a:rPr lang="en-US" sz="1050" dirty="0">
                <a:solidFill>
                  <a:srgbClr val="9A95B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511296"/>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557016"/>
            <a:ext cx="1356360" cy="91440"/>
          </a:xfrm>
          <a:prstGeom prst="rect">
            <a:avLst/>
          </a:prstGeom>
          <a:solidFill>
            <a:srgbClr val="36316A"/>
          </a:solidFill>
          <a:ln/>
        </p:spPr>
      </p:sp>
      <p:sp>
        <p:nvSpPr>
          <p:cNvPr id="41" name="Shape 39"/>
          <p:cNvSpPr/>
          <p:nvPr/>
        </p:nvSpPr>
        <p:spPr>
          <a:xfrm>
            <a:off x="3779520" y="3557016"/>
            <a:ext cx="67818" cy="91440"/>
          </a:xfrm>
          <a:prstGeom prst="rect">
            <a:avLst/>
          </a:prstGeom>
          <a:solidFill>
            <a:srgbClr val="6C6790"/>
          </a:solidFill>
          <a:ln/>
        </p:spPr>
      </p:sp>
      <p:sp>
        <p:nvSpPr>
          <p:cNvPr id="42" name="Text 40"/>
          <p:cNvSpPr/>
          <p:nvPr/>
        </p:nvSpPr>
        <p:spPr>
          <a:xfrm>
            <a:off x="5209032" y="3511296"/>
            <a:ext cx="384048" cy="182880"/>
          </a:xfrm>
          <a:prstGeom prst="rect">
            <a:avLst/>
          </a:prstGeom>
          <a:noFill/>
          <a:ln/>
        </p:spPr>
        <p:txBody>
          <a:bodyPr wrap="square" lIns="0" tIns="0" rIns="0" bIns="0" rtlCol="0" anchor="ctr"/>
          <a:lstStyle/>
          <a:p>
            <a:pPr algn="r" indent="0" marL="0">
              <a:buNone/>
            </a:pPr>
            <a:r>
              <a:rPr lang="en-US" sz="1050" dirty="0">
                <a:solidFill>
                  <a:srgbClr val="9A95B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407054"/>
            <a:ext cx="329184" cy="76810"/>
          </a:xfrm>
          <a:prstGeom prst="rect">
            <a:avLst/>
          </a:prstGeom>
          <a:solidFill>
            <a:srgbClr val="6C6790"/>
          </a:solidFill>
          <a:ln/>
        </p:spPr>
      </p:sp>
      <p:sp>
        <p:nvSpPr>
          <p:cNvPr id="44" name="Text 42"/>
          <p:cNvSpPr/>
          <p:nvPr/>
        </p:nvSpPr>
        <p:spPr>
          <a:xfrm>
            <a:off x="6324600" y="3511296"/>
            <a:ext cx="329184" cy="182880"/>
          </a:xfrm>
          <a:prstGeom prst="rect">
            <a:avLst/>
          </a:prstGeom>
          <a:noFill/>
          <a:ln/>
        </p:spPr>
        <p:txBody>
          <a:bodyPr wrap="square" lIns="0" tIns="0" rIns="0" bIns="0" rtlCol="0" anchor="ctr"/>
          <a:lstStyle/>
          <a:p>
            <a:pPr algn="ctr" indent="0" marL="0">
              <a:buNone/>
            </a:pPr>
            <a:r>
              <a:rPr lang="en-US" sz="1050" dirty="0">
                <a:solidFill>
                  <a:srgbClr val="9A95B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368650"/>
            <a:ext cx="329184" cy="115214"/>
          </a:xfrm>
          <a:prstGeom prst="rect">
            <a:avLst/>
          </a:prstGeom>
          <a:solidFill>
            <a:srgbClr val="6C6790"/>
          </a:solidFill>
          <a:ln/>
        </p:spPr>
      </p:sp>
      <p:sp>
        <p:nvSpPr>
          <p:cNvPr id="46" name="Text 44"/>
          <p:cNvSpPr/>
          <p:nvPr/>
        </p:nvSpPr>
        <p:spPr>
          <a:xfrm>
            <a:off x="6895592" y="3511296"/>
            <a:ext cx="329184" cy="182880"/>
          </a:xfrm>
          <a:prstGeom prst="rect">
            <a:avLst/>
          </a:prstGeom>
          <a:noFill/>
          <a:ln/>
        </p:spPr>
        <p:txBody>
          <a:bodyPr wrap="square" lIns="0" tIns="0" rIns="0" bIns="0" rtlCol="0" anchor="ctr"/>
          <a:lstStyle/>
          <a:p>
            <a:pPr algn="ctr" indent="0" marL="0">
              <a:buNone/>
            </a:pPr>
            <a:r>
              <a:rPr lang="en-US" sz="1050" dirty="0">
                <a:solidFill>
                  <a:srgbClr val="9A95B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099816"/>
            <a:ext cx="329184" cy="384048"/>
          </a:xfrm>
          <a:prstGeom prst="rect">
            <a:avLst/>
          </a:prstGeom>
          <a:solidFill>
            <a:srgbClr val="FFD166"/>
          </a:solidFill>
          <a:ln/>
        </p:spPr>
      </p:sp>
      <p:sp>
        <p:nvSpPr>
          <p:cNvPr id="48" name="Text 46"/>
          <p:cNvSpPr/>
          <p:nvPr/>
        </p:nvSpPr>
        <p:spPr>
          <a:xfrm>
            <a:off x="7466584" y="3511296"/>
            <a:ext cx="329184" cy="182880"/>
          </a:xfrm>
          <a:prstGeom prst="rect">
            <a:avLst/>
          </a:prstGeom>
          <a:noFill/>
          <a:ln/>
        </p:spPr>
        <p:txBody>
          <a:bodyPr wrap="square" lIns="0" tIns="0" rIns="0" bIns="0" rtlCol="0" anchor="ctr"/>
          <a:lstStyle/>
          <a:p>
            <a:pPr algn="ctr" indent="0" marL="0">
              <a:buNone/>
            </a:pPr>
            <a:r>
              <a:rPr lang="en-US" sz="1050" dirty="0">
                <a:solidFill>
                  <a:srgbClr val="9A95B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291840"/>
            <a:ext cx="329184" cy="192024"/>
          </a:xfrm>
          <a:prstGeom prst="rect">
            <a:avLst/>
          </a:prstGeom>
          <a:solidFill>
            <a:srgbClr val="6C6790"/>
          </a:solidFill>
          <a:ln/>
        </p:spPr>
      </p:sp>
      <p:sp>
        <p:nvSpPr>
          <p:cNvPr id="50" name="Text 48"/>
          <p:cNvSpPr/>
          <p:nvPr/>
        </p:nvSpPr>
        <p:spPr>
          <a:xfrm>
            <a:off x="8037576" y="3511296"/>
            <a:ext cx="329184" cy="182880"/>
          </a:xfrm>
          <a:prstGeom prst="rect">
            <a:avLst/>
          </a:prstGeom>
          <a:noFill/>
          <a:ln/>
        </p:spPr>
        <p:txBody>
          <a:bodyPr wrap="square" lIns="0" tIns="0" rIns="0" bIns="0" rtlCol="0" anchor="ctr"/>
          <a:lstStyle/>
          <a:p>
            <a:pPr algn="ctr" indent="0" marL="0">
              <a:buNone/>
            </a:pPr>
            <a:r>
              <a:rPr lang="en-US" sz="1050" dirty="0">
                <a:solidFill>
                  <a:srgbClr val="9A95B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770632"/>
            <a:ext cx="1097280" cy="201168"/>
          </a:xfrm>
          <a:prstGeom prst="rect">
            <a:avLst/>
          </a:prstGeom>
          <a:noFill/>
          <a:ln/>
        </p:spPr>
        <p:txBody>
          <a:bodyPr wrap="square" lIns="0" tIns="0" rIns="0" bIns="0" rtlCol="0" anchor="ctr"/>
          <a:lstStyle/>
          <a:p>
            <a:pPr algn="ctr" indent="0" marL="0">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a:off x="7564933" y="2980944"/>
            <a:ext cx="18288" cy="82296"/>
          </a:xfrm>
          <a:prstGeom prst="rect">
            <a:avLst/>
          </a:prstGeom>
          <a:solidFill>
            <a:srgbClr val="3DD6FF"/>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9A95B8"/>
                </a:solidFill>
                <a:latin typeface="Segoe UI Semibold" pitchFamily="34" charset="0"/>
                <a:ea typeface="Segoe UI Semibold" pitchFamily="34" charset="-122"/>
                <a:cs typeface="Segoe UI Semibold" pitchFamily="34" charset="-120"/>
              </a:rPr>
              <a:t>NOUL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9A95B8"/>
                </a:solidFill>
                <a:latin typeface="Segoe UI Semibold" pitchFamily="34" charset="0"/>
                <a:ea typeface="Segoe UI Semibold" pitchFamily="34" charset="-122"/>
                <a:cs typeface="Segoe UI Semibold" pitchFamily="34" charset="-120"/>
              </a:rPr>
              <a:t>05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sp>
      <p:sp>
        <p:nvSpPr>
          <p:cNvPr id="7" name="Text 5"/>
          <p:cNvSpPr/>
          <p:nvPr/>
        </p:nvSpPr>
        <p:spPr>
          <a:xfrm>
            <a:off x="777240" y="1874520"/>
            <a:ext cx="1828800" cy="237744"/>
          </a:xfrm>
          <a:prstGeom prst="rect">
            <a:avLst/>
          </a:prstGeom>
          <a:noFill/>
          <a:ln/>
        </p:spPr>
        <p:txBody>
          <a:bodyPr wrap="square" lIns="0" tIns="0" rIns="0" bIns="0" rtlCol="0" anchor="ctr"/>
          <a:lstStyle/>
          <a:p>
            <a:pPr indent="0" marL="0">
              <a:buNone/>
            </a:pPr>
            <a:r>
              <a:rPr lang="en-US" sz="950" spc="200" kern="0" dirty="0">
                <a:solidFill>
                  <a:srgbClr val="9A95B8"/>
                </a:solidFill>
                <a:latin typeface="Segoe UI Semibold" pitchFamily="34" charset="0"/>
                <a:ea typeface="Segoe UI Semibold" pitchFamily="34" charset="-122"/>
                <a:cs typeface="Segoe UI Semibold" pitchFamily="34" charset="-120"/>
              </a:rPr>
              <a:t>REQUEST</a:t>
            </a:r>
            <a:endParaRPr lang="en-US" sz="950" dirty="0"/>
          </a:p>
        </p:txBody>
      </p:sp>
      <p:sp>
        <p:nvSpPr>
          <p:cNvPr id="8" name="Text 6"/>
          <p:cNvSpPr/>
          <p:nvPr/>
        </p:nvSpPr>
        <p:spPr>
          <a:xfrm>
            <a:off x="777240" y="2167128"/>
            <a:ext cx="3611880" cy="822960"/>
          </a:xfrm>
          <a:prstGeom prst="rect">
            <a:avLst/>
          </a:prstGeom>
          <a:noFill/>
          <a:ln/>
        </p:spPr>
        <p:txBody>
          <a:bodyPr wrap="square" lIns="0" tIns="0" rIns="0" bIns="0" rtlCol="0" anchor="t"/>
          <a:lstStyle/>
          <a:p>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"instructions"</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"Should the driver fire the nitro boost …"</a:t>
            </a:r>
            <a:endParaRPr lang="en-US" sz="1050" dirty="0"/>
          </a:p>
          <a:p>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a:t>
            </a:r>
            <a:endParaRPr lang="en-US" sz="1050" dirty="0"/>
          </a:p>
        </p:txBody>
      </p:sp>
      <p:sp>
        <p:nvSpPr>
          <p:cNvPr id="9" name="Text 7"/>
          <p:cNvSpPr/>
          <p:nvPr/>
        </p:nvSpPr>
        <p:spPr>
          <a:xfrm>
            <a:off x="777240" y="3172968"/>
            <a:ext cx="1828800" cy="237744"/>
          </a:xfrm>
          <a:prstGeom prst="rect">
            <a:avLst/>
          </a:prstGeom>
          <a:noFill/>
          <a:ln/>
        </p:spPr>
        <p:txBody>
          <a:bodyPr wrap="square" lIns="0" tIns="0" rIns="0" bIns="0" rtlCol="0" anchor="ctr"/>
          <a:lstStyle/>
          <a:p>
            <a:pPr indent="0" marL="0">
              <a:buNone/>
            </a:pPr>
            <a:r>
              <a:rPr lang="en-US" sz="950" spc="200" kern="0" dirty="0">
                <a:solidFill>
                  <a:srgbClr val="9A95B8"/>
                </a:solidFill>
                <a:latin typeface="Segoe UI Semibold" pitchFamily="34" charset="0"/>
                <a:ea typeface="Segoe UI Semibold" pitchFamily="34" charset="-122"/>
                <a:cs typeface="Segoe UI Semibold" pitchFamily="34" charset="-120"/>
              </a:rPr>
              <a:t>RESPONSE</a:t>
            </a:r>
            <a:endParaRPr lang="en-US" sz="950" dirty="0"/>
          </a:p>
        </p:txBody>
      </p:sp>
      <p:sp>
        <p:nvSpPr>
          <p:cNvPr id="10" name="Text 8"/>
          <p:cNvSpPr/>
          <p:nvPr/>
        </p:nvSpPr>
        <p:spPr>
          <a:xfrm>
            <a:off x="777240" y="3465576"/>
            <a:ext cx="3611880" cy="182880"/>
          </a:xfrm>
          <a:prstGeom prst="rect">
            <a:avLst/>
          </a:prstGeom>
          <a:noFill/>
          <a:ln/>
        </p:spPr>
        <p:txBody>
          <a:bodyPr wrap="square" lIns="0" tIns="0" rIns="0" bIns="0" rtlCol="0" anchor="t"/>
          <a:lstStyle/>
          <a:p>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3DD6FF"/>
                </a:solidFill>
                <a:latin typeface="Consolas" pitchFamily="34" charset="0"/>
                <a:ea typeface="Consolas" pitchFamily="34" charset="-122"/>
                <a:cs typeface="Consolas" pitchFamily="34" charset="-120"/>
              </a:rPr>
              <a:t>0.62</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50" dirty="0">
                <a:solidFill>
                  <a:srgbClr val="9A95B8"/>
                </a:solidFill>
                <a:latin typeface="Consolas" pitchFamily="34" charset="0"/>
                <a:ea typeface="Consolas" pitchFamily="34" charset="-122"/>
                <a:cs typeface="Consolas" pitchFamily="34" charset="-120"/>
              </a:rPr>
              <a:t>}</a:t>
            </a:r>
            <a:endParaRPr lang="en-US" sz="1050" dirty="0"/>
          </a:p>
        </p:txBody>
      </p:sp>
      <p:sp>
        <p:nvSpPr>
          <p:cNvPr id="11" name="Text 9"/>
          <p:cNvSpPr/>
          <p:nvPr/>
        </p:nvSpPr>
        <p:spPr>
          <a:xfrm>
            <a:off x="777240" y="3904488"/>
            <a:ext cx="3566160" cy="411480"/>
          </a:xfrm>
          <a:prstGeom prst="rect">
            <a:avLst/>
          </a:prstGeom>
          <a:noFill/>
          <a:ln/>
        </p:spPr>
        <p:txBody>
          <a:bodyPr wrap="square" lIns="0" tIns="0" rIns="0" bIns="0" rtlCol="0" anchor="t"/>
          <a:lstStyle/>
          <a:p>
            <a:pPr indent="0" marL="0">
              <a:buNone/>
            </a:pPr>
            <a:r>
              <a:rPr lang="en-US" sz="1050" dirty="0">
                <a:solidFill>
                  <a:srgbClr val="9A95B8"/>
                </a:solidFill>
                <a:latin typeface="Segoe UI" pitchFamily="34" charset="0"/>
                <a:ea typeface="Segoe UI" pitchFamily="34" charset="-122"/>
                <a:cs typeface="Segoe UI" pitchFamily="34" charset="-120"/>
              </a:rPr>
              <a:t>Game code calls it a </a:t>
            </a:r>
            <a:pPr indent="0" marL="0">
              <a:buNone/>
            </a:pPr>
            <a:r>
              <a:rPr lang="en-US" sz="1050" dirty="0">
                <a:solidFill>
                  <a:srgbClr val="ECE9F8"/>
                </a:solidFill>
                <a:latin typeface="Consolas" pitchFamily="34" charset="0"/>
                <a:ea typeface="Consolas" pitchFamily="34" charset="-122"/>
                <a:cs typeface="Consolas" pitchFamily="34" charset="-120"/>
              </a:rPr>
              <a:t>predicate</a:t>
            </a:r>
            <a:pPr indent="0" marL="0">
              <a:buNone/>
            </a:pPr>
            <a:r>
              <a:rPr lang="en-US" sz="1050" dirty="0">
                <a:solidFill>
                  <a:srgbClr val="9A95B8"/>
                </a:solidFill>
                <a:latin typeface="Segoe UI" pitchFamily="34" charset="0"/>
                <a:ea typeface="Segoe UI" pitchFamily="34" charset="-122"/>
                <a:cs typeface="Segoe UI" pitchFamily="34" charset="-120"/>
              </a:rPr>
              <a:t>; </a:t>
            </a:r>
            <a:pPr indent="0" marL="0">
              <a:buNone/>
            </a:pPr>
            <a:r>
              <a:rPr lang="en-US" sz="1050" dirty="0">
                <a:solidFill>
                  <a:srgbClr val="ECE9F8"/>
                </a:solidFill>
                <a:latin typeface="Consolas" pitchFamily="34" charset="0"/>
                <a:ea typeface="Consolas" pitchFamily="34" charset="-122"/>
                <a:cs typeface="Consolas" pitchFamily="34" charset="-120"/>
              </a:rPr>
              <a:t>lib/decisions.js</a:t>
            </a:r>
            <a:pPr indent="0" marL="0">
              <a:buNone/>
            </a:pPr>
            <a:r>
              <a:rPr lang="en-US" sz="1050" dirty="0">
                <a:solidFill>
                  <a:srgbClr val="9A95B8"/>
                </a:solidFill>
                <a:latin typeface="Segoe UI" pitchFamily="34" charset="0"/>
                <a:ea typeface="Segoe UI" pitchFamily="34" charset="-122"/>
                <a:cs typeface="Segoe UI" pitchFamily="34" charset="-120"/>
              </a:rPr>
              <a:t> maps it to </a:t>
            </a:r>
            <a:pPr indent="0" marL="0">
              <a:buNone/>
            </a:pPr>
            <a:r>
              <a:rPr lang="en-US" sz="1050" dirty="0">
                <a:solidFill>
                  <a:srgbClr val="ECE9F8"/>
                </a:solidFill>
                <a:latin typeface="Consolas" pitchFamily="34" charset="0"/>
                <a:ea typeface="Consolas" pitchFamily="34" charset="-122"/>
                <a:cs typeface="Consolas" pitchFamily="34" charset="-120"/>
              </a:rPr>
              <a:t>noul</a:t>
            </a:r>
            <a:pPr indent="0" marL="0">
              <a:buNone/>
            </a:pPr>
            <a:r>
              <a:rPr lang="en-US" sz="1050" dirty="0">
                <a:solidFill>
                  <a:srgbClr val="9A95B8"/>
                </a:solidFill>
                <a:latin typeface="Segoe UI" pitchFamily="34" charset="0"/>
                <a:ea typeface="Segoe UI" pitchFamily="34" charset="-122"/>
                <a:cs typeface="Segoe UI" pitchFamily="34" charset="-120"/>
              </a:rPr>
              <a:t> on the wire.</a:t>
            </a:r>
            <a:endParaRPr lang="en-US" sz="105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indent="0" marL="0">
              <a:buNone/>
            </a:pPr>
            <a:r>
              <a:rPr lang="en-US" sz="950" spc="200" kern="0" dirty="0">
                <a:solidFill>
                  <a:srgbClr val="9A95B8"/>
                </a:solidFill>
                <a:latin typeface="Segoe UI Semibold" pitchFamily="34" charset="0"/>
                <a:ea typeface="Segoe UI Semibold" pitchFamily="34" charset="-122"/>
                <a:cs typeface="Segoe UI Semibold" pitchFamily="34" charset="-120"/>
              </a:rPr>
              <a:t>SAME ANSWER, FIVE DRIVERS</a:t>
            </a:r>
            <a:endParaRPr lang="en-US" sz="950" dirty="0"/>
          </a:p>
        </p:txBody>
      </p:sp>
      <p:sp>
        <p:nvSpPr>
          <p:cNvPr id="13" name="Shape 11"/>
          <p:cNvSpPr/>
          <p:nvPr/>
        </p:nvSpPr>
        <p:spPr>
          <a:xfrm>
            <a:off x="4846320" y="2788920"/>
            <a:ext cx="3749040" cy="73152"/>
          </a:xfrm>
          <a:prstGeom prst="rect">
            <a:avLst/>
          </a:prstGeom>
          <a:solidFill>
            <a:srgbClr val="36316A"/>
          </a:solidFill>
          <a:ln/>
        </p:spPr>
      </p:sp>
      <p:sp>
        <p:nvSpPr>
          <p:cNvPr id="14" name="Text 12"/>
          <p:cNvSpPr/>
          <p:nvPr/>
        </p:nvSpPr>
        <p:spPr>
          <a:xfrm>
            <a:off x="6330696" y="2258568"/>
            <a:ext cx="1280160" cy="219456"/>
          </a:xfrm>
          <a:prstGeom prst="rect">
            <a:avLst/>
          </a:prstGeom>
          <a:noFill/>
          <a:ln/>
        </p:spPr>
        <p:txBody>
          <a:bodyPr wrap="square" lIns="0" tIns="0" rIns="0" bIns="0" rtlCol="0" anchor="ctr"/>
          <a:lstStyle/>
          <a:p>
            <a:pPr algn="ctr" indent="0" marL="0">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sp>
      <p:sp>
        <p:nvSpPr>
          <p:cNvPr id="16" name="Shape 14"/>
          <p:cNvSpPr/>
          <p:nvPr/>
        </p:nvSpPr>
        <p:spPr>
          <a:xfrm>
            <a:off x="5407152" y="2761488"/>
            <a:ext cx="128016" cy="128016"/>
          </a:xfrm>
          <a:prstGeom prst="ellipse">
            <a:avLst/>
          </a:prstGeom>
          <a:solidFill>
            <a:srgbClr val="ECE9F8"/>
          </a:solidFill>
          <a:ln/>
        </p:spPr>
      </p:sp>
      <p:sp>
        <p:nvSpPr>
          <p:cNvPr id="17" name="Text 15"/>
          <p:cNvSpPr/>
          <p:nvPr/>
        </p:nvSpPr>
        <p:spPr>
          <a:xfrm>
            <a:off x="5196840" y="2944368"/>
            <a:ext cx="548640" cy="182880"/>
          </a:xfrm>
          <a:prstGeom prst="rect">
            <a:avLst/>
          </a:prstGeom>
          <a:noFill/>
          <a:ln/>
        </p:spPr>
        <p:txBody>
          <a:bodyPr wrap="square" lIns="0" tIns="0" rIns="0" bIns="0" rtlCol="0" anchor="ctr"/>
          <a:lstStyle/>
          <a:p>
            <a:pPr algn="ctr" indent="0" marL="0">
              <a:buNone/>
            </a:pPr>
            <a:r>
              <a:rPr lang="en-US" sz="1000" dirty="0">
                <a:solidFill>
                  <a:srgbClr val="9A95B8"/>
                </a:solidFill>
                <a:latin typeface="Segoe UI" pitchFamily="34" charset="0"/>
                <a:ea typeface="Segoe UI" pitchFamily="34" charset="-122"/>
                <a:cs typeface="Segoe UI" pitchFamily="34" charset="-120"/>
              </a:rPr>
              <a:t>0.50</a:t>
            </a:r>
            <a:endParaRPr lang="en-US" sz="1000" dirty="0"/>
          </a:p>
        </p:txBody>
      </p:sp>
      <p:sp>
        <p:nvSpPr>
          <p:cNvPr id="18" name="Shape 16"/>
          <p:cNvSpPr/>
          <p:nvPr/>
        </p:nvSpPr>
        <p:spPr>
          <a:xfrm>
            <a:off x="6656832" y="2761488"/>
            <a:ext cx="128016" cy="128016"/>
          </a:xfrm>
          <a:prstGeom prst="ellipse">
            <a:avLst/>
          </a:prstGeom>
          <a:solidFill>
            <a:srgbClr val="ECE9F8"/>
          </a:solidFill>
          <a:ln/>
        </p:spPr>
      </p:sp>
      <p:sp>
        <p:nvSpPr>
          <p:cNvPr id="19" name="Text 17"/>
          <p:cNvSpPr/>
          <p:nvPr/>
        </p:nvSpPr>
        <p:spPr>
          <a:xfrm>
            <a:off x="6446520" y="2944368"/>
            <a:ext cx="548640" cy="182880"/>
          </a:xfrm>
          <a:prstGeom prst="rect">
            <a:avLst/>
          </a:prstGeom>
          <a:noFill/>
          <a:ln/>
        </p:spPr>
        <p:txBody>
          <a:bodyPr wrap="square" lIns="0" tIns="0" rIns="0" bIns="0" rtlCol="0" anchor="ctr"/>
          <a:lstStyle/>
          <a:p>
            <a:pPr algn="ctr" indent="0" marL="0">
              <a:buNone/>
            </a:pPr>
            <a:r>
              <a:rPr lang="en-US" sz="1000" dirty="0">
                <a:solidFill>
                  <a:srgbClr val="9A95B8"/>
                </a:solidFill>
                <a:latin typeface="Segoe UI" pitchFamily="34" charset="0"/>
                <a:ea typeface="Segoe UI" pitchFamily="34" charset="-122"/>
                <a:cs typeface="Segoe UI" pitchFamily="34" charset="-120"/>
              </a:rPr>
              <a:t>0.60</a:t>
            </a:r>
            <a:endParaRPr lang="en-US" sz="1000" dirty="0"/>
          </a:p>
        </p:txBody>
      </p:sp>
      <p:sp>
        <p:nvSpPr>
          <p:cNvPr id="20" name="Shape 18"/>
          <p:cNvSpPr/>
          <p:nvPr/>
        </p:nvSpPr>
        <p:spPr>
          <a:xfrm>
            <a:off x="7281672" y="2761488"/>
            <a:ext cx="128016" cy="128016"/>
          </a:xfrm>
          <a:prstGeom prst="ellipse">
            <a:avLst/>
          </a:prstGeom>
          <a:solidFill>
            <a:srgbClr val="ECE9F8"/>
          </a:solidFill>
          <a:ln/>
        </p:spPr>
      </p:sp>
      <p:sp>
        <p:nvSpPr>
          <p:cNvPr id="21" name="Text 19"/>
          <p:cNvSpPr/>
          <p:nvPr/>
        </p:nvSpPr>
        <p:spPr>
          <a:xfrm>
            <a:off x="7071360" y="2944368"/>
            <a:ext cx="548640" cy="182880"/>
          </a:xfrm>
          <a:prstGeom prst="rect">
            <a:avLst/>
          </a:prstGeom>
          <a:noFill/>
          <a:ln/>
        </p:spPr>
        <p:txBody>
          <a:bodyPr wrap="square" lIns="0" tIns="0" rIns="0" bIns="0" rtlCol="0" anchor="ctr"/>
          <a:lstStyle/>
          <a:p>
            <a:pPr algn="ctr" indent="0" marL="0">
              <a:buNone/>
            </a:pPr>
            <a:r>
              <a:rPr lang="en-US" sz="1000" dirty="0">
                <a:solidFill>
                  <a:srgbClr val="9A95B8"/>
                </a:solidFill>
                <a:latin typeface="Segoe UI" pitchFamily="34" charset="0"/>
                <a:ea typeface="Segoe UI" pitchFamily="34" charset="-122"/>
                <a:cs typeface="Segoe UI" pitchFamily="34" charset="-120"/>
              </a:rPr>
              <a:t>0.65</a:t>
            </a:r>
            <a:endParaRPr lang="en-US" sz="10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Vega, Rigel</a:t>
            </a:r>
            <a:pPr indent="0" marL="0">
              <a:buNone/>
            </a:pPr>
            <a:r>
              <a:rPr lang="en-US" sz="1150" dirty="0">
                <a:solidFill>
                  <a:srgbClr val="9A95B8"/>
                </a:solidFill>
                <a:latin typeface="Segoe UI" pitchFamily="34" charset="0"/>
                <a:ea typeface="Segoe UI" pitchFamily="34" charset="-122"/>
                <a:cs typeface="Segoe UI" pitchFamily="34" charset="-120"/>
              </a:rPr>
              <a:t>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Orion</a:t>
            </a:r>
            <a:pPr indent="0" marL="0">
              <a:buNone/>
            </a:pPr>
            <a:r>
              <a:rPr lang="en-US" sz="1150" dirty="0">
                <a:solidFill>
                  <a:srgbClr val="9A95B8"/>
                </a:solidFill>
                <a:latin typeface="Segoe UI" pitchFamily="34" charset="0"/>
                <a:ea typeface="Segoe UI" pitchFamily="34" charset="-122"/>
                <a:cs typeface="Segoe UI" pitchFamily="34" charset="-120"/>
              </a:rPr>
              <a:t>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Nova, Lyra</a:t>
            </a:r>
            <a:pPr indent="0" marL="0">
              <a:buNone/>
            </a:pPr>
            <a:r>
              <a:rPr lang="en-US" sz="1150" dirty="0">
                <a:solidFill>
                  <a:srgbClr val="9A95B8"/>
                </a:solidFill>
                <a:latin typeface="Segoe UI" pitchFamily="34" charset="0"/>
                <a:ea typeface="Segoe UI" pitchFamily="34" charset="-122"/>
                <a:cs typeface="Segoe UI" pitchFamily="34" charset="-120"/>
              </a:rPr>
              <a:t>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algn="r" indent="0" marL="0">
              <a:buNone/>
            </a:pPr>
            <a:r>
              <a:rPr lang="en-US" sz="1100" b="1" spc="200" kern="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9A95B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9A95B8"/>
                </a:solidFill>
                <a:latin typeface="Segoe UI Semibold" pitchFamily="34" charset="0"/>
                <a:ea typeface="Segoe UI Semibold" pitchFamily="34" charset="-122"/>
                <a:cs typeface="Segoe UI Semibold" pitchFamily="34" charset="-120"/>
              </a:rPr>
              <a:t>06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914400"/>
        </p:xfrm>
        <a:graphic>
          <a:graphicData uri="http://schemas.openxmlformats.org/drawingml/2006/table">
            <a:tbl>
              <a:tblPr/>
              <a:tblGrid>
                <a:gridCol w="1325880"/>
                <a:gridCol w="1463040"/>
                <a:gridCol w="685800"/>
                <a:gridCol w="2148840"/>
                <a:gridCol w="2423160"/>
              </a:tblGrid>
              <a:tr h="274320">
                <a:tc>
                  <a:txBody>
                    <a:bodyPr/>
                    <a:lstStyle/>
                    <a:p>
                      <a:pPr indent="0" marL="0">
                        <a:buNone/>
                      </a:pPr>
                      <a:r>
                        <a:rPr lang="en-US" sz="900" spc="200" kern="0" dirty="0">
                          <a:solidFill>
                            <a:srgbClr val="9A95B8"/>
                          </a:solidFill>
                          <a:latin typeface="Segoe UI Semibold" pitchFamily="34" charset="0"/>
                          <a:ea typeface="Segoe UI Semibold" pitchFamily="34" charset="-122"/>
                          <a:cs typeface="Segoe UI Semibold" pitchFamily="34" charset="-120"/>
                        </a:rPr>
                        <a:t>CALLER</a:t>
                      </a:r>
                      <a:endParaRPr lang="en-US" sz="9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900" spc="200" kern="0" dirty="0">
                          <a:solidFill>
                            <a:srgbClr val="9A95B8"/>
                          </a:solidFill>
                          <a:latin typeface="Segoe UI Semibold" pitchFamily="34" charset="0"/>
                          <a:ea typeface="Segoe UI Semibold" pitchFamily="34" charset="-122"/>
                          <a:cs typeface="Segoe UI Semibold" pitchFamily="34" charset="-120"/>
                        </a:rPr>
                        <a:t>QUESTION</a:t>
                      </a:r>
                      <a:endParaRPr lang="en-US" sz="9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900" spc="200" kern="0" dirty="0">
                          <a:solidFill>
                            <a:srgbClr val="9A95B8"/>
                          </a:solidFill>
                          <a:latin typeface="Segoe UI Semibold" pitchFamily="34" charset="0"/>
                          <a:ea typeface="Segoe UI Semibold" pitchFamily="34" charset="-122"/>
                          <a:cs typeface="Segoe UI Semibold" pitchFamily="34" charset="-120"/>
                        </a:rPr>
                        <a:t>TYPE</a:t>
                      </a:r>
                      <a:endParaRPr lang="en-US" sz="9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900" spc="200" kern="0" dirty="0">
                          <a:solidFill>
                            <a:srgbClr val="9A95B8"/>
                          </a:solidFill>
                          <a:latin typeface="Segoe UI Semibold" pitchFamily="34" charset="0"/>
                          <a:ea typeface="Segoe UI Semibold" pitchFamily="34" charset="-122"/>
                          <a:cs typeface="Segoe UI Semibold" pitchFamily="34" charset="-120"/>
                        </a:rPr>
                        <a:t>ANSWER SPACE</a:t>
                      </a:r>
                      <a:endParaRPr lang="en-US" sz="9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900" spc="200" kern="0" dirty="0">
                          <a:solidFill>
                            <a:srgbClr val="9A95B8"/>
                          </a:solidFill>
                          <a:latin typeface="Segoe UI Semibold" pitchFamily="34" charset="0"/>
                          <a:ea typeface="Segoe UI Semibold" pitchFamily="34" charset="-122"/>
                          <a:cs typeface="Segoe UI Semibold" pitchFamily="34" charset="-120"/>
                        </a:rPr>
                        <a:t>GAME POLICY</a:t>
                      </a:r>
                      <a:endParaRPr lang="en-US" sz="9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indent="0" marL="0">
                        <a:buNone/>
                      </a:pPr>
                      <a:r>
                        <a:rPr lang="en-US" sz="950" dirty="0">
                          <a:solidFill>
                            <a:srgbClr val="9A95B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9A95B8"/>
                          </a:solidFill>
                          <a:latin typeface="Segoe UI" pitchFamily="34" charset="0"/>
                          <a:ea typeface="Segoe UI" pitchFamily="34" charset="-122"/>
                          <a:cs typeface="Segoe UI" pitchFamily="34" charset="-120"/>
                        </a:rPr>
                        <a:t>6 maneuvers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9A95B8"/>
                          </a:solidFill>
                          <a:latin typeface="Segoe UI" pitchFamily="34" charset="0"/>
                          <a:ea typeface="Segoe UI" pitchFamily="34" charset="-122"/>
                          <a:cs typeface="Segoe UI" pitchFamily="34" charset="-120"/>
                        </a:rPr>
                        <a:t>0–3, Conserve → Flat out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speed = top × (0.92 + 0.03·score)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9A95B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2">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indent="0" marL="0">
                        <a:buNone/>
                      </a:pPr>
                      <a:r>
                        <a:rPr lang="en-US" sz="950" dirty="0">
                          <a:solidFill>
                            <a:srgbClr val="9A95B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9A95B8"/>
                          </a:solidFill>
                          <a:latin typeface="Segoe UI" pitchFamily="34" charset="0"/>
                          <a:ea typeface="Segoe UI" pitchFamily="34" charset="-122"/>
                          <a:cs typeface="Segoe UI" pitchFamily="34" charset="-120"/>
                        </a:rPr>
                        <a:t>player · rival · incident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9A95B8"/>
                          </a:solidFill>
                          <a:latin typeface="Segoe UI" pitchFamily="34" charset="0"/>
                          <a:ea typeface="Segoe UI" pitchFamily="34" charset="-122"/>
                          <a:cs typeface="Segoe UI" pitchFamily="34" charset="-120"/>
                        </a:rPr>
                        <a:t>0–2, Light touch → Dangerous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indent="0" marL="0">
                        <a:buNone/>
                      </a:pPr>
                      <a:r>
                        <a:rPr lang="en-US" sz="950" dirty="0">
                          <a:solidFill>
                            <a:srgbClr val="9A95B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9A95B8"/>
                          </a:solidFill>
                          <a:latin typeface="Segoe UI" pitchFamily="34" charset="0"/>
                          <a:ea typeface="Segoe UI" pitchFamily="34" charset="-122"/>
                          <a:cs typeface="Segoe UI" pitchFamily="34" charset="-120"/>
                        </a:rPr>
                        <a:t>0–3, Rookie → Champion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9A95B8"/>
                          </a:solidFill>
                          <a:latin typeface="Segoe UI" pitchFamily="34" charset="0"/>
                          <a:ea typeface="Segoe UI" pitchFamily="34" charset="-122"/>
                          <a:cs typeface="Segoe UI" pitchFamily="34" charset="-120"/>
                        </a:rPr>
                        <a:t>one per driver, built at runtime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9A95B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9A95B8"/>
                </a:solidFill>
                <a:latin typeface="Segoe UI Semibold" pitchFamily="34" charset="0"/>
                <a:ea typeface="Segoe UI Semibold" pitchFamily="34" charset="-122"/>
                <a:cs typeface="Segoe UI Semibold" pitchFamily="34" charset="-120"/>
              </a:rPr>
              <a:t>ON THE WIRE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9A95B8"/>
                </a:solidFill>
                <a:latin typeface="Segoe UI Semibold" pitchFamily="34" charset="0"/>
                <a:ea typeface="Segoe UI Semibold" pitchFamily="34" charset="-122"/>
                <a:cs typeface="Segoe UI Semibold" pitchFamily="34" charset="-120"/>
              </a:rPr>
              <a:t>07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request, three answers</a:t>
            </a:r>
            <a:endParaRPr lang="en-US" sz="3400" dirty="0"/>
          </a:p>
        </p:txBody>
      </p:sp>
      <p:sp>
        <p:nvSpPr>
          <p:cNvPr id="6" name="Shape 4"/>
          <p:cNvSpPr/>
          <p:nvPr/>
        </p:nvSpPr>
        <p:spPr>
          <a:xfrm>
            <a:off x="548640" y="1691640"/>
            <a:ext cx="3886200" cy="2834640"/>
          </a:xfrm>
          <a:prstGeom prst="roundRect">
            <a:avLst>
              <a:gd name="adj" fmla="val 3871"/>
            </a:avLst>
          </a:prstGeom>
          <a:solidFill>
            <a:srgbClr val="110F2B"/>
          </a:solidFill>
          <a:ln/>
        </p:spPr>
      </p:sp>
      <p:sp>
        <p:nvSpPr>
          <p:cNvPr id="7" name="Shape 5"/>
          <p:cNvSpPr/>
          <p:nvPr/>
        </p:nvSpPr>
        <p:spPr>
          <a:xfrm>
            <a:off x="4709160" y="1691640"/>
            <a:ext cx="3886200" cy="2834640"/>
          </a:xfrm>
          <a:prstGeom prst="roundRect">
            <a:avLst>
              <a:gd name="adj" fmla="val 3871"/>
            </a:avLst>
          </a:prstGeom>
          <a:solidFill>
            <a:srgbClr val="110F2B"/>
          </a:solidFill>
          <a:ln/>
        </p:spPr>
      </p:sp>
      <p:sp>
        <p:nvSpPr>
          <p:cNvPr id="8" name="Text 6"/>
          <p:cNvSpPr/>
          <p:nvPr/>
        </p:nvSpPr>
        <p:spPr>
          <a:xfrm>
            <a:off x="777240" y="1856232"/>
            <a:ext cx="1828800" cy="237744"/>
          </a:xfrm>
          <a:prstGeom prst="rect">
            <a:avLst/>
          </a:prstGeom>
          <a:noFill/>
          <a:ln/>
        </p:spPr>
        <p:txBody>
          <a:bodyPr wrap="square" lIns="0" tIns="0" rIns="0" bIns="0" rtlCol="0" anchor="ctr"/>
          <a:lstStyle/>
          <a:p>
            <a:pPr indent="0" marL="0">
              <a:buNone/>
            </a:pPr>
            <a:r>
              <a:rPr lang="en-US" sz="950" spc="200" kern="0" dirty="0">
                <a:solidFill>
                  <a:srgbClr val="9A95B8"/>
                </a:solidFill>
                <a:latin typeface="Segoe UI Semibold" pitchFamily="34" charset="0"/>
                <a:ea typeface="Segoe UI Semibold" pitchFamily="34" charset="-122"/>
                <a:cs typeface="Segoe UI Semibold" pitchFamily="34" charset="-120"/>
              </a:rPr>
              <a:t>REQUEST</a:t>
            </a:r>
            <a:endParaRPr lang="en-US" sz="950" dirty="0"/>
          </a:p>
        </p:txBody>
      </p:sp>
      <p:sp>
        <p:nvSpPr>
          <p:cNvPr id="9" name="Text 7"/>
          <p:cNvSpPr/>
          <p:nvPr/>
        </p:nvSpPr>
        <p:spPr>
          <a:xfrm>
            <a:off x="4937760" y="1856232"/>
            <a:ext cx="1828800" cy="237744"/>
          </a:xfrm>
          <a:prstGeom prst="rect">
            <a:avLst/>
          </a:prstGeom>
          <a:noFill/>
          <a:ln/>
        </p:spPr>
        <p:txBody>
          <a:bodyPr wrap="square" lIns="0" tIns="0" rIns="0" bIns="0" rtlCol="0" anchor="ctr"/>
          <a:lstStyle/>
          <a:p>
            <a:pPr indent="0" marL="0">
              <a:buNone/>
            </a:pPr>
            <a:r>
              <a:rPr lang="en-US" sz="950" spc="200" kern="0" dirty="0">
                <a:solidFill>
                  <a:srgbClr val="9A95B8"/>
                </a:solidFill>
                <a:latin typeface="Segoe UI Semibold" pitchFamily="34" charset="0"/>
                <a:ea typeface="Segoe UI Semibold" pitchFamily="34" charset="-122"/>
                <a:cs typeface="Segoe UI Semibold" pitchFamily="34" charset="-120"/>
              </a:rPr>
              <a:t>RESPONSE</a:t>
            </a:r>
            <a:endParaRPr lang="en-US" sz="950" dirty="0"/>
          </a:p>
        </p:txBody>
      </p:sp>
      <p:sp>
        <p:nvSpPr>
          <p:cNvPr id="10" name="Text 8"/>
          <p:cNvSpPr/>
          <p:nvPr/>
        </p:nvSpPr>
        <p:spPr>
          <a:xfrm>
            <a:off x="777240" y="2130552"/>
            <a:ext cx="3474720" cy="2267712"/>
          </a:xfrm>
          <a:prstGeom prst="rect">
            <a:avLst/>
          </a:prstGeom>
          <a:noFill/>
          <a:ln/>
        </p:spPr>
        <p:txBody>
          <a:bodyPr wrap="square" lIns="0" tIns="0" rIns="0" bIns="0" rtlCol="0" anchor="t"/>
          <a:lstStyle/>
          <a:p>
            <a:pPr indent="0" marL="0">
              <a:lnSpc>
                <a:spcPct val="100000"/>
              </a:lnSpc>
              <a:buNone/>
            </a:pPr>
            <a:r>
              <a:rPr lang="en-US" sz="1000" dirty="0">
                <a:solidFill>
                  <a:srgbClr val="3DD6FF"/>
                </a:solidFill>
                <a:latin typeface="Consolas" pitchFamily="34" charset="0"/>
                <a:ea typeface="Consolas" pitchFamily="34" charset="-122"/>
                <a:cs typeface="Consolas" pitchFamily="34" charset="-120"/>
              </a:rPr>
              <a:t>POST {endpoint}/providers/microsoft/v1/systemone</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FD166"/>
                </a:solidFill>
                <a:latin typeface="Consolas" pitchFamily="34" charset="0"/>
                <a:ea typeface="Consolas" pitchFamily="34" charset="-122"/>
                <a:cs typeface="Consolas" pitchFamily="34" charset="-120"/>
              </a:rPr>
              <a:t>"decision-1-dz"</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"state"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FD166"/>
                </a:solidFill>
                <a:latin typeface="Consolas" pitchFamily="34" charset="0"/>
                <a:ea typeface="Consolas" pitchFamily="34" charset="-122"/>
                <a:cs typeface="Consolas" pitchFamily="34" charset="-120"/>
              </a:rPr>
              <a:t>"&lt;race situation, plain text&gt;"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"questions"</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FD166"/>
                </a:solidFill>
                <a:latin typeface="Consolas" pitchFamily="34" charset="0"/>
                <a:ea typeface="Consolas" pitchFamily="34" charset="-122"/>
                <a:cs typeface="Consolas" pitchFamily="34" charset="-120"/>
              </a:rPr>
              <a:t>"choice"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"instructions"</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FD166"/>
                </a:solidFill>
                <a:latin typeface="Consolas" pitchFamily="34" charset="0"/>
                <a:ea typeface="Consolas" pitchFamily="34" charset="-122"/>
                <a:cs typeface="Consolas" pitchFamily="34" charset="-120"/>
              </a:rPr>
              <a:t>"Which maneuver…?"</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"criteria"</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"racing_line"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FD166"/>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FD166"/>
                </a:solidFill>
                <a:latin typeface="Consolas" pitchFamily="34" charset="0"/>
                <a:ea typeface="Consolas" pitchFamily="34" charset="-122"/>
                <a:cs typeface="Consolas" pitchFamily="34" charset="-120"/>
              </a:rPr>
              <a:t>"score"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"instructions"</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FD166"/>
                </a:solidFill>
                <a:latin typeface="Consolas" pitchFamily="34" charset="0"/>
                <a:ea typeface="Consolas" pitchFamily="34" charset="-122"/>
                <a:cs typeface="Consolas" pitchFamily="34" charset="-120"/>
              </a:rPr>
              <a:t>"How hard…?"</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"criteria"</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FFD166"/>
                </a:solidFill>
                <a:latin typeface="Consolas" pitchFamily="34" charset="0"/>
                <a:ea typeface="Consolas" pitchFamily="34" charset="-122"/>
                <a:cs typeface="Consolas" pitchFamily="34" charset="-120"/>
              </a:rPr>
              <a:t>"Conserve: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"instructions"</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FD166"/>
                </a:solidFill>
                <a:latin typeface="Consolas" pitchFamily="34" charset="0"/>
                <a:ea typeface="Consolas" pitchFamily="34" charset="-122"/>
                <a:cs typeface="Consolas" pitchFamily="34" charset="-120"/>
              </a:rPr>
              <a:t>"Should the driver…?"</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p:txBody>
      </p:sp>
      <p:sp>
        <p:nvSpPr>
          <p:cNvPr id="11" name="Text 9"/>
          <p:cNvSpPr/>
          <p:nvPr/>
        </p:nvSpPr>
        <p:spPr>
          <a:xfrm>
            <a:off x="4937760" y="2130552"/>
            <a:ext cx="3474720" cy="2267712"/>
          </a:xfrm>
          <a:prstGeom prst="rect">
            <a:avLst/>
          </a:prstGeom>
          <a:noFill/>
          <a:ln/>
        </p:spPr>
        <p:txBody>
          <a:bodyPr wrap="square" lIns="0" tIns="0" rIns="0" bIns="0" rtlCol="0" anchor="t"/>
          <a:lstStyle/>
          <a:p>
            <a:pPr indent="0" marL="0">
              <a:lnSpc>
                <a:spcPct val="100000"/>
              </a:lnSpc>
              <a:buNone/>
            </a:pPr>
            <a:r>
              <a:rPr lang="en-US" sz="1000" dirty="0">
                <a:solidFill>
                  <a:srgbClr val="4ADE80"/>
                </a:solidFill>
                <a:latin typeface="Consolas" pitchFamily="34" charset="0"/>
                <a:ea typeface="Consolas" pitchFamily="34" charset="-122"/>
                <a:cs typeface="Consolas" pitchFamily="34" charset="-120"/>
              </a:rPr>
              <a:t>200 OK</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FD166"/>
                </a:solidFill>
                <a:latin typeface="Consolas" pitchFamily="34" charset="0"/>
                <a:ea typeface="Consolas" pitchFamily="34" charset="-122"/>
                <a:cs typeface="Consolas" pitchFamily="34" charset="-120"/>
              </a:rPr>
              <a:t>"microsoft-decision-1"</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"answers"</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FD166"/>
                </a:solidFill>
                <a:latin typeface="Consolas" pitchFamily="34" charset="0"/>
                <a:ea typeface="Consolas" pitchFamily="34" charset="-122"/>
                <a:cs typeface="Consolas" pitchFamily="34" charset="-120"/>
              </a:rPr>
              <a:t>"choice"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"choice"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FD166"/>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"confidence"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"probabilities"</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"racing_line"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FD166"/>
                </a:solidFill>
                <a:latin typeface="Consolas" pitchFamily="34" charset="0"/>
                <a:ea typeface="Consolas" pitchFamily="34" charset="-122"/>
                <a:cs typeface="Consolas" pitchFamily="34" charset="-120"/>
              </a:rPr>
              <a:t>"score"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"score"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"confidence"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"probabilities"</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"legend"</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"0"</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FD166"/>
                </a:solidFill>
                <a:latin typeface="Consolas" pitchFamily="34" charset="0"/>
                <a:ea typeface="Consolas" pitchFamily="34" charset="-122"/>
                <a:cs typeface="Consolas" pitchFamily="34" charset="-120"/>
              </a:rPr>
              <a:t>"Conserve: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"usage"</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ECE9F8"/>
                </a:solidFill>
                <a:latin typeface="Consolas" pitchFamily="34" charset="0"/>
                <a:ea typeface="Consolas" pitchFamily="34" charset="-122"/>
                <a:cs typeface="Consolas" pitchFamily="34" charset="-120"/>
              </a:rPr>
              <a:t>"input_tokens"</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 </a:t>
            </a:r>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a:p>
            <a:pPr indent="0" marL="0">
              <a:lnSpc>
                <a:spcPct val="100000"/>
              </a:lnSpc>
              <a:buNone/>
            </a:pPr>
            <a:r>
              <a:rPr lang="en-US" sz="1000" dirty="0">
                <a:solidFill>
                  <a:srgbClr val="9A95B8"/>
                </a:solidFill>
                <a:latin typeface="Consolas" pitchFamily="34" charset="0"/>
                <a:ea typeface="Consolas" pitchFamily="34" charset="-122"/>
                <a:cs typeface="Consolas" pitchFamily="34" charset="-120"/>
              </a:rPr>
              <a: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9A95B8"/>
                </a:solidFill>
                <a:latin typeface="Segoe UI Semibold" pitchFamily="34" charset="0"/>
                <a:ea typeface="Segoe UI Semibold" pitchFamily="34" charset="-122"/>
                <a:cs typeface="Segoe UI Semibold" pitchFamily="34" charset="-120"/>
              </a:rPr>
              <a:t>SEQUENCE  ·  ONE RIVAL DECISION</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9A95B8"/>
                </a:solidFill>
                <a:latin typeface="Segoe UI Semibold" pitchFamily="34" charset="0"/>
                <a:ea typeface="Segoe UI Semibold" pitchFamily="34" charset="-122"/>
                <a:cs typeface="Segoe UI Semibold" pitchFamily="34" charset="-120"/>
              </a:rPr>
              <a:t>08 / 11</a:t>
            </a:r>
            <a:endParaRPr lang="en-US" sz="1100" dirty="0"/>
          </a:p>
        </p:txBody>
      </p:sp>
      <p:pic>
        <p:nvPicPr>
          <p:cNvPr id="5" name="Image 0" descr="Sequence diagram: the browser posts telemetry to the game server, which calls Microsoft-Decision-1 and returns maneuver, pace and nitro probability; on failure the browser uses a local heuristic">    </p:cNvPr>
          <p:cNvPicPr>
            <a:picLocks noChangeAspect="1"/>
          </p:cNvPicPr>
          <p:nvPr/>
        </p:nvPicPr>
        <p:blipFill>
          <a:blip r:embed="rId1"/>
          <a:stretch>
            <a:fillRect/>
          </a:stretch>
        </p:blipFill>
        <p:spPr>
          <a:xfrm>
            <a:off x="548640" y="914400"/>
            <a:ext cx="8046720" cy="35907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9A95B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9A95B8"/>
                </a:solidFill>
                <a:latin typeface="Segoe UI Semibold" pitchFamily="34" charset="0"/>
                <a:ea typeface="Segoe UI Semibold" pitchFamily="34" charset="-122"/>
                <a:cs typeface="Segoe UI Semibold" pitchFamily="34" charset="-120"/>
              </a:rPr>
              <a:t>09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691640"/>
            <a:ext cx="3886200" cy="1280160"/>
          </a:xfrm>
          <a:prstGeom prst="roundRect">
            <a:avLst>
              <a:gd name="adj" fmla="val 8571"/>
            </a:avLst>
          </a:prstGeom>
          <a:solidFill>
            <a:srgbClr val="110F2B"/>
          </a:solidFill>
          <a:ln/>
        </p:spPr>
      </p:sp>
      <p:pic>
        <p:nvPicPr>
          <p:cNvPr id="7" name="Image 0" descr="Key icon">    </p:cNvPr>
          <p:cNvPicPr>
            <a:picLocks noChangeAspect="1"/>
          </p:cNvPicPr>
          <p:nvPr/>
        </p:nvPicPr>
        <p:blipFill>
          <a:blip r:embed="rId1"/>
          <a:stretch>
            <a:fillRect/>
          </a:stretch>
        </p:blipFill>
        <p:spPr>
          <a:xfrm>
            <a:off x="795528" y="1911096"/>
            <a:ext cx="292608" cy="292608"/>
          </a:xfrm>
          <a:prstGeom prst="rect">
            <a:avLst/>
          </a:prstGeom>
        </p:spPr>
      </p:pic>
      <p:sp>
        <p:nvSpPr>
          <p:cNvPr id="8" name="Text 5"/>
          <p:cNvSpPr/>
          <p:nvPr/>
        </p:nvSpPr>
        <p:spPr>
          <a:xfrm>
            <a:off x="123444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331720"/>
            <a:ext cx="3429000" cy="502920"/>
          </a:xfrm>
          <a:prstGeom prst="rect">
            <a:avLst/>
          </a:prstGeom>
          <a:noFill/>
          <a:ln/>
        </p:spPr>
        <p:txBody>
          <a:bodyPr wrap="square" lIns="0" tIns="0" rIns="0" bIns="0" rtlCol="0" anchor="t"/>
          <a:lstStyle/>
          <a:p>
            <a:pPr indent="0" marL="0">
              <a:buNone/>
            </a:pPr>
            <a:r>
              <a:rPr lang="en-US" sz="1150" dirty="0">
                <a:solidFill>
                  <a:srgbClr val="9A95B8"/>
                </a:solidFill>
                <a:latin typeface="Segoe UI" pitchFamily="34" charset="0"/>
                <a:ea typeface="Segoe UI" pitchFamily="34" charset="-122"/>
                <a:cs typeface="Segoe UI" pitchFamily="34" charset="-120"/>
              </a:rPr>
              <a:t>API key → managed identity → Azure CLI login.</a:t>
            </a:r>
            <a:endParaRPr lang="en-US" sz="1150" dirty="0"/>
          </a:p>
          <a:p>
            <a:pPr indent="0" marL="0">
              <a:buNone/>
            </a:pPr>
            <a:r>
              <a:rPr lang="en-US" sz="1150" dirty="0">
                <a:solidFill>
                  <a:srgbClr val="9A95B8"/>
                </a:solidFill>
                <a:latin typeface="Segoe UI" pitchFamily="34" charset="0"/>
                <a:ea typeface="Segoe UI" pitchFamily="34" charset="-122"/>
                <a:cs typeface="Segoe UI" pitchFamily="34" charset="-120"/>
              </a:rPr>
              <a:t>Tokens are cached and refreshed 5 min early.</a:t>
            </a:r>
            <a:endParaRPr lang="en-US" sz="1150" dirty="0"/>
          </a:p>
        </p:txBody>
      </p:sp>
      <p:sp>
        <p:nvSpPr>
          <p:cNvPr id="10" name="Shape 7"/>
          <p:cNvSpPr/>
          <p:nvPr/>
        </p:nvSpPr>
        <p:spPr>
          <a:xfrm>
            <a:off x="4709160" y="1691640"/>
            <a:ext cx="3886200" cy="1280160"/>
          </a:xfrm>
          <a:prstGeom prst="roundRect">
            <a:avLst>
              <a:gd name="adj" fmla="val 8571"/>
            </a:avLst>
          </a:prstGeom>
          <a:solidFill>
            <a:srgbClr val="110F2B"/>
          </a:solidFill>
          <a:ln/>
        </p:spPr>
      </p:sp>
      <p:pic>
        <p:nvPicPr>
          <p:cNvPr id="11" name="Image 1" descr="Shield icon">    </p:cNvPr>
          <p:cNvPicPr>
            <a:picLocks noChangeAspect="1"/>
          </p:cNvPicPr>
          <p:nvPr/>
        </p:nvPicPr>
        <p:blipFill>
          <a:blip r:embed="rId2"/>
          <a:stretch>
            <a:fillRect/>
          </a:stretch>
        </p:blipFill>
        <p:spPr>
          <a:xfrm>
            <a:off x="4937760" y="1892808"/>
            <a:ext cx="329184" cy="329184"/>
          </a:xfrm>
          <a:prstGeom prst="rect">
            <a:avLst/>
          </a:prstGeom>
        </p:spPr>
      </p:pic>
      <p:sp>
        <p:nvSpPr>
          <p:cNvPr id="12" name="Text 8"/>
          <p:cNvSpPr/>
          <p:nvPr/>
        </p:nvSpPr>
        <p:spPr>
          <a:xfrm>
            <a:off x="539496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331720"/>
            <a:ext cx="3429000" cy="502920"/>
          </a:xfrm>
          <a:prstGeom prst="rect">
            <a:avLst/>
          </a:prstGeom>
          <a:noFill/>
          <a:ln/>
        </p:spPr>
        <p:txBody>
          <a:bodyPr wrap="square" lIns="0" tIns="0" rIns="0" bIns="0" rtlCol="0" anchor="t"/>
          <a:lstStyle/>
          <a:p>
            <a:pPr indent="0" marL="0">
              <a:buNone/>
            </a:pPr>
            <a:r>
              <a:rPr lang="en-US" sz="1150" dirty="0">
                <a:solidFill>
                  <a:srgbClr val="9A95B8"/>
                </a:solidFill>
                <a:latin typeface="Segoe UI" pitchFamily="34" charset="0"/>
                <a:ea typeface="Segoe UI" pitchFamily="34" charset="-122"/>
                <a:cs typeface="Segoe UI" pitchFamily="34" charset="-120"/>
              </a:rPr>
              <a:t>Same-origin only. The browser sends telemetry,</a:t>
            </a:r>
            <a:endParaRPr lang="en-US" sz="1150" dirty="0"/>
          </a:p>
          <a:p>
            <a:pPr indent="0" marL="0">
              <a:buNone/>
            </a:pPr>
            <a:r>
              <a:rPr lang="en-US" sz="1150" dirty="0">
                <a:solidFill>
                  <a:srgbClr val="9A95B8"/>
                </a:solidFill>
                <a:latin typeface="Segoe UI" pitchFamily="34" charset="0"/>
                <a:ea typeface="Segoe UI" pitchFamily="34" charset="-122"/>
                <a:cs typeface="Segoe UI" pitchFamily="34" charset="-120"/>
              </a:rPr>
              <a:t>never questions; every field is clamped.</a:t>
            </a:r>
            <a:endParaRPr lang="en-US" sz="1150" dirty="0"/>
          </a:p>
        </p:txBody>
      </p:sp>
      <p:sp>
        <p:nvSpPr>
          <p:cNvPr id="14" name="Shape 10"/>
          <p:cNvSpPr/>
          <p:nvPr/>
        </p:nvSpPr>
        <p:spPr>
          <a:xfrm>
            <a:off x="548640" y="3246120"/>
            <a:ext cx="3886200" cy="1280160"/>
          </a:xfrm>
          <a:prstGeom prst="roundRect">
            <a:avLst>
              <a:gd name="adj" fmla="val 8571"/>
            </a:avLst>
          </a:prstGeom>
          <a:solidFill>
            <a:srgbClr val="110F2B"/>
          </a:solidFill>
          <a:ln/>
        </p:spPr>
      </p:sp>
      <p:pic>
        <p:nvPicPr>
          <p:cNvPr id="15" name="Image 2" descr="Stopwatch icon">    </p:cNvPr>
          <p:cNvPicPr>
            <a:picLocks noChangeAspect="1"/>
          </p:cNvPicPr>
          <p:nvPr/>
        </p:nvPicPr>
        <p:blipFill>
          <a:blip r:embed="rId3"/>
          <a:stretch>
            <a:fillRect/>
          </a:stretch>
        </p:blipFill>
        <p:spPr>
          <a:xfrm>
            <a:off x="777240" y="3447288"/>
            <a:ext cx="329184" cy="329184"/>
          </a:xfrm>
          <a:prstGeom prst="rect">
            <a:avLst/>
          </a:prstGeom>
        </p:spPr>
      </p:pic>
      <p:sp>
        <p:nvSpPr>
          <p:cNvPr id="16" name="Text 11"/>
          <p:cNvSpPr/>
          <p:nvPr/>
        </p:nvSpPr>
        <p:spPr>
          <a:xfrm>
            <a:off x="123444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86200"/>
            <a:ext cx="3429000" cy="502920"/>
          </a:xfrm>
          <a:prstGeom prst="rect">
            <a:avLst/>
          </a:prstGeom>
          <a:noFill/>
          <a:ln/>
        </p:spPr>
        <p:txBody>
          <a:bodyPr wrap="square" lIns="0" tIns="0" rIns="0" bIns="0" rtlCol="0" anchor="t"/>
          <a:lstStyle/>
          <a:p>
            <a:pPr indent="0" marL="0">
              <a:buNone/>
            </a:pPr>
            <a:r>
              <a:rPr lang="en-US" sz="1150" dirty="0">
                <a:solidFill>
                  <a:srgbClr val="9A95B8"/>
                </a:solidFill>
                <a:latin typeface="Segoe UI" pitchFamily="34" charset="0"/>
                <a:ea typeface="Segoe UI" pitchFamily="34" charset="-122"/>
                <a:cs typeface="Segoe UI" pitchFamily="34" charset="-120"/>
              </a:rPr>
              <a:t>16 calls in flight, 20,000 a day, then 429.</a:t>
            </a:r>
            <a:endParaRPr lang="en-US" sz="1150" dirty="0"/>
          </a:p>
          <a:p>
            <a:pPr indent="0" marL="0">
              <a:buNone/>
            </a:pPr>
            <a:r>
              <a:rPr lang="en-US" sz="1150" dirty="0">
                <a:solidFill>
                  <a:srgbClr val="9A95B8"/>
                </a:solidFill>
                <a:latin typeface="Segoe UI" pitchFamily="34" charset="0"/>
                <a:ea typeface="Segoe UI" pitchFamily="34" charset="-122"/>
                <a:cs typeface="Segoe UI" pitchFamily="34" charset="-120"/>
              </a:rPr>
              <a:t>Rival timeouts: 4 s in the browser, 8 s to Foundry.</a:t>
            </a:r>
            <a:endParaRPr lang="en-US" sz="1150" dirty="0"/>
          </a:p>
        </p:txBody>
      </p:sp>
      <p:sp>
        <p:nvSpPr>
          <p:cNvPr id="18" name="Shape 13"/>
          <p:cNvSpPr/>
          <p:nvPr/>
        </p:nvSpPr>
        <p:spPr>
          <a:xfrm>
            <a:off x="4709160" y="3246120"/>
            <a:ext cx="3886200" cy="1280160"/>
          </a:xfrm>
          <a:prstGeom prst="roundRect">
            <a:avLst>
              <a:gd name="adj" fmla="val 8571"/>
            </a:avLst>
          </a:prstGeom>
          <a:solidFill>
            <a:srgbClr val="110F2B"/>
          </a:solidFill>
          <a:ln/>
        </p:spPr>
      </p:sp>
      <p:pic>
        <p:nvPicPr>
          <p:cNvPr id="19" name="Image 3" descr="Unplugged cable icon">    </p:cNvPr>
          <p:cNvPicPr>
            <a:picLocks noChangeAspect="1"/>
          </p:cNvPicPr>
          <p:nvPr/>
        </p:nvPicPr>
        <p:blipFill>
          <a:blip r:embed="rId4"/>
          <a:stretch>
            <a:fillRect/>
          </a:stretch>
        </p:blipFill>
        <p:spPr>
          <a:xfrm>
            <a:off x="4956048" y="3465576"/>
            <a:ext cx="292608" cy="292608"/>
          </a:xfrm>
          <a:prstGeom prst="rect">
            <a:avLst/>
          </a:prstGeom>
        </p:spPr>
      </p:pic>
      <p:sp>
        <p:nvSpPr>
          <p:cNvPr id="20" name="Text 14"/>
          <p:cNvSpPr/>
          <p:nvPr/>
        </p:nvSpPr>
        <p:spPr>
          <a:xfrm>
            <a:off x="539496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86200"/>
            <a:ext cx="3429000" cy="502920"/>
          </a:xfrm>
          <a:prstGeom prst="rect">
            <a:avLst/>
          </a:prstGeom>
          <a:noFill/>
          <a:ln/>
        </p:spPr>
        <p:txBody>
          <a:bodyPr wrap="square" lIns="0" tIns="0" rIns="0" bIns="0" rtlCol="0" anchor="t"/>
          <a:lstStyle/>
          <a:p>
            <a:pPr indent="0" marL="0">
              <a:buNone/>
            </a:pPr>
            <a:r>
              <a:rPr lang="en-US" sz="1150" dirty="0">
                <a:solidFill>
                  <a:srgbClr val="9A95B8"/>
                </a:solidFill>
                <a:latin typeface="Segoe UI" pitchFamily="34" charset="0"/>
                <a:ea typeface="Segoe UI" pitchFamily="34" charset="-122"/>
                <a:cs typeface="Segoe UI" pitchFamily="34" charset="-120"/>
              </a:rPr>
              <a:t>Errors fall back to a local heuristic.</a:t>
            </a:r>
            <a:endParaRPr lang="en-US" sz="1150" dirty="0"/>
          </a:p>
          <a:p>
            <a:pPr indent="0" marL="0">
              <a:buNone/>
            </a:pPr>
            <a:r>
              <a:rPr lang="en-US" sz="1150" dirty="0">
                <a:solidFill>
                  <a:srgbClr val="9A95B8"/>
                </a:solidFill>
                <a:latin typeface="Segoe UI" pitchFamily="34" charset="0"/>
                <a:ea typeface="Segoe UI" pitchFamily="34" charset="-122"/>
                <a:cs typeface="Segoe UI" pitchFamily="34" charset="-120"/>
              </a:rPr>
              <a:t>A 503 or four failures in a row pause calls for 8 s.</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9A95B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9A95B8"/>
                </a:solidFill>
                <a:latin typeface="Segoe UI Semibold" pitchFamily="34" charset="0"/>
                <a:ea typeface="Segoe UI Semibold" pitchFamily="34" charset="-122"/>
                <a:cs typeface="Segoe UI Semibold" pitchFamily="34" charset="-120"/>
              </a:rPr>
              <a:t>10 / 11</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Half a cent a minute</a:t>
            </a:r>
            <a:endParaRPr lang="en-US" sz="3400" dirty="0"/>
          </a:p>
        </p:txBody>
      </p:sp>
      <p:sp>
        <p:nvSpPr>
          <p:cNvPr id="6" name="Text 4"/>
          <p:cNvSpPr/>
          <p:nvPr/>
        </p:nvSpPr>
        <p:spPr>
          <a:xfrm>
            <a:off x="548640" y="205740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$0.04</a:t>
            </a:r>
            <a:endParaRPr lang="en-US" sz="3600" dirty="0"/>
          </a:p>
        </p:txBody>
      </p:sp>
      <p:sp>
        <p:nvSpPr>
          <p:cNvPr id="7" name="Text 5"/>
          <p:cNvSpPr/>
          <p:nvPr/>
        </p:nvSpPr>
        <p:spPr>
          <a:xfrm>
            <a:off x="640080" y="2926080"/>
            <a:ext cx="1828800" cy="457200"/>
          </a:xfrm>
          <a:prstGeom prst="rect">
            <a:avLst/>
          </a:prstGeom>
          <a:noFill/>
          <a:ln/>
        </p:spPr>
        <p:txBody>
          <a:bodyPr wrap="square" lIns="0" tIns="0" rIns="0" bIns="0" rtlCol="0" anchor="t"/>
          <a:lstStyle/>
          <a:p>
            <a:pPr algn="ctr" indent="0" marL="0">
              <a:buNone/>
            </a:pPr>
            <a:r>
              <a:rPr lang="en-US" sz="1200" dirty="0">
                <a:solidFill>
                  <a:srgbClr val="9A95B8"/>
                </a:solidFill>
                <a:latin typeface="Segoe UI" pitchFamily="34" charset="0"/>
                <a:ea typeface="Segoe UI" pitchFamily="34" charset="-122"/>
                <a:cs typeface="Segoe UI" pitchFamily="34" charset="-120"/>
              </a:rPr>
              <a:t>per million</a:t>
            </a:r>
            <a:endParaRPr lang="en-US" sz="1200" dirty="0"/>
          </a:p>
          <a:p>
            <a:pPr algn="ctr" indent="0" marL="0">
              <a:buNone/>
            </a:pPr>
            <a:r>
              <a:rPr lang="en-US" sz="1200" dirty="0">
                <a:solidFill>
                  <a:srgbClr val="9A95B8"/>
                </a:solidFill>
                <a:latin typeface="Segoe UI" pitchFamily="34" charset="0"/>
                <a:ea typeface="Segoe UI" pitchFamily="34" charset="-122"/>
                <a:cs typeface="Segoe UI" pitchFamily="34" charset="-120"/>
              </a:rPr>
              <a:t>tokens</a:t>
            </a:r>
            <a:endParaRPr lang="en-US" sz="1200" dirty="0"/>
          </a:p>
        </p:txBody>
      </p:sp>
      <p:sp>
        <p:nvSpPr>
          <p:cNvPr id="8" name="Text 6"/>
          <p:cNvSpPr/>
          <p:nvPr/>
        </p:nvSpPr>
        <p:spPr>
          <a:xfrm>
            <a:off x="2560320" y="205740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≈600</a:t>
            </a:r>
            <a:endParaRPr lang="en-US" sz="3600" dirty="0"/>
          </a:p>
        </p:txBody>
      </p:sp>
      <p:sp>
        <p:nvSpPr>
          <p:cNvPr id="9" name="Text 7"/>
          <p:cNvSpPr/>
          <p:nvPr/>
        </p:nvSpPr>
        <p:spPr>
          <a:xfrm>
            <a:off x="2651760" y="2926080"/>
            <a:ext cx="1828800" cy="457200"/>
          </a:xfrm>
          <a:prstGeom prst="rect">
            <a:avLst/>
          </a:prstGeom>
          <a:noFill/>
          <a:ln/>
        </p:spPr>
        <p:txBody>
          <a:bodyPr wrap="square" lIns="0" tIns="0" rIns="0" bIns="0" rtlCol="0" anchor="t"/>
          <a:lstStyle/>
          <a:p>
            <a:pPr algn="ctr" indent="0" marL="0">
              <a:buNone/>
            </a:pPr>
            <a:r>
              <a:rPr lang="en-US" sz="1200" dirty="0">
                <a:solidFill>
                  <a:srgbClr val="9A95B8"/>
                </a:solidFill>
                <a:latin typeface="Segoe UI" pitchFamily="34" charset="0"/>
                <a:ea typeface="Segoe UI" pitchFamily="34" charset="-122"/>
                <a:cs typeface="Segoe UI" pitchFamily="34" charset="-120"/>
              </a:rPr>
              <a:t>input tokens</a:t>
            </a:r>
            <a:endParaRPr lang="en-US" sz="1200" dirty="0"/>
          </a:p>
          <a:p>
            <a:pPr algn="ctr" indent="0" marL="0">
              <a:buNone/>
            </a:pPr>
            <a:r>
              <a:rPr lang="en-US" sz="1200" dirty="0">
                <a:solidFill>
                  <a:srgbClr val="9A95B8"/>
                </a:solidFill>
                <a:latin typeface="Segoe UI" pitchFamily="34" charset="0"/>
                <a:ea typeface="Segoe UI" pitchFamily="34" charset="-122"/>
                <a:cs typeface="Segoe UI" pitchFamily="34" charset="-120"/>
              </a:rPr>
              <a:t>per rival decision</a:t>
            </a:r>
            <a:endParaRPr lang="en-US" sz="1200" dirty="0"/>
          </a:p>
        </p:txBody>
      </p:sp>
      <p:sp>
        <p:nvSpPr>
          <p:cNvPr id="10" name="Text 8"/>
          <p:cNvSpPr/>
          <p:nvPr/>
        </p:nvSpPr>
        <p:spPr>
          <a:xfrm>
            <a:off x="4572000" y="205740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250–300</a:t>
            </a:r>
            <a:endParaRPr lang="en-US" sz="3600" dirty="0"/>
          </a:p>
        </p:txBody>
      </p:sp>
      <p:sp>
        <p:nvSpPr>
          <p:cNvPr id="11" name="Text 9"/>
          <p:cNvSpPr/>
          <p:nvPr/>
        </p:nvSpPr>
        <p:spPr>
          <a:xfrm>
            <a:off x="4663440" y="2926080"/>
            <a:ext cx="1828800" cy="457200"/>
          </a:xfrm>
          <a:prstGeom prst="rect">
            <a:avLst/>
          </a:prstGeom>
          <a:noFill/>
          <a:ln/>
        </p:spPr>
        <p:txBody>
          <a:bodyPr wrap="square" lIns="0" tIns="0" rIns="0" bIns="0" rtlCol="0" anchor="t"/>
          <a:lstStyle/>
          <a:p>
            <a:pPr algn="ctr" indent="0" marL="0">
              <a:buNone/>
            </a:pPr>
            <a:r>
              <a:rPr lang="en-US" sz="1200" dirty="0">
                <a:solidFill>
                  <a:srgbClr val="9A95B8"/>
                </a:solidFill>
                <a:latin typeface="Segoe UI" pitchFamily="34" charset="0"/>
                <a:ea typeface="Segoe UI" pitchFamily="34" charset="-122"/>
                <a:cs typeface="Segoe UI" pitchFamily="34" charset="-120"/>
              </a:rPr>
              <a:t>rival calls</a:t>
            </a:r>
            <a:endParaRPr lang="en-US" sz="1200" dirty="0"/>
          </a:p>
          <a:p>
            <a:pPr algn="ctr" indent="0" marL="0">
              <a:buNone/>
            </a:pPr>
            <a:r>
              <a:rPr lang="en-US" sz="1200" dirty="0">
                <a:solidFill>
                  <a:srgbClr val="9A95B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2057400"/>
            <a:ext cx="2011680" cy="777240"/>
          </a:xfrm>
          <a:prstGeom prst="rect">
            <a:avLst/>
          </a:prstGeom>
          <a:noFill/>
          <a:ln/>
        </p:spPr>
        <p:txBody>
          <a:bodyPr wrap="square" lIns="0" tIns="0" rIns="0" bIns="0" rtlCol="0" anchor="ctr"/>
          <a:lstStyle/>
          <a:p>
            <a:pPr algn="ctr" indent="0" marL="0">
              <a:buNone/>
            </a:pPr>
            <a:r>
              <a:rPr lang="en-US" sz="3600" i="1" dirty="0">
                <a:solidFill>
                  <a:srgbClr val="FFD166"/>
                </a:solidFill>
                <a:latin typeface="Segoe UI Black" pitchFamily="34" charset="0"/>
                <a:ea typeface="Segoe UI Black" pitchFamily="34" charset="-122"/>
                <a:cs typeface="Segoe UI Black" pitchFamily="34" charset="-120"/>
              </a:rPr>
              <a:t>500</a:t>
            </a:r>
            <a:endParaRPr lang="en-US" sz="3600" dirty="0"/>
          </a:p>
        </p:txBody>
      </p:sp>
      <p:sp>
        <p:nvSpPr>
          <p:cNvPr id="13" name="Text 11"/>
          <p:cNvSpPr/>
          <p:nvPr/>
        </p:nvSpPr>
        <p:spPr>
          <a:xfrm>
            <a:off x="6675120" y="2926080"/>
            <a:ext cx="1828800" cy="457200"/>
          </a:xfrm>
          <a:prstGeom prst="rect">
            <a:avLst/>
          </a:prstGeom>
          <a:noFill/>
          <a:ln/>
        </p:spPr>
        <p:txBody>
          <a:bodyPr wrap="square" lIns="0" tIns="0" rIns="0" bIns="0" rtlCol="0" anchor="t"/>
          <a:lstStyle/>
          <a:p>
            <a:pPr algn="ctr" indent="0" marL="0">
              <a:buNone/>
            </a:pPr>
            <a:r>
              <a:rPr lang="en-US" sz="1200" dirty="0">
                <a:solidFill>
                  <a:srgbClr val="9A95B8"/>
                </a:solidFill>
                <a:latin typeface="Segoe UI" pitchFamily="34" charset="0"/>
                <a:ea typeface="Segoe UI" pitchFamily="34" charset="-122"/>
                <a:cs typeface="Segoe UI" pitchFamily="34" charset="-120"/>
              </a:rPr>
              <a:t>requests/min per</a:t>
            </a:r>
            <a:endParaRPr lang="en-US" sz="1200" dirty="0"/>
          </a:p>
          <a:p>
            <a:pPr algn="ctr" indent="0" marL="0">
              <a:buNone/>
            </a:pPr>
            <a:r>
              <a:rPr lang="en-US" sz="1200" dirty="0">
                <a:solidFill>
                  <a:srgbClr val="9A95B8"/>
                </a:solidFill>
                <a:latin typeface="Segoe UI" pitchFamily="34" charset="0"/>
                <a:ea typeface="Segoe UI" pitchFamily="34" charset="-122"/>
                <a:cs typeface="Segoe UI" pitchFamily="34" charset="-120"/>
              </a:rPr>
              <a:t>deployment: 1–2 races</a:t>
            </a:r>
            <a:endParaRPr lang="en-US" sz="1200" dirty="0"/>
          </a:p>
        </p:txBody>
      </p:sp>
      <p:sp>
        <p:nvSpPr>
          <p:cNvPr id="14" name="Shape 12"/>
          <p:cNvSpPr/>
          <p:nvPr/>
        </p:nvSpPr>
        <p:spPr>
          <a:xfrm>
            <a:off x="548640" y="3977640"/>
            <a:ext cx="8046720" cy="548640"/>
          </a:xfrm>
          <a:prstGeom prst="roundRect">
            <a:avLst>
              <a:gd name="adj" fmla="val 20000"/>
            </a:avLst>
          </a:prstGeom>
          <a:solidFill>
            <a:srgbClr val="110F2B"/>
          </a:solidFill>
          <a:ln/>
        </p:spPr>
      </p:sp>
      <p:pic>
        <p:nvPicPr>
          <p:cNvPr id="15" name="Image 0" descr="Shield icon">    </p:cNvPr>
          <p:cNvPicPr>
            <a:picLocks noChangeAspect="1"/>
          </p:cNvPicPr>
          <p:nvPr/>
        </p:nvPicPr>
        <p:blipFill>
          <a:blip r:embed="rId1"/>
          <a:stretch>
            <a:fillRect/>
          </a:stretch>
        </p:blipFill>
        <p:spPr>
          <a:xfrm>
            <a:off x="777240" y="4078224"/>
            <a:ext cx="347472" cy="347472"/>
          </a:xfrm>
          <a:prstGeom prst="rect">
            <a:avLst/>
          </a:prstGeom>
        </p:spPr>
      </p:pic>
      <p:sp>
        <p:nvSpPr>
          <p:cNvPr id="16" name="Text 13"/>
          <p:cNvSpPr/>
          <p:nvPr/>
        </p:nvSpPr>
        <p:spPr>
          <a:xfrm>
            <a:off x="1325880" y="3977640"/>
            <a:ext cx="7086600" cy="54864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About 2¢ per 3-lap race. The daily cap (20,000 calls ≈ $0.50) keeps a public server's bill bounded.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sp>
      <p:sp>
        <p:nvSpPr>
          <p:cNvPr id="3" name="Shape 1"/>
          <p:cNvSpPr/>
          <p:nvPr/>
        </p:nvSpPr>
        <p:spPr>
          <a:xfrm>
            <a:off x="2834640" y="548640"/>
            <a:ext cx="36576" cy="36576"/>
          </a:xfrm>
          <a:prstGeom prst="ellipse">
            <a:avLst/>
          </a:prstGeom>
          <a:solidFill>
            <a:srgbClr val="FFFFFF">
              <a:alpha val="60000"/>
            </a:srgbClr>
          </a:solidFill>
          <a:ln/>
        </p:spPr>
      </p:sp>
      <p:sp>
        <p:nvSpPr>
          <p:cNvPr id="4" name="Shape 2"/>
          <p:cNvSpPr/>
          <p:nvPr/>
        </p:nvSpPr>
        <p:spPr>
          <a:xfrm>
            <a:off x="4754880" y="594360"/>
            <a:ext cx="27432" cy="27432"/>
          </a:xfrm>
          <a:prstGeom prst="ellipse">
            <a:avLst/>
          </a:prstGeom>
          <a:solidFill>
            <a:srgbClr val="FFFFFF">
              <a:alpha val="45000"/>
            </a:srgbClr>
          </a:solidFill>
          <a:ln/>
        </p:spPr>
      </p:sp>
      <p:sp>
        <p:nvSpPr>
          <p:cNvPr id="5" name="Shape 3"/>
          <p:cNvSpPr/>
          <p:nvPr/>
        </p:nvSpPr>
        <p:spPr>
          <a:xfrm>
            <a:off x="6035040" y="502920"/>
            <a:ext cx="32004" cy="32004"/>
          </a:xfrm>
          <a:prstGeom prst="ellipse">
            <a:avLst/>
          </a:prstGeom>
          <a:solidFill>
            <a:srgbClr val="FFFFFF">
              <a:alpha val="55000"/>
            </a:srgbClr>
          </a:solidFill>
          <a:ln/>
        </p:spPr>
      </p:sp>
      <p:sp>
        <p:nvSpPr>
          <p:cNvPr id="6" name="Shape 4"/>
          <p:cNvSpPr/>
          <p:nvPr/>
        </p:nvSpPr>
        <p:spPr>
          <a:xfrm>
            <a:off x="8595360" y="3017520"/>
            <a:ext cx="27432" cy="27432"/>
          </a:xfrm>
          <a:prstGeom prst="ellipse">
            <a:avLst/>
          </a:prstGeom>
          <a:solidFill>
            <a:srgbClr val="FFFFFF">
              <a:alpha val="50000"/>
            </a:srgbClr>
          </a:solidFill>
          <a:ln/>
        </p:spPr>
      </p:sp>
      <p:sp>
        <p:nvSpPr>
          <p:cNvPr id="7" name="Shape 5"/>
          <p:cNvSpPr/>
          <p:nvPr/>
        </p:nvSpPr>
        <p:spPr>
          <a:xfrm>
            <a:off x="4480560" y="4572000"/>
            <a:ext cx="27432" cy="27432"/>
          </a:xfrm>
          <a:prstGeom prst="ellipse">
            <a:avLst/>
          </a:prstGeom>
          <a:solidFill>
            <a:srgbClr val="FFFFFF">
              <a:alpha val="45000"/>
            </a:srgbClr>
          </a:solidFill>
          <a:ln/>
        </p:spPr>
      </p:sp>
      <p:sp>
        <p:nvSpPr>
          <p:cNvPr id="8" name="Shape 6"/>
          <p:cNvSpPr/>
          <p:nvPr/>
        </p:nvSpPr>
        <p:spPr>
          <a:xfrm>
            <a:off x="2011680" y="4617720"/>
            <a:ext cx="22860" cy="22860"/>
          </a:xfrm>
          <a:prstGeom prst="ellipse">
            <a:avLst/>
          </a:prstGeom>
          <a:solidFill>
            <a:srgbClr val="FFFFFF">
              <a:alpha val="40000"/>
            </a:srgbClr>
          </a:solidFill>
          <a:ln/>
        </p:spPr>
      </p:sp>
      <p:sp>
        <p:nvSpPr>
          <p:cNvPr id="9" name="Shape 7"/>
          <p:cNvSpPr/>
          <p:nvPr/>
        </p:nvSpPr>
        <p:spPr>
          <a:xfrm>
            <a:off x="7223760" y="4572000"/>
            <a:ext cx="27432" cy="27432"/>
          </a:xfrm>
          <a:prstGeom prst="ellipse">
            <a:avLst/>
          </a:prstGeom>
          <a:solidFill>
            <a:srgbClr val="FFFFFF">
              <a:alpha val="45000"/>
            </a:srgbClr>
          </a:solidFill>
          <a:ln/>
        </p:spPr>
      </p:sp>
      <p:pic>
        <p:nvPicPr>
          <p:cNvPr id="10" name="Image 0" descr="Moon">    </p:cNvPr>
          <p:cNvPicPr>
            <a:picLocks noChangeAspect="1"/>
          </p:cNvPicPr>
          <p:nvPr/>
        </p:nvPicPr>
        <p:blipFill>
          <a:blip r:embed="rId1"/>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indent="0" marL="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011680"/>
            <a:ext cx="3840480" cy="1097280"/>
          </a:xfrm>
          <a:prstGeom prst="roundRect">
            <a:avLst>
              <a:gd name="adj" fmla="val 10000"/>
            </a:avLst>
          </a:prstGeom>
          <a:solidFill>
            <a:srgbClr val="110F2B"/>
          </a:solidFill>
          <a:ln/>
        </p:spPr>
      </p:sp>
      <p:sp>
        <p:nvSpPr>
          <p:cNvPr id="13" name="Text 10"/>
          <p:cNvSpPr/>
          <p:nvPr/>
        </p:nvSpPr>
        <p:spPr>
          <a:xfrm>
            <a:off x="777240" y="2103120"/>
            <a:ext cx="3474720" cy="914400"/>
          </a:xfrm>
          <a:prstGeom prst="rect">
            <a:avLst/>
          </a:prstGeom>
          <a:noFill/>
          <a:ln/>
        </p:spPr>
        <p:txBody>
          <a:bodyPr wrap="square" lIns="0" tIns="0" rIns="0" bIns="0" rtlCol="0" anchor="ctr"/>
          <a:lstStyle/>
          <a:p>
            <a:pPr indent="0" marL="0">
              <a:spcAft>
                <a:spcPts val="400"/>
              </a:spcAft>
              <a:buNone/>
            </a:pPr>
            <a:r>
              <a:rPr lang="en-US" sz="1800" dirty="0">
                <a:solidFill>
                  <a:srgbClr val="FFD166"/>
                </a:solidFill>
                <a:latin typeface="Consolas" pitchFamily="34" charset="0"/>
                <a:ea typeface="Consolas" pitchFamily="34" charset="-122"/>
                <a:cs typeface="Consolas" pitchFamily="34" charset="-120"/>
              </a:rPr>
              <a:t>npm start</a:t>
            </a:r>
            <a:endParaRPr lang="en-US" sz="1800" dirty="0"/>
          </a:p>
          <a:p>
            <a:pPr indent="0" marL="0">
              <a:spcAft>
                <a:spcPts val="400"/>
              </a:spcAft>
              <a:buNone/>
            </a:pPr>
            <a:r>
              <a:rPr lang="en-US" sz="1800" dirty="0">
                <a:solidFill>
                  <a:srgbClr val="3DD6FF"/>
                </a:solidFill>
                <a:latin typeface="Consolas" pitchFamily="34" charset="0"/>
                <a:ea typeface="Consolas" pitchFamily="34" charset="-122"/>
                <a:cs typeface="Consolas" pitchFamily="34" charset="-120"/>
              </a:rPr>
              <a:t>http://127.0.0.1:3000</a:t>
            </a:r>
            <a:endParaRPr lang="en-US" sz="1800" dirty="0"/>
          </a:p>
        </p:txBody>
      </p:sp>
      <p:sp>
        <p:nvSpPr>
          <p:cNvPr id="14" name="Text 11"/>
          <p:cNvSpPr/>
          <p:nvPr/>
        </p:nvSpPr>
        <p:spPr>
          <a:xfrm>
            <a:off x="548640" y="3383280"/>
            <a:ext cx="3840480" cy="502920"/>
          </a:xfrm>
          <a:prstGeom prst="rect">
            <a:avLst/>
          </a:prstGeom>
          <a:noFill/>
          <a:ln/>
        </p:spPr>
        <p:txBody>
          <a:bodyPr wrap="square" lIns="0" tIns="0" rIns="0" bIns="0" rtlCol="0" anchor="t"/>
          <a:lstStyle/>
          <a:p>
            <a:pPr indent="0" marL="0">
              <a:buNone/>
            </a:pPr>
            <a:r>
              <a:rPr lang="en-US" sz="1200" dirty="0">
                <a:solidFill>
                  <a:srgbClr val="9A95B8"/>
                </a:solidFill>
                <a:latin typeface="Segoe UI" pitchFamily="34" charset="0"/>
                <a:ea typeface="Segoe UI" pitchFamily="34" charset="-122"/>
                <a:cs typeface="Segoe UI" pitchFamily="34" charset="-120"/>
              </a:rPr>
              <a:t>Node.js 20+, no install step.</a:t>
            </a:r>
            <a:endParaRPr lang="en-US" sz="1200" dirty="0"/>
          </a:p>
          <a:p>
            <a:pPr indent="0" marL="0">
              <a:buNone/>
            </a:pPr>
            <a:r>
              <a:rPr lang="en-US" sz="1200" dirty="0">
                <a:solidFill>
                  <a:srgbClr val="9A95B8"/>
                </a:solidFill>
                <a:latin typeface="Segoe UI" pitchFamily="34" charset="0"/>
                <a:ea typeface="Segoe UI" pitchFamily="34" charset="-122"/>
                <a:cs typeface="Segoe UI" pitchFamily="34" charset="-120"/>
              </a:rPr>
              <a:t>No </a:t>
            </a:r>
            <a:pPr indent="0" marL="0">
              <a:buNone/>
            </a:pPr>
            <a:r>
              <a:rPr lang="en-US" sz="1200" dirty="0">
                <a:solidFill>
                  <a:srgbClr val="ECE9F8"/>
                </a:solidFill>
                <a:latin typeface="Consolas" pitchFamily="34" charset="0"/>
                <a:ea typeface="Consolas" pitchFamily="34" charset="-122"/>
                <a:cs typeface="Consolas" pitchFamily="34" charset="-120"/>
              </a:rPr>
              <a:t>FOUNDRY_ENDPOINT</a:t>
            </a:r>
            <a:pPr indent="0" marL="0">
              <a:buNone/>
            </a:pPr>
            <a:r>
              <a:rPr lang="en-US" sz="1200" dirty="0">
                <a:solidFill>
                  <a:srgbClr val="9A95B8"/>
                </a:solidFill>
                <a:latin typeface="Segoe UI" pitchFamily="34" charset="0"/>
                <a:ea typeface="Segoe UI" pitchFamily="34" charset="-122"/>
                <a:cs typeface="Segoe UI" pitchFamily="34" charset="-120"/>
              </a:rPr>
              <a:t>? Rivals use offline heuristics.</a:t>
            </a:r>
            <a:endParaRPr lang="en-US" sz="1200" dirty="0"/>
          </a:p>
        </p:txBody>
      </p:sp>
      <p:sp>
        <p:nvSpPr>
          <p:cNvPr id="15" name="Shape 12"/>
          <p:cNvSpPr/>
          <p:nvPr/>
        </p:nvSpPr>
        <p:spPr>
          <a:xfrm>
            <a:off x="4937760" y="2011680"/>
            <a:ext cx="777240" cy="274320"/>
          </a:xfrm>
          <a:prstGeom prst="roundRect">
            <a:avLst>
              <a:gd name="adj" fmla="val 20000"/>
            </a:avLst>
          </a:prstGeom>
          <a:solidFill>
            <a:srgbClr val="1A1740"/>
          </a:solidFill>
          <a:ln w="12700">
            <a:solidFill>
              <a:srgbClr val="36316A"/>
            </a:solidFill>
            <a:prstDash val="solid"/>
          </a:ln>
        </p:spPr>
      </p:sp>
      <p:pic>
        <p:nvPicPr>
          <p:cNvPr id="16" name="Image 1" descr="Left arrow key">    </p:cNvPr>
          <p:cNvPicPr>
            <a:picLocks noChangeAspect="1"/>
          </p:cNvPicPr>
          <p:nvPr/>
        </p:nvPicPr>
        <p:blipFill>
          <a:blip r:embed="rId2"/>
          <a:stretch>
            <a:fillRect/>
          </a:stretch>
        </p:blipFill>
        <p:spPr>
          <a:xfrm>
            <a:off x="5134356" y="2071116"/>
            <a:ext cx="155448" cy="155448"/>
          </a:xfrm>
          <a:prstGeom prst="rect">
            <a:avLst/>
          </a:prstGeom>
        </p:spPr>
      </p:pic>
      <p:pic>
        <p:nvPicPr>
          <p:cNvPr id="17" name="Image 2" descr="Right arrow key">    </p:cNvPr>
          <p:cNvPicPr>
            <a:picLocks noChangeAspect="1"/>
          </p:cNvPicPr>
          <p:nvPr/>
        </p:nvPicPr>
        <p:blipFill>
          <a:blip r:embed="rId3"/>
          <a:stretch>
            <a:fillRect/>
          </a:stretch>
        </p:blipFill>
        <p:spPr>
          <a:xfrm>
            <a:off x="5362956" y="2071116"/>
            <a:ext cx="155448" cy="155448"/>
          </a:xfrm>
          <a:prstGeom prst="rect">
            <a:avLst/>
          </a:prstGeom>
        </p:spPr>
      </p:pic>
      <p:sp>
        <p:nvSpPr>
          <p:cNvPr id="18" name="Text 13"/>
          <p:cNvSpPr/>
          <p:nvPr/>
        </p:nvSpPr>
        <p:spPr>
          <a:xfrm>
            <a:off x="5897880" y="2011680"/>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19" name="Shape 14"/>
          <p:cNvSpPr/>
          <p:nvPr/>
        </p:nvSpPr>
        <p:spPr>
          <a:xfrm>
            <a:off x="4937760" y="2432304"/>
            <a:ext cx="777240" cy="274320"/>
          </a:xfrm>
          <a:prstGeom prst="roundRect">
            <a:avLst>
              <a:gd name="adj" fmla="val 20000"/>
            </a:avLst>
          </a:prstGeom>
          <a:solidFill>
            <a:srgbClr val="1A1740"/>
          </a:solidFill>
          <a:ln w="12700">
            <a:solidFill>
              <a:srgbClr val="36316A"/>
            </a:solidFill>
            <a:prstDash val="solid"/>
          </a:ln>
        </p:spPr>
      </p:sp>
      <p:pic>
        <p:nvPicPr>
          <p:cNvPr id="20" name="Image 3" descr="Up arrow key">    </p:cNvPr>
          <p:cNvPicPr>
            <a:picLocks noChangeAspect="1"/>
          </p:cNvPicPr>
          <p:nvPr/>
        </p:nvPicPr>
        <p:blipFill>
          <a:blip r:embed="rId4"/>
          <a:stretch>
            <a:fillRect/>
          </a:stretch>
        </p:blipFill>
        <p:spPr>
          <a:xfrm>
            <a:off x="5248656" y="2491740"/>
            <a:ext cx="155448" cy="155448"/>
          </a:xfrm>
          <a:prstGeom prst="rect">
            <a:avLst/>
          </a:prstGeom>
        </p:spPr>
      </p:pic>
      <p:sp>
        <p:nvSpPr>
          <p:cNvPr id="21" name="Text 15"/>
          <p:cNvSpPr/>
          <p:nvPr/>
        </p:nvSpPr>
        <p:spPr>
          <a:xfrm>
            <a:off x="5897880" y="2432304"/>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2" name="Shape 16"/>
          <p:cNvSpPr/>
          <p:nvPr/>
        </p:nvSpPr>
        <p:spPr>
          <a:xfrm>
            <a:off x="4937760" y="2852928"/>
            <a:ext cx="777240" cy="274320"/>
          </a:xfrm>
          <a:prstGeom prst="roundRect">
            <a:avLst>
              <a:gd name="adj" fmla="val 20000"/>
            </a:avLst>
          </a:prstGeom>
          <a:solidFill>
            <a:srgbClr val="1A1740"/>
          </a:solidFill>
          <a:ln w="12700">
            <a:solidFill>
              <a:srgbClr val="36316A"/>
            </a:solidFill>
            <a:prstDash val="solid"/>
          </a:ln>
        </p:spPr>
      </p:sp>
      <p:pic>
        <p:nvPicPr>
          <p:cNvPr id="23" name="Image 4" descr="Down arrow key">    </p:cNvPr>
          <p:cNvPicPr>
            <a:picLocks noChangeAspect="1"/>
          </p:cNvPicPr>
          <p:nvPr/>
        </p:nvPicPr>
        <p:blipFill>
          <a:blip r:embed="rId5"/>
          <a:stretch>
            <a:fillRect/>
          </a:stretch>
        </p:blipFill>
        <p:spPr>
          <a:xfrm>
            <a:off x="5248656" y="2912364"/>
            <a:ext cx="155448" cy="155448"/>
          </a:xfrm>
          <a:prstGeom prst="rect">
            <a:avLst/>
          </a:prstGeom>
        </p:spPr>
      </p:pic>
      <p:sp>
        <p:nvSpPr>
          <p:cNvPr id="24" name="Text 17"/>
          <p:cNvSpPr/>
          <p:nvPr/>
        </p:nvSpPr>
        <p:spPr>
          <a:xfrm>
            <a:off x="5897880" y="2852928"/>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25" name="Shape 18"/>
          <p:cNvSpPr/>
          <p:nvPr/>
        </p:nvSpPr>
        <p:spPr>
          <a:xfrm>
            <a:off x="4937760" y="3273552"/>
            <a:ext cx="777240" cy="274320"/>
          </a:xfrm>
          <a:prstGeom prst="roundRect">
            <a:avLst>
              <a:gd name="adj" fmla="val 20000"/>
            </a:avLst>
          </a:prstGeom>
          <a:solidFill>
            <a:srgbClr val="1A1740"/>
          </a:solidFill>
          <a:ln w="12700">
            <a:solidFill>
              <a:srgbClr val="36316A"/>
            </a:solidFill>
            <a:prstDash val="solid"/>
          </a:ln>
        </p:spPr>
      </p:sp>
      <p:sp>
        <p:nvSpPr>
          <p:cNvPr id="26" name="Text 19"/>
          <p:cNvSpPr/>
          <p:nvPr/>
        </p:nvSpPr>
        <p:spPr>
          <a:xfrm>
            <a:off x="4937760" y="3273552"/>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27" name="Text 20"/>
          <p:cNvSpPr/>
          <p:nvPr/>
        </p:nvSpPr>
        <p:spPr>
          <a:xfrm>
            <a:off x="5897880" y="3273552"/>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28" name="Shape 21"/>
          <p:cNvSpPr/>
          <p:nvPr/>
        </p:nvSpPr>
        <p:spPr>
          <a:xfrm>
            <a:off x="4937760" y="3694176"/>
            <a:ext cx="777240" cy="274320"/>
          </a:xfrm>
          <a:prstGeom prst="roundRect">
            <a:avLst>
              <a:gd name="adj" fmla="val 20000"/>
            </a:avLst>
          </a:prstGeom>
          <a:solidFill>
            <a:srgbClr val="1A1740"/>
          </a:solidFill>
          <a:ln w="12700">
            <a:solidFill>
              <a:srgbClr val="36316A"/>
            </a:solidFill>
            <a:prstDash val="solid"/>
          </a:ln>
        </p:spPr>
      </p:sp>
      <p:sp>
        <p:nvSpPr>
          <p:cNvPr id="29" name="Text 22"/>
          <p:cNvSpPr/>
          <p:nvPr/>
        </p:nvSpPr>
        <p:spPr>
          <a:xfrm>
            <a:off x="4937760" y="3694176"/>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0" name="Text 23"/>
          <p:cNvSpPr/>
          <p:nvPr/>
        </p:nvSpPr>
        <p:spPr>
          <a:xfrm>
            <a:off x="5897880" y="3694176"/>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sp>
        <p:nvSpPr>
          <p:cNvPr id="31" name="Text 24"/>
          <p:cNvSpPr/>
          <p:nvPr/>
        </p:nvSpPr>
        <p:spPr>
          <a:xfrm>
            <a:off x="548640" y="4206240"/>
            <a:ext cx="38404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2" name="Shape 25">
            <a:hlinkClick r:id="rId6" tooltip="Open the repository"/>
          </p:cNvPr>
          <p:cNvSpPr/>
          <p:nvPr/>
        </p:nvSpPr>
        <p:spPr>
          <a:xfrm>
            <a:off x="548640" y="4206240"/>
            <a:ext cx="2103120" cy="274320"/>
          </a:xfrm>
          <a:prstGeom prst="rect">
            <a:avLst/>
          </a:prstGeom>
          <a:solidFill>
            <a:srgbClr val="07071A">
              <a:alpha val="0"/>
            </a:srgbClr>
          </a:solidFill>
          <a:ln/>
        </p:spPr>
      </p:sp>
      <p:sp>
        <p:nvSpPr>
          <p:cNvPr id="33" name="Text 26"/>
          <p:cNvSpPr/>
          <p:nvPr/>
        </p:nvSpPr>
        <p:spPr>
          <a:xfrm>
            <a:off x="4937760" y="4206240"/>
            <a:ext cx="3657600" cy="274320"/>
          </a:xfrm>
          <a:prstGeom prst="rect">
            <a:avLst/>
          </a:prstGeom>
          <a:noFill/>
          <a:ln/>
        </p:spPr>
        <p:txBody>
          <a:bodyPr wrap="square" lIns="0" tIns="0" rIns="0" bIns="0" rtlCol="0" anchor="ctr"/>
          <a:lstStyle/>
          <a:p>
            <a:pPr indent="0" marL="0">
              <a:buNone/>
            </a:pPr>
            <a:r>
              <a:rPr lang="en-US" sz="1200" dirty="0">
                <a:solidFill>
                  <a:srgbClr val="9A95B8"/>
                </a:solidFill>
                <a:latin typeface="Segoe UI" pitchFamily="34" charset="0"/>
                <a:ea typeface="Segoe UI" pitchFamily="34" charset="-122"/>
                <a:cs typeface="Segoe UI" pitchFamily="34" charset="-120"/>
              </a:rPr>
              <a:t>Phones and tablets get touch controls.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LUNA GP</cp:lastModifiedBy>
  <cp:revision>1</cp:revision>
  <dcterms:created xsi:type="dcterms:W3CDTF">2026-10-27T16:47:06Z</dcterms:created>
  <dcterms:modified xsi:type="dcterms:W3CDTF">2026-10-27T16:47:06Z</dcterms:modified>
</cp:coreProperties>
</file>