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9" r:id="rId3"/>
    <p:sldId id="257" r:id="rId4"/>
    <p:sldId id="258" r:id="rId5"/>
    <p:sldId id="259" r:id="rId6"/>
    <p:sldId id="260" r:id="rId7"/>
    <p:sldId id="261" r:id="rId8"/>
    <p:sldId id="268" r:id="rId9"/>
    <p:sldId id="262" r:id="rId10"/>
    <p:sldId id="263" r:id="rId11"/>
    <p:sldId id="267" r:id="rId12"/>
    <p:sldId id="264" r:id="rId13"/>
    <p:sldId id="265" r:id="rId14"/>
    <p:sldId id="266"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hyperlink" Target="https://github.com/roryp/racing" TargetMode="External"/><Relationship Id="rId4" Type="http://schemas.openxmlformats.org/officeDocument/2006/relationships/hyperlink" Target="https://aka.ms/racing" TargetMode="External"/><Relationship Id="rId9"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a:effectLst/>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3"/>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marL="0" indent="0">
              <a:buNone/>
            </a:pPr>
            <a:r>
              <a:rPr lang="en-US" sz="7200" i="1" dirty="0">
                <a:solidFill>
                  <a:srgbClr val="FFD166"/>
                </a:solidFill>
                <a:latin typeface="Segoe UI Black" pitchFamily="34" charset="0"/>
                <a:ea typeface="Segoe UI Black" pitchFamily="34" charset="-122"/>
                <a:cs typeface="Segoe UI Black" pitchFamily="34" charset="-120"/>
              </a:rPr>
              <a:t>LUNA</a:t>
            </a: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marL="0" indent="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r>
              <a:rPr lang="en-US" sz="2000" b="1" dirty="0">
                <a:solidFill>
                  <a:srgbClr val="FFD166"/>
                </a:solidFill>
                <a:latin typeface="Segoe UI" pitchFamily="34" charset="0"/>
                <a:ea typeface="Segoe UI" pitchFamily="34" charset="-122"/>
                <a:cs typeface="Segoe UI" pitchFamily="34" charset="-120"/>
              </a:rPr>
              <a:t>Microsoft-Decision-1</a:t>
            </a: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r>
              <a:rPr lang="en-US" sz="1800" b="1" dirty="0">
                <a:solidFill>
                  <a:srgbClr val="FFD166"/>
                </a:solidFill>
                <a:latin typeface="Segoe UI" pitchFamily="34" charset="0"/>
                <a:ea typeface="Segoe UI" pitchFamily="34" charset="-122"/>
                <a:cs typeface="Segoe UI" pitchFamily="34" charset="-120"/>
              </a:rPr>
              <a:t>calibrated probability</a:t>
            </a: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txBody>
          <a:bodyPr/>
          <a:lstStyle/>
          <a:p>
            <a:endParaRPr lang="en-ZA"/>
          </a:p>
        </p:txBody>
      </p:sp>
      <p:sp>
        <p:nvSpPr>
          <p:cNvPr id="24" name="Shape 22"/>
          <p:cNvSpPr/>
          <p:nvPr/>
        </p:nvSpPr>
        <p:spPr>
          <a:xfrm>
            <a:off x="777240" y="3337560"/>
            <a:ext cx="1490777" cy="91440"/>
          </a:xfrm>
          <a:prstGeom prst="rect">
            <a:avLst/>
          </a:prstGeom>
          <a:solidFill>
            <a:srgbClr val="3DD6FF"/>
          </a:solidFill>
          <a:ln/>
        </p:spPr>
        <p:txBody>
          <a:bodyPr/>
          <a:lstStyle/>
          <a:p>
            <a:endParaRPr lang="en-ZA"/>
          </a:p>
        </p:txBody>
      </p:sp>
      <p:sp>
        <p:nvSpPr>
          <p:cNvPr id="25" name="Text 23"/>
          <p:cNvSpPr/>
          <p:nvPr/>
        </p:nvSpPr>
        <p:spPr>
          <a:xfrm>
            <a:off x="777240" y="3511296"/>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txBody>
          <a:bodyPr/>
          <a:lstStyle/>
          <a:p>
            <a:endParaRPr lang="en-ZA"/>
          </a:p>
        </p:txBody>
      </p:sp>
      <p:sp>
        <p:nvSpPr>
          <p:cNvPr id="29" name="Shape 27"/>
          <p:cNvSpPr/>
          <p:nvPr/>
        </p:nvSpPr>
        <p:spPr>
          <a:xfrm>
            <a:off x="3779520" y="2843784"/>
            <a:ext cx="840943" cy="91440"/>
          </a:xfrm>
          <a:prstGeom prst="rect">
            <a:avLst/>
          </a:prstGeom>
          <a:solidFill>
            <a:srgbClr val="FFD166"/>
          </a:solidFill>
          <a:ln/>
        </p:spPr>
        <p:txBody>
          <a:bodyPr/>
          <a:lstStyle/>
          <a:p>
            <a:endParaRPr lang="en-ZA"/>
          </a:p>
        </p:txBody>
      </p:sp>
      <p:sp>
        <p:nvSpPr>
          <p:cNvPr id="30" name="Text 28"/>
          <p:cNvSpPr/>
          <p:nvPr/>
        </p:nvSpPr>
        <p:spPr>
          <a:xfrm>
            <a:off x="5209032" y="279806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txBody>
          <a:bodyPr/>
          <a:lstStyle/>
          <a:p>
            <a:endParaRPr lang="en-ZA"/>
          </a:p>
        </p:txBody>
      </p:sp>
      <p:sp>
        <p:nvSpPr>
          <p:cNvPr id="33" name="Shape 31"/>
          <p:cNvSpPr/>
          <p:nvPr/>
        </p:nvSpPr>
        <p:spPr>
          <a:xfrm>
            <a:off x="3779520" y="3081528"/>
            <a:ext cx="284836" cy="91440"/>
          </a:xfrm>
          <a:prstGeom prst="rect">
            <a:avLst/>
          </a:prstGeom>
          <a:solidFill>
            <a:srgbClr val="6C6790"/>
          </a:solidFill>
          <a:ln/>
        </p:spPr>
        <p:txBody>
          <a:bodyPr/>
          <a:lstStyle/>
          <a:p>
            <a:endParaRPr lang="en-ZA"/>
          </a:p>
        </p:txBody>
      </p:sp>
      <p:sp>
        <p:nvSpPr>
          <p:cNvPr id="34" name="Text 32"/>
          <p:cNvSpPr/>
          <p:nvPr/>
        </p:nvSpPr>
        <p:spPr>
          <a:xfrm>
            <a:off x="5209032" y="3035808"/>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txBody>
          <a:bodyPr/>
          <a:lstStyle/>
          <a:p>
            <a:endParaRPr lang="en-ZA"/>
          </a:p>
        </p:txBody>
      </p:sp>
      <p:sp>
        <p:nvSpPr>
          <p:cNvPr id="37" name="Shape 35"/>
          <p:cNvSpPr/>
          <p:nvPr/>
        </p:nvSpPr>
        <p:spPr>
          <a:xfrm>
            <a:off x="3779520" y="3319272"/>
            <a:ext cx="162763" cy="91440"/>
          </a:xfrm>
          <a:prstGeom prst="rect">
            <a:avLst/>
          </a:prstGeom>
          <a:solidFill>
            <a:srgbClr val="6C6790"/>
          </a:solidFill>
          <a:ln/>
        </p:spPr>
        <p:txBody>
          <a:bodyPr/>
          <a:lstStyle/>
          <a:p>
            <a:endParaRPr lang="en-ZA"/>
          </a:p>
        </p:txBody>
      </p:sp>
      <p:sp>
        <p:nvSpPr>
          <p:cNvPr id="38" name="Text 36"/>
          <p:cNvSpPr/>
          <p:nvPr/>
        </p:nvSpPr>
        <p:spPr>
          <a:xfrm>
            <a:off x="5209032" y="327355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txBody>
          <a:bodyPr/>
          <a:lstStyle/>
          <a:p>
            <a:endParaRPr lang="en-ZA"/>
          </a:p>
        </p:txBody>
      </p:sp>
      <p:sp>
        <p:nvSpPr>
          <p:cNvPr id="41" name="Shape 39"/>
          <p:cNvSpPr/>
          <p:nvPr/>
        </p:nvSpPr>
        <p:spPr>
          <a:xfrm>
            <a:off x="3779520" y="3557016"/>
            <a:ext cx="67818" cy="91440"/>
          </a:xfrm>
          <a:prstGeom prst="rect">
            <a:avLst/>
          </a:prstGeom>
          <a:solidFill>
            <a:srgbClr val="6C6790"/>
          </a:solidFill>
          <a:ln/>
        </p:spPr>
        <p:txBody>
          <a:bodyPr/>
          <a:lstStyle/>
          <a:p>
            <a:endParaRPr lang="en-ZA"/>
          </a:p>
        </p:txBody>
      </p:sp>
      <p:sp>
        <p:nvSpPr>
          <p:cNvPr id="42" name="Text 40"/>
          <p:cNvSpPr/>
          <p:nvPr/>
        </p:nvSpPr>
        <p:spPr>
          <a:xfrm>
            <a:off x="5209032" y="351129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txBody>
          <a:bodyPr/>
          <a:lstStyle/>
          <a:p>
            <a:endParaRPr lang="en-ZA"/>
          </a:p>
        </p:txBody>
      </p:sp>
      <p:sp>
        <p:nvSpPr>
          <p:cNvPr id="44" name="Text 42"/>
          <p:cNvSpPr/>
          <p:nvPr/>
        </p:nvSpPr>
        <p:spPr>
          <a:xfrm>
            <a:off x="6324600"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txBody>
          <a:bodyPr/>
          <a:lstStyle/>
          <a:p>
            <a:endParaRPr lang="en-ZA"/>
          </a:p>
        </p:txBody>
      </p:sp>
      <p:sp>
        <p:nvSpPr>
          <p:cNvPr id="46" name="Text 44"/>
          <p:cNvSpPr/>
          <p:nvPr/>
        </p:nvSpPr>
        <p:spPr>
          <a:xfrm>
            <a:off x="6895592"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txBody>
          <a:bodyPr/>
          <a:lstStyle/>
          <a:p>
            <a:endParaRPr lang="en-ZA"/>
          </a:p>
        </p:txBody>
      </p:sp>
      <p:sp>
        <p:nvSpPr>
          <p:cNvPr id="48" name="Text 46"/>
          <p:cNvSpPr/>
          <p:nvPr/>
        </p:nvSpPr>
        <p:spPr>
          <a:xfrm>
            <a:off x="7466584"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txBody>
          <a:bodyPr/>
          <a:lstStyle/>
          <a:p>
            <a:endParaRPr lang="en-ZA"/>
          </a:p>
        </p:txBody>
      </p:sp>
      <p:sp>
        <p:nvSpPr>
          <p:cNvPr id="50" name="Text 48"/>
          <p:cNvSpPr/>
          <p:nvPr/>
        </p:nvSpPr>
        <p:spPr>
          <a:xfrm>
            <a:off x="8037576"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txBody>
          <a:bodyPr/>
          <a:lstStyle/>
          <a:p>
            <a:endParaRPr lang="en-Z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13</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14884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13</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09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13</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marL="0" indent="0">
              <a:buNone/>
            </a:pPr>
            <a:r>
              <a:rPr lang="en-US" sz="1600" dirty="0">
                <a:solidFill>
                  <a:srgbClr val="ECE9F8"/>
                </a:solidFill>
                <a:latin typeface="Segoe UI" pitchFamily="34" charset="0"/>
                <a:ea typeface="Segoe UI" pitchFamily="34" charset="-122"/>
                <a:cs typeface="Segoe UI" pitchFamily="34" charset="-120"/>
              </a:rPr>
              <a:t>The game runs </a:t>
            </a:r>
            <a:r>
              <a:rPr lang="en-US" sz="1600" b="1" dirty="0">
                <a:solidFill>
                  <a:srgbClr val="FFD166"/>
                </a:solidFill>
                <a:latin typeface="Segoe UI" pitchFamily="34" charset="0"/>
                <a:ea typeface="Segoe UI" pitchFamily="34" charset="-122"/>
                <a:cs typeface="Segoe UI" pitchFamily="34" charset="-120"/>
              </a:rPr>
              <a:t>in the browser</a:t>
            </a:r>
            <a:r>
              <a:rPr lang="en-US" sz="1600" dirty="0">
                <a:solidFill>
                  <a:srgbClr val="ECE9F8"/>
                </a:solidFill>
                <a:latin typeface="Segoe UI" pitchFamily="34" charset="0"/>
                <a:ea typeface="Segoe UI" pitchFamily="34" charset="-122"/>
                <a:cs typeface="Segoe UI" pitchFamily="34" charset="-120"/>
              </a:rPr>
              <a:t>.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marL="0" indent="0">
              <a:buNone/>
            </a:pPr>
            <a:r>
              <a:rPr lang="en-US" sz="1200" b="1" dirty="0">
                <a:solidFill>
                  <a:srgbClr val="FFD166"/>
                </a:solidFill>
                <a:latin typeface="Segoe UI" pitchFamily="34" charset="0"/>
                <a:ea typeface="Segoe UI" pitchFamily="34" charset="-122"/>
                <a:cs typeface="Segoe UI" pitchFamily="34" charset="-120"/>
              </a:rPr>
              <a:t>Not a container app: </a:t>
            </a:r>
            <a:r>
              <a:rPr lang="en-US" sz="1200" dirty="0">
                <a:solidFill>
                  <a:srgbClr val="ABA6C8"/>
                </a:solidFill>
                <a:latin typeface="Segoe UI" pitchFamily="34" charset="0"/>
                <a:ea typeface="Segoe UI" pitchFamily="34" charset="-122"/>
                <a:cs typeface="Segoe UI" pitchFamily="34" charset="-120"/>
              </a:rPr>
              <a:t>no image, background workers, queues or database. Deploy is a zip pushed to the web app.</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1122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0116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2862072"/>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2962656"/>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No </a:t>
            </a:r>
            <a:r>
              <a:rPr lang="en-US" sz="1150" dirty="0">
                <a:solidFill>
                  <a:srgbClr val="ECE9F8"/>
                </a:solidFill>
                <a:latin typeface="Consolas" pitchFamily="34" charset="0"/>
                <a:ea typeface="Consolas" pitchFamily="34" charset="-122"/>
                <a:cs typeface="Consolas" pitchFamily="34" charset="-120"/>
              </a:rPr>
              <a:t>FOUNDRY_ENDPOINT</a:t>
            </a: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273552"/>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3694176"/>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206240"/>
            <a:ext cx="2423160" cy="274320"/>
          </a:xfrm>
          <a:prstGeom prst="rect">
            <a:avLst/>
          </a:prstGeom>
          <a:solidFill>
            <a:srgbClr val="07071A">
              <a:alpha val="0"/>
            </a:srgbClr>
          </a:solidFill>
          <a:ln/>
        </p:spPr>
        <p:txBody>
          <a:bodyPr/>
          <a:lstStyle/>
          <a:p>
            <a:endParaRPr lang="en-ZA"/>
          </a:p>
        </p:txBody>
      </p:sp>
      <p:sp>
        <p:nvSpPr>
          <p:cNvPr id="39" name="Text 31"/>
          <p:cNvSpPr/>
          <p:nvPr/>
        </p:nvSpPr>
        <p:spPr>
          <a:xfrm>
            <a:off x="4937760" y="4206240"/>
            <a:ext cx="36576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11</TotalTime>
  <Words>3351</Words>
  <Application>Microsoft Office PowerPoint</Application>
  <PresentationFormat>On-screen Show (16:9)</PresentationFormat>
  <Paragraphs>285</Paragraphs>
  <Slides>14</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2</cp:revision>
  <dcterms:created xsi:type="dcterms:W3CDTF">2026-10-27T19:13:30Z</dcterms:created>
  <dcterms:modified xsi:type="dcterms:W3CDTF">2026-10-28T15:54:37Z</dcterms:modified>
</cp:coreProperties>
</file>