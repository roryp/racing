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7" r:id="rId18"/>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model never decides to fire: each rival compares p with its personality threshold (aggressive and wildcard 0.50, defensive 0.60, tactical and smooth 0.65), so the same answer of 0.62 fires three cars and holds two. A boost also needs at least 34% of the tank. The debrief's clean_racer question is a noul too. Internally the game builds OpenAI-style 'predicate' questions and lib/decisions.js maps them to noul.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Five rivals ask maneuver/pace/nitro in one request, 0.65 to 1.05 s after their last answer in traffic and 1.4 to 1.8 s otherwise.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options are generated per race, one per driver. All policies (thresholds, penalties, the speed formula) live in game code, not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rival request, as lib/decisions.js sends it, with instructions and criteria omitted. The request's model is the deployment name; the response's model names the underlying model. state is a few lines of plain text the server writes from validated telemetry (personality, lap, gaps, speed, nitro tank, track ahead, neighbours). Each answer also carries its type and a confidence and, for choice and score, a probability per option or level; a noul answer is just its type and the probability. A rival call measured about 630 input tokens and 3 output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Relationships xmlns="http://schemas.openxmlformats.org/package/2006/relationships"><Relationship Id="rId2" Type="http://schemas.openxmlformats.org/officeDocument/2006/relationships/hyperlink" Target="https://aka.ms/racing" TargetMode="External"/><Relationship Id="rId8" Type="http://schemas.openxmlformats.org/officeDocument/2006/relationships/hyperlink" Target="https://github.com/roryp/racing"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2-4.png"/><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85800" y="548640"/>
            <a:ext cx="36576" cy="36576"/>
          </a:xfrm>
          <a:prstGeom prst="ellipse">
            <a:avLst/>
          </a:prstGeom>
          <a:solidFill>
            <a:srgbClr val="FFFFFF">
              <a:alpha val="60000"/>
            </a:srgbClr>
          </a:solidFill>
          <a:ln/>
        </p:spPr>
      </p:sp>
      <p:sp>
        <p:nvSpPr>
          <p:cNvPr id="3" name="Shape 1"/>
          <p:cNvSpPr/>
          <p:nvPr/>
        </p:nvSpPr>
        <p:spPr>
          <a:xfrm>
            <a:off x="1920240" y="868680"/>
            <a:ext cx="27432" cy="27432"/>
          </a:xfrm>
          <a:prstGeom prst="ellipse">
            <a:avLst/>
          </a:prstGeom>
          <a:solidFill>
            <a:srgbClr val="FFFFFF">
              <a:alpha val="45000"/>
            </a:srgbClr>
          </a:solidFill>
          <a:ln/>
        </p:spPr>
      </p:sp>
      <p:sp>
        <p:nvSpPr>
          <p:cNvPr id="4" name="Shape 2"/>
          <p:cNvSpPr/>
          <p:nvPr/>
        </p:nvSpPr>
        <p:spPr>
          <a:xfrm>
            <a:off x="3108960" y="566928"/>
            <a:ext cx="32004" cy="32004"/>
          </a:xfrm>
          <a:prstGeom prst="ellipse">
            <a:avLst/>
          </a:prstGeom>
          <a:solidFill>
            <a:srgbClr val="FFFFFF">
              <a:alpha val="50000"/>
            </a:srgbClr>
          </a:solidFill>
          <a:ln/>
        </p:spPr>
      </p:sp>
      <p:sp>
        <p:nvSpPr>
          <p:cNvPr id="5" name="Shape 3"/>
          <p:cNvSpPr/>
          <p:nvPr/>
        </p:nvSpPr>
        <p:spPr>
          <a:xfrm>
            <a:off x="4206240" y="777240"/>
            <a:ext cx="27432" cy="27432"/>
          </a:xfrm>
          <a:prstGeom prst="ellipse">
            <a:avLst/>
          </a:prstGeom>
          <a:solidFill>
            <a:srgbClr val="FFFFFF">
              <a:alpha val="40000"/>
            </a:srgbClr>
          </a:solidFill>
          <a:ln/>
        </p:spPr>
      </p:sp>
      <p:sp>
        <p:nvSpPr>
          <p:cNvPr id="6" name="Shape 4"/>
          <p:cNvSpPr/>
          <p:nvPr/>
        </p:nvSpPr>
        <p:spPr>
          <a:xfrm>
            <a:off x="5029200" y="548640"/>
            <a:ext cx="36576" cy="36576"/>
          </a:xfrm>
          <a:prstGeom prst="ellipse">
            <a:avLst/>
          </a:prstGeom>
          <a:solidFill>
            <a:srgbClr val="FFFFFF">
              <a:alpha val="55000"/>
            </a:srgbClr>
          </a:solidFill>
          <a:ln/>
        </p:spPr>
      </p:sp>
      <p:sp>
        <p:nvSpPr>
          <p:cNvPr id="7" name="Shape 5"/>
          <p:cNvSpPr/>
          <p:nvPr/>
        </p:nvSpPr>
        <p:spPr>
          <a:xfrm>
            <a:off x="8503920" y="594360"/>
            <a:ext cx="27432" cy="27432"/>
          </a:xfrm>
          <a:prstGeom prst="ellipse">
            <a:avLst/>
          </a:prstGeom>
          <a:solidFill>
            <a:srgbClr val="FFFFFF">
              <a:alpha val="50000"/>
            </a:srgbClr>
          </a:solidFill>
          <a:ln/>
        </p:spPr>
      </p:sp>
      <p:sp>
        <p:nvSpPr>
          <p:cNvPr id="8" name="Shape 6"/>
          <p:cNvSpPr/>
          <p:nvPr/>
        </p:nvSpPr>
        <p:spPr>
          <a:xfrm>
            <a:off x="8595360" y="3611880"/>
            <a:ext cx="32004" cy="32004"/>
          </a:xfrm>
          <a:prstGeom prst="ellipse">
            <a:avLst/>
          </a:prstGeom>
          <a:solidFill>
            <a:srgbClr val="FFFFFF">
              <a:alpha val="55000"/>
            </a:srgbClr>
          </a:solidFill>
          <a:ln/>
        </p:spPr>
      </p:sp>
      <p:sp>
        <p:nvSpPr>
          <p:cNvPr id="9" name="Shape 7"/>
          <p:cNvSpPr/>
          <p:nvPr/>
        </p:nvSpPr>
        <p:spPr>
          <a:xfrm>
            <a:off x="5577840" y="4160520"/>
            <a:ext cx="27432" cy="27432"/>
          </a:xfrm>
          <a:prstGeom prst="ellipse">
            <a:avLst/>
          </a:prstGeom>
          <a:solidFill>
            <a:srgbClr val="FFFFFF">
              <a:alpha val="40000"/>
            </a:srgbClr>
          </a:solidFill>
          <a:ln/>
        </p:spPr>
      </p:sp>
      <p:sp>
        <p:nvSpPr>
          <p:cNvPr id="10" name="Shape 8"/>
          <p:cNvSpPr/>
          <p:nvPr/>
        </p:nvSpPr>
        <p:spPr>
          <a:xfrm>
            <a:off x="7863840" y="4526280"/>
            <a:ext cx="32004" cy="32004"/>
          </a:xfrm>
          <a:prstGeom prst="ellipse">
            <a:avLst/>
          </a:prstGeom>
          <a:solidFill>
            <a:srgbClr val="FFFFFF">
              <a:alpha val="50000"/>
            </a:srgbClr>
          </a:solidFill>
          <a:ln/>
        </p:spPr>
      </p:sp>
      <p:sp>
        <p:nvSpPr>
          <p:cNvPr id="11" name="Shape 9"/>
          <p:cNvSpPr/>
          <p:nvPr/>
        </p:nvSpPr>
        <p:spPr>
          <a:xfrm>
            <a:off x="4480560" y="3977640"/>
            <a:ext cx="27432" cy="27432"/>
          </a:xfrm>
          <a:prstGeom prst="ellipse">
            <a:avLst/>
          </a:prstGeom>
          <a:solidFill>
            <a:srgbClr val="FFFFFF">
              <a:alpha val="45000"/>
            </a:srgbClr>
          </a:solidFill>
          <a:ln/>
        </p:spPr>
      </p:sp>
      <p:sp>
        <p:nvSpPr>
          <p:cNvPr id="12" name="Shape 10"/>
          <p:cNvSpPr/>
          <p:nvPr/>
        </p:nvSpPr>
        <p:spPr>
          <a:xfrm>
            <a:off x="2651760" y="3840480"/>
            <a:ext cx="22860" cy="22860"/>
          </a:xfrm>
          <a:prstGeom prst="ellipse">
            <a:avLst/>
          </a:prstGeom>
          <a:solidFill>
            <a:srgbClr val="FFFFFF">
              <a:alpha val="40000"/>
            </a:srgbClr>
          </a:solidFill>
          <a:ln/>
        </p:spPr>
      </p:sp>
      <p:sp>
        <p:nvSpPr>
          <p:cNvPr id="13" name="Shape 11"/>
          <p:cNvSpPr/>
          <p:nvPr/>
        </p:nvSpPr>
        <p:spPr>
          <a:xfrm>
            <a:off x="1097280" y="3794760"/>
            <a:ext cx="27432" cy="27432"/>
          </a:xfrm>
          <a:prstGeom prst="ellipse">
            <a:avLst/>
          </a:prstGeom>
          <a:solidFill>
            <a:srgbClr val="FFFFFF">
              <a:alpha val="50000"/>
            </a:srgbClr>
          </a:solidFill>
          <a:ln/>
        </p:spPr>
      </p:sp>
      <p:pic>
        <p:nvPicPr>
          <p:cNvPr id="14" name="Image 0" descr="Moon"/>
          <p:cNvPicPr>
            <a:picLocks noChangeAspect="1"/>
          </p:cNvPicPr>
          <p:nvPr/>
        </p:nvPicPr>
        <p:blipFill>
          <a:blip r:embed="rId1"/>
          <a:stretch>
            <a:fillRect/>
          </a:stretch>
        </p:blipFill>
        <p:spPr>
          <a:xfrm>
            <a:off x="4997196" y="379476"/>
            <a:ext cx="3995928" cy="3995928"/>
          </a:xfrm>
          <a:prstGeom prst="rect">
            <a:avLst/>
          </a:prstGeom>
        </p:spPr>
      </p:pic>
      <p:sp>
        <p:nvSpPr>
          <p:cNvPr id="15" name="Text 12"/>
          <p:cNvSpPr/>
          <p:nvPr/>
        </p:nvSpPr>
        <p:spPr>
          <a:xfrm>
            <a:off x="548640" y="1280160"/>
            <a:ext cx="4937760" cy="1188720"/>
          </a:xfrm>
          <a:prstGeom prst="rect">
            <a:avLst/>
          </a:prstGeom>
          <a:noFill/>
          <a:ln/>
        </p:spPr>
        <p:txBody>
          <a:bodyPr wrap="square" lIns="0" tIns="0" rIns="0" bIns="0" rtlCol="0" anchor="ctr"/>
          <a:lstStyle/>
          <a:p>
            <a:pPr indent="0" marL="0">
              <a:buNone/>
            </a:pPr>
            <a:r>
              <a:rPr lang="en-US" sz="7200" i="1" dirty="0">
                <a:solidFill>
                  <a:srgbClr val="FFD166"/>
                </a:solidFill>
                <a:latin typeface="Segoe UI Black" pitchFamily="34" charset="0"/>
                <a:ea typeface="Segoe UI Black" pitchFamily="34" charset="-122"/>
                <a:cs typeface="Segoe UI Black" pitchFamily="34" charset="-120"/>
              </a:rPr>
              <a:t>LUNA</a:t>
            </a:r>
            <a:pPr indent="0" marL="0">
              <a:buNone/>
            </a:pPr>
            <a:r>
              <a:rPr lang="en-US" sz="7200" i="1" dirty="0">
                <a:solidFill>
                  <a:srgbClr val="3DD6FF"/>
                </a:solidFill>
                <a:latin typeface="Segoe UI Black" pitchFamily="34" charset="0"/>
                <a:ea typeface="Segoe UI Black" pitchFamily="34" charset="-122"/>
                <a:cs typeface="Segoe UI Black" pitchFamily="34" charset="-120"/>
              </a:rPr>
              <a:t xml:space="preserve">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indent="0" marL="0">
              <a:buNone/>
            </a:pPr>
            <a:r>
              <a:rPr lang="en-US" sz="2000" dirty="0">
                <a:solidFill>
                  <a:srgbClr val="ECE9F8"/>
                </a:solidFill>
                <a:latin typeface="Segoe UI" pitchFamily="34" charset="0"/>
                <a:ea typeface="Segoe UI" pitchFamily="34" charset="-122"/>
                <a:cs typeface="Segoe UI" pitchFamily="34" charset="-120"/>
              </a:rPr>
              <a:t xml:space="preserve">A night-time arcade racer where every rival thinks with </a:t>
            </a:r>
            <a:pPr indent="0" marL="0">
              <a:buNone/>
            </a:pPr>
            <a:r>
              <a:rPr lang="en-US" sz="2000" b="1" dirty="0">
                <a:solidFill>
                  <a:srgbClr val="FFD166"/>
                </a:solidFill>
                <a:latin typeface="Segoe UI" pitchFamily="34" charset="0"/>
                <a:ea typeface="Segoe UI" pitchFamily="34" charset="-122"/>
                <a:cs typeface="Segoe UI" pitchFamily="34" charset="-120"/>
              </a:rPr>
              <a:t>Microsoft-Decision-1</a:t>
            </a:r>
            <a:pPr indent="0" marL="0">
              <a:buNone/>
            </a:pP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93776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02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1"/>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sp>
      <p:pic>
        <p:nvPicPr>
          <p:cNvPr id="9" name="Image 1" descr="Steering wheel icon"/>
          <p:cNvPicPr>
            <a:picLocks noChangeAspect="1"/>
          </p:cNvPicPr>
          <p:nvPr/>
        </p:nvPicPr>
        <p:blipFill>
          <a:blip r:embed="rId2"/>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sp>
      <p:pic>
        <p:nvPicPr>
          <p:cNvPr id="13" name="Image 2" descr="Gauge icon"/>
          <p:cNvPicPr>
            <a:picLocks noChangeAspect="1"/>
          </p:cNvPicPr>
          <p:nvPr/>
        </p:nvPicPr>
        <p:blipFill>
          <a:blip r:embed="rId3"/>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sp>
      <p:pic>
        <p:nvPicPr>
          <p:cNvPr id="17" name="Image 3" descr="Brain circuit icon"/>
          <p:cNvPicPr>
            <a:picLocks noChangeAspect="1"/>
          </p:cNvPicPr>
          <p:nvPr/>
        </p:nvPicPr>
        <p:blipFill>
          <a:blip r:embed="rId4"/>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03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indent="0" marL="0">
              <a:buNone/>
            </a:pPr>
            <a:r>
              <a:rPr lang="en-US" sz="1800" dirty="0">
                <a:solidFill>
                  <a:srgbClr val="ECE9F8"/>
                </a:solidFill>
                <a:latin typeface="Segoe UI" pitchFamily="34" charset="0"/>
                <a:ea typeface="Segoe UI" pitchFamily="34" charset="-122"/>
                <a:cs typeface="Segoe UI" pitchFamily="34" charset="-120"/>
              </a:rPr>
              <a:t xml:space="preserve">Give it a situation and closed questions; it returns a </a:t>
            </a:r>
            <a:pPr indent="0" marL="0">
              <a:buNone/>
            </a:pPr>
            <a:r>
              <a:rPr lang="en-US" sz="1800" b="1" dirty="0">
                <a:solidFill>
                  <a:srgbClr val="FFD166"/>
                </a:solidFill>
                <a:latin typeface="Segoe UI" pitchFamily="34" charset="0"/>
                <a:ea typeface="Segoe UI" pitchFamily="34" charset="-122"/>
                <a:cs typeface="Segoe UI" pitchFamily="34" charset="-120"/>
              </a:rPr>
              <a:t>calibrated probability</a:t>
            </a:r>
            <a:pPr indent="0" marL="0">
              <a:buNone/>
            </a:pPr>
            <a:r>
              <a:rPr lang="en-US" sz="1800" dirty="0">
                <a:solidFill>
                  <a:srgbClr val="ECE9F8"/>
                </a:solidFill>
                <a:latin typeface="Segoe UI" pitchFamily="34" charset="0"/>
                <a:ea typeface="Segoe UI" pitchFamily="34" charset="-122"/>
                <a:cs typeface="Segoe UI" pitchFamily="34" charset="-120"/>
              </a:rPr>
              <a:t xml:space="preserve">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sp>
      <p:sp>
        <p:nvSpPr>
          <p:cNvPr id="8" name="Text 6"/>
          <p:cNvSpPr/>
          <p:nvPr/>
        </p:nvSpPr>
        <p:spPr>
          <a:xfrm>
            <a:off x="77724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sp>
      <p:sp>
        <p:nvSpPr>
          <p:cNvPr id="11" name="Text 9"/>
          <p:cNvSpPr/>
          <p:nvPr/>
        </p:nvSpPr>
        <p:spPr>
          <a:xfrm>
            <a:off x="355092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sp>
      <p:sp>
        <p:nvSpPr>
          <p:cNvPr id="14" name="Text 12"/>
          <p:cNvSpPr/>
          <p:nvPr/>
        </p:nvSpPr>
        <p:spPr>
          <a:xfrm>
            <a:off x="632460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sp>
      <p:sp>
        <p:nvSpPr>
          <p:cNvPr id="17" name="Text 15"/>
          <p:cNvSpPr/>
          <p:nvPr/>
        </p:nvSpPr>
        <p:spPr>
          <a:xfrm>
            <a:off x="777240" y="387248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indent="0" marL="0">
              <a:buNone/>
            </a:pPr>
            <a:r>
              <a:rPr lang="en-US" sz="1200" dirty="0">
                <a:solidFill>
                  <a:srgbClr val="FFD166"/>
                </a:solidFill>
                <a:latin typeface="Consolas" pitchFamily="34" charset="0"/>
                <a:ea typeface="Consolas" pitchFamily="34" charset="-122"/>
                <a:cs typeface="Consolas" pitchFamily="34" charset="-120"/>
              </a:rPr>
              <a:t>noul</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choice</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sp>
      <p:sp>
        <p:nvSpPr>
          <p:cNvPr id="20" name="Text 18"/>
          <p:cNvSpPr/>
          <p:nvPr/>
        </p:nvSpPr>
        <p:spPr>
          <a:xfrm>
            <a:off x="3550920" y="3872484"/>
            <a:ext cx="48158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indent="0" marL="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04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sp>
      <p:sp>
        <p:nvSpPr>
          <p:cNvPr id="8" name="Text 6"/>
          <p:cNvSpPr/>
          <p:nvPr/>
        </p:nvSpPr>
        <p:spPr>
          <a:xfrm>
            <a:off x="77724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sp>
      <p:sp>
        <p:nvSpPr>
          <p:cNvPr id="13" name="Text 11"/>
          <p:cNvSpPr/>
          <p:nvPr/>
        </p:nvSpPr>
        <p:spPr>
          <a:xfrm>
            <a:off x="355092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sp>
      <p:sp>
        <p:nvSpPr>
          <p:cNvPr id="18" name="Text 16"/>
          <p:cNvSpPr/>
          <p:nvPr/>
        </p:nvSpPr>
        <p:spPr>
          <a:xfrm>
            <a:off x="632460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indent="0" marL="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sp>
      <p:sp>
        <p:nvSpPr>
          <p:cNvPr id="24" name="Shape 22"/>
          <p:cNvSpPr/>
          <p:nvPr/>
        </p:nvSpPr>
        <p:spPr>
          <a:xfrm>
            <a:off x="777240" y="3337560"/>
            <a:ext cx="1490777" cy="91440"/>
          </a:xfrm>
          <a:prstGeom prst="rect">
            <a:avLst/>
          </a:prstGeom>
          <a:solidFill>
            <a:srgbClr val="3DD6FF"/>
          </a:solidFill>
          <a:ln/>
        </p:spPr>
      </p:sp>
      <p:sp>
        <p:nvSpPr>
          <p:cNvPr id="25" name="Text 23"/>
          <p:cNvSpPr/>
          <p:nvPr/>
        </p:nvSpPr>
        <p:spPr>
          <a:xfrm>
            <a:off x="777240" y="3511296"/>
            <a:ext cx="914400" cy="182880"/>
          </a:xfrm>
          <a:prstGeom prst="rect">
            <a:avLst/>
          </a:prstGeom>
          <a:noFill/>
          <a:ln/>
        </p:spPr>
        <p:txBody>
          <a:bodyPr wrap="square" lIns="0" tIns="0" rIns="0" bIns="0" rtlCol="0" anchor="ctr"/>
          <a:lstStyle/>
          <a:p>
            <a:pPr indent="0" marL="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sp>
      <p:sp>
        <p:nvSpPr>
          <p:cNvPr id="29" name="Shape 27"/>
          <p:cNvSpPr/>
          <p:nvPr/>
        </p:nvSpPr>
        <p:spPr>
          <a:xfrm>
            <a:off x="3779520" y="2843784"/>
            <a:ext cx="840943" cy="91440"/>
          </a:xfrm>
          <a:prstGeom prst="rect">
            <a:avLst/>
          </a:prstGeom>
          <a:solidFill>
            <a:srgbClr val="FFD166"/>
          </a:solidFill>
          <a:ln/>
        </p:spPr>
      </p:sp>
      <p:sp>
        <p:nvSpPr>
          <p:cNvPr id="30" name="Text 28"/>
          <p:cNvSpPr/>
          <p:nvPr/>
        </p:nvSpPr>
        <p:spPr>
          <a:xfrm>
            <a:off x="5209032" y="2798064"/>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sp>
      <p:sp>
        <p:nvSpPr>
          <p:cNvPr id="33" name="Shape 31"/>
          <p:cNvSpPr/>
          <p:nvPr/>
        </p:nvSpPr>
        <p:spPr>
          <a:xfrm>
            <a:off x="3779520" y="3081528"/>
            <a:ext cx="284836" cy="91440"/>
          </a:xfrm>
          <a:prstGeom prst="rect">
            <a:avLst/>
          </a:prstGeom>
          <a:solidFill>
            <a:srgbClr val="6C6790"/>
          </a:solidFill>
          <a:ln/>
        </p:spPr>
      </p:sp>
      <p:sp>
        <p:nvSpPr>
          <p:cNvPr id="34" name="Text 32"/>
          <p:cNvSpPr/>
          <p:nvPr/>
        </p:nvSpPr>
        <p:spPr>
          <a:xfrm>
            <a:off x="5209032" y="3035808"/>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sp>
      <p:sp>
        <p:nvSpPr>
          <p:cNvPr id="37" name="Shape 35"/>
          <p:cNvSpPr/>
          <p:nvPr/>
        </p:nvSpPr>
        <p:spPr>
          <a:xfrm>
            <a:off x="3779520" y="3319272"/>
            <a:ext cx="162763" cy="91440"/>
          </a:xfrm>
          <a:prstGeom prst="rect">
            <a:avLst/>
          </a:prstGeom>
          <a:solidFill>
            <a:srgbClr val="6C6790"/>
          </a:solidFill>
          <a:ln/>
        </p:spPr>
      </p:sp>
      <p:sp>
        <p:nvSpPr>
          <p:cNvPr id="38" name="Text 36"/>
          <p:cNvSpPr/>
          <p:nvPr/>
        </p:nvSpPr>
        <p:spPr>
          <a:xfrm>
            <a:off x="5209032" y="3273552"/>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sp>
      <p:sp>
        <p:nvSpPr>
          <p:cNvPr id="41" name="Shape 39"/>
          <p:cNvSpPr/>
          <p:nvPr/>
        </p:nvSpPr>
        <p:spPr>
          <a:xfrm>
            <a:off x="3779520" y="3557016"/>
            <a:ext cx="67818" cy="91440"/>
          </a:xfrm>
          <a:prstGeom prst="rect">
            <a:avLst/>
          </a:prstGeom>
          <a:solidFill>
            <a:srgbClr val="6C6790"/>
          </a:solidFill>
          <a:ln/>
        </p:spPr>
      </p:sp>
      <p:sp>
        <p:nvSpPr>
          <p:cNvPr id="42" name="Text 40"/>
          <p:cNvSpPr/>
          <p:nvPr/>
        </p:nvSpPr>
        <p:spPr>
          <a:xfrm>
            <a:off x="5209032" y="3511296"/>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sp>
      <p:sp>
        <p:nvSpPr>
          <p:cNvPr id="44" name="Text 42"/>
          <p:cNvSpPr/>
          <p:nvPr/>
        </p:nvSpPr>
        <p:spPr>
          <a:xfrm>
            <a:off x="6324600"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sp>
      <p:sp>
        <p:nvSpPr>
          <p:cNvPr id="46" name="Text 44"/>
          <p:cNvSpPr/>
          <p:nvPr/>
        </p:nvSpPr>
        <p:spPr>
          <a:xfrm>
            <a:off x="6895592"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sp>
      <p:sp>
        <p:nvSpPr>
          <p:cNvPr id="48" name="Text 46"/>
          <p:cNvSpPr/>
          <p:nvPr/>
        </p:nvSpPr>
        <p:spPr>
          <a:xfrm>
            <a:off x="7466584"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sp>
      <p:sp>
        <p:nvSpPr>
          <p:cNvPr id="50" name="Text 48"/>
          <p:cNvSpPr/>
          <p:nvPr/>
        </p:nvSpPr>
        <p:spPr>
          <a:xfrm>
            <a:off x="8037576"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algn="ctr" indent="0" marL="0">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05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sp>
      <p:sp>
        <p:nvSpPr>
          <p:cNvPr id="7" name="Text 5"/>
          <p:cNvSpPr/>
          <p:nvPr/>
        </p:nvSpPr>
        <p:spPr>
          <a:xfrm>
            <a:off x="777240" y="1874520"/>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3DD6FF"/>
                </a:solidFill>
                <a:latin typeface="Consolas" pitchFamily="34" charset="0"/>
                <a:ea typeface="Consolas" pitchFamily="34" charset="-122"/>
                <a:cs typeface="Consolas" pitchFamily="34" charset="-120"/>
              </a:rPr>
              <a:t>0.62</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11" name="Text 9"/>
          <p:cNvSpPr/>
          <p:nvPr/>
        </p:nvSpPr>
        <p:spPr>
          <a:xfrm>
            <a:off x="777240" y="3941064"/>
            <a:ext cx="3566160" cy="411480"/>
          </a:xfrm>
          <a:prstGeom prst="rect">
            <a:avLst/>
          </a:prstGeom>
          <a:noFill/>
          <a:ln/>
        </p:spPr>
        <p:txBody>
          <a:bodyPr wrap="square" lIns="0" tIns="0" rIns="0" bIns="0" rtlCol="0" anchor="t"/>
          <a:lstStyle/>
          <a:p>
            <a:pPr indent="0" marL="0">
              <a:buNone/>
            </a:pPr>
            <a:r>
              <a:rPr lang="en-US" sz="1050" dirty="0">
                <a:solidFill>
                  <a:srgbClr val="ABA6C8"/>
                </a:solidFill>
                <a:latin typeface="Segoe UI" pitchFamily="34" charset="0"/>
                <a:ea typeface="Segoe UI" pitchFamily="34" charset="-122"/>
                <a:cs typeface="Segoe UI" pitchFamily="34" charset="-120"/>
              </a:rPr>
              <a:t xml:space="preserve">Game code calls it a </a:t>
            </a:r>
            <a:pPr indent="0" marL="0">
              <a:buNone/>
            </a:pPr>
            <a:r>
              <a:rPr lang="en-US" sz="1050" dirty="0">
                <a:solidFill>
                  <a:srgbClr val="ECE9F8"/>
                </a:solidFill>
                <a:latin typeface="Consolas" pitchFamily="34" charset="0"/>
                <a:ea typeface="Consolas" pitchFamily="34" charset="-122"/>
                <a:cs typeface="Consolas" pitchFamily="34" charset="-120"/>
              </a:rPr>
              <a:t>predicate</a:t>
            </a:r>
            <a:pPr indent="0" marL="0">
              <a:buNone/>
            </a:pPr>
            <a:r>
              <a:rPr lang="en-US" sz="1050" dirty="0">
                <a:solidFill>
                  <a:srgbClr val="ABA6C8"/>
                </a:solidFill>
                <a:latin typeface="Segoe UI" pitchFamily="34" charset="0"/>
                <a:ea typeface="Segoe UI" pitchFamily="34" charset="-122"/>
                <a:cs typeface="Segoe UI" pitchFamily="34" charset="-120"/>
              </a:rPr>
              <a:t xml:space="preserve">; </a:t>
            </a:r>
            <a:pPr indent="0" marL="0">
              <a:buNone/>
            </a:pPr>
            <a:r>
              <a:rPr lang="en-US" sz="1050" dirty="0">
                <a:solidFill>
                  <a:srgbClr val="ECE9F8"/>
                </a:solidFill>
                <a:latin typeface="Consolas" pitchFamily="34" charset="0"/>
                <a:ea typeface="Consolas" pitchFamily="34" charset="-122"/>
                <a:cs typeface="Consolas" pitchFamily="34" charset="-120"/>
              </a:rPr>
              <a:t>lib/decisions.js</a:t>
            </a:r>
            <a:pPr indent="0" marL="0">
              <a:buNone/>
            </a:pPr>
            <a:r>
              <a:rPr lang="en-US" sz="1050" dirty="0">
                <a:solidFill>
                  <a:srgbClr val="ABA6C8"/>
                </a:solidFill>
                <a:latin typeface="Segoe UI" pitchFamily="34" charset="0"/>
                <a:ea typeface="Segoe UI" pitchFamily="34" charset="-122"/>
                <a:cs typeface="Segoe UI" pitchFamily="34" charset="-120"/>
              </a:rPr>
              <a:t xml:space="preserve"> maps it to </a:t>
            </a:r>
            <a:pPr indent="0" marL="0">
              <a:buNone/>
            </a:pPr>
            <a:r>
              <a:rPr lang="en-US" sz="1050" dirty="0">
                <a:solidFill>
                  <a:srgbClr val="ECE9F8"/>
                </a:solidFill>
                <a:latin typeface="Consolas" pitchFamily="34" charset="0"/>
                <a:ea typeface="Consolas" pitchFamily="34" charset="-122"/>
                <a:cs typeface="Consolas" pitchFamily="34" charset="-120"/>
              </a:rPr>
              <a:t>noul</a:t>
            </a:r>
            <a:pPr indent="0" marL="0">
              <a:buNone/>
            </a:pPr>
            <a:r>
              <a:rPr lang="en-US" sz="1050" dirty="0">
                <a:solidFill>
                  <a:srgbClr val="ABA6C8"/>
                </a:solidFill>
                <a:latin typeface="Segoe UI" pitchFamily="34" charset="0"/>
                <a:ea typeface="Segoe UI" pitchFamily="34" charset="-122"/>
                <a:cs typeface="Segoe UI" pitchFamily="34" charset="-120"/>
              </a:rPr>
              <a:t xml:space="preserve"> on the wire.</a:t>
            </a:r>
            <a:endParaRPr lang="en-US" sz="105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sp>
      <p:sp>
        <p:nvSpPr>
          <p:cNvPr id="14" name="Text 12"/>
          <p:cNvSpPr/>
          <p:nvPr/>
        </p:nvSpPr>
        <p:spPr>
          <a:xfrm>
            <a:off x="6330696" y="2258568"/>
            <a:ext cx="1280160" cy="219456"/>
          </a:xfrm>
          <a:prstGeom prst="rect">
            <a:avLst/>
          </a:prstGeom>
          <a:noFill/>
          <a:ln/>
        </p:spPr>
        <p:txBody>
          <a:bodyPr wrap="square" lIns="0" tIns="0" rIns="0" bIns="0" rtlCol="0" anchor="ctr"/>
          <a:lstStyle/>
          <a:p>
            <a:pPr algn="ctr" indent="0" marL="0">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sp>
      <p:sp>
        <p:nvSpPr>
          <p:cNvPr id="16" name="Shape 14"/>
          <p:cNvSpPr/>
          <p:nvPr/>
        </p:nvSpPr>
        <p:spPr>
          <a:xfrm>
            <a:off x="5407152" y="2761488"/>
            <a:ext cx="128016" cy="128016"/>
          </a:xfrm>
          <a:prstGeom prst="ellipse">
            <a:avLst/>
          </a:prstGeom>
          <a:solidFill>
            <a:srgbClr val="ECE9F8"/>
          </a:solidFill>
          <a:ln/>
        </p:spPr>
      </p:sp>
      <p:sp>
        <p:nvSpPr>
          <p:cNvPr id="17" name="Text 15"/>
          <p:cNvSpPr/>
          <p:nvPr/>
        </p:nvSpPr>
        <p:spPr>
          <a:xfrm>
            <a:off x="519684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sp>
      <p:sp>
        <p:nvSpPr>
          <p:cNvPr id="19" name="Text 17"/>
          <p:cNvSpPr/>
          <p:nvPr/>
        </p:nvSpPr>
        <p:spPr>
          <a:xfrm>
            <a:off x="644652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sp>
      <p:sp>
        <p:nvSpPr>
          <p:cNvPr id="21" name="Text 19"/>
          <p:cNvSpPr/>
          <p:nvPr/>
        </p:nvSpPr>
        <p:spPr>
          <a:xfrm>
            <a:off x="707136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Vega, Rigel</a:t>
            </a:r>
            <a:pPr indent="0" marL="0">
              <a:buNone/>
            </a:pPr>
            <a:r>
              <a:rPr lang="en-US" sz="1150" dirty="0">
                <a:solidFill>
                  <a:srgbClr val="ABA6C8"/>
                </a:solidFill>
                <a:latin typeface="Segoe UI" pitchFamily="34" charset="0"/>
                <a:ea typeface="Segoe UI" pitchFamily="34" charset="-122"/>
                <a:cs typeface="Segoe UI" pitchFamily="34" charset="-120"/>
              </a:rPr>
              <a:t xml:space="preserve">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Orion</a:t>
            </a:r>
            <a:pPr indent="0" marL="0">
              <a:buNone/>
            </a:pPr>
            <a:r>
              <a:rPr lang="en-US" sz="1150" dirty="0">
                <a:solidFill>
                  <a:srgbClr val="ABA6C8"/>
                </a:solidFill>
                <a:latin typeface="Segoe UI" pitchFamily="34" charset="0"/>
                <a:ea typeface="Segoe UI" pitchFamily="34" charset="-122"/>
                <a:cs typeface="Segoe UI" pitchFamily="34" charset="-120"/>
              </a:rPr>
              <a:t xml:space="preserve">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Nova, Lyra</a:t>
            </a:r>
            <a:pPr indent="0" marL="0">
              <a:buNone/>
            </a:pPr>
            <a:r>
              <a:rPr lang="en-US" sz="1150" dirty="0">
                <a:solidFill>
                  <a:srgbClr val="ABA6C8"/>
                </a:solidFill>
                <a:latin typeface="Segoe UI" pitchFamily="34" charset="0"/>
                <a:ea typeface="Segoe UI" pitchFamily="34" charset="-122"/>
                <a:cs typeface="Segoe UI" pitchFamily="34" charset="-120"/>
              </a:rPr>
              <a:t xml:space="preserve">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algn="r" indent="0" marL="0">
              <a:buNone/>
            </a:pPr>
            <a:r>
              <a:rPr lang="en-US" sz="1100" b="1" spc="200" kern="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06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gridCol w="1463040"/>
                <a:gridCol w="685800"/>
                <a:gridCol w="2148840"/>
                <a:gridCol w="2423160"/>
              </a:tblGrid>
              <a:tr h="274320">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2">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one per driver, built at runtime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ON THE WIRE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07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request, three answers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Questions are keyed by name, and the answers come back under the same names.</a:t>
            </a:r>
            <a:endParaRPr lang="en-US" sz="1400" dirty="0"/>
          </a:p>
        </p:txBody>
      </p:sp>
      <p:sp>
        <p:nvSpPr>
          <p:cNvPr id="7" name="Shape 5"/>
          <p:cNvSpPr/>
          <p:nvPr/>
        </p:nvSpPr>
        <p:spPr>
          <a:xfrm>
            <a:off x="548640" y="1874520"/>
            <a:ext cx="3474720" cy="2651760"/>
          </a:xfrm>
          <a:prstGeom prst="roundRect">
            <a:avLst>
              <a:gd name="adj" fmla="val 4138"/>
            </a:avLst>
          </a:prstGeom>
          <a:solidFill>
            <a:srgbClr val="110F2B"/>
          </a:solidFill>
          <a:ln/>
        </p:spPr>
      </p:sp>
      <p:sp>
        <p:nvSpPr>
          <p:cNvPr id="8" name="Shape 6"/>
          <p:cNvSpPr/>
          <p:nvPr/>
        </p:nvSpPr>
        <p:spPr>
          <a:xfrm>
            <a:off x="4297680" y="1874520"/>
            <a:ext cx="4297680" cy="2651760"/>
          </a:xfrm>
          <a:prstGeom prst="roundRect">
            <a:avLst>
              <a:gd name="adj" fmla="val 4138"/>
            </a:avLst>
          </a:prstGeom>
          <a:solidFill>
            <a:srgbClr val="110F2B"/>
          </a:solidFill>
          <a:ln/>
        </p:spPr>
      </p:sp>
      <p:sp>
        <p:nvSpPr>
          <p:cNvPr id="9" name="Text 7"/>
          <p:cNvSpPr/>
          <p:nvPr/>
        </p:nvSpPr>
        <p:spPr>
          <a:xfrm>
            <a:off x="77724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10" name="Text 8"/>
          <p:cNvSpPr/>
          <p:nvPr/>
        </p:nvSpPr>
        <p:spPr>
          <a:xfrm>
            <a:off x="452628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1" name="Text 9"/>
          <p:cNvSpPr/>
          <p:nvPr/>
        </p:nvSpPr>
        <p:spPr>
          <a:xfrm>
            <a:off x="777240" y="2350008"/>
            <a:ext cx="3063240" cy="1691640"/>
          </a:xfrm>
          <a:prstGeom prst="rect">
            <a:avLst/>
          </a:prstGeom>
          <a:noFill/>
          <a:ln/>
        </p:spPr>
        <p:txBody>
          <a:bodyPr wrap="square" lIns="0" tIns="0" rIns="0" bIns="0" rtlCol="0" anchor="t"/>
          <a:lstStyle/>
          <a:p>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POST …/providers/microsoft/v1/systemone</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"decision-1-dz"</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"state"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"&lt;race situation text&gt;"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"questions"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2" name="Text 10"/>
          <p:cNvSpPr/>
          <p:nvPr/>
        </p:nvSpPr>
        <p:spPr>
          <a:xfrm>
            <a:off x="4526280" y="2350008"/>
            <a:ext cx="3886200" cy="1691640"/>
          </a:xfrm>
          <a:prstGeom prst="rect">
            <a:avLst/>
          </a:prstGeom>
          <a:noFill/>
          <a:ln/>
        </p:spPr>
        <p:txBody>
          <a:bodyPr wrap="square" lIns="0" tIns="0" rIns="0" bIns="0" rtlCol="0" anchor="t"/>
          <a:lstStyle/>
          <a:p>
            <a:pPr indent="0" marL="0">
              <a:lnSpc>
                <a:spcPct val="100000"/>
              </a:lnSpc>
              <a:buNone/>
            </a:pPr>
            <a:r>
              <a:rPr lang="en-US" sz="1050" dirty="0">
                <a:solidFill>
                  <a:srgbClr val="4ADE80"/>
                </a:solidFill>
                <a:latin typeface="Consolas" pitchFamily="34" charset="0"/>
                <a:ea typeface="Consolas" pitchFamily="34" charset="-122"/>
                <a:cs typeface="Consolas" pitchFamily="34" charset="-120"/>
              </a:rPr>
              <a:t>200 OK</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"microsoft-decision-1"</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"answers"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"usage"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"input_tokens"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"output_tokens"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3</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3" name="Text 11"/>
          <p:cNvSpPr/>
          <p:nvPr/>
        </p:nvSpPr>
        <p:spPr>
          <a:xfrm>
            <a:off x="777240" y="4142232"/>
            <a:ext cx="301752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xml:space="preserve"> is the deployment name.</a:t>
            </a:r>
            <a:endParaRPr lang="en-US" sz="1100" dirty="0"/>
          </a:p>
        </p:txBody>
      </p:sp>
      <p:sp>
        <p:nvSpPr>
          <p:cNvPr id="14" name="Text 12"/>
          <p:cNvSpPr/>
          <p:nvPr/>
        </p:nvSpPr>
        <p:spPr>
          <a:xfrm>
            <a:off x="4526280" y="4142232"/>
            <a:ext cx="384048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xml:space="preserve"> is the underlying model.</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08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1"/>
          <a:stretch>
            <a:fillRect/>
          </a:stretch>
        </p:blipFill>
        <p:spPr>
          <a:xfrm>
            <a:off x="548640" y="1622464"/>
            <a:ext cx="8046720" cy="29038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10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sp>
      <p:pic>
        <p:nvPicPr>
          <p:cNvPr id="7" name="Image 0" descr="Key icon"/>
          <p:cNvPicPr>
            <a:picLocks noChangeAspect="1"/>
          </p:cNvPicPr>
          <p:nvPr/>
        </p:nvPicPr>
        <p:blipFill>
          <a:blip r:embed="rId1"/>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sp>
      <p:pic>
        <p:nvPicPr>
          <p:cNvPr id="11" name="Image 1" descr="Shield icon"/>
          <p:cNvPicPr>
            <a:picLocks noChangeAspect="1"/>
          </p:cNvPicPr>
          <p:nvPr/>
        </p:nvPicPr>
        <p:blipFill>
          <a:blip r:embed="rId2"/>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sp>
      <p:pic>
        <p:nvPicPr>
          <p:cNvPr id="15" name="Image 2" descr="Stopwatch icon"/>
          <p:cNvPicPr>
            <a:picLocks noChangeAspect="1"/>
          </p:cNvPicPr>
          <p:nvPr/>
        </p:nvPicPr>
        <p:blipFill>
          <a:blip r:embed="rId3"/>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sp>
      <p:pic>
        <p:nvPicPr>
          <p:cNvPr id="19" name="Image 3" descr="Unplugged cable icon"/>
          <p:cNvPicPr>
            <a:picLocks noChangeAspect="1"/>
          </p:cNvPicPr>
          <p:nvPr/>
        </p:nvPicPr>
        <p:blipFill>
          <a:blip r:embed="rId4"/>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11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algn="ctr" indent="0" marL="0">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sp>
      <p:pic>
        <p:nvPicPr>
          <p:cNvPr id="15" name="Image 0" descr="Coins icon"/>
          <p:cNvPicPr>
            <a:picLocks noChangeAspect="1"/>
          </p:cNvPicPr>
          <p:nvPr/>
        </p:nvPicPr>
        <p:blipFill>
          <a:blip r:embed="rId1"/>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sp>
      <p:sp>
        <p:nvSpPr>
          <p:cNvPr id="3" name="Shape 1"/>
          <p:cNvSpPr/>
          <p:nvPr/>
        </p:nvSpPr>
        <p:spPr>
          <a:xfrm>
            <a:off x="2834640" y="548640"/>
            <a:ext cx="36576" cy="36576"/>
          </a:xfrm>
          <a:prstGeom prst="ellipse">
            <a:avLst/>
          </a:prstGeom>
          <a:solidFill>
            <a:srgbClr val="FFFFFF">
              <a:alpha val="60000"/>
            </a:srgbClr>
          </a:solidFill>
          <a:ln/>
        </p:spPr>
      </p:sp>
      <p:sp>
        <p:nvSpPr>
          <p:cNvPr id="4" name="Shape 2"/>
          <p:cNvSpPr/>
          <p:nvPr/>
        </p:nvSpPr>
        <p:spPr>
          <a:xfrm>
            <a:off x="4754880" y="594360"/>
            <a:ext cx="27432" cy="27432"/>
          </a:xfrm>
          <a:prstGeom prst="ellipse">
            <a:avLst/>
          </a:prstGeom>
          <a:solidFill>
            <a:srgbClr val="FFFFFF">
              <a:alpha val="45000"/>
            </a:srgbClr>
          </a:solidFill>
          <a:ln/>
        </p:spPr>
      </p:sp>
      <p:sp>
        <p:nvSpPr>
          <p:cNvPr id="5" name="Shape 3"/>
          <p:cNvSpPr/>
          <p:nvPr/>
        </p:nvSpPr>
        <p:spPr>
          <a:xfrm>
            <a:off x="6035040" y="502920"/>
            <a:ext cx="32004" cy="32004"/>
          </a:xfrm>
          <a:prstGeom prst="ellipse">
            <a:avLst/>
          </a:prstGeom>
          <a:solidFill>
            <a:srgbClr val="FFFFFF">
              <a:alpha val="55000"/>
            </a:srgbClr>
          </a:solidFill>
          <a:ln/>
        </p:spPr>
      </p:sp>
      <p:sp>
        <p:nvSpPr>
          <p:cNvPr id="6" name="Shape 4"/>
          <p:cNvSpPr/>
          <p:nvPr/>
        </p:nvSpPr>
        <p:spPr>
          <a:xfrm>
            <a:off x="8595360" y="3017520"/>
            <a:ext cx="27432" cy="27432"/>
          </a:xfrm>
          <a:prstGeom prst="ellipse">
            <a:avLst/>
          </a:prstGeom>
          <a:solidFill>
            <a:srgbClr val="FFFFFF">
              <a:alpha val="50000"/>
            </a:srgbClr>
          </a:solidFill>
          <a:ln/>
        </p:spPr>
      </p:sp>
      <p:sp>
        <p:nvSpPr>
          <p:cNvPr id="7" name="Shape 5"/>
          <p:cNvSpPr/>
          <p:nvPr/>
        </p:nvSpPr>
        <p:spPr>
          <a:xfrm>
            <a:off x="4480560" y="4846320"/>
            <a:ext cx="27432" cy="27432"/>
          </a:xfrm>
          <a:prstGeom prst="ellipse">
            <a:avLst/>
          </a:prstGeom>
          <a:solidFill>
            <a:srgbClr val="FFFFFF">
              <a:alpha val="45000"/>
            </a:srgbClr>
          </a:solidFill>
          <a:ln/>
        </p:spPr>
      </p:sp>
      <p:sp>
        <p:nvSpPr>
          <p:cNvPr id="8" name="Shape 6"/>
          <p:cNvSpPr/>
          <p:nvPr/>
        </p:nvSpPr>
        <p:spPr>
          <a:xfrm>
            <a:off x="2651760" y="4864608"/>
            <a:ext cx="22860" cy="22860"/>
          </a:xfrm>
          <a:prstGeom prst="ellipse">
            <a:avLst/>
          </a:prstGeom>
          <a:solidFill>
            <a:srgbClr val="FFFFFF">
              <a:alpha val="40000"/>
            </a:srgbClr>
          </a:solidFill>
          <a:ln/>
        </p:spPr>
      </p:sp>
      <p:sp>
        <p:nvSpPr>
          <p:cNvPr id="9" name="Shape 7"/>
          <p:cNvSpPr/>
          <p:nvPr/>
        </p:nvSpPr>
        <p:spPr>
          <a:xfrm>
            <a:off x="7680960" y="4846320"/>
            <a:ext cx="27432" cy="27432"/>
          </a:xfrm>
          <a:prstGeom prst="ellipse">
            <a:avLst/>
          </a:prstGeom>
          <a:solidFill>
            <a:srgbClr val="FFFFFF">
              <a:alpha val="45000"/>
            </a:srgbClr>
          </a:solidFill>
          <a:ln/>
        </p:spPr>
      </p:sp>
      <p:pic>
        <p:nvPicPr>
          <p:cNvPr id="10" name="Image 0" descr="Moon"/>
          <p:cNvPicPr>
            <a:picLocks noChangeAspect="1"/>
          </p:cNvPicPr>
          <p:nvPr/>
        </p:nvPicPr>
        <p:blipFill>
          <a:blip r:embed="rId1"/>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indent="0" marL="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sp>
      <p:sp>
        <p:nvSpPr>
          <p:cNvPr id="13" name="Text 10"/>
          <p:cNvSpPr/>
          <p:nvPr/>
        </p:nvSpPr>
        <p:spPr>
          <a:xfrm>
            <a:off x="777240" y="2112264"/>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indent="0" marL="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2" tooltip="Play LUNA GP"/>
          </p:cNvPr>
          <p:cNvSpPr/>
          <p:nvPr/>
        </p:nvSpPr>
        <p:spPr>
          <a:xfrm>
            <a:off x="548640" y="2011680"/>
            <a:ext cx="3840480" cy="713232"/>
          </a:xfrm>
          <a:prstGeom prst="rect">
            <a:avLst/>
          </a:prstGeom>
          <a:solidFill>
            <a:srgbClr val="07071A">
              <a:alpha val="0"/>
            </a:srgbClr>
          </a:solidFill>
          <a:ln/>
        </p:spPr>
      </p:sp>
      <p:sp>
        <p:nvSpPr>
          <p:cNvPr id="16" name="Shape 13"/>
          <p:cNvSpPr/>
          <p:nvPr/>
        </p:nvSpPr>
        <p:spPr>
          <a:xfrm>
            <a:off x="548640" y="2862072"/>
            <a:ext cx="3840480" cy="713232"/>
          </a:xfrm>
          <a:prstGeom prst="roundRect">
            <a:avLst>
              <a:gd name="adj" fmla="val 15385"/>
            </a:avLst>
          </a:prstGeom>
          <a:solidFill>
            <a:srgbClr val="110F2B"/>
          </a:solidFill>
          <a:ln/>
        </p:spPr>
      </p:sp>
      <p:sp>
        <p:nvSpPr>
          <p:cNvPr id="17" name="Text 14"/>
          <p:cNvSpPr/>
          <p:nvPr/>
        </p:nvSpPr>
        <p:spPr>
          <a:xfrm>
            <a:off x="777240" y="2962656"/>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npm start</a:t>
            </a:r>
            <a:pPr indent="0" marL="0">
              <a:buNone/>
            </a:pPr>
            <a:r>
              <a:rPr lang="en-US" sz="1300" dirty="0">
                <a:solidFill>
                  <a:srgbClr val="ABA6C8"/>
                </a:solidFill>
                <a:latin typeface="Consolas" pitchFamily="34" charset="0"/>
                <a:ea typeface="Consolas" pitchFamily="34" charset="-122"/>
                <a:cs typeface="Consolas" pitchFamily="34" charset="-120"/>
              </a:rPr>
              <a:t>  →  </a:t>
            </a:r>
            <a:pPr indent="0" marL="0">
              <a:buNone/>
            </a:pP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No </a:t>
            </a:r>
            <a:pPr indent="0" marL="0">
              <a:buNone/>
            </a:pPr>
            <a:r>
              <a:rPr lang="en-US" sz="1150" dirty="0">
                <a:solidFill>
                  <a:srgbClr val="ECE9F8"/>
                </a:solidFill>
                <a:latin typeface="Consolas" pitchFamily="34" charset="0"/>
                <a:ea typeface="Consolas" pitchFamily="34" charset="-122"/>
                <a:cs typeface="Consolas" pitchFamily="34" charset="-120"/>
              </a:rPr>
              <a:t>FOUNDRY_ENDPOINT</a:t>
            </a:r>
            <a:pPr indent="0" marL="0">
              <a:buNone/>
            </a:pP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sp>
      <p:pic>
        <p:nvPicPr>
          <p:cNvPr id="21" name="Image 1" descr="Left arrow key"/>
          <p:cNvPicPr>
            <a:picLocks noChangeAspect="1"/>
          </p:cNvPicPr>
          <p:nvPr/>
        </p:nvPicPr>
        <p:blipFill>
          <a:blip r:embed="rId3"/>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4"/>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sp>
      <p:pic>
        <p:nvPicPr>
          <p:cNvPr id="25" name="Image 3" descr="Up arrow key"/>
          <p:cNvPicPr>
            <a:picLocks noChangeAspect="1"/>
          </p:cNvPicPr>
          <p:nvPr/>
        </p:nvPicPr>
        <p:blipFill>
          <a:blip r:embed="rId5"/>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sp>
      <p:pic>
        <p:nvPicPr>
          <p:cNvPr id="28" name="Image 4" descr="Down arrow key"/>
          <p:cNvPicPr>
            <a:picLocks noChangeAspect="1"/>
          </p:cNvPicPr>
          <p:nvPr/>
        </p:nvPicPr>
        <p:blipFill>
          <a:blip r:embed="rId6"/>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sp>
      <p:sp>
        <p:nvSpPr>
          <p:cNvPr id="31" name="Text 24"/>
          <p:cNvSpPr/>
          <p:nvPr/>
        </p:nvSpPr>
        <p:spPr>
          <a:xfrm>
            <a:off x="4937760" y="3273552"/>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sp>
      <p:sp>
        <p:nvSpPr>
          <p:cNvPr id="34" name="Text 27"/>
          <p:cNvSpPr/>
          <p:nvPr/>
        </p:nvSpPr>
        <p:spPr>
          <a:xfrm>
            <a:off x="4937760" y="3694176"/>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7"/>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8" tooltip="Open the repository"/>
          </p:cNvPr>
          <p:cNvSpPr/>
          <p:nvPr/>
        </p:nvSpPr>
        <p:spPr>
          <a:xfrm>
            <a:off x="548640" y="4206240"/>
            <a:ext cx="2423160" cy="274320"/>
          </a:xfrm>
          <a:prstGeom prst="rect">
            <a:avLst/>
          </a:prstGeom>
          <a:solidFill>
            <a:srgbClr val="07071A">
              <a:alpha val="0"/>
            </a:srgbClr>
          </a:solidFill>
          <a:ln/>
        </p:spPr>
      </p:sp>
      <p:sp>
        <p:nvSpPr>
          <p:cNvPr id="39" name="Text 31"/>
          <p:cNvSpPr/>
          <p:nvPr/>
        </p:nvSpPr>
        <p:spPr>
          <a:xfrm>
            <a:off x="4937760" y="4206240"/>
            <a:ext cx="36576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sp>
      <p:sp>
        <p:nvSpPr>
          <p:cNvPr id="3" name="Text 3"/>
          <p:cNvSpPr txBox="1"/>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 xml:space="preserve">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 xml:space="preserve">09 / 12</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 xml:space="preserve">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indent="0" marL="0">
              <a:buNone/>
            </a:pPr>
            <a:r>
              <a:rPr lang="en-US" sz="1600" dirty="0">
                <a:solidFill>
                  <a:srgbClr val="ECE9F8"/>
                </a:solidFill>
                <a:latin typeface="Segoe UI" pitchFamily="34" charset="0"/>
                <a:ea typeface="Segoe UI" pitchFamily="34" charset="-122"/>
                <a:cs typeface="Segoe UI" pitchFamily="34" charset="-120"/>
              </a:rPr>
              <a:t xml:space="preserve">The game runs </a:t>
            </a:r>
            <a:r>
              <a:rPr lang="en-US" sz="1600" b="1" dirty="0">
                <a:solidFill>
                  <a:srgbClr val="FFD166"/>
                </a:solidFill>
                <a:latin typeface="Segoe UI" pitchFamily="34" charset="0"/>
                <a:ea typeface="Segoe UI" pitchFamily="34" charset="-122"/>
                <a:cs typeface="Segoe UI" pitchFamily="34" charset="-120"/>
              </a:rPr>
              <a:t xml:space="preserve">in the browser</a:t>
            </a:r>
            <a:r>
              <a:rPr lang="en-US" sz="1600" dirty="0">
                <a:solidFill>
                  <a:srgbClr val="ECE9F8"/>
                </a:solidFill>
                <a:latin typeface="Segoe UI" pitchFamily="34" charset="0"/>
                <a:ea typeface="Segoe UI" pitchFamily="34" charset="-122"/>
                <a:cs typeface="Segoe UI" pitchFamily="34" charset="-120"/>
              </a:rPr>
              <a:t xml:space="preserve">.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sp>
      <p:pic>
        <p:nvPicPr>
          <p:cNvPr id="8" name="Image 8" descr="Monitor icon"/>
          <p:cNvPicPr>
            <a:picLocks noChangeAspect="1"/>
          </p:cNvPicPr>
          <p:nvPr/>
        </p:nvPicPr>
        <p:blipFill>
          <a:blip r:embed="rId2"/>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sp>
      <p:pic>
        <p:nvPicPr>
          <p:cNvPr id="14" name="Image 14" descr="Server icon"/>
          <p:cNvPicPr>
            <a:picLocks noChangeAspect="1"/>
          </p:cNvPicPr>
          <p:nvPr/>
        </p:nvPicPr>
        <p:blipFill>
          <a:blip r:embed="rId3"/>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Consolas" pitchFamily="34" charset="0"/>
                <a:ea typeface="Consolas" pitchFamily="34" charset="-122"/>
                <a:cs typeface="Consolas" pitchFamily="34" charset="-120"/>
              </a:rPr>
              <a:t xml:space="preserve">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sp>
      <p:pic>
        <p:nvPicPr>
          <p:cNvPr id="20" name="Image 20" descr="Brain circuit icon"/>
          <p:cNvPicPr>
            <a:picLocks noChangeAspect="1"/>
          </p:cNvPicPr>
          <p:nvPr/>
        </p:nvPicPr>
        <p:blipFill>
          <a:blip r:embed="rId4"/>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indent="0" marL="0">
              <a:buNone/>
            </a:pPr>
            <a:r>
              <a:rPr lang="en-US" sz="1200" b="1" dirty="0">
                <a:solidFill>
                  <a:srgbClr val="FFD166"/>
                </a:solidFill>
                <a:latin typeface="Segoe UI" pitchFamily="34" charset="0"/>
                <a:ea typeface="Segoe UI" pitchFamily="34" charset="-122"/>
                <a:cs typeface="Segoe UI" pitchFamily="34" charset="-120"/>
              </a:rPr>
              <a:t xml:space="preserve">Not a container app: </a:t>
            </a:r>
            <a:r>
              <a:rPr lang="en-US" sz="1200" dirty="0">
                <a:solidFill>
                  <a:srgbClr val="ABA6C8"/>
                </a:solidFill>
                <a:latin typeface="Segoe UI" pitchFamily="34" charset="0"/>
                <a:ea typeface="Segoe UI" pitchFamily="34" charset="-122"/>
                <a:cs typeface="Segoe UI" pitchFamily="34" charset="-120"/>
              </a:rPr>
              <a:t xml:space="preserve">no image, background workers, queues or database. Deploy is a zip pushed to the web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LUNA GP</cp:lastModifiedBy>
  <cp:revision>1</cp:revision>
  <dcterms:created xsi:type="dcterms:W3CDTF">2026-10-27T19:13:30Z</dcterms:created>
  <dcterms:modified xsi:type="dcterms:W3CDTF">2026-10-27T19:13:30Z</dcterms:modified>
</cp:coreProperties>
</file>