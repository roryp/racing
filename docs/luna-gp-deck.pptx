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 Internally the game builds OpenAI-style 'predicate' questions and lib/decisions.js maps them to noul.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85800" y="548640"/>
            <a:ext cx="36576" cy="36576"/>
          </a:xfrm>
          <a:prstGeom prst="ellipse">
            <a:avLst/>
          </a:prstGeom>
          <a:solidFill>
            <a:srgbClr val="FFFFFF">
              <a:alpha val="60000"/>
            </a:srgbClr>
          </a:solidFill>
          <a:ln/>
        </p:spPr>
      </p:sp>
      <p:sp>
        <p:nvSpPr>
          <p:cNvPr id="3" name="Shape 1"/>
          <p:cNvSpPr/>
          <p:nvPr/>
        </p:nvSpPr>
        <p:spPr>
          <a:xfrm>
            <a:off x="1920240" y="868680"/>
            <a:ext cx="27432" cy="27432"/>
          </a:xfrm>
          <a:prstGeom prst="ellipse">
            <a:avLst/>
          </a:prstGeom>
          <a:solidFill>
            <a:srgbClr val="FFFFFF">
              <a:alpha val="45000"/>
            </a:srgbClr>
          </a:solidFill>
          <a:ln/>
        </p:spPr>
      </p:sp>
      <p:sp>
        <p:nvSpPr>
          <p:cNvPr id="4" name="Shape 2"/>
          <p:cNvSpPr/>
          <p:nvPr/>
        </p:nvSpPr>
        <p:spPr>
          <a:xfrm>
            <a:off x="3108960" y="566928"/>
            <a:ext cx="32004" cy="32004"/>
          </a:xfrm>
          <a:prstGeom prst="ellipse">
            <a:avLst/>
          </a:prstGeom>
          <a:solidFill>
            <a:srgbClr val="FFFFFF">
              <a:alpha val="50000"/>
            </a:srgbClr>
          </a:solidFill>
          <a:ln/>
        </p:spPr>
      </p:sp>
      <p:sp>
        <p:nvSpPr>
          <p:cNvPr id="5" name="Shape 3"/>
          <p:cNvSpPr/>
          <p:nvPr/>
        </p:nvSpPr>
        <p:spPr>
          <a:xfrm>
            <a:off x="4206240" y="777240"/>
            <a:ext cx="27432" cy="27432"/>
          </a:xfrm>
          <a:prstGeom prst="ellipse">
            <a:avLst/>
          </a:prstGeom>
          <a:solidFill>
            <a:srgbClr val="FFFFFF">
              <a:alpha val="40000"/>
            </a:srgbClr>
          </a:solidFill>
          <a:ln/>
        </p:spPr>
      </p:sp>
      <p:sp>
        <p:nvSpPr>
          <p:cNvPr id="6" name="Shape 4"/>
          <p:cNvSpPr/>
          <p:nvPr/>
        </p:nvSpPr>
        <p:spPr>
          <a:xfrm>
            <a:off x="5029200" y="548640"/>
            <a:ext cx="36576" cy="36576"/>
          </a:xfrm>
          <a:prstGeom prst="ellipse">
            <a:avLst/>
          </a:prstGeom>
          <a:solidFill>
            <a:srgbClr val="FFFFFF">
              <a:alpha val="55000"/>
            </a:srgbClr>
          </a:solidFill>
          <a:ln/>
        </p:spPr>
      </p:sp>
      <p:sp>
        <p:nvSpPr>
          <p:cNvPr id="7" name="Shape 5"/>
          <p:cNvSpPr/>
          <p:nvPr/>
        </p:nvSpPr>
        <p:spPr>
          <a:xfrm>
            <a:off x="8503920" y="594360"/>
            <a:ext cx="27432" cy="27432"/>
          </a:xfrm>
          <a:prstGeom prst="ellipse">
            <a:avLst/>
          </a:prstGeom>
          <a:solidFill>
            <a:srgbClr val="FFFFFF">
              <a:alpha val="50000"/>
            </a:srgbClr>
          </a:solidFill>
          <a:ln/>
        </p:spPr>
      </p:sp>
      <p:sp>
        <p:nvSpPr>
          <p:cNvPr id="8" name="Shape 6"/>
          <p:cNvSpPr/>
          <p:nvPr/>
        </p:nvSpPr>
        <p:spPr>
          <a:xfrm>
            <a:off x="8595360" y="3611880"/>
            <a:ext cx="32004" cy="32004"/>
          </a:xfrm>
          <a:prstGeom prst="ellipse">
            <a:avLst/>
          </a:prstGeom>
          <a:solidFill>
            <a:srgbClr val="FFFFFF">
              <a:alpha val="55000"/>
            </a:srgbClr>
          </a:solidFill>
          <a:ln/>
        </p:spPr>
      </p:sp>
      <p:sp>
        <p:nvSpPr>
          <p:cNvPr id="9" name="Shape 7"/>
          <p:cNvSpPr/>
          <p:nvPr/>
        </p:nvSpPr>
        <p:spPr>
          <a:xfrm>
            <a:off x="5577840" y="4160520"/>
            <a:ext cx="27432" cy="27432"/>
          </a:xfrm>
          <a:prstGeom prst="ellipse">
            <a:avLst/>
          </a:prstGeom>
          <a:solidFill>
            <a:srgbClr val="FFFFFF">
              <a:alpha val="40000"/>
            </a:srgbClr>
          </a:solidFill>
          <a:ln/>
        </p:spPr>
      </p:sp>
      <p:sp>
        <p:nvSpPr>
          <p:cNvPr id="10" name="Shape 8"/>
          <p:cNvSpPr/>
          <p:nvPr/>
        </p:nvSpPr>
        <p:spPr>
          <a:xfrm>
            <a:off x="7863840" y="4526280"/>
            <a:ext cx="32004" cy="32004"/>
          </a:xfrm>
          <a:prstGeom prst="ellipse">
            <a:avLst/>
          </a:prstGeom>
          <a:solidFill>
            <a:srgbClr val="FFFFFF">
              <a:alpha val="50000"/>
            </a:srgbClr>
          </a:solidFill>
          <a:ln/>
        </p:spPr>
      </p:sp>
      <p:sp>
        <p:nvSpPr>
          <p:cNvPr id="11" name="Shape 9"/>
          <p:cNvSpPr/>
          <p:nvPr/>
        </p:nvSpPr>
        <p:spPr>
          <a:xfrm>
            <a:off x="4480560" y="3977640"/>
            <a:ext cx="27432" cy="27432"/>
          </a:xfrm>
          <a:prstGeom prst="ellipse">
            <a:avLst/>
          </a:prstGeom>
          <a:solidFill>
            <a:srgbClr val="FFFFFF">
              <a:alpha val="45000"/>
            </a:srgbClr>
          </a:solidFill>
          <a:ln/>
        </p:spPr>
      </p:sp>
      <p:sp>
        <p:nvSpPr>
          <p:cNvPr id="12" name="Shape 10"/>
          <p:cNvSpPr/>
          <p:nvPr/>
        </p:nvSpPr>
        <p:spPr>
          <a:xfrm>
            <a:off x="2651760" y="3840480"/>
            <a:ext cx="22860" cy="22860"/>
          </a:xfrm>
          <a:prstGeom prst="ellipse">
            <a:avLst/>
          </a:prstGeom>
          <a:solidFill>
            <a:srgbClr val="FFFFFF">
              <a:alpha val="40000"/>
            </a:srgbClr>
          </a:solidFill>
          <a:ln/>
        </p:spPr>
      </p:sp>
      <p:sp>
        <p:nvSpPr>
          <p:cNvPr id="13" name="Shape 11"/>
          <p:cNvSpPr/>
          <p:nvPr/>
        </p:nvSpPr>
        <p:spPr>
          <a:xfrm>
            <a:off x="1097280" y="3794760"/>
            <a:ext cx="27432" cy="27432"/>
          </a:xfrm>
          <a:prstGeom prst="ellipse">
            <a:avLst/>
          </a:prstGeom>
          <a:solidFill>
            <a:srgbClr val="FFFFFF">
              <a:alpha val="50000"/>
            </a:srgbClr>
          </a:solidFill>
          <a:ln/>
        </p:spPr>
      </p:sp>
      <p:pic>
        <p:nvPicPr>
          <p:cNvPr id="14" name="Image 0" descr="Moon">    </p:cNvPr>
          <p:cNvPicPr>
            <a:picLocks noChangeAspect="1"/>
          </p:cNvPicPr>
          <p:nvPr/>
        </p:nvPicPr>
        <p:blipFill>
          <a:blip r:embed="rId1"/>
          <a:stretch>
            <a:fillRect/>
          </a:stretch>
        </p:blipFill>
        <p:spPr>
          <a:xfrm>
            <a:off x="4997196" y="379476"/>
            <a:ext cx="3995928" cy="3995928"/>
          </a:xfrm>
          <a:prstGeom prst="rect">
            <a:avLst/>
          </a:prstGeom>
        </p:spPr>
      </p:pic>
      <p:sp>
        <p:nvSpPr>
          <p:cNvPr id="15" name="Text 12"/>
          <p:cNvSpPr/>
          <p:nvPr/>
        </p:nvSpPr>
        <p:spPr>
          <a:xfrm>
            <a:off x="548640" y="1280160"/>
            <a:ext cx="493776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93776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r>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r>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r>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r>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1" name="Text 9"/>
          <p:cNvSpPr/>
          <p:nvPr/>
        </p:nvSpPr>
        <p:spPr>
          <a:xfrm>
            <a:off x="777240" y="3941064"/>
            <a:ext cx="3566160" cy="411480"/>
          </a:xfrm>
          <a:prstGeom prst="rect">
            <a:avLst/>
          </a:prstGeom>
          <a:noFill/>
          <a:ln/>
        </p:spPr>
        <p:txBody>
          <a:bodyPr wrap="square" lIns="0" tIns="0" rIns="0" bIns="0" rtlCol="0" anchor="t"/>
          <a:lstStyle/>
          <a:p>
            <a:pPr indent="0" marL="0">
              <a:buNone/>
            </a:pPr>
            <a:r>
              <a:rPr lang="en-US" sz="1050" dirty="0">
                <a:solidFill>
                  <a:srgbClr val="ABA6C8"/>
                </a:solidFill>
                <a:latin typeface="Segoe UI" pitchFamily="34" charset="0"/>
                <a:ea typeface="Segoe UI" pitchFamily="34" charset="-122"/>
                <a:cs typeface="Segoe UI" pitchFamily="34" charset="-120"/>
              </a:rPr>
              <a:t>Game code calls it a </a:t>
            </a:r>
            <a:pPr indent="0" marL="0">
              <a:buNone/>
            </a:pPr>
            <a:r>
              <a:rPr lang="en-US" sz="1050" dirty="0">
                <a:solidFill>
                  <a:srgbClr val="ECE9F8"/>
                </a:solidFill>
                <a:latin typeface="Consolas" pitchFamily="34" charset="0"/>
                <a:ea typeface="Consolas" pitchFamily="34" charset="-122"/>
                <a:cs typeface="Consolas" pitchFamily="34" charset="-120"/>
              </a:rPr>
              <a:t>predicate</a:t>
            </a:r>
            <a:pPr indent="0" marL="0">
              <a:buNone/>
            </a:pPr>
            <a:r>
              <a:rPr lang="en-US" sz="1050" dirty="0">
                <a:solidFill>
                  <a:srgbClr val="ABA6C8"/>
                </a:solidFill>
                <a:latin typeface="Segoe UI" pitchFamily="34" charset="0"/>
                <a:ea typeface="Segoe UI" pitchFamily="34" charset="-122"/>
                <a:cs typeface="Segoe UI" pitchFamily="34" charset="-120"/>
              </a:rPr>
              <a:t>; </a:t>
            </a:r>
            <a:pPr indent="0" marL="0">
              <a:buNone/>
            </a:pPr>
            <a:r>
              <a:rPr lang="en-US" sz="1050" dirty="0">
                <a:solidFill>
                  <a:srgbClr val="ECE9F8"/>
                </a:solidFill>
                <a:latin typeface="Consolas" pitchFamily="34" charset="0"/>
                <a:ea typeface="Consolas" pitchFamily="34" charset="-122"/>
                <a:cs typeface="Consolas" pitchFamily="34" charset="-120"/>
              </a:rPr>
              <a:t>lib/decisions.js</a:t>
            </a:r>
            <a:pPr indent="0" marL="0">
              <a:buNone/>
            </a:pPr>
            <a:r>
              <a:rPr lang="en-US" sz="1050" dirty="0">
                <a:solidFill>
                  <a:srgbClr val="ABA6C8"/>
                </a:solidFill>
                <a:latin typeface="Segoe UI" pitchFamily="34" charset="0"/>
                <a:ea typeface="Segoe UI" pitchFamily="34" charset="-122"/>
                <a:cs typeface="Segoe UI" pitchFamily="34" charset="-120"/>
              </a:rPr>
              <a:t> maps it to </a:t>
            </a:r>
            <a:pPr indent="0" marL="0">
              <a:buNone/>
            </a:pPr>
            <a:r>
              <a:rPr lang="en-US" sz="1050" dirty="0">
                <a:solidFill>
                  <a:srgbClr val="ECE9F8"/>
                </a:solidFill>
                <a:latin typeface="Consolas" pitchFamily="34" charset="0"/>
                <a:ea typeface="Consolas" pitchFamily="34" charset="-122"/>
                <a:cs typeface="Consolas" pitchFamily="34" charset="-120"/>
              </a:rPr>
              <a:t>noul</a:t>
            </a:r>
            <a:pPr indent="0" marL="0">
              <a:buNone/>
            </a:pPr>
            <a:r>
              <a:rPr lang="en-US" sz="1050" dirty="0">
                <a:solidFill>
                  <a:srgbClr val="ABA6C8"/>
                </a:solidFill>
                <a:latin typeface="Segoe UI" pitchFamily="34" charset="0"/>
                <a:ea typeface="Segoe UI" pitchFamily="34" charset="-122"/>
                <a:cs typeface="Segoe UI" pitchFamily="34" charset="-120"/>
              </a:rPr>
              <a:t> on the wire.</a:t>
            </a:r>
            <a:endParaRPr lang="en-US" sz="105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r>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09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r>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r>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r>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r>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r>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r>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r>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r>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r>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r>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r>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