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72" r:id="rId2"/>
    <p:sldId id="257" r:id="rId4"/>
    <p:sldId id="274" r:id="rId24"/>
    <p:sldId id="258" r:id="rId5"/>
    <p:sldId id="269" r:id="rId3"/>
    <p:sldId id="259" r:id="rId6"/>
    <p:sldId id="261" r:id="rId8"/>
    <p:sldId id="268" r:id="rId9"/>
    <p:sldId id="262" r:id="rId10"/>
    <p:sldId id="260" r:id="rId7"/>
    <p:sldId id="271" r:id="rId11"/>
    <p:sldId id="275" r:id="rId25"/>
    <p:sldId id="277" r:id="rId27"/>
    <p:sldId id="276" r:id="rId26"/>
    <p:sldId id="267" r:id="rId13"/>
    <p:sldId id="263" r:id="rId12"/>
    <p:sldId id="264" r:id="rId14"/>
    <p:sldId id="265" r:id="rId15"/>
    <p:sldId id="273" r:id="rId16"/>
    <p:sldId id="270" r:id="rId17"/>
    <p:sldId id="266"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5.xml"/><Relationship Id="rId4"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5.xml"/><Relationship Id="rId13" Type="http://schemas.openxmlformats.org/officeDocument/2006/relationships/slide" Target="slides/slide14.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3.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pieChart>
        <c:varyColors val="1"/>
        <c:ser>
          <c:idx val="0"/>
          <c:order val="0"/>
          <c:tx>
            <c:strRef>
              <c:f>Sheet1!$B$1</c:f>
              <c:strCache>
                <c:ptCount val="1"/>
                <c:pt idx="0">
                  <c:v>USD per month</c:v>
                </c:pt>
              </c:strCache>
            </c:strRef>
          </c:tx>
          <c:dPt>
            <c:idx val="0"/>
            <c:bubble3D val="0"/>
            <c:spPr>
              <a:solidFill>
                <a:srgbClr val="4ADE80"/>
              </a:solidFill>
              <a:ln w="19050">
                <a:solidFill>
                  <a:srgbClr val="07071A"/>
                </a:solidFill>
              </a:ln>
            </c:spPr>
            <c:extLst>
              <c:ext xmlns:c16="http://schemas.microsoft.com/office/drawing/2014/chart" uri="{C3380CC4-5D6E-409C-BE32-E72D297353CC}">
                <c16:uniqueId val="{00000001-730B-40AB-A127-4BE4CF7C6605}"/>
              </c:ext>
            </c:extLst>
          </c:dPt>
          <c:dPt>
            <c:idx val="1"/>
            <c:bubble3D val="0"/>
            <c:spPr>
              <a:solidFill>
                <a:srgbClr val="FFD166"/>
              </a:solidFill>
              <a:ln w="19050">
                <a:solidFill>
                  <a:srgbClr val="07071A"/>
                </a:solidFill>
              </a:ln>
            </c:spPr>
            <c:extLst>
              <c:ext xmlns:c16="http://schemas.microsoft.com/office/drawing/2014/chart" uri="{C3380CC4-5D6E-409C-BE32-E72D297353CC}">
                <c16:uniqueId val="{00000003-730B-40AB-A127-4BE4CF7C6605}"/>
              </c:ext>
            </c:extLst>
          </c:dPt>
          <c:dLbls>
            <c:numFmt formatCode="0%" sourceLinked="0"/>
            <c:spPr>
              <a:noFill/>
              <a:ln>
                <a:noFill/>
              </a:ln>
              <a:effectLst/>
            </c:spPr>
            <c:txPr>
              <a:bodyPr/>
              <a:lstStyle/>
              <a:p>
                <a:pPr>
                  <a:defRPr sz="1600" b="1">
                    <a:solidFill>
                      <a:srgbClr val="07071A"/>
                    </a:solidFill>
                  </a:defRPr>
                </a:pPr>
                <a:endParaRPr lang="en-US"/>
              </a:p>
            </c:txPr>
            <c:dLblPos val="ctr"/>
            <c:showLegendKey val="0"/>
            <c:showVal val="0"/>
            <c:showCatName val="0"/>
            <c:showSerName val="0"/>
            <c:showPercent val="1"/>
            <c:showBubbleSize val="0"/>
            <c:showLeaderLines val="1"/>
            <c:extLst>
              <c:ext xmlns:c15="http://schemas.microsoft.com/office/drawing/2012/chart" uri="{CE6537A1-D6FC-4f65-9D91-7224C49458BB}"/>
            </c:extLst>
          </c:dLbls>
          <c:cat>
            <c:strRef>
              <c:f>Sheet1!$A$2:$A$3</c:f>
              <c:strCache>
                <c:ptCount val="2"/>
                <c:pt idx="0">
                  <c:v>App Service P0v3</c:v>
                </c:pt>
                <c:pt idx="1">
                  <c:v>Decision-1 tokens</c:v>
                </c:pt>
              </c:strCache>
            </c:strRef>
          </c:cat>
          <c:val>
            <c:numRef>
              <c:f>Sheet1!$B$2:$B$3</c:f>
              <c:numCache>
                <c:formatCode>General</c:formatCode>
                <c:ptCount val="2"/>
                <c:pt idx="0">
                  <c:v>62.05</c:v>
                </c:pt>
                <c:pt idx="1">
                  <c:v>15.4</c:v>
                </c:pt>
              </c:numCache>
            </c:numRef>
          </c:val>
          <c:extLst>
            <c:ext xmlns:c16="http://schemas.microsoft.com/office/drawing/2014/chart" uri="{C3380CC4-5D6E-409C-BE32-E72D297353CC}">
              <c16:uniqueId val="{00000004-730B-40AB-A127-4BE4CF7C6605}"/>
            </c:ext>
          </c:extLst>
        </c:ser>
        <c:dLbls>
          <c:dLblPos val="ctr"/>
          <c:showLegendKey val="0"/>
          <c:showVal val="0"/>
          <c:showCatName val="0"/>
          <c:showSerName val="0"/>
          <c:showPercent val="1"/>
          <c:showBubbleSize val="0"/>
          <c:showLeaderLines val="1"/>
        </c:dLbls>
        <c:firstSliceAng val="0"/>
      </c:pieChart>
    </c:plotArea>
    <c:plotVisOnly val="1"/>
    <c:dispBlanksAs val="gap"/>
    <c:showDLblsOverMax val="1"/>
  </c:chart>
  <c:txPr>
    <a:bodyPr/>
    <a:lstStyle/>
    <a:p>
      <a:pPr>
        <a:defRPr sz="1800">
          <a:latin typeface="Segoe UI Semibol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Here's the deal: you drive, the engine draws the road and runs the physics, and Microsoft-Decision-1 makes the rivals' calls. The tags above the cars are its live answers.</a:t>
            </a:r>
          </a:p>
          <a:p>
            <a:r>
              <a:rPr lang="en-US" dirty="0"/>
              <a:t>The model never moves a car. It answers typed questions; game code acts on the answers.</a:t>
            </a:r>
          </a:p>
          <a:p>
            <a:r>
              <a:rPr lang="en-US" dirty="0"/>
              <a:t>The split of work: the player steers, brakes and fires nitro on keyboard or touch; the game engine draws the pseudo-3D road and runs the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Sector 1, the model. Microsoft-Decision-1 isn't a chatbot: give it a situation and closed questions, and it returns a probability for every answer, with no prose.</a:t>
            </a:r>
          </a:p>
          <a:p>
            <a:r>
              <a:rPr lang="en-US" dirty="0"/>
              <a:t>Give it a situation and closed questions; it returns a calibrated probability for every answer option. No prose, no rationale.</a:t>
            </a:r>
          </a:p>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Every question is one of three types: noul for yes or no, choice to pick one option, and score to place something on a scale. The game uses all three.</a:t>
            </a:r>
          </a:p>
          <a:p>
            <a:r>
              <a:rPr lang="en-US" dirty="0"/>
              <a:t>One request carries one state and any mix of typed questions; a single pass answers them all.</a:t>
            </a:r>
          </a:p>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Σ i · p(i)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The model only returns a probability; the game decides what to do with it. Each personality reads the same number differently: aggressive drivers fire early, smooth ones hold back.</a:t>
            </a:r>
          </a:p>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Sector 2, the race. The game asks eight questions from three places: the rivals while they race, Race Control when you touch a rival, and the debrief after the flag. We'll follow them in that order.</a:t>
            </a:r>
          </a:p>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a:p>
            <a:r>
              <a:rPr lang="en-US" dirty="0"/>
              <a:t>Answer spaces: maneuver picks one of 6 maneuvers; pace is a 0–3 score from Conserve to Flat out; nitro and clean_racer return p(true); responsible picks the player, the rival or a racing incident; severity is a 0–2 score from Light touch to Dangerous; rating is a 0–3 score from Rookie to Champion; driver_of_the_day picks you or one of the 5 rivals.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Start with a rival. About every second, each rival sends a fresh snapshot of its own situation and asks three things: which move, how hard to push, and whether to fire nitro.</a:t>
            </a:r>
          </a:p>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On the wire, that's one request with three named questions and one response with three named answers. All three questions share one copy of the race situation.</a:t>
            </a:r>
          </a:p>
          <a:p>
            <a:r>
              <a:rPr lang="en-US" dirty="0"/>
              <a:t>This is an abbreviated JSON example (one driver's situation in, three named answers out),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Speaker notes"/>
          <p:cNvSpPr>
            <a:spLocks noGrp="1"/>
          </p:cNvSpPr>
          <p:nvPr>
            <p:ph type="body" idx="1"/>
          </p:nvPr>
        </p:nvSpPr>
        <p:spPr/>
        <p:txBody>
          <a:bodyPr/>
          <a:lstStyle/>
          <a:p>
            <a:r>
              <a:rPr lang="en-US" b="1" dirty="0"/>
              <a:t>Talk track: </a:t>
            </a:r>
            <a:r>
              <a:rPr lang="en-US" dirty="0"/>
              <a:t>Steering works the same way: the model picks racing_line, and game code works out where that line is and steers toward it 60 times a second.</a:t>
            </a:r>
          </a:p>
          <a:p>
            <a:r>
              <a:t>The model selects racing_line; game code computes the target and steers at 60 Hz.</a:t>
            </a:r>
          </a:p>
          <a:p>
            <a:r>
              <a:t>A racing line is the path a driver aims to take to carry speed through a corner. A conventional racing line often uses outside entry, an inside apex and outside exit. LUNA GP does not compute that optimized route: racing_line is a simple curve-following heuristic. Positive curvature is a right-hand bend and produces a positive offset, so the target biases toward the INSIDE of the bend, not the opposite side.</a:t>
            </a:r>
          </a:p>
          <a:p>
            <a:r>
              <a:t>Provenance: screenshot from the actual LUNA GP game at https://aka.ms/racing, captured on 2026-10-28. This is a controlled in-game setup using the existing debug hook, not a naturally occurring race moment. Lyra is positioned on a right-hand bend with clear road ahead and a slower player behind. The scene was held still while one real POST /api/rival request was made for that pictured car. The response is from Microsoft-Decision-1, not the local fallback. Request and result on the slide are condensed; displayed numbers are rounded. The HUD P3 and 230 km/h belong to the human player/camera, whereas the request's P2 and 268 km/h belong to Lyra (#22).</a:t>
            </a:r>
          </a:p>
          <a:p>
            <a:r>
              <a:t>The editable yellow overlay was added only in PowerPoint. It projects the engine's target offset at sampled road positions using the game's own segment projection. It is a target line, not a model-generated polyline or a prediction of the exact vehicle trajectory. The line is interrupted where Lyra's car occludes it. The screenshot itself has no racing-line overlay in normal gameplay.</a:t>
            </a:r>
          </a:p>
          <a:p>
            <a:r>
              <a:t>Implementation: Race.driveAi sets targetOffset = clamp(track.avgCurveAhead(car.progress, 40) * 0.12, -0.55, 0.55) for racing_line. Road offsets run from -1 (left edge) to +1 (right edge), with 0 at the centre. Here average curvature is +4, so the target is +0.48. The 40 segments cover about 55.6 metres in the game's distance scale. Each 60 Hz physics step moves the car toward that target by at most (0.25 + speed / MAX_SPEED) * dt. The model chooses the maneuver, pace and nitro probability; it does not steer frame by frame or supply path coordinates.</a:t>
            </a:r>
          </a:p>
          <a:p>
            <a:r>
              <a:t>Traffic and pace: an alongside-car guard prevents steering into another car. Overtake, slipstream, defend and back_off temporarily choose different lateral targets. Pace sets topSpeed * (0.92 + 0.03 * score), then cornering, traffic, drafting and nitro modify the speed target. Rivals do not use the player's centrifugal-drift physics. The fixed-step AI controller directly adjusts their lateral offsets.</a:t>
            </a:r>
          </a:p>
          <a:p>
            <a:r>
              <a:t>Exact server-built state for this request:</a:t>
            </a:r>
          </a:p>
          <a:p>
            <a:r>
              <a:t>Arcade circuit race, 3 laps, 6 cars. Driver under review: Lyra (#22).</a:t>
            </a:r>
          </a:p>
          <a:p>
            <a:r>
              <a:t>Personality: Smooth: clean and consistent, sticks to the racing line, only overtakes when it is easy.</a:t>
            </a:r>
          </a:p>
          <a:p>
            <a:r>
              <a:t>Race situation: lap 1 of 3; running P2 of 6, 3.4 s behind the leader.</a:t>
            </a:r>
          </a:p>
          <a:p>
            <a:r>
              <a:t>Car: 268 km/h (top speed 285 km/h), in the right lane, nitro tank 72%.</a:t>
            </a:r>
          </a:p>
          <a:p>
            <a:r>
              <a:t>Track ahead: currently in a medium right-hand corner with 81 m to go, then a 47 m straight, then a gentle left-hand corner (97 m long). The road climbs.</a:t>
            </a:r>
          </a:p>
          <a:p>
            <a:r>
              <a:t>Car ahead: none within 150 m.</a:t>
            </a:r>
          </a:p>
          <a:p>
            <a:r>
              <a:t>Car behind: the human player, 24 m behind, slightly to the left, 37 km/h slower (dropping back).</a:t>
            </a:r>
          </a:p>
          <a:p>
            <a:r>
              <a:t>Typed questions: maneuver (choice: racing_line, overtake_left, overtake_right, slipstream, defend, back_off); pace (score: Conserve, Race, Push, Flat out); nitro (noul). The exact fixed instructions and criteria are built by lib/prompts.js and converted to the Foundry request shape by lib/decisions.js. No conversation history or screenshot is sent with the rival request.</a:t>
            </a:r>
          </a:p>
          <a:p>
            <a:r>
              <a:t>Captured result: model microsoft-decision-1; maneuver.choice racing_line; maneuver.probabilities.racing_line 0.9924292785227681 (99.24% on slide); maneuver.confidence 0.9909151342273217 (a different field, not the displayed choice probability). pace.score 1.4615374821905507; nitro.probability 0.09535027692543765; refusals []; latencyMs 358; inputTokens 594. Nitro is held because 0.09535 is below Lyra's 0.65 threshold even though her tank is 72%, above the 34% minimum cost.</a:t>
            </a:r>
          </a:p>
          <a:p>
            <a:r>
              <a:t>Sources: public/js/race.js (driveAi, rivalPayload), public/js/track.js (avgCurveAhead), public/js/rivals.js (cadenceMs, apply), public/js/render.js (road projection), public/js/config.js (STEP and nitro thresholds), lib/prompts.js (buildRivalRequest), lib/decisions.js (toFoundryQuestions). Live game: https://aka.ms/racing.</a:t>
            </a:r>
          </a:p>
        </p:txBody>
      </p:sp>
      <p:sp>
        <p:nvSpPr>
          <p:cNvPr id="4" name="Slide Number Placeholder"/>
          <p:cNvSpPr>
            <a:spLocks noGrp="1"/>
          </p:cNvSpPr>
          <p:nvPr>
            <p:ph type="sldNum" sz="quarter" idx="10"/>
          </p:nvPr>
        </p:nvSpPr>
        <p:spPr/>
        <p:txBody>
          <a:bodyPr/>
          <a:lstStyle/>
          <a:p>
            <a:fld id="{F81BD507-B837-4F80-9B61-285A19E1B2C3}" type="slidenum">
              <a:rPr lang="en-US"/>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Now zoom in on one rival decision as it travels between those three boxes, including what happens when the model doesn't answer in time.</a:t>
            </a:r>
          </a:p>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Sector 3, under the hood. Everything runs in one web app: the browser runs the whole game, one Node process serves it and asks the model, and Foundry answers.</a:t>
            </a:r>
          </a:p>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The web app is public, so the server protects the quota: a managed identity with no keys in the browser, validated input, hard limits, and a local fallback when the model is unavailable.</a:t>
            </a:r>
          </a:p>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a:p>
            <a:r>
              <a:rPr lang="en-US" dirty="0"/>
              <a:t>The browser sends telemetry, never questions, and request bodies are capped at 16–32 KB (16 KB for rival and steward calls, 32 KB for the debrief). Past 16 calls in flight or the daily cap, the server answers 429. Errors fall back to a local heuristic; a 503 or four failures in a row pause rival model calls for 8 s, and then the next decision tries the model again.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Sector 4, what it costs. Tokens are what you pay for: about 630 per rival decision, so a whole three-lap race costs about one and a half cents.</a:t>
            </a:r>
          </a:p>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Even at the daily cap, tokens add only about $15 a month; the always-on web app is most of the bill.</a:t>
            </a:r>
          </a:p>
          <a:p>
            <a:r>
              <a:rPr lang="en-US" dirty="0"/>
              <a:t>Monthly cost of the hosted game, from Azure retail prices for Central US (USD). Infrastructure: one Linux App Service plan, Premium v3 P0v3, at $0.085 an hour; always on for 730 hours is $62.05 a month, whether or not anyone races. The Foundry resource has no fixed charge, the managed identity and role assignment are free, and outbound data for the small static files stays well inside the free 100 GB a month, so they add nothing. Tokens: Microsoft-Decision-1 is $0.04 per million tokens, one rate for input and output. A rival call uses about 630 input and 3 output tokens. A 3-lap race makes about 600 calls, roughly 380,000 tokens or 1.5 cents. Ten races a day is about $4.62 a month. The server stops calling the model after 20,000 calls a UTC day (DAILY_CALL_LIMIT), about 30 races and 12.7 million tokens, so tokens can't exceed about $0.51 a day or $15.40 a month. The pie shows that ceiling: $77.45 a month, 80% hosting and 20% tokens. Hosting, not the model, sets the bill; a cheaper plan or stopping the app saves more than any prompt trimming. Steward and debrief calls are a handful per race and are ignored here. Taxes, support plans and reservation discounts are not included.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Your turn: race it at aka.ms/racing, or clone the repo and run your own. The next project is turning five independent rivals into a coordinated swarm.</a:t>
            </a:r>
          </a:p>
          <a:p>
            <a:r>
              <a:rPr lang="en-US" dirty="0"/>
              <a:t>Play the hosted game at aka.ms/racing: it runs on Azure App Service and reaches the model with its managed identity, and the server caps model calls at 20,000 a day. To run your own: Node.js 20+ (no install step: there are no npm dependencies) and, for AI rivals, FOUNDRY_ENDPOINT plus an Azure CLI login with access to the Foundry resource. Without it the game still runs with offline heuristics. P or Esc pauses, M mutes. Phones and tablets get touch controls.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LUNA GP is a night-time arcade racer I built for fun, and to show what a decision model can do when it makes every call in the race: the rivals' tactics, the stewards' rulings and your post-race debrief.</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The talk runs like a race: four sectors, then the flag. First the model, then what it does in the race, then what runs under the hood, then what it costs. Then it's your turn to drive.</a:t>
            </a:r>
          </a:p>
          <a:p>
            <a:r>
              <a:rPr lang="en-US" dirty="0"/>
              <a:t>Sector 1 (cyan dot): the model and its three question types. Sector 2 (pink): the race, following the eight questions through the rivals, Race Control and the debrief. Sector 3 (green): what runs where, one decision end to end, and the guard rails. Sector 4 (yellow): what it costs. The coloured dot next to each slide's label shows which sector it belongs to; the intro slides have a white dot.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Conceptually, the situation and the question go in, the model scores each allowed answer, and your code turns those probabilities into an action with a threshold. Remember the “who is at fault?” example: it comes back in the race.</a:t>
            </a:r>
          </a:p>
          <a:p>
            <a:r>
              <a:rPr lang="en-US" dirty="0"/>
              <a:t>The infographic is conceptual: it shows the idea, not the model's exact internals.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Now the fun part. Remember “who is at fault?” Touch a rival and Race Control asks the model exactly that. Here I ran into the back of Vega: the model was 86% sure it was my fault, and it cost me 5 seconds.</a:t>
            </a:r>
          </a:p>
          <a:p>
            <a:r>
              <a:rPr lang="en-US" dirty="0"/>
              <a:t>Provenance: captured on 2026-10-30 from the game running locally against Microsoft-Decision-1. The contact was staged with the game's ?debug hook: Vega was placed just ahead of the player at half speed, so the player ran into the back of Vega's car. The ruling is a real model answer: responsible player 0.86, Vega 0.07, racing incident 0.07; severity 1.99 (Dangerous); +5 s for the player. The bars on the right repeat those numbers.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After the flag, one last call grades your race: a score for your rating, a choice for driver of the day and a noul for clean racer. As you can see, there's no flattery.</a:t>
            </a:r>
          </a:p>
          <a:p>
            <a:r>
              <a:rPr lang="en-US" dirty="0"/>
              <a:t>When the race is classified, the browser sends a race summary to /api/debrief: each driver's start and finish position, time, penalties, best lap, overtakes and contacts, plus your time off track, crashes, nitro boosts and top speed. One call asks three questions: rating (score: Rookie, Club racer, Pro, Champion), driver_of_the_day (choice among the six cars) and clean_racer (noul). The results screen shows each answer's probabilities.</a:t>
            </a:r>
          </a:p>
          <a:p>
            <a:r>
              <a:rPr lang="en-US" dirty="0"/>
              <a:t>Provenance: captured on 2026-10-30 after a 1-lap race against Microsoft-Decision-1, run locally, with the player's car driven by a test script (throttle held, kept near the centre of the road). It finished last with two +5 s penalties. The debrief answered in one call (418 ms, 634 input tokens): rating 0.20 of 3 (Rookie, p 0.84), driver of the day Nova (0.82), clean racer p 0.00.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So how does the steward decide? The game only describes the crash, in seven lines of text: who hit whom, how fast, who moved sideways, and what you were doing. The model answers two questions: who caused it, and how bad it was. Then the game applies the rulebook: blame needs at least 60%, otherwise you get the benefit of the doubt, and severity sets the penalty: +2 s from 0.8, +5 s from 1.5. My crash into Vega was 86% my fault with a severity of 1.99, so +5 s.</a:t>
            </a:r>
          </a:p>
          <a:p>
            <a:r>
              <a:rPr lang="en-US" dirty="0"/>
              <a:t>What the game records (registerContact in public/js/race.js): whether it was a rear-end or side-by-side contact and which car was in front, both speeds at impact, how far each car moved sideways toward the other in the 0.6 s before contact, the rival's current maneuver, and whether the player was braking, using nitro or off the track. Only contacts involving the player are reviewed; a scrape counts as one contact, and each rival is reviewed at most once every 4 s.</a:t>
            </a:r>
          </a:p>
          <a:p>
            <a:r>
              <a:rPr lang="en-US" dirty="0"/>
              <a:t>What the model sees: the server (buildStewardRequest in lib/prompts.js) validates those fields and writes seven lines of plain text. No screenshot is sent; the model judges from the text alone. For example, with illustrative numbers:</a:t>
            </a:r>
          </a:p>
          <a:p>
            <a:r>
              <a:rPr lang="en-US" dirty="0"/>
              <a:t>Race Control incident review. Arcade circuit race, lap 1 of 3.</a:t>
            </a:r>
          </a:p>
          <a:p>
            <a:r>
              <a:rPr lang="en-US" dirty="0"/>
              <a:t>Contact between the human player (#1) and AI rival Vega (#7).</a:t>
            </a:r>
          </a:p>
          <a:p>
            <a:r>
              <a:rPr lang="en-US" dirty="0"/>
              <a:t>Type: rear-end: the player ran into the back of Vega with a closing speed of 118 km/h.</a:t>
            </a:r>
          </a:p>
          <a:p>
            <a:r>
              <a:rPr lang="en-US" dirty="0"/>
              <a:t>Speeds at contact: player 236 km/h, Vega 118 km/h.</a:t>
            </a:r>
          </a:p>
          <a:p>
            <a:r>
              <a:rPr lang="en-US" dirty="0"/>
              <a:t>In the 0.6 s before contact: the player held its line; Vega held its line.</a:t>
            </a:r>
          </a:p>
          <a:p>
            <a:r>
              <a:rPr lang="en-US" dirty="0"/>
              <a:t>Vega's active maneuver: racing_line.</a:t>
            </a:r>
          </a:p>
          <a:p>
            <a:r>
              <a:rPr lang="en-US" dirty="0"/>
              <a:t>Player inputs: braking no, nitro no, off track no.</a:t>
            </a:r>
          </a:p>
          <a:p>
            <a:r>
              <a:rPr lang="en-US" dirty="0"/>
              <a:t>The two questions: responsible (choice) offers player (“ran into the back of the rival or swerved into it”), rival (“moved across late into the player or ran into the back of the player”) and racing_incident (“both contributed or it was unavoidable”). severity (score) runs from 0 Light touch through 1 Careless to 2 Dangerous. The model returns a probability for every option.</a:t>
            </a:r>
          </a:p>
          <a:p>
            <a:r>
              <a:rPr lang="en-US" dirty="0"/>
              <a:t>The rulebook (public/js/control.js): a penalty only when the model's answer is player or rival (a racing incident is never penalized), that answer's probability is at least 0.60, and severity is at least 0.8. The penalty is +2 s, or +5 s when severity is 1.5 or more. It goes to whoever was blamed, so rivals can be penalized too, and it is added to that car's race time in the final results. A close call, say 55% you and 40% Vega, gets no penalty.</a:t>
            </a:r>
          </a:p>
          <a:p>
            <a:r>
              <a:rPr lang="en-US" dirty="0"/>
              <a:t>No model, no penalty: if the model call fails or times out (the browser waits up to 9 s), in offline mode, or with AI Race Control unticked in the menu, contacts are not reviewed. Unlike the rivals, Race Control has no offline fallback.</a:t>
            </a:r>
          </a:p>
          <a:p>
            <a:r>
              <a:rPr lang="en-US" dirty="0"/>
              <a:t>The cyan pointers mark the crash from the previous slide: responsible = player at 0.86 and severity 1.99, so +5 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Talk track: </a:t>
            </a:r>
            <a:r>
              <a:rPr lang="en-US" dirty="0"/>
              <a:t>The whole race in one picture: telemetry in, typed questions out, typed answers back, and the game acts on them. One model, three workflows. The AI chooses; the game executes.</a:t>
            </a:r>
          </a:p>
          <a:p>
            <a:r>
              <a:rPr lang="en-US" dirty="0"/>
              <a:t>The same flow as the sequence diagram in sector 3, plus the three workflows from sector 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jpg"/><Relationship Id="rId3"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g"/><Relationship Id="rId3" Type="http://schemas.openxmlformats.org/officeDocument/2006/relationships/notesSlide" Target="../notesSlides/notesSlide1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hyperlink" Target="https://aka.ms/racing" TargetMode="External"/><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hyperlink" Target="https://github.com/roryp/racin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pic>
        <p:nvPicPr>
          <p:cNvPr id="2" name="LUNA GP cover art" descr="LUNA GP racing beneath a full moon, with two rivals and decision probability indicators"/>
          <p:cNvPicPr>
            <a:picLocks noChangeAspect="1"/>
          </p:cNvPicPr>
          <p:nvPr/>
        </p:nvPicPr>
        <p:blipFill>
          <a:blip r:embed="rId2"/>
          <a:stretch>
            <a:fillRect/>
          </a:stretch>
        </p:blipFill>
        <p:spPr>
          <a:xfrm>
            <a:off x="715000" y="0"/>
            <a:ext cx="771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ECE9F8"/>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9659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31343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fire nitro</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92608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27355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Road and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88620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233672"/>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071A"/>
        </a:solidFill>
        <a:effectLst/>
      </p:bgPr>
    </p:bg>
    <p:spTree>
      <p:nvGrpSpPr>
        <p:cNvPr id="1" name=""/>
        <p:cNvGrpSpPr/>
        <p:nvPr/>
      </p:nvGrpSpPr>
      <p:grpSpPr/>
      <p:sp>
        <p:nvSpPr>
          <p:cNvPr id="2" name="Shape 0"/>
          <p:cNvSpPr/>
          <p:nvPr/>
        </p:nvSpPr>
        <p:spPr>
          <a:xfrm>
            <a:off x="548640" y="484632"/>
            <a:ext cx="109728" cy="109728"/>
          </a:xfrm>
          <a:prstGeom prst="ellipse">
            <a:avLst/>
          </a:prstGeom>
          <a:solidFill>
            <a:srgbClr val="ECE9F8"/>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RACE PLAN</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Four sectors to the flag</a:t>
            </a:r>
            <a:endParaRPr lang="en-US" sz="3400" dirty="0"/>
          </a:p>
        </p:txBody>
      </p:sp>
      <p:sp>
        <p:nvSpPr>
          <p:cNvPr id="6" name="Road"/>
          <p:cNvSpPr/>
          <p:nvPr/>
        </p:nvSpPr>
        <p:spPr>
          <a:xfrm>
            <a:off x="548640" y="2340864"/>
            <a:ext cx="8046720" cy="292608"/>
          </a:xfrm>
          <a:prstGeom prst="roundRect">
            <a:avLst>
              <a:gd name="adj" fmla="val 50000"/>
            </a:avLst>
          </a:prstGeom>
          <a:solidFill>
            <a:srgbClr val="1A1740"/>
          </a:solidFill>
          <a:ln>
            <a:noFill/>
          </a:ln>
        </p:spPr>
        <p:txBody>
          <a:bodyPr rtlCol="0" anchor="ctr"/>
          <a:lstStyle/>
          <a:p>
            <a:pPr algn="ctr"/>
          </a:p>
        </p:txBody>
      </p:sp>
      <p:cxnSp>
        <p:nvCxnSpPr>
          <p:cNvPr id="7" name="Lane marking"/>
          <p:cNvCxnSpPr/>
          <p:nvPr/>
        </p:nvCxnSpPr>
        <p:spPr>
          <a:xfrm>
            <a:off x="777240" y="2487168"/>
            <a:ext cx="7589520" cy="0"/>
          </a:xfrm>
          <a:prstGeom prst="line">
            <a:avLst/>
          </a:prstGeom>
          <a:ln w="19050">
            <a:solidFill>
              <a:srgbClr val="6C6790"/>
            </a:solidFill>
            <a:prstDash val="dash"/>
          </a:ln>
        </p:spPr>
      </p:cxnSp>
      <p:sp>
        <p:nvSpPr>
          <p:cNvPr id="8" name="Sector 1"/>
          <p:cNvSpPr/>
          <p:nvPr/>
        </p:nvSpPr>
        <p:spPr>
          <a:xfrm>
            <a:off x="722376" y="2157984"/>
            <a:ext cx="658368" cy="658368"/>
          </a:xfrm>
          <a:prstGeom prst="ellipse">
            <a:avLst/>
          </a:prstGeom>
          <a:solidFill>
            <a:srgbClr val="3DD6FF"/>
          </a:solidFill>
          <a:ln>
            <a:noFill/>
          </a:ln>
        </p:spPr>
        <p:txBody>
          <a:bodyPr rtlCol="0" anchor="ctr" lIns="0" rIns="0" tIns="0" bIns="0"/>
          <a:lstStyle/>
          <a:p>
            <a:pPr algn="ctr"/>
            <a:r>
              <a:rPr sz="2200">
                <a:solidFill>
                  <a:srgbClr val="07071A"/>
                </a:solidFill>
                <a:latin typeface="Segoe UI Black"/>
              </a:rPr>
              <a:t>1</a:t>
            </a:r>
          </a:p>
        </p:txBody>
      </p:sp>
      <p:sp>
        <p:nvSpPr>
          <p:cNvPr id="9" name="The model label"/>
          <p:cNvSpPr txBox="1"/>
          <p:nvPr/>
        </p:nvSpPr>
        <p:spPr>
          <a:xfrm>
            <a:off x="18288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The model</a:t>
            </a:r>
          </a:p>
        </p:txBody>
      </p:sp>
      <p:sp>
        <p:nvSpPr>
          <p:cNvPr id="10" name="The model detail"/>
          <p:cNvSpPr txBox="1"/>
          <p:nvPr/>
        </p:nvSpPr>
        <p:spPr>
          <a:xfrm>
            <a:off x="182880" y="3419856"/>
            <a:ext cx="1737360" cy="457200"/>
          </a:xfrm>
          <a:prstGeom prst="rect">
            <a:avLst/>
          </a:prstGeom>
          <a:noFill/>
        </p:spPr>
        <p:txBody>
          <a:bodyPr wrap="square" lIns="0" rIns="0" tIns="0" bIns="0" anchor="t">
            <a:noAutofit/>
          </a:bodyPr>
          <a:lstStyle/>
          <a:p>
            <a:pPr algn="ctr"/>
            <a:r>
              <a:rPr sz="1200" b="0" i="0">
                <a:solidFill>
                  <a:srgbClr val="ABA6C8"/>
                </a:solidFill>
                <a:latin typeface="Segoe UI"/>
              </a:rPr>
              <a:t>Questions in,</a:t>
            </a:r>
          </a:p>
          <a:p>
            <a:pPr algn="ctr"/>
            <a:r>
              <a:rPr sz="1200" b="0" i="0">
                <a:solidFill>
                  <a:srgbClr val="ABA6C8"/>
                </a:solidFill>
                <a:latin typeface="Segoe UI"/>
              </a:rPr>
              <a:t>probabilities out</a:t>
            </a:r>
          </a:p>
        </p:txBody>
      </p:sp>
      <p:sp>
        <p:nvSpPr>
          <p:cNvPr id="11" name="Sector 2"/>
          <p:cNvSpPr/>
          <p:nvPr/>
        </p:nvSpPr>
        <p:spPr>
          <a:xfrm>
            <a:off x="2482596" y="2157984"/>
            <a:ext cx="658368" cy="658368"/>
          </a:xfrm>
          <a:prstGeom prst="ellipse">
            <a:avLst/>
          </a:prstGeom>
          <a:solidFill>
            <a:srgbClr val="FF5FA2"/>
          </a:solidFill>
          <a:ln>
            <a:noFill/>
          </a:ln>
        </p:spPr>
        <p:txBody>
          <a:bodyPr rtlCol="0" anchor="ctr" lIns="0" rIns="0" tIns="0" bIns="0"/>
          <a:lstStyle/>
          <a:p>
            <a:pPr algn="ctr"/>
            <a:r>
              <a:rPr sz="2200">
                <a:solidFill>
                  <a:srgbClr val="07071A"/>
                </a:solidFill>
                <a:latin typeface="Segoe UI Black"/>
              </a:rPr>
              <a:t>2</a:t>
            </a:r>
          </a:p>
        </p:txBody>
      </p:sp>
      <p:sp>
        <p:nvSpPr>
          <p:cNvPr id="12" name="In the race label"/>
          <p:cNvSpPr txBox="1"/>
          <p:nvPr/>
        </p:nvSpPr>
        <p:spPr>
          <a:xfrm>
            <a:off x="194310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In the race</a:t>
            </a:r>
          </a:p>
        </p:txBody>
      </p:sp>
      <p:sp>
        <p:nvSpPr>
          <p:cNvPr id="13" name="In the race detail"/>
          <p:cNvSpPr txBox="1"/>
          <p:nvPr/>
        </p:nvSpPr>
        <p:spPr>
          <a:xfrm>
            <a:off x="1943100" y="3419856"/>
            <a:ext cx="1737360" cy="457200"/>
          </a:xfrm>
          <a:prstGeom prst="rect">
            <a:avLst/>
          </a:prstGeom>
          <a:noFill/>
        </p:spPr>
        <p:txBody>
          <a:bodyPr wrap="square" lIns="0" rIns="0" tIns="0" bIns="0" anchor="t">
            <a:noAutofit/>
          </a:bodyPr>
          <a:lstStyle/>
          <a:p>
            <a:pPr algn="ctr"/>
            <a:r>
              <a:rPr sz="1200" b="0" i="0">
                <a:solidFill>
                  <a:srgbClr val="ABA6C8"/>
                </a:solidFill>
                <a:latin typeface="Segoe UI"/>
              </a:rPr>
              <a:t>Rivals, stewards</a:t>
            </a:r>
          </a:p>
          <a:p>
            <a:pPr algn="ctr"/>
            <a:r>
              <a:rPr sz="1200" b="0" i="0">
                <a:solidFill>
                  <a:srgbClr val="ABA6C8"/>
                </a:solidFill>
                <a:latin typeface="Segoe UI"/>
              </a:rPr>
              <a:t>and the debrief</a:t>
            </a:r>
          </a:p>
        </p:txBody>
      </p:sp>
      <p:sp>
        <p:nvSpPr>
          <p:cNvPr id="14" name="Sector 3"/>
          <p:cNvSpPr/>
          <p:nvPr/>
        </p:nvSpPr>
        <p:spPr>
          <a:xfrm>
            <a:off x="4242816" y="2157984"/>
            <a:ext cx="658368" cy="658368"/>
          </a:xfrm>
          <a:prstGeom prst="ellipse">
            <a:avLst/>
          </a:prstGeom>
          <a:solidFill>
            <a:srgbClr val="4ADE80"/>
          </a:solidFill>
          <a:ln>
            <a:noFill/>
          </a:ln>
        </p:spPr>
        <p:txBody>
          <a:bodyPr rtlCol="0" anchor="ctr" lIns="0" rIns="0" tIns="0" bIns="0"/>
          <a:lstStyle/>
          <a:p>
            <a:pPr algn="ctr"/>
            <a:r>
              <a:rPr sz="2200">
                <a:solidFill>
                  <a:srgbClr val="07071A"/>
                </a:solidFill>
                <a:latin typeface="Segoe UI Black"/>
              </a:rPr>
              <a:t>3</a:t>
            </a:r>
          </a:p>
        </p:txBody>
      </p:sp>
      <p:sp>
        <p:nvSpPr>
          <p:cNvPr id="15" name="Under the hood label"/>
          <p:cNvSpPr txBox="1"/>
          <p:nvPr/>
        </p:nvSpPr>
        <p:spPr>
          <a:xfrm>
            <a:off x="370332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Under the hood</a:t>
            </a:r>
          </a:p>
        </p:txBody>
      </p:sp>
      <p:sp>
        <p:nvSpPr>
          <p:cNvPr id="16" name="Under the hood detail"/>
          <p:cNvSpPr txBox="1"/>
          <p:nvPr/>
        </p:nvSpPr>
        <p:spPr>
          <a:xfrm>
            <a:off x="3703320" y="3419856"/>
            <a:ext cx="1737360" cy="457200"/>
          </a:xfrm>
          <a:prstGeom prst="rect">
            <a:avLst/>
          </a:prstGeom>
          <a:noFill/>
        </p:spPr>
        <p:txBody>
          <a:bodyPr wrap="square" lIns="0" rIns="0" tIns="0" bIns="0" anchor="t">
            <a:noAutofit/>
          </a:bodyPr>
          <a:lstStyle/>
          <a:p>
            <a:pPr algn="ctr"/>
            <a:r>
              <a:rPr sz="1200" b="0" i="0">
                <a:solidFill>
                  <a:srgbClr val="ABA6C8"/>
                </a:solidFill>
                <a:latin typeface="Segoe UI"/>
              </a:rPr>
              <a:t>Browser, server</a:t>
            </a:r>
          </a:p>
          <a:p>
            <a:pPr algn="ctr"/>
            <a:r>
              <a:rPr sz="1200" b="0" i="0">
                <a:solidFill>
                  <a:srgbClr val="ABA6C8"/>
                </a:solidFill>
                <a:latin typeface="Segoe UI"/>
              </a:rPr>
              <a:t>and Foundry</a:t>
            </a:r>
          </a:p>
        </p:txBody>
      </p:sp>
      <p:sp>
        <p:nvSpPr>
          <p:cNvPr id="17" name="Sector 4"/>
          <p:cNvSpPr/>
          <p:nvPr/>
        </p:nvSpPr>
        <p:spPr>
          <a:xfrm>
            <a:off x="6003036" y="2157984"/>
            <a:ext cx="658368" cy="658368"/>
          </a:xfrm>
          <a:prstGeom prst="ellipse">
            <a:avLst/>
          </a:prstGeom>
          <a:solidFill>
            <a:srgbClr val="FFD166"/>
          </a:solidFill>
          <a:ln>
            <a:noFill/>
          </a:ln>
        </p:spPr>
        <p:txBody>
          <a:bodyPr rtlCol="0" anchor="ctr" lIns="0" rIns="0" tIns="0" bIns="0"/>
          <a:lstStyle/>
          <a:p>
            <a:pPr algn="ctr"/>
            <a:r>
              <a:rPr sz="2200">
                <a:solidFill>
                  <a:srgbClr val="07071A"/>
                </a:solidFill>
                <a:latin typeface="Segoe UI Black"/>
              </a:rPr>
              <a:t>4</a:t>
            </a:r>
          </a:p>
        </p:txBody>
      </p:sp>
      <p:sp>
        <p:nvSpPr>
          <p:cNvPr id="18" name="What it costs label"/>
          <p:cNvSpPr txBox="1"/>
          <p:nvPr/>
        </p:nvSpPr>
        <p:spPr>
          <a:xfrm>
            <a:off x="546354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What it costs</a:t>
            </a:r>
          </a:p>
        </p:txBody>
      </p:sp>
      <p:sp>
        <p:nvSpPr>
          <p:cNvPr id="19" name="What it costs detail"/>
          <p:cNvSpPr txBox="1"/>
          <p:nvPr/>
        </p:nvSpPr>
        <p:spPr>
          <a:xfrm>
            <a:off x="5463540" y="3419856"/>
            <a:ext cx="1737360" cy="457200"/>
          </a:xfrm>
          <a:prstGeom prst="rect">
            <a:avLst/>
          </a:prstGeom>
          <a:noFill/>
        </p:spPr>
        <p:txBody>
          <a:bodyPr wrap="square" lIns="0" rIns="0" tIns="0" bIns="0" anchor="t">
            <a:noAutofit/>
          </a:bodyPr>
          <a:lstStyle/>
          <a:p>
            <a:pPr algn="ctr"/>
            <a:r>
              <a:rPr sz="1200" b="0" i="0">
                <a:solidFill>
                  <a:srgbClr val="ABA6C8"/>
                </a:solidFill>
                <a:latin typeface="Segoe UI"/>
              </a:rPr>
              <a:t>Per race</a:t>
            </a:r>
          </a:p>
          <a:p>
            <a:pPr algn="ctr"/>
            <a:r>
              <a:rPr sz="1200" b="0" i="0">
                <a:solidFill>
                  <a:srgbClr val="ABA6C8"/>
                </a:solidFill>
                <a:latin typeface="Segoe UI"/>
              </a:rPr>
              <a:t>and per month</a:t>
            </a:r>
          </a:p>
        </p:txBody>
      </p:sp>
      <p:grpSp>
        <p:nvGrpSpPr>
          <p:cNvPr id="20" name="Chequered flag"/>
          <p:cNvGrpSpPr/>
          <p:nvPr/>
        </p:nvGrpSpPr>
        <p:grpSpPr>
          <a:xfrm>
            <a:off x="7763256" y="2157984"/>
            <a:ext cx="658368" cy="658368"/>
            <a:chOff x="7763256" y="2157984"/>
            <a:chExt cx="658368" cy="658368"/>
          </a:xfrm>
        </p:grpSpPr>
        <p:sp>
          <p:nvSpPr>
            <p:cNvPr id="21" name="Flag square 00"/>
            <p:cNvSpPr/>
            <p:nvPr/>
          </p:nvSpPr>
          <p:spPr>
            <a:xfrm>
              <a:off x="7763256" y="2157984"/>
              <a:ext cx="164592" cy="164592"/>
            </a:xfrm>
            <a:prstGeom prst="rect">
              <a:avLst/>
            </a:prstGeom>
            <a:solidFill>
              <a:srgbClr val="ECE9F8"/>
            </a:solidFill>
            <a:ln>
              <a:noFill/>
            </a:ln>
          </p:spPr>
          <p:txBody>
            <a:bodyPr rtlCol="0" anchor="ctr"/>
            <a:lstStyle/>
            <a:p>
              <a:pPr algn="ctr"/>
            </a:p>
          </p:txBody>
        </p:sp>
        <p:sp>
          <p:nvSpPr>
            <p:cNvPr id="22" name="Flag square 01"/>
            <p:cNvSpPr/>
            <p:nvPr/>
          </p:nvSpPr>
          <p:spPr>
            <a:xfrm>
              <a:off x="7927848" y="2157984"/>
              <a:ext cx="164592" cy="164592"/>
            </a:xfrm>
            <a:prstGeom prst="rect">
              <a:avLst/>
            </a:prstGeom>
            <a:solidFill>
              <a:srgbClr val="07071A"/>
            </a:solidFill>
            <a:ln>
              <a:noFill/>
            </a:ln>
          </p:spPr>
          <p:txBody>
            <a:bodyPr rtlCol="0" anchor="ctr"/>
            <a:lstStyle/>
            <a:p>
              <a:pPr algn="ctr"/>
            </a:p>
          </p:txBody>
        </p:sp>
        <p:sp>
          <p:nvSpPr>
            <p:cNvPr id="23" name="Flag square 02"/>
            <p:cNvSpPr/>
            <p:nvPr/>
          </p:nvSpPr>
          <p:spPr>
            <a:xfrm>
              <a:off x="8092440" y="2157984"/>
              <a:ext cx="164592" cy="164592"/>
            </a:xfrm>
            <a:prstGeom prst="rect">
              <a:avLst/>
            </a:prstGeom>
            <a:solidFill>
              <a:srgbClr val="ECE9F8"/>
            </a:solidFill>
            <a:ln>
              <a:noFill/>
            </a:ln>
          </p:spPr>
          <p:txBody>
            <a:bodyPr rtlCol="0" anchor="ctr"/>
            <a:lstStyle/>
            <a:p>
              <a:pPr algn="ctr"/>
            </a:p>
          </p:txBody>
        </p:sp>
        <p:sp>
          <p:nvSpPr>
            <p:cNvPr id="24" name="Flag square 03"/>
            <p:cNvSpPr/>
            <p:nvPr/>
          </p:nvSpPr>
          <p:spPr>
            <a:xfrm>
              <a:off x="8257032" y="2157984"/>
              <a:ext cx="164592" cy="164592"/>
            </a:xfrm>
            <a:prstGeom prst="rect">
              <a:avLst/>
            </a:prstGeom>
            <a:solidFill>
              <a:srgbClr val="07071A"/>
            </a:solidFill>
            <a:ln>
              <a:noFill/>
            </a:ln>
          </p:spPr>
          <p:txBody>
            <a:bodyPr rtlCol="0" anchor="ctr"/>
            <a:lstStyle/>
            <a:p>
              <a:pPr algn="ctr"/>
            </a:p>
          </p:txBody>
        </p:sp>
        <p:sp>
          <p:nvSpPr>
            <p:cNvPr id="25" name="Flag square 10"/>
            <p:cNvSpPr/>
            <p:nvPr/>
          </p:nvSpPr>
          <p:spPr>
            <a:xfrm>
              <a:off x="7763256" y="2322576"/>
              <a:ext cx="164592" cy="164592"/>
            </a:xfrm>
            <a:prstGeom prst="rect">
              <a:avLst/>
            </a:prstGeom>
            <a:solidFill>
              <a:srgbClr val="07071A"/>
            </a:solidFill>
            <a:ln>
              <a:noFill/>
            </a:ln>
          </p:spPr>
          <p:txBody>
            <a:bodyPr rtlCol="0" anchor="ctr"/>
            <a:lstStyle/>
            <a:p>
              <a:pPr algn="ctr"/>
            </a:p>
          </p:txBody>
        </p:sp>
        <p:sp>
          <p:nvSpPr>
            <p:cNvPr id="26" name="Flag square 11"/>
            <p:cNvSpPr/>
            <p:nvPr/>
          </p:nvSpPr>
          <p:spPr>
            <a:xfrm>
              <a:off x="7927848" y="2322576"/>
              <a:ext cx="164592" cy="164592"/>
            </a:xfrm>
            <a:prstGeom prst="rect">
              <a:avLst/>
            </a:prstGeom>
            <a:solidFill>
              <a:srgbClr val="ECE9F8"/>
            </a:solidFill>
            <a:ln>
              <a:noFill/>
            </a:ln>
          </p:spPr>
          <p:txBody>
            <a:bodyPr rtlCol="0" anchor="ctr"/>
            <a:lstStyle/>
            <a:p>
              <a:pPr algn="ctr"/>
            </a:p>
          </p:txBody>
        </p:sp>
        <p:sp>
          <p:nvSpPr>
            <p:cNvPr id="27" name="Flag square 12"/>
            <p:cNvSpPr/>
            <p:nvPr/>
          </p:nvSpPr>
          <p:spPr>
            <a:xfrm>
              <a:off x="8092440" y="2322576"/>
              <a:ext cx="164592" cy="164592"/>
            </a:xfrm>
            <a:prstGeom prst="rect">
              <a:avLst/>
            </a:prstGeom>
            <a:solidFill>
              <a:srgbClr val="07071A"/>
            </a:solidFill>
            <a:ln>
              <a:noFill/>
            </a:ln>
          </p:spPr>
          <p:txBody>
            <a:bodyPr rtlCol="0" anchor="ctr"/>
            <a:lstStyle/>
            <a:p>
              <a:pPr algn="ctr"/>
            </a:p>
          </p:txBody>
        </p:sp>
        <p:sp>
          <p:nvSpPr>
            <p:cNvPr id="28" name="Flag square 13"/>
            <p:cNvSpPr/>
            <p:nvPr/>
          </p:nvSpPr>
          <p:spPr>
            <a:xfrm>
              <a:off x="8257032" y="2322576"/>
              <a:ext cx="164592" cy="164592"/>
            </a:xfrm>
            <a:prstGeom prst="rect">
              <a:avLst/>
            </a:prstGeom>
            <a:solidFill>
              <a:srgbClr val="ECE9F8"/>
            </a:solidFill>
            <a:ln>
              <a:noFill/>
            </a:ln>
          </p:spPr>
          <p:txBody>
            <a:bodyPr rtlCol="0" anchor="ctr"/>
            <a:lstStyle/>
            <a:p>
              <a:pPr algn="ctr"/>
            </a:p>
          </p:txBody>
        </p:sp>
        <p:sp>
          <p:nvSpPr>
            <p:cNvPr id="29" name="Flag square 20"/>
            <p:cNvSpPr/>
            <p:nvPr/>
          </p:nvSpPr>
          <p:spPr>
            <a:xfrm>
              <a:off x="7763256" y="2487168"/>
              <a:ext cx="164592" cy="164592"/>
            </a:xfrm>
            <a:prstGeom prst="rect">
              <a:avLst/>
            </a:prstGeom>
            <a:solidFill>
              <a:srgbClr val="ECE9F8"/>
            </a:solidFill>
            <a:ln>
              <a:noFill/>
            </a:ln>
          </p:spPr>
          <p:txBody>
            <a:bodyPr rtlCol="0" anchor="ctr"/>
            <a:lstStyle/>
            <a:p>
              <a:pPr algn="ctr"/>
            </a:p>
          </p:txBody>
        </p:sp>
        <p:sp>
          <p:nvSpPr>
            <p:cNvPr id="30" name="Flag square 21"/>
            <p:cNvSpPr/>
            <p:nvPr/>
          </p:nvSpPr>
          <p:spPr>
            <a:xfrm>
              <a:off x="7927848" y="2487168"/>
              <a:ext cx="164592" cy="164592"/>
            </a:xfrm>
            <a:prstGeom prst="rect">
              <a:avLst/>
            </a:prstGeom>
            <a:solidFill>
              <a:srgbClr val="07071A"/>
            </a:solidFill>
            <a:ln>
              <a:noFill/>
            </a:ln>
          </p:spPr>
          <p:txBody>
            <a:bodyPr rtlCol="0" anchor="ctr"/>
            <a:lstStyle/>
            <a:p>
              <a:pPr algn="ctr"/>
            </a:p>
          </p:txBody>
        </p:sp>
        <p:sp>
          <p:nvSpPr>
            <p:cNvPr id="31" name="Flag square 22"/>
            <p:cNvSpPr/>
            <p:nvPr/>
          </p:nvSpPr>
          <p:spPr>
            <a:xfrm>
              <a:off x="8092440" y="2487168"/>
              <a:ext cx="164592" cy="164592"/>
            </a:xfrm>
            <a:prstGeom prst="rect">
              <a:avLst/>
            </a:prstGeom>
            <a:solidFill>
              <a:srgbClr val="ECE9F8"/>
            </a:solidFill>
            <a:ln>
              <a:noFill/>
            </a:ln>
          </p:spPr>
          <p:txBody>
            <a:bodyPr rtlCol="0" anchor="ctr"/>
            <a:lstStyle/>
            <a:p>
              <a:pPr algn="ctr"/>
            </a:p>
          </p:txBody>
        </p:sp>
        <p:sp>
          <p:nvSpPr>
            <p:cNvPr id="32" name="Flag square 23"/>
            <p:cNvSpPr/>
            <p:nvPr/>
          </p:nvSpPr>
          <p:spPr>
            <a:xfrm>
              <a:off x="8257032" y="2487168"/>
              <a:ext cx="164592" cy="164592"/>
            </a:xfrm>
            <a:prstGeom prst="rect">
              <a:avLst/>
            </a:prstGeom>
            <a:solidFill>
              <a:srgbClr val="07071A"/>
            </a:solidFill>
            <a:ln>
              <a:noFill/>
            </a:ln>
          </p:spPr>
          <p:txBody>
            <a:bodyPr rtlCol="0" anchor="ctr"/>
            <a:lstStyle/>
            <a:p>
              <a:pPr algn="ctr"/>
            </a:p>
          </p:txBody>
        </p:sp>
        <p:sp>
          <p:nvSpPr>
            <p:cNvPr id="33" name="Flag square 30"/>
            <p:cNvSpPr/>
            <p:nvPr/>
          </p:nvSpPr>
          <p:spPr>
            <a:xfrm>
              <a:off x="7763256" y="2651760"/>
              <a:ext cx="164592" cy="164592"/>
            </a:xfrm>
            <a:prstGeom prst="rect">
              <a:avLst/>
            </a:prstGeom>
            <a:solidFill>
              <a:srgbClr val="07071A"/>
            </a:solidFill>
            <a:ln>
              <a:noFill/>
            </a:ln>
          </p:spPr>
          <p:txBody>
            <a:bodyPr rtlCol="0" anchor="ctr"/>
            <a:lstStyle/>
            <a:p>
              <a:pPr algn="ctr"/>
            </a:p>
          </p:txBody>
        </p:sp>
        <p:sp>
          <p:nvSpPr>
            <p:cNvPr id="34" name="Flag square 31"/>
            <p:cNvSpPr/>
            <p:nvPr/>
          </p:nvSpPr>
          <p:spPr>
            <a:xfrm>
              <a:off x="7927848" y="2651760"/>
              <a:ext cx="164592" cy="164592"/>
            </a:xfrm>
            <a:prstGeom prst="rect">
              <a:avLst/>
            </a:prstGeom>
            <a:solidFill>
              <a:srgbClr val="ECE9F8"/>
            </a:solidFill>
            <a:ln>
              <a:noFill/>
            </a:ln>
          </p:spPr>
          <p:txBody>
            <a:bodyPr rtlCol="0" anchor="ctr"/>
            <a:lstStyle/>
            <a:p>
              <a:pPr algn="ctr"/>
            </a:p>
          </p:txBody>
        </p:sp>
        <p:sp>
          <p:nvSpPr>
            <p:cNvPr id="35" name="Flag square 32"/>
            <p:cNvSpPr/>
            <p:nvPr/>
          </p:nvSpPr>
          <p:spPr>
            <a:xfrm>
              <a:off x="8092440" y="2651760"/>
              <a:ext cx="164592" cy="164592"/>
            </a:xfrm>
            <a:prstGeom prst="rect">
              <a:avLst/>
            </a:prstGeom>
            <a:solidFill>
              <a:srgbClr val="07071A"/>
            </a:solidFill>
            <a:ln>
              <a:noFill/>
            </a:ln>
          </p:spPr>
          <p:txBody>
            <a:bodyPr rtlCol="0" anchor="ctr"/>
            <a:lstStyle/>
            <a:p>
              <a:pPr algn="ctr"/>
            </a:p>
          </p:txBody>
        </p:sp>
        <p:sp>
          <p:nvSpPr>
            <p:cNvPr id="36" name="Flag square 33"/>
            <p:cNvSpPr/>
            <p:nvPr/>
          </p:nvSpPr>
          <p:spPr>
            <a:xfrm>
              <a:off x="8257032" y="2651760"/>
              <a:ext cx="164592" cy="164592"/>
            </a:xfrm>
            <a:prstGeom prst="rect">
              <a:avLst/>
            </a:prstGeom>
            <a:solidFill>
              <a:srgbClr val="ECE9F8"/>
            </a:solidFill>
            <a:ln>
              <a:noFill/>
            </a:ln>
          </p:spPr>
          <p:txBody>
            <a:bodyPr rtlCol="0" anchor="ctr"/>
            <a:lstStyle/>
            <a:p>
              <a:pPr algn="ctr"/>
            </a:p>
          </p:txBody>
        </p:sp>
        <p:sp>
          <p:nvSpPr>
            <p:cNvPr id="37" name="Flag edge"/>
            <p:cNvSpPr/>
            <p:nvPr/>
          </p:nvSpPr>
          <p:spPr>
            <a:xfrm>
              <a:off x="7763256" y="2157984"/>
              <a:ext cx="658368" cy="658368"/>
            </a:xfrm>
            <a:prstGeom prst="rect">
              <a:avLst/>
            </a:prstGeom>
            <a:noFill/>
            <a:ln w="15875">
              <a:solidFill>
                <a:srgbClr val="ECE9F8"/>
              </a:solidFill>
            </a:ln>
          </p:spPr>
          <p:txBody>
            <a:bodyPr rtlCol="0" anchor="ctr"/>
            <a:lstStyle/>
            <a:p>
              <a:pPr algn="ctr"/>
            </a:p>
          </p:txBody>
        </p:sp>
      </p:grpSp>
      <p:sp>
        <p:nvSpPr>
          <p:cNvPr id="38" name="Your turn label"/>
          <p:cNvSpPr txBox="1"/>
          <p:nvPr/>
        </p:nvSpPr>
        <p:spPr>
          <a:xfrm>
            <a:off x="7223760" y="3090672"/>
            <a:ext cx="1737360" cy="292608"/>
          </a:xfrm>
          <a:prstGeom prst="rect">
            <a:avLst/>
          </a:prstGeom>
          <a:noFill/>
        </p:spPr>
        <p:txBody>
          <a:bodyPr wrap="square" lIns="0" rIns="0" tIns="0" bIns="0" anchor="t">
            <a:noAutofit/>
          </a:bodyPr>
          <a:lstStyle/>
          <a:p>
            <a:pPr algn="ctr"/>
            <a:r>
              <a:rPr sz="1500" b="0" i="0">
                <a:solidFill>
                  <a:srgbClr val="ECE9F8"/>
                </a:solidFill>
                <a:latin typeface="Segoe UI Black"/>
              </a:rPr>
              <a:t>Your turn</a:t>
            </a:r>
          </a:p>
        </p:txBody>
      </p:sp>
      <p:sp>
        <p:nvSpPr>
          <p:cNvPr id="39" name="Your turn detail"/>
          <p:cNvSpPr txBox="1"/>
          <p:nvPr/>
        </p:nvSpPr>
        <p:spPr>
          <a:xfrm>
            <a:off x="7223760" y="3419856"/>
            <a:ext cx="1737360" cy="457200"/>
          </a:xfrm>
          <a:prstGeom prst="rect">
            <a:avLst/>
          </a:prstGeom>
          <a:noFill/>
        </p:spPr>
        <p:txBody>
          <a:bodyPr wrap="square" lIns="0" rIns="0" tIns="0" bIns="0" anchor="t">
            <a:noAutofit/>
          </a:bodyPr>
          <a:lstStyle/>
          <a:p>
            <a:pPr algn="ctr"/>
            <a:r>
              <a:rPr sz="1200" b="0" i="0">
                <a:solidFill>
                  <a:srgbClr val="3DD6FF"/>
                </a:solidFill>
                <a:latin typeface="Segoe UI"/>
              </a:rPr>
              <a:t>aka.ms/racing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3DD6FF"/>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783080"/>
            <a:ext cx="8046720" cy="41148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Closed questions in. </a:t>
            </a:r>
            <a:r>
              <a:rPr lang="en-US" sz="1800" b="1" dirty="0">
                <a:solidFill>
                  <a:srgbClr val="FFD166"/>
                </a:solidFill>
                <a:latin typeface="Segoe UI" pitchFamily="34" charset="0"/>
                <a:ea typeface="Segoe UI" pitchFamily="34" charset="-122"/>
                <a:cs typeface="Segoe UI" pitchFamily="34" charset="-120"/>
              </a:rPr>
              <a:t>Calibrated probabilities</a:t>
            </a:r>
            <a:r>
              <a:rPr lang="en-US" sz="1800" dirty="0">
                <a:solidFill>
                  <a:srgbClr val="ECE9F8"/>
                </a:solidFill>
                <a:latin typeface="Segoe UI" pitchFamily="34" charset="0"/>
                <a:ea typeface="Segoe UI" pitchFamily="34" charset="-122"/>
                <a:cs typeface="Segoe UI" pitchFamily="34" charset="-120"/>
              </a:rPr>
              <a:t> out.</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3DD6FF"/>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1" name="Text 9"/>
          <p:cNvSpPr/>
          <p:nvPr/>
        </p:nvSpPr>
        <p:spPr>
          <a:xfrm>
            <a:off x="77724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6" name="Text 14"/>
          <p:cNvSpPr/>
          <p:nvPr/>
        </p:nvSpPr>
        <p:spPr>
          <a:xfrm>
            <a:off x="355092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185416"/>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459736"/>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1" name="Text 19"/>
          <p:cNvSpPr/>
          <p:nvPr/>
        </p:nvSpPr>
        <p:spPr>
          <a:xfrm>
            <a:off x="6324600" y="3950208"/>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880360"/>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447288"/>
            <a:ext cx="2042160" cy="91440"/>
          </a:xfrm>
          <a:prstGeom prst="rect">
            <a:avLst/>
          </a:prstGeom>
          <a:solidFill>
            <a:srgbClr val="36316A"/>
          </a:solidFill>
          <a:ln/>
        </p:spPr>
        <p:txBody>
          <a:bodyPr/>
          <a:lstStyle/>
          <a:p>
            <a:endParaRPr lang="en-ZA"/>
          </a:p>
        </p:txBody>
      </p:sp>
      <p:sp>
        <p:nvSpPr>
          <p:cNvPr id="24" name="Shape 22"/>
          <p:cNvSpPr/>
          <p:nvPr/>
        </p:nvSpPr>
        <p:spPr>
          <a:xfrm>
            <a:off x="777240" y="3447288"/>
            <a:ext cx="1490777" cy="91440"/>
          </a:xfrm>
          <a:prstGeom prst="rect">
            <a:avLst/>
          </a:prstGeom>
          <a:solidFill>
            <a:srgbClr val="3DD6FF"/>
          </a:solidFill>
          <a:ln/>
        </p:spPr>
        <p:txBody>
          <a:bodyPr/>
          <a:lstStyle/>
          <a:p>
            <a:endParaRPr lang="en-ZA"/>
          </a:p>
        </p:txBody>
      </p:sp>
      <p:sp>
        <p:nvSpPr>
          <p:cNvPr id="25" name="Text 23"/>
          <p:cNvSpPr/>
          <p:nvPr/>
        </p:nvSpPr>
        <p:spPr>
          <a:xfrm>
            <a:off x="777240" y="3621024"/>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621024"/>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90779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953512"/>
            <a:ext cx="1356360" cy="91440"/>
          </a:xfrm>
          <a:prstGeom prst="rect">
            <a:avLst/>
          </a:prstGeom>
          <a:solidFill>
            <a:srgbClr val="36316A"/>
          </a:solidFill>
          <a:ln/>
        </p:spPr>
        <p:txBody>
          <a:bodyPr/>
          <a:lstStyle/>
          <a:p>
            <a:endParaRPr lang="en-ZA"/>
          </a:p>
        </p:txBody>
      </p:sp>
      <p:sp>
        <p:nvSpPr>
          <p:cNvPr id="29" name="Shape 27"/>
          <p:cNvSpPr/>
          <p:nvPr/>
        </p:nvSpPr>
        <p:spPr>
          <a:xfrm>
            <a:off x="3779520" y="2953512"/>
            <a:ext cx="840943" cy="91440"/>
          </a:xfrm>
          <a:prstGeom prst="rect">
            <a:avLst/>
          </a:prstGeom>
          <a:solidFill>
            <a:srgbClr val="FFD166"/>
          </a:solidFill>
          <a:ln/>
        </p:spPr>
        <p:txBody>
          <a:bodyPr/>
          <a:lstStyle/>
          <a:p>
            <a:endParaRPr lang="en-ZA"/>
          </a:p>
        </p:txBody>
      </p:sp>
      <p:sp>
        <p:nvSpPr>
          <p:cNvPr id="30" name="Text 28"/>
          <p:cNvSpPr/>
          <p:nvPr/>
        </p:nvSpPr>
        <p:spPr>
          <a:xfrm>
            <a:off x="5209032" y="290779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14553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191256"/>
            <a:ext cx="1356360" cy="91440"/>
          </a:xfrm>
          <a:prstGeom prst="rect">
            <a:avLst/>
          </a:prstGeom>
          <a:solidFill>
            <a:srgbClr val="36316A"/>
          </a:solidFill>
          <a:ln/>
        </p:spPr>
        <p:txBody>
          <a:bodyPr/>
          <a:lstStyle/>
          <a:p>
            <a:endParaRPr lang="en-ZA"/>
          </a:p>
        </p:txBody>
      </p:sp>
      <p:sp>
        <p:nvSpPr>
          <p:cNvPr id="33" name="Shape 31"/>
          <p:cNvSpPr/>
          <p:nvPr/>
        </p:nvSpPr>
        <p:spPr>
          <a:xfrm>
            <a:off x="3779520" y="3191256"/>
            <a:ext cx="284836" cy="91440"/>
          </a:xfrm>
          <a:prstGeom prst="rect">
            <a:avLst/>
          </a:prstGeom>
          <a:solidFill>
            <a:srgbClr val="6C6790"/>
          </a:solidFill>
          <a:ln/>
        </p:spPr>
        <p:txBody>
          <a:bodyPr/>
          <a:lstStyle/>
          <a:p>
            <a:endParaRPr lang="en-ZA"/>
          </a:p>
        </p:txBody>
      </p:sp>
      <p:sp>
        <p:nvSpPr>
          <p:cNvPr id="34" name="Text 32"/>
          <p:cNvSpPr/>
          <p:nvPr/>
        </p:nvSpPr>
        <p:spPr>
          <a:xfrm>
            <a:off x="5209032" y="314553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383280"/>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429000"/>
            <a:ext cx="1356360" cy="91440"/>
          </a:xfrm>
          <a:prstGeom prst="rect">
            <a:avLst/>
          </a:prstGeom>
          <a:solidFill>
            <a:srgbClr val="36316A"/>
          </a:solidFill>
          <a:ln/>
        </p:spPr>
        <p:txBody>
          <a:bodyPr/>
          <a:lstStyle/>
          <a:p>
            <a:endParaRPr lang="en-ZA"/>
          </a:p>
        </p:txBody>
      </p:sp>
      <p:sp>
        <p:nvSpPr>
          <p:cNvPr id="37" name="Shape 35"/>
          <p:cNvSpPr/>
          <p:nvPr/>
        </p:nvSpPr>
        <p:spPr>
          <a:xfrm>
            <a:off x="3779520" y="3429000"/>
            <a:ext cx="162763" cy="91440"/>
          </a:xfrm>
          <a:prstGeom prst="rect">
            <a:avLst/>
          </a:prstGeom>
          <a:solidFill>
            <a:srgbClr val="6C6790"/>
          </a:solidFill>
          <a:ln/>
        </p:spPr>
        <p:txBody>
          <a:bodyPr/>
          <a:lstStyle/>
          <a:p>
            <a:endParaRPr lang="en-ZA"/>
          </a:p>
        </p:txBody>
      </p:sp>
      <p:sp>
        <p:nvSpPr>
          <p:cNvPr id="38" name="Text 36"/>
          <p:cNvSpPr/>
          <p:nvPr/>
        </p:nvSpPr>
        <p:spPr>
          <a:xfrm>
            <a:off x="5209032" y="3383280"/>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62102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666744"/>
            <a:ext cx="1356360" cy="91440"/>
          </a:xfrm>
          <a:prstGeom prst="rect">
            <a:avLst/>
          </a:prstGeom>
          <a:solidFill>
            <a:srgbClr val="36316A"/>
          </a:solidFill>
          <a:ln/>
        </p:spPr>
        <p:txBody>
          <a:bodyPr/>
          <a:lstStyle/>
          <a:p>
            <a:endParaRPr lang="en-ZA"/>
          </a:p>
        </p:txBody>
      </p:sp>
      <p:sp>
        <p:nvSpPr>
          <p:cNvPr id="41" name="Shape 39"/>
          <p:cNvSpPr/>
          <p:nvPr/>
        </p:nvSpPr>
        <p:spPr>
          <a:xfrm>
            <a:off x="3779520" y="3666744"/>
            <a:ext cx="67818" cy="91440"/>
          </a:xfrm>
          <a:prstGeom prst="rect">
            <a:avLst/>
          </a:prstGeom>
          <a:solidFill>
            <a:srgbClr val="6C6790"/>
          </a:solidFill>
          <a:ln/>
        </p:spPr>
        <p:txBody>
          <a:bodyPr/>
          <a:lstStyle/>
          <a:p>
            <a:endParaRPr lang="en-ZA"/>
          </a:p>
        </p:txBody>
      </p:sp>
      <p:sp>
        <p:nvSpPr>
          <p:cNvPr id="42" name="Text 40"/>
          <p:cNvSpPr/>
          <p:nvPr/>
        </p:nvSpPr>
        <p:spPr>
          <a:xfrm>
            <a:off x="5209032" y="362102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516782"/>
            <a:ext cx="329184" cy="76810"/>
          </a:xfrm>
          <a:prstGeom prst="rect">
            <a:avLst/>
          </a:prstGeom>
          <a:solidFill>
            <a:srgbClr val="6C6790"/>
          </a:solidFill>
          <a:ln/>
        </p:spPr>
        <p:txBody>
          <a:bodyPr/>
          <a:lstStyle/>
          <a:p>
            <a:endParaRPr lang="en-ZA"/>
          </a:p>
        </p:txBody>
      </p:sp>
      <p:sp>
        <p:nvSpPr>
          <p:cNvPr id="44" name="Text 42"/>
          <p:cNvSpPr/>
          <p:nvPr/>
        </p:nvSpPr>
        <p:spPr>
          <a:xfrm>
            <a:off x="6324600"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478378"/>
            <a:ext cx="329184" cy="115214"/>
          </a:xfrm>
          <a:prstGeom prst="rect">
            <a:avLst/>
          </a:prstGeom>
          <a:solidFill>
            <a:srgbClr val="6C6790"/>
          </a:solidFill>
          <a:ln/>
        </p:spPr>
        <p:txBody>
          <a:bodyPr/>
          <a:lstStyle/>
          <a:p>
            <a:endParaRPr lang="en-ZA"/>
          </a:p>
        </p:txBody>
      </p:sp>
      <p:sp>
        <p:nvSpPr>
          <p:cNvPr id="46" name="Text 44"/>
          <p:cNvSpPr/>
          <p:nvPr/>
        </p:nvSpPr>
        <p:spPr>
          <a:xfrm>
            <a:off x="6895592"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209544"/>
            <a:ext cx="329184" cy="384048"/>
          </a:xfrm>
          <a:prstGeom prst="rect">
            <a:avLst/>
          </a:prstGeom>
          <a:solidFill>
            <a:srgbClr val="FFD166"/>
          </a:solidFill>
          <a:ln/>
        </p:spPr>
        <p:txBody>
          <a:bodyPr/>
          <a:lstStyle/>
          <a:p>
            <a:endParaRPr lang="en-ZA"/>
          </a:p>
        </p:txBody>
      </p:sp>
      <p:sp>
        <p:nvSpPr>
          <p:cNvPr id="48" name="Text 46"/>
          <p:cNvSpPr/>
          <p:nvPr/>
        </p:nvSpPr>
        <p:spPr>
          <a:xfrm>
            <a:off x="7466584"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401568"/>
            <a:ext cx="329184" cy="192024"/>
          </a:xfrm>
          <a:prstGeom prst="rect">
            <a:avLst/>
          </a:prstGeom>
          <a:solidFill>
            <a:srgbClr val="6C6790"/>
          </a:solidFill>
          <a:ln/>
        </p:spPr>
        <p:txBody>
          <a:bodyPr/>
          <a:lstStyle/>
          <a:p>
            <a:endParaRPr lang="en-ZA"/>
          </a:p>
        </p:txBody>
      </p:sp>
      <p:sp>
        <p:nvSpPr>
          <p:cNvPr id="50" name="Text 48"/>
          <p:cNvSpPr/>
          <p:nvPr/>
        </p:nvSpPr>
        <p:spPr>
          <a:xfrm>
            <a:off x="8037576" y="3621024"/>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862072"/>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3081528"/>
            <a:ext cx="137160" cy="91440"/>
          </a:xfrm>
          <a:prstGeom prst="triangle">
            <a:avLst/>
          </a:prstGeom>
          <a:solidFill>
            <a:srgbClr val="3DD6FF"/>
          </a:solidFill>
          <a:ln/>
        </p:spPr>
        <p:txBody>
          <a:bodyPr/>
          <a:lstStyle/>
          <a:p>
            <a:endParaRPr lang="en-ZA"/>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07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2761488"/>
        </p:xfrm>
        <a:graphic>
          <a:graphicData uri="http://schemas.openxmlformats.org/drawingml/2006/table">
            <a:tbl>
              <a:tblPr/>
              <a:tblGrid>
                <a:gridCol w="169164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+2s  ·  ≥ 1.5 → +5s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rowSpan="3">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vMerge="1">
                  <a:txBody>
                    <a:bodyPr/>
                    <a:lstStyle/>
                    <a:p>
                      <a:endParaRPr lang="en-US"/>
                    </a:p>
                  </a:txBody>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vMerge="1">
                  <a:txBody>
                    <a:bodyPr/>
                    <a:lstStyle/>
                    <a:p>
                      <a:endParaRPr lang="en-US"/>
                    </a:p>
                  </a:txBody>
                  <a:tcPr/>
                </a:tc>
                <a:extLst>
                  <a:ext uri="{0D108BD9-81ED-4DB2-BD59-A6C34878D82A}">
                    <a16:rowId xmlns:a16="http://schemas.microsoft.com/office/drawing/2014/main" val="10008"/>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5FA2"/>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21</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7" name="Input card"/>
          <p:cNvSpPr/>
          <p:nvPr/>
        </p:nvSpPr>
        <p:spPr>
          <a:xfrm>
            <a:off x="548640" y="1874520"/>
            <a:ext cx="3886200" cy="265176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65176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98848" y="3200400"/>
            <a:ext cx="237744" cy="0"/>
          </a:xfrm>
          <a:prstGeom prst="line">
            <a:avLst/>
          </a:prstGeom>
          <a:ln w="22225">
            <a:solidFill>
              <a:srgbClr val="ABA6C8"/>
            </a:solidFill>
            <a:tailEnd type="triangle" w="med" len="med"/>
          </a:ln>
        </p:spPr>
      </p:cxnSp>
      <p:sp>
        <p:nvSpPr>
          <p:cNvPr id="10" name="Input label"/>
          <p:cNvSpPr txBox="1"/>
          <p:nvPr/>
        </p:nvSpPr>
        <p:spPr>
          <a:xfrm>
            <a:off x="777240" y="2075688"/>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75688"/>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59152"/>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59152"/>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816352"/>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4023360"/>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802636"/>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775204"/>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40156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37413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4000500"/>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973068"/>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5FA2"/>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09 / 21</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13055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13055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41401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"questions": {</a:t>
            </a:r>
            <a:endParaRPr sz="1050"/>
          </a:p>
          <a:p>
            <a:pPr>
              <a:lnSpc>
                <a:spcPts val="1150"/>
              </a:lnSpc>
              <a:buNone/>
            </a:pPr>
            <a:r>
              <a:rPr lang="en-US" sz="1050">
                <a:solidFill>
                  <a:srgbClr val="ECE9F8"/>
                </a:solidFill>
                <a:latin typeface="Consolas"/>
              </a:rPr>
              <a:t>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41401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"answers": {</a:t>
            </a:r>
            <a:endParaRPr sz="1050"/>
          </a:p>
          <a:p>
            <a:pPr>
              <a:lnSpc>
                <a:spcPts val="1150"/>
              </a:lnSpc>
              <a:buNone/>
            </a:pPr>
            <a:r>
              <a:rPr lang="en-US" sz="1050">
                <a:solidFill>
                  <a:srgbClr val="ECE9F8"/>
                </a:solidFill>
                <a:latin typeface="Consolas"/>
              </a:rPr>
              <a:t>    "maneuver": {</a:t>
            </a:r>
            <a:endParaRPr sz="1050"/>
          </a:p>
          <a:p>
            <a:pPr>
              <a:lnSpc>
                <a:spcPts val="1150"/>
              </a:lnSpc>
              <a:buNone/>
            </a:pPr>
            <a:r>
              <a:rPr lang="en-US" sz="1050">
                <a:solidFill>
                  <a:srgbClr val="ECE9F8"/>
                </a:solidFill>
                <a:latin typeface="Consolas"/>
              </a:rPr>
              <a:t>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a:t>
            </a:r>
            <a:endParaRPr sz="1050"/>
          </a:p>
          <a:p>
            <a:pPr>
              <a:lnSpc>
                <a:spcPts val="1150"/>
              </a:lnSpc>
              <a:buNone/>
            </a:pPr>
            <a:r>
              <a:rPr lang="en-US" sz="1050">
                <a:solidFill>
                  <a:srgbClr val="ECE9F8"/>
                </a:solidFill>
                <a:latin typeface="Consolas"/>
              </a:rPr>
              <a:t>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NITRO POLICY</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How rivals follow the line">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5FA2"/>
          </a:solidFill>
          <a:ln>
            <a:noFill/>
          </a:ln>
        </p:spPr>
        <p:txBody>
          <a:bodyPr/>
          <a:lstStyle/>
          <a:p>
            <a:endParaRPr lang="en-ZA"/>
          </a:p>
        </p:txBody>
      </p:sp>
      <p:sp>
        <p:nvSpPr>
          <p:cNvPr id="3" name="Section label"/>
          <p:cNvSpPr txBox="1"/>
          <p:nvPr/>
        </p:nvSpPr>
        <p:spPr>
          <a:xfrm>
            <a:off x="749808" y="393192"/>
            <a:ext cx="5943600" cy="292608"/>
          </a:xfrm>
          <a:prstGeom prst="rect">
            <a:avLst/>
          </a:prstGeom>
          <a:noFill/>
          <a:ln>
            <a:noFill/>
          </a:ln>
        </p:spPr>
        <p:txBody>
          <a:bodyPr wrap="none" lIns="0" tIns="0" rIns="0" bIns="0" anchor="ctr"/>
          <a:lstStyle/>
          <a:p>
            <a:pPr>
              <a:buNone/>
            </a:pPr>
            <a:r>
              <a:rPr lang="en-US" sz="1100" b="1" spc="300">
                <a:solidFill>
                  <a:srgbClr val="ABA6C8"/>
                </a:solidFill>
                <a:latin typeface="Segoe UI Semibold"/>
              </a:rPr>
              <a:t>RACING LINE</a:t>
            </a:r>
          </a:p>
        </p:txBody>
      </p:sp>
      <p:sp>
        <p:nvSpPr>
          <p:cNvPr id="4" name="Slide counter"/>
          <p:cNvSpPr txBox="1"/>
          <p:nvPr/>
        </p:nvSpPr>
        <p:spPr>
          <a:xfrm>
            <a:off x="7223760" y="393192"/>
            <a:ext cx="1371600" cy="292608"/>
          </a:xfrm>
          <a:prstGeom prst="rect">
            <a:avLst/>
          </a:prstGeom>
          <a:noFill/>
          <a:ln>
            <a:noFill/>
          </a:ln>
        </p:spPr>
        <p:txBody>
          <a:bodyPr wrap="none" lIns="0" tIns="0" rIns="0" bIns="0" anchor="ctr"/>
          <a:lstStyle/>
          <a:p>
            <a:pPr algn="r">
              <a:buNone/>
            </a:pPr>
            <a:r>
              <a:rPr lang="en-US" sz="1100">
                <a:solidFill>
                  <a:srgbClr val="ABA6C8"/>
                </a:solidFill>
                <a:latin typeface="Segoe UI Semibold"/>
              </a:rPr>
              <a:t>11 / 21</a:t>
            </a:r>
          </a:p>
        </p:txBody>
      </p:sp>
      <p:sp>
        <p:nvSpPr>
          <p:cNvPr id="5" name="Slide title"/>
          <p:cNvSpPr txBox="1"/>
          <p:nvPr/>
        </p:nvSpPr>
        <p:spPr>
          <a:xfrm>
            <a:off x="548640" y="731520"/>
            <a:ext cx="8046720" cy="658368"/>
          </a:xfrm>
          <a:prstGeom prst="rect">
            <a:avLst/>
          </a:prstGeom>
          <a:noFill/>
          <a:ln>
            <a:noFill/>
          </a:ln>
        </p:spPr>
        <p:txBody>
          <a:bodyPr wrap="none" lIns="0" tIns="0" rIns="0" bIns="0"/>
          <a:lstStyle/>
          <a:p>
            <a:pPr>
              <a:buNone/>
            </a:pPr>
            <a:r>
              <a:rPr lang="en-US" sz="3400" b="1" i="1">
                <a:solidFill>
                  <a:srgbClr val="ECE9F8"/>
                </a:solidFill>
                <a:latin typeface="Segoe UI Black"/>
              </a:rPr>
              <a:t>How rivals follow the line</a:t>
            </a:r>
          </a:p>
        </p:txBody>
      </p:sp>
      <p:pic>
        <p:nvPicPr>
          <p:cNvPr id="7" name="Actual LUNA GP game capture" descr="Controlled scene captured in the actual game: the player is P3 and Lyra, the purple rival labelled LINE, is P2 on a right-hand bend. The matching live model request is for Lyra, not the player."/>
          <p:cNvPicPr>
            <a:picLocks noChangeAspect="1"/>
          </p:cNvPicPr>
          <p:nvPr/>
        </p:nvPicPr>
        <p:blipFill>
          <a:blip r:embed="rId3"/>
          <a:stretch>
            <a:fillRect/>
          </a:stretch>
        </p:blipFill>
        <p:spPr>
          <a:xfrm>
            <a:off x="548640" y="1874520"/>
            <a:ext cx="4480560" cy="2520315"/>
          </a:xfrm>
          <a:prstGeom prst="rect">
            <a:avLst/>
          </a:prstGeom>
          <a:ln>
            <a:noFill/>
          </a:ln>
        </p:spPr>
      </p:pic>
      <p:sp>
        <p:nvSpPr>
          <p:cNvPr id="8" name="Racing-line contrast underlay"/>
          <p:cNvSpPr/>
          <p:nvPr/>
        </p:nvSpPr>
        <p:spPr>
          <a:xfrm>
            <a:off x="548640" y="187452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moveTo>
                  <a:pt x="826" y="352"/>
                </a:moveTo>
                <a:lnTo>
                  <a:pt x="834" y="349"/>
                </a:lnTo>
                <a:lnTo>
                  <a:pt x="845" y="345"/>
                </a:lnTo>
                <a:lnTo>
                  <a:pt x="857" y="342"/>
                </a:lnTo>
                <a:lnTo>
                  <a:pt x="871" y="339"/>
                </a:lnTo>
                <a:lnTo>
                  <a:pt x="887" y="336"/>
                </a:lnTo>
                <a:lnTo>
                  <a:pt x="908" y="333"/>
                </a:lnTo>
                <a:lnTo>
                  <a:pt x="925" y="331"/>
                </a:lnTo>
              </a:path>
            </a:pathLst>
          </a:custGeom>
          <a:noFill/>
          <a:ln w="66040" cap="rnd">
            <a:solidFill>
              <a:srgbClr val="07071A">
                <a:alpha val="80000"/>
              </a:srgbClr>
            </a:solidFill>
            <a:round/>
          </a:ln>
        </p:spPr>
        <p:txBody>
          <a:bodyPr/>
          <a:lstStyle/>
          <a:p>
            <a:endParaRPr lang="en-ZA"/>
          </a:p>
        </p:txBody>
      </p:sp>
      <p:sp>
        <p:nvSpPr>
          <p:cNvPr id="9" name="Editable racing-line target - near" descr="Projected engine target: offset = clamp(0.12 * avgCurveAhead(position, 40), -0.55, 0.55). These points are sampled from the actual game's projection. Interrupted behind Lyra's car so the overlay does not paint over it."/>
          <p:cNvSpPr/>
          <p:nvPr/>
        </p:nvSpPr>
        <p:spPr>
          <a:xfrm>
            <a:off x="548640" y="187452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path>
            </a:pathLst>
          </a:custGeom>
          <a:noFill/>
          <a:ln w="33020" cap="rnd">
            <a:solidFill>
              <a:srgbClr val="FFD166"/>
            </a:solidFill>
            <a:round/>
          </a:ln>
        </p:spPr>
        <p:txBody>
          <a:bodyPr/>
          <a:lstStyle/>
          <a:p>
            <a:endParaRPr lang="en-ZA"/>
          </a:p>
        </p:txBody>
      </p:sp>
      <p:sp>
        <p:nvSpPr>
          <p:cNvPr id="10" name="Editable racing-line target - ahead" descr="The target line continues ahead of Lyra toward the inside of this right-hand bend. An explanatory annotation, not a path returned by the AI."/>
          <p:cNvSpPr/>
          <p:nvPr/>
        </p:nvSpPr>
        <p:spPr>
          <a:xfrm>
            <a:off x="548640" y="1874520"/>
            <a:ext cx="4480560" cy="2520315"/>
          </a:xfrm>
          <a:custGeom>
            <a:avLst/>
            <a:gdLst/>
            <a:ahLst/>
            <a:cxnLst/>
            <a:rect l="0" t="0" r="r" b="b"/>
            <a:pathLst>
              <a:path w="1280" h="720" fill="none">
                <a:moveTo>
                  <a:pt x="826" y="352"/>
                </a:moveTo>
                <a:lnTo>
                  <a:pt x="834" y="349"/>
                </a:lnTo>
                <a:lnTo>
                  <a:pt x="845" y="345"/>
                </a:lnTo>
                <a:lnTo>
                  <a:pt x="857" y="342"/>
                </a:lnTo>
                <a:lnTo>
                  <a:pt x="871" y="339"/>
                </a:lnTo>
                <a:lnTo>
                  <a:pt x="887" y="336"/>
                </a:lnTo>
                <a:lnTo>
                  <a:pt x="908" y="333"/>
                </a:lnTo>
                <a:lnTo>
                  <a:pt x="925" y="331"/>
                </a:lnTo>
              </a:path>
            </a:pathLst>
          </a:custGeom>
          <a:noFill/>
          <a:ln w="21590" cap="rnd">
            <a:solidFill>
              <a:srgbClr val="FFD166"/>
            </a:solidFill>
            <a:round/>
            <a:tailEnd type="triangle" w="sm" len="sm"/>
          </a:ln>
        </p:spPr>
        <p:txBody>
          <a:bodyPr/>
          <a:lstStyle/>
          <a:p>
            <a:endParaRPr lang="en-ZA"/>
          </a:p>
        </p:txBody>
      </p:sp>
      <p:sp>
        <p:nvSpPr>
          <p:cNvPr id="11" name="Lyra request-to-screenshot callout"/>
          <p:cNvSpPr txBox="1"/>
          <p:nvPr/>
        </p:nvSpPr>
        <p:spPr>
          <a:xfrm>
            <a:off x="786384" y="2606040"/>
            <a:ext cx="2651760" cy="274320"/>
          </a:xfrm>
          <a:prstGeom prst="roundRect">
            <a:avLst>
              <a:gd name="adj" fmla="val 18000"/>
            </a:avLst>
          </a:prstGeom>
          <a:solidFill>
            <a:srgbClr val="07071A">
              <a:alpha val="90000"/>
            </a:srgbClr>
          </a:solidFill>
          <a:ln>
            <a:noFill/>
          </a:ln>
        </p:spPr>
        <p:txBody>
          <a:bodyPr wrap="none" lIns="91440" tIns="0" rIns="91440" bIns="0" anchor="ctr"/>
          <a:lstStyle/>
          <a:p>
            <a:pPr>
              <a:buNone/>
            </a:pPr>
            <a:r>
              <a:rPr lang="en-US" sz="1100" b="1">
                <a:solidFill>
                  <a:srgbClr val="D7BCFF"/>
                </a:solidFill>
                <a:latin typeface="Segoe UI Semibold"/>
              </a:rPr>
              <a:t>LYRA #22 / P2 / 268 km/h</a:t>
            </a:r>
          </a:p>
        </p:txBody>
      </p:sp>
      <p:sp>
        <p:nvSpPr>
          <p:cNvPr id="14" name="Request card"/>
          <p:cNvSpPr/>
          <p:nvPr/>
        </p:nvSpPr>
        <p:spPr>
          <a:xfrm>
            <a:off x="5349240" y="1874520"/>
            <a:ext cx="3246120" cy="1197864"/>
          </a:xfrm>
          <a:prstGeom prst="roundRect">
            <a:avLst>
              <a:gd name="adj" fmla="val 14000"/>
            </a:avLst>
          </a:prstGeom>
          <a:solidFill>
            <a:srgbClr val="110F26"/>
          </a:solidFill>
          <a:ln>
            <a:noFill/>
          </a:ln>
        </p:spPr>
        <p:txBody>
          <a:bodyPr/>
          <a:lstStyle/>
          <a:p>
            <a:endParaRPr lang="en-ZA"/>
          </a:p>
        </p:txBody>
      </p:sp>
      <p:sp>
        <p:nvSpPr>
          <p:cNvPr id="15" name="AI request label"/>
          <p:cNvSpPr txBox="1"/>
          <p:nvPr/>
        </p:nvSpPr>
        <p:spPr>
          <a:xfrm>
            <a:off x="5532120" y="2020824"/>
            <a:ext cx="2880360" cy="182880"/>
          </a:xfrm>
          <a:prstGeom prst="rect">
            <a:avLst/>
          </a:prstGeom>
          <a:noFill/>
          <a:ln>
            <a:noFill/>
          </a:ln>
        </p:spPr>
        <p:txBody>
          <a:bodyPr wrap="none" lIns="0" tIns="0" rIns="0" bIns="0"/>
          <a:lstStyle/>
          <a:p>
            <a:pPr>
              <a:buNone/>
            </a:pPr>
            <a:r>
              <a:rPr lang="en-US" sz="1050" b="1" spc="80">
                <a:solidFill>
                  <a:srgbClr val="3DD6FF"/>
                </a:solidFill>
                <a:latin typeface="Segoe UI Semibold"/>
              </a:rPr>
              <a:t>AI REQUEST / STATE SUMMARY</a:t>
            </a:r>
          </a:p>
        </p:txBody>
      </p:sp>
      <p:sp>
        <p:nvSpPr>
          <p:cNvPr id="16" name="Matching Lyra telemetry"/>
          <p:cNvSpPr txBox="1"/>
          <p:nvPr/>
        </p:nvSpPr>
        <p:spPr>
          <a:xfrm>
            <a:off x="5532120" y="2258568"/>
            <a:ext cx="2880360" cy="694944"/>
          </a:xfrm>
          <a:prstGeom prst="rect">
            <a:avLst/>
          </a:prstGeom>
          <a:noFill/>
          <a:ln>
            <a:noFill/>
          </a:ln>
        </p:spPr>
        <p:txBody>
          <a:bodyPr wrap="none" lIns="0" tIns="0" rIns="0" bIns="0"/>
          <a:lstStyle/>
          <a:p>
            <a:pPr>
              <a:lnSpc>
                <a:spcPts val="1600"/>
              </a:lnSpc>
              <a:buNone/>
            </a:pPr>
            <a:r>
              <a:rPr lang="en-US" sz="1300" b="1">
                <a:solidFill>
                  <a:srgbClr val="ECE9F8"/>
                </a:solidFill>
                <a:latin typeface="Segoe UI Semibold"/>
              </a:rPr>
              <a:t>Lyra #22 / smooth / lap 1/3 / P2</a:t>
            </a:r>
          </a:p>
          <a:p>
            <a:pPr>
              <a:lnSpc>
                <a:spcPts val="1600"/>
              </a:lnSpc>
              <a:buNone/>
            </a:pPr>
            <a:r>
              <a:rPr lang="en-US" sz="1300">
                <a:solidFill>
                  <a:srgbClr val="ECE9F8"/>
                </a:solidFill>
                <a:latin typeface="Segoe UI"/>
              </a:rPr>
              <a:t>268 km/h / medium right / uphill</a:t>
            </a:r>
          </a:p>
          <a:p>
            <a:pPr>
              <a:lnSpc>
                <a:spcPts val="1600"/>
              </a:lnSpc>
              <a:buNone/>
            </a:pPr>
            <a:r>
              <a:rPr lang="en-US" sz="1300">
                <a:solidFill>
                  <a:srgbClr val="ECE9F8"/>
                </a:solidFill>
                <a:latin typeface="Segoe UI"/>
              </a:rPr>
              <a:t>No car ahead within 150 m</a:t>
            </a:r>
          </a:p>
        </p:txBody>
      </p:sp>
      <p:sp>
        <p:nvSpPr>
          <p:cNvPr id="18" name="Live result card"/>
          <p:cNvSpPr/>
          <p:nvPr/>
        </p:nvSpPr>
        <p:spPr>
          <a:xfrm>
            <a:off x="5349240" y="3300984"/>
            <a:ext cx="3246120" cy="1097280"/>
          </a:xfrm>
          <a:prstGeom prst="roundRect">
            <a:avLst>
              <a:gd name="adj" fmla="val 14000"/>
            </a:avLst>
          </a:prstGeom>
          <a:solidFill>
            <a:srgbClr val="110F26"/>
          </a:solidFill>
          <a:ln>
            <a:noFill/>
          </a:ln>
        </p:spPr>
        <p:txBody>
          <a:bodyPr/>
          <a:lstStyle/>
          <a:p>
            <a:endParaRPr lang="en-ZA"/>
          </a:p>
        </p:txBody>
      </p:sp>
      <p:sp>
        <p:nvSpPr>
          <p:cNvPr id="19" name="Live response label"/>
          <p:cNvSpPr txBox="1"/>
          <p:nvPr/>
        </p:nvSpPr>
        <p:spPr>
          <a:xfrm>
            <a:off x="5532120" y="3447288"/>
            <a:ext cx="2880360" cy="182880"/>
          </a:xfrm>
          <a:prstGeom prst="rect">
            <a:avLst/>
          </a:prstGeom>
          <a:noFill/>
          <a:ln>
            <a:noFill/>
          </a:ln>
        </p:spPr>
        <p:txBody>
          <a:bodyPr wrap="none" lIns="0" tIns="0" rIns="0" bIns="0"/>
          <a:lstStyle/>
          <a:p>
            <a:pPr>
              <a:buNone/>
            </a:pPr>
            <a:r>
              <a:rPr lang="en-US" sz="1050" b="1" spc="80">
                <a:solidFill>
                  <a:srgbClr val="45E89A"/>
                </a:solidFill>
                <a:latin typeface="Segoe UI Semibold"/>
              </a:rPr>
              <a:t>LIVE RESULT / 358 ms</a:t>
            </a:r>
          </a:p>
        </p:txBody>
      </p:sp>
      <p:sp>
        <p:nvSpPr>
          <p:cNvPr id="20" name="Chosen maneuver"/>
          <p:cNvSpPr txBox="1"/>
          <p:nvPr/>
        </p:nvSpPr>
        <p:spPr>
          <a:xfrm>
            <a:off x="5532120" y="3712464"/>
            <a:ext cx="1911096" cy="274320"/>
          </a:xfrm>
          <a:prstGeom prst="rect">
            <a:avLst/>
          </a:prstGeom>
          <a:noFill/>
          <a:ln>
            <a:noFill/>
          </a:ln>
        </p:spPr>
        <p:txBody>
          <a:bodyPr wrap="none" lIns="0" tIns="0" rIns="0" bIns="0"/>
          <a:lstStyle/>
          <a:p>
            <a:pPr>
              <a:buNone/>
            </a:pPr>
            <a:r>
              <a:rPr lang="en-US" sz="1800" b="1">
                <a:solidFill>
                  <a:srgbClr val="3DD6FF"/>
                </a:solidFill>
                <a:latin typeface="Consolas"/>
              </a:rPr>
              <a:t>racing_line</a:t>
            </a:r>
          </a:p>
        </p:txBody>
      </p:sp>
      <p:sp>
        <p:nvSpPr>
          <p:cNvPr id="21" name="Maneuver probability"/>
          <p:cNvSpPr txBox="1"/>
          <p:nvPr/>
        </p:nvSpPr>
        <p:spPr>
          <a:xfrm>
            <a:off x="7242048" y="3785616"/>
            <a:ext cx="1170432" cy="182880"/>
          </a:xfrm>
          <a:prstGeom prst="rect">
            <a:avLst/>
          </a:prstGeom>
          <a:noFill/>
          <a:ln>
            <a:noFill/>
          </a:ln>
        </p:spPr>
        <p:txBody>
          <a:bodyPr wrap="none" lIns="0" tIns="0" rIns="0" bIns="0"/>
          <a:lstStyle/>
          <a:p>
            <a:pPr algn="r">
              <a:buNone/>
            </a:pPr>
            <a:r>
              <a:rPr lang="en-US" sz="1050" b="1">
                <a:solidFill>
                  <a:srgbClr val="45E89A"/>
                </a:solidFill>
                <a:latin typeface="Segoe UI Semibold"/>
              </a:rPr>
              <a:t>choice: 99.24%</a:t>
            </a:r>
          </a:p>
        </p:txBody>
      </p:sp>
      <p:sp>
        <p:nvSpPr>
          <p:cNvPr id="22" name="Pace and nitro results"/>
          <p:cNvSpPr txBox="1"/>
          <p:nvPr/>
        </p:nvSpPr>
        <p:spPr>
          <a:xfrm>
            <a:off x="5532120" y="3995928"/>
            <a:ext cx="2880360" cy="228600"/>
          </a:xfrm>
          <a:prstGeom prst="rect">
            <a:avLst/>
          </a:prstGeom>
          <a:noFill/>
          <a:ln>
            <a:noFill/>
          </a:ln>
        </p:spPr>
        <p:txBody>
          <a:bodyPr wrap="none" lIns="0" tIns="0" rIns="0" bIns="0"/>
          <a:lstStyle/>
          <a:p>
            <a:pPr>
              <a:buNone/>
            </a:pPr>
            <a:r>
              <a:rPr lang="en-US" sz="1250">
                <a:solidFill>
                  <a:srgbClr val="ECE9F8"/>
                </a:solidFill>
                <a:latin typeface="Consolas"/>
              </a:rPr>
              <a:t>pace 1.46 / 3   nitro 0.095</a:t>
            </a:r>
          </a:p>
        </p:txBody>
      </p:sp>
      <p:sp>
        <p:nvSpPr>
          <p:cNvPr id="24" name="Leader identifying Lyra"/>
          <p:cNvSpPr/>
          <p:nvPr/>
        </p:nvSpPr>
        <p:spPr>
          <a:xfrm>
            <a:off x="2980944" y="2880360"/>
            <a:ext cx="192024" cy="283464"/>
          </a:xfrm>
          <a:custGeom>
            <a:avLst/>
            <a:gdLst/>
            <a:ahLst/>
            <a:cxnLst/>
            <a:rect l="0" t="0" r="r" b="b"/>
            <a:pathLst>
              <a:path w="1000" h="1000" fill="none">
                <a:moveTo>
                  <a:pt x="0" y="0"/>
                </a:moveTo>
                <a:lnTo>
                  <a:pt x="1000" y="1000"/>
                </a:lnTo>
              </a:path>
            </a:pathLst>
          </a:custGeom>
          <a:noFill/>
          <a:ln w="16510" cap="rnd">
            <a:solidFill>
              <a:srgbClr val="D7BCFF"/>
            </a:solidFill>
            <a:tailEnd type="triangle" w="sm" len="sm"/>
          </a:ln>
        </p:spPr>
        <p:txBody>
          <a:bodyPr/>
          <a:lstStyle/>
          <a:p>
            <a:endParaRPr lang="en-ZA"/>
          </a:p>
        </p:txBody>
      </p:sp>
      <p:sp>
        <p:nvSpPr>
          <p:cNvPr id="25" name="Identify the player HUD"/>
          <p:cNvSpPr txBox="1"/>
          <p:nvPr/>
        </p:nvSpPr>
        <p:spPr>
          <a:xfrm>
            <a:off x="1179576" y="2029968"/>
            <a:ext cx="594360" cy="182880"/>
          </a:xfrm>
          <a:prstGeom prst="rect">
            <a:avLst/>
          </a:prstGeom>
          <a:noFill/>
          <a:ln>
            <a:noFill/>
          </a:ln>
        </p:spPr>
        <p:txBody>
          <a:bodyPr wrap="none" lIns="0" tIns="0" rIns="0" bIns="0"/>
          <a:lstStyle/>
          <a:p>
            <a:pPr>
              <a:buNone/>
            </a:pPr>
            <a:r>
              <a:rPr lang="en-US" sz="950" b="1">
                <a:solidFill>
                  <a:srgbClr val="3DD6FF"/>
                </a:solidFill>
                <a:latin typeface="Segoe UI Semibold"/>
              </a:rPr>
              <a:t>YOU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071A"/>
        </a:solidFill>
        <a:effectLst/>
      </p:bgPr>
    </p:bg>
    <p:spTree>
      <p:nvGrpSpPr>
        <p:cNvPr id="1" name=""/>
        <p:cNvGrpSpPr/>
        <p:nvPr/>
      </p:nvGrpSpPr>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RACE CONTROL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The model is the steward</a:t>
            </a:r>
            <a:endParaRPr lang="en-US" sz="3400" dirty="0"/>
          </a:p>
        </p:txBody>
      </p:sp>
      <p:pic>
        <p:nvPicPr>
          <p:cNvPr id="6" name="Race Control penalty capture" descr="LUNA GP race view with a +5 s penalty banner: Race Control ruled that the player caused a rear-end contact with Vega"/>
          <p:cNvPicPr>
            <a:picLocks noChangeAspect="1"/>
          </p:cNvPicPr>
          <p:nvPr/>
        </p:nvPicPr>
        <p:blipFill>
          <a:blip r:embed="rId2"/>
          <a:stretch>
            <a:fillRect/>
          </a:stretch>
        </p:blipFill>
        <p:spPr>
          <a:xfrm>
            <a:off x="548640" y="1874520"/>
            <a:ext cx="4480560" cy="2520315"/>
          </a:xfrm>
          <a:prstGeom prst="roundRect">
            <a:avLst>
              <a:gd name="adj" fmla="val 3628"/>
            </a:avLst>
          </a:prstGeom>
        </p:spPr>
      </p:pic>
      <p:sp>
        <p:nvSpPr>
          <p:cNvPr id="7" name="Ruling card"/>
          <p:cNvSpPr/>
          <p:nvPr/>
        </p:nvSpPr>
        <p:spPr>
          <a:xfrm>
            <a:off x="5349240" y="1874520"/>
            <a:ext cx="3246120" cy="2520315"/>
          </a:xfrm>
          <a:prstGeom prst="roundRect">
            <a:avLst>
              <a:gd name="adj" fmla="val 6530"/>
            </a:avLst>
          </a:prstGeom>
          <a:solidFill>
            <a:srgbClr val="110F2B"/>
          </a:solidFill>
          <a:ln/>
        </p:spPr>
        <p:txBody>
          <a:bodyPr/>
          <a:lstStyle/>
          <a:p>
            <a:endParaRPr lang="en-ZA"/>
          </a:p>
        </p:txBody>
      </p:sp>
      <p:sp>
        <p:nvSpPr>
          <p:cNvPr id="8" name="Ruling label"/>
          <p:cNvSpPr txBox="1"/>
          <p:nvPr/>
        </p:nvSpPr>
        <p:spPr>
          <a:xfrm>
            <a:off x="5532120" y="2048256"/>
            <a:ext cx="2880360" cy="201168"/>
          </a:xfrm>
          <a:prstGeom prst="rect">
            <a:avLst/>
          </a:prstGeom>
          <a:noFill/>
        </p:spPr>
        <p:txBody>
          <a:bodyPr wrap="square" lIns="0" rIns="0" tIns="0" bIns="0" anchor="t">
            <a:noAutofit/>
          </a:bodyPr>
          <a:lstStyle/>
          <a:p>
            <a:pPr algn="l"/>
            <a:r>
              <a:rPr sz="1050" b="0" i="0" spc="200">
                <a:solidFill>
                  <a:srgbClr val="FF5FA2"/>
                </a:solidFill>
                <a:latin typeface="Segoe UI Semibold"/>
              </a:rPr>
              <a:t>RULING</a:t>
            </a:r>
          </a:p>
        </p:txBody>
      </p:sp>
      <p:sp>
        <p:nvSpPr>
          <p:cNvPr id="9" name="Responsible question"/>
          <p:cNvSpPr txBox="1"/>
          <p:nvPr/>
        </p:nvSpPr>
        <p:spPr>
          <a:xfrm>
            <a:off x="5532120" y="2359152"/>
            <a:ext cx="2880360" cy="201168"/>
          </a:xfrm>
          <a:prstGeom prst="rect">
            <a:avLst/>
          </a:prstGeom>
          <a:noFill/>
        </p:spPr>
        <p:txBody>
          <a:bodyPr wrap="square" lIns="0" rIns="0" tIns="0" bIns="0" anchor="t">
            <a:noAutofit/>
          </a:bodyPr>
          <a:lstStyle/>
          <a:p>
            <a:pPr algn="l"/>
            <a:r>
              <a:rPr sz="1050" b="0" i="0">
                <a:solidFill>
                  <a:srgbClr val="ABA6C8"/>
                </a:solidFill>
                <a:latin typeface="Consolas"/>
              </a:rPr>
              <a:t>responsible</a:t>
            </a:r>
            <a:r>
              <a:rPr sz="1050" b="0" i="0">
                <a:solidFill>
                  <a:srgbClr val="FFD166"/>
                </a:solidFill>
                <a:latin typeface="Consolas"/>
              </a:rPr>
              <a:t>  choice</a:t>
            </a:r>
          </a:p>
        </p:txBody>
      </p:sp>
      <p:sp>
        <p:nvSpPr>
          <p:cNvPr id="10" name="You option"/>
          <p:cNvSpPr txBox="1"/>
          <p:nvPr/>
        </p:nvSpPr>
        <p:spPr>
          <a:xfrm>
            <a:off x="5532120" y="2615184"/>
            <a:ext cx="731520" cy="201168"/>
          </a:xfrm>
          <a:prstGeom prst="rect">
            <a:avLst/>
          </a:prstGeom>
          <a:noFill/>
        </p:spPr>
        <p:txBody>
          <a:bodyPr wrap="square" lIns="0" rIns="0" tIns="0" bIns="0" anchor="t">
            <a:noAutofit/>
          </a:bodyPr>
          <a:lstStyle/>
          <a:p>
            <a:pPr algn="l"/>
            <a:r>
              <a:rPr sz="1100" b="0" i="0">
                <a:solidFill>
                  <a:srgbClr val="ECE9F8"/>
                </a:solidFill>
                <a:latin typeface="Segoe UI"/>
              </a:rPr>
              <a:t>You</a:t>
            </a:r>
          </a:p>
        </p:txBody>
      </p:sp>
      <p:sp>
        <p:nvSpPr>
          <p:cNvPr id="11" name="You track"/>
          <p:cNvSpPr/>
          <p:nvPr/>
        </p:nvSpPr>
        <p:spPr>
          <a:xfrm>
            <a:off x="6281928" y="2679192"/>
            <a:ext cx="1508760" cy="73152"/>
          </a:xfrm>
          <a:prstGeom prst="rect">
            <a:avLst/>
          </a:prstGeom>
          <a:solidFill>
            <a:srgbClr val="36316A"/>
          </a:solidFill>
          <a:ln>
            <a:noFill/>
          </a:ln>
        </p:spPr>
        <p:txBody>
          <a:bodyPr rtlCol="0" anchor="ctr"/>
          <a:lstStyle/>
          <a:p>
            <a:pPr algn="ctr"/>
          </a:p>
        </p:txBody>
      </p:sp>
      <p:sp>
        <p:nvSpPr>
          <p:cNvPr id="12" name="You probability"/>
          <p:cNvSpPr/>
          <p:nvPr/>
        </p:nvSpPr>
        <p:spPr>
          <a:xfrm>
            <a:off x="6281928" y="2679192"/>
            <a:ext cx="1297534" cy="73152"/>
          </a:xfrm>
          <a:prstGeom prst="rect">
            <a:avLst/>
          </a:prstGeom>
          <a:solidFill>
            <a:srgbClr val="FF5FA2"/>
          </a:solidFill>
          <a:ln>
            <a:noFill/>
          </a:ln>
        </p:spPr>
        <p:txBody>
          <a:bodyPr rtlCol="0" anchor="ctr"/>
          <a:lstStyle/>
          <a:p>
            <a:pPr algn="ctr"/>
          </a:p>
        </p:txBody>
      </p:sp>
      <p:sp>
        <p:nvSpPr>
          <p:cNvPr id="13" name="You value"/>
          <p:cNvSpPr txBox="1"/>
          <p:nvPr/>
        </p:nvSpPr>
        <p:spPr>
          <a:xfrm>
            <a:off x="7863840" y="2615184"/>
            <a:ext cx="548640" cy="201168"/>
          </a:xfrm>
          <a:prstGeom prst="rect">
            <a:avLst/>
          </a:prstGeom>
          <a:noFill/>
        </p:spPr>
        <p:txBody>
          <a:bodyPr wrap="square" lIns="0" rIns="0" tIns="0" bIns="0" anchor="t">
            <a:noAutofit/>
          </a:bodyPr>
          <a:lstStyle/>
          <a:p>
            <a:pPr algn="r"/>
            <a:r>
              <a:rPr sz="1100" b="0" i="0">
                <a:solidFill>
                  <a:srgbClr val="ABA6C8"/>
                </a:solidFill>
                <a:latin typeface="Segoe UI"/>
              </a:rPr>
              <a:t>0.86</a:t>
            </a:r>
          </a:p>
        </p:txBody>
      </p:sp>
      <p:sp>
        <p:nvSpPr>
          <p:cNvPr id="14" name="Vega option"/>
          <p:cNvSpPr txBox="1"/>
          <p:nvPr/>
        </p:nvSpPr>
        <p:spPr>
          <a:xfrm>
            <a:off x="5532120" y="2825496"/>
            <a:ext cx="731520" cy="201168"/>
          </a:xfrm>
          <a:prstGeom prst="rect">
            <a:avLst/>
          </a:prstGeom>
          <a:noFill/>
        </p:spPr>
        <p:txBody>
          <a:bodyPr wrap="square" lIns="0" rIns="0" tIns="0" bIns="0" anchor="t">
            <a:noAutofit/>
          </a:bodyPr>
          <a:lstStyle/>
          <a:p>
            <a:pPr algn="l"/>
            <a:r>
              <a:rPr sz="1100" b="0" i="0">
                <a:solidFill>
                  <a:srgbClr val="ECE9F8"/>
                </a:solidFill>
                <a:latin typeface="Segoe UI"/>
              </a:rPr>
              <a:t>Vega</a:t>
            </a:r>
          </a:p>
        </p:txBody>
      </p:sp>
      <p:sp>
        <p:nvSpPr>
          <p:cNvPr id="15" name="Vega track"/>
          <p:cNvSpPr/>
          <p:nvPr/>
        </p:nvSpPr>
        <p:spPr>
          <a:xfrm>
            <a:off x="6281928" y="2889504"/>
            <a:ext cx="1508760" cy="73152"/>
          </a:xfrm>
          <a:prstGeom prst="rect">
            <a:avLst/>
          </a:prstGeom>
          <a:solidFill>
            <a:srgbClr val="36316A"/>
          </a:solidFill>
          <a:ln>
            <a:noFill/>
          </a:ln>
        </p:spPr>
        <p:txBody>
          <a:bodyPr rtlCol="0" anchor="ctr"/>
          <a:lstStyle/>
          <a:p>
            <a:pPr algn="ctr"/>
          </a:p>
        </p:txBody>
      </p:sp>
      <p:sp>
        <p:nvSpPr>
          <p:cNvPr id="16" name="Vega probability"/>
          <p:cNvSpPr/>
          <p:nvPr/>
        </p:nvSpPr>
        <p:spPr>
          <a:xfrm>
            <a:off x="6281928" y="2889504"/>
            <a:ext cx="105613" cy="73152"/>
          </a:xfrm>
          <a:prstGeom prst="rect">
            <a:avLst/>
          </a:prstGeom>
          <a:solidFill>
            <a:srgbClr val="6C6790"/>
          </a:solidFill>
          <a:ln>
            <a:noFill/>
          </a:ln>
        </p:spPr>
        <p:txBody>
          <a:bodyPr rtlCol="0" anchor="ctr"/>
          <a:lstStyle/>
          <a:p>
            <a:pPr algn="ctr"/>
          </a:p>
        </p:txBody>
      </p:sp>
      <p:sp>
        <p:nvSpPr>
          <p:cNvPr id="17" name="Vega value"/>
          <p:cNvSpPr txBox="1"/>
          <p:nvPr/>
        </p:nvSpPr>
        <p:spPr>
          <a:xfrm>
            <a:off x="7863840" y="2825496"/>
            <a:ext cx="548640" cy="201168"/>
          </a:xfrm>
          <a:prstGeom prst="rect">
            <a:avLst/>
          </a:prstGeom>
          <a:noFill/>
        </p:spPr>
        <p:txBody>
          <a:bodyPr wrap="square" lIns="0" rIns="0" tIns="0" bIns="0" anchor="t">
            <a:noAutofit/>
          </a:bodyPr>
          <a:lstStyle/>
          <a:p>
            <a:pPr algn="r"/>
            <a:r>
              <a:rPr sz="1100" b="0" i="0">
                <a:solidFill>
                  <a:srgbClr val="ABA6C8"/>
                </a:solidFill>
                <a:latin typeface="Segoe UI"/>
              </a:rPr>
              <a:t>0.07</a:t>
            </a:r>
          </a:p>
        </p:txBody>
      </p:sp>
      <p:sp>
        <p:nvSpPr>
          <p:cNvPr id="18" name="Incident option"/>
          <p:cNvSpPr txBox="1"/>
          <p:nvPr/>
        </p:nvSpPr>
        <p:spPr>
          <a:xfrm>
            <a:off x="5532120" y="3035808"/>
            <a:ext cx="731520" cy="201168"/>
          </a:xfrm>
          <a:prstGeom prst="rect">
            <a:avLst/>
          </a:prstGeom>
          <a:noFill/>
        </p:spPr>
        <p:txBody>
          <a:bodyPr wrap="square" lIns="0" rIns="0" tIns="0" bIns="0" anchor="t">
            <a:noAutofit/>
          </a:bodyPr>
          <a:lstStyle/>
          <a:p>
            <a:pPr algn="l"/>
            <a:r>
              <a:rPr sz="1100" b="0" i="0">
                <a:solidFill>
                  <a:srgbClr val="ECE9F8"/>
                </a:solidFill>
                <a:latin typeface="Segoe UI"/>
              </a:rPr>
              <a:t>Incident</a:t>
            </a:r>
          </a:p>
        </p:txBody>
      </p:sp>
      <p:sp>
        <p:nvSpPr>
          <p:cNvPr id="19" name="Incident track"/>
          <p:cNvSpPr/>
          <p:nvPr/>
        </p:nvSpPr>
        <p:spPr>
          <a:xfrm>
            <a:off x="6281928" y="3099816"/>
            <a:ext cx="1508760" cy="73152"/>
          </a:xfrm>
          <a:prstGeom prst="rect">
            <a:avLst/>
          </a:prstGeom>
          <a:solidFill>
            <a:srgbClr val="36316A"/>
          </a:solidFill>
          <a:ln>
            <a:noFill/>
          </a:ln>
        </p:spPr>
        <p:txBody>
          <a:bodyPr rtlCol="0" anchor="ctr"/>
          <a:lstStyle/>
          <a:p>
            <a:pPr algn="ctr"/>
          </a:p>
        </p:txBody>
      </p:sp>
      <p:sp>
        <p:nvSpPr>
          <p:cNvPr id="20" name="Incident probability"/>
          <p:cNvSpPr/>
          <p:nvPr/>
        </p:nvSpPr>
        <p:spPr>
          <a:xfrm>
            <a:off x="6281928" y="3099816"/>
            <a:ext cx="105613" cy="73152"/>
          </a:xfrm>
          <a:prstGeom prst="rect">
            <a:avLst/>
          </a:prstGeom>
          <a:solidFill>
            <a:srgbClr val="6C6790"/>
          </a:solidFill>
          <a:ln>
            <a:noFill/>
          </a:ln>
        </p:spPr>
        <p:txBody>
          <a:bodyPr rtlCol="0" anchor="ctr"/>
          <a:lstStyle/>
          <a:p>
            <a:pPr algn="ctr"/>
          </a:p>
        </p:txBody>
      </p:sp>
      <p:sp>
        <p:nvSpPr>
          <p:cNvPr id="21" name="Incident value"/>
          <p:cNvSpPr txBox="1"/>
          <p:nvPr/>
        </p:nvSpPr>
        <p:spPr>
          <a:xfrm>
            <a:off x="7863840" y="3035808"/>
            <a:ext cx="548640" cy="201168"/>
          </a:xfrm>
          <a:prstGeom prst="rect">
            <a:avLst/>
          </a:prstGeom>
          <a:noFill/>
        </p:spPr>
        <p:txBody>
          <a:bodyPr wrap="square" lIns="0" rIns="0" tIns="0" bIns="0" anchor="t">
            <a:noAutofit/>
          </a:bodyPr>
          <a:lstStyle/>
          <a:p>
            <a:pPr algn="r"/>
            <a:r>
              <a:rPr sz="1100" b="0" i="0">
                <a:solidFill>
                  <a:srgbClr val="ABA6C8"/>
                </a:solidFill>
                <a:latin typeface="Segoe UI"/>
              </a:rPr>
              <a:t>0.07</a:t>
            </a:r>
          </a:p>
        </p:txBody>
      </p:sp>
      <p:sp>
        <p:nvSpPr>
          <p:cNvPr id="22" name="Severity question"/>
          <p:cNvSpPr txBox="1"/>
          <p:nvPr/>
        </p:nvSpPr>
        <p:spPr>
          <a:xfrm>
            <a:off x="5532120" y="3346704"/>
            <a:ext cx="2880360" cy="201168"/>
          </a:xfrm>
          <a:prstGeom prst="rect">
            <a:avLst/>
          </a:prstGeom>
          <a:noFill/>
        </p:spPr>
        <p:txBody>
          <a:bodyPr wrap="square" lIns="0" rIns="0" tIns="0" bIns="0" anchor="t">
            <a:noAutofit/>
          </a:bodyPr>
          <a:lstStyle/>
          <a:p>
            <a:pPr algn="l"/>
            <a:r>
              <a:rPr sz="1050" b="0" i="0">
                <a:solidFill>
                  <a:srgbClr val="ABA6C8"/>
                </a:solidFill>
                <a:latin typeface="Consolas"/>
              </a:rPr>
              <a:t>severity</a:t>
            </a:r>
            <a:r>
              <a:rPr sz="1050" b="0" i="0">
                <a:solidFill>
                  <a:srgbClr val="FFD166"/>
                </a:solidFill>
                <a:latin typeface="Consolas"/>
              </a:rPr>
              <a:t>  score</a:t>
            </a:r>
          </a:p>
        </p:txBody>
      </p:sp>
      <p:sp>
        <p:nvSpPr>
          <p:cNvPr id="23" name="Severity value"/>
          <p:cNvSpPr txBox="1"/>
          <p:nvPr/>
        </p:nvSpPr>
        <p:spPr>
          <a:xfrm>
            <a:off x="5532120" y="3566160"/>
            <a:ext cx="2880360" cy="274320"/>
          </a:xfrm>
          <a:prstGeom prst="rect">
            <a:avLst/>
          </a:prstGeom>
          <a:noFill/>
        </p:spPr>
        <p:txBody>
          <a:bodyPr wrap="square" lIns="0" rIns="0" tIns="0" bIns="0" anchor="t">
            <a:noAutofit/>
          </a:bodyPr>
          <a:lstStyle/>
          <a:p>
            <a:pPr algn="l"/>
            <a:r>
              <a:rPr sz="1300" b="0" i="0">
                <a:solidFill>
                  <a:srgbClr val="ECE9F8"/>
                </a:solidFill>
                <a:latin typeface="Segoe UI Semibold"/>
              </a:rPr>
              <a:t>1.99 / 2 · Dangerous</a:t>
            </a:r>
          </a:p>
        </p:txBody>
      </p:sp>
      <p:sp>
        <p:nvSpPr>
          <p:cNvPr id="24" name="Penalty"/>
          <p:cNvSpPr txBox="1"/>
          <p:nvPr/>
        </p:nvSpPr>
        <p:spPr>
          <a:xfrm>
            <a:off x="5532120" y="3886200"/>
            <a:ext cx="2880360" cy="329184"/>
          </a:xfrm>
          <a:prstGeom prst="rect">
            <a:avLst/>
          </a:prstGeom>
          <a:noFill/>
        </p:spPr>
        <p:txBody>
          <a:bodyPr wrap="square" lIns="0" rIns="0" tIns="0" bIns="0" anchor="t">
            <a:noAutofit/>
          </a:bodyPr>
          <a:lstStyle/>
          <a:p>
            <a:pPr algn="l"/>
            <a:r>
              <a:rPr sz="1700" b="0" i="0">
                <a:solidFill>
                  <a:srgbClr val="FF5FA2"/>
                </a:solidFill>
                <a:latin typeface="Segoe UI Black"/>
              </a:rPr>
              <a:t>+5s penalty for YOU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071A"/>
        </a:solidFill>
        <a:effectLst/>
      </p:bgPr>
    </p:bg>
    <p:spTree>
      <p:nvGrpSpPr>
        <p:cNvPr id="1" name=""/>
        <p:cNvGrpSpPr/>
        <p:nvPr/>
      </p:nvGrpSpPr>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DEBRIEF</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14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No flattery from the model</a:t>
            </a:r>
            <a:endParaRPr lang="en-US" sz="3400" dirty="0"/>
          </a:p>
        </p:txBody>
      </p:sp>
      <p:pic>
        <p:nvPicPr>
          <p:cNvPr id="6" name="Debrief capture" descr="LUNA GP results screen: the player finished P6 with 10 s of penalties; the model's debrief rates the player Rookie (0.20 of 3), picks Nova as driver of the day and answers No to clean racer"/>
          <p:cNvPicPr>
            <a:picLocks noChangeAspect="1"/>
          </p:cNvPicPr>
          <p:nvPr/>
        </p:nvPicPr>
        <p:blipFill>
          <a:blip r:embed="rId2"/>
          <a:stretch>
            <a:fillRect/>
          </a:stretch>
        </p:blipFill>
        <p:spPr>
          <a:xfrm>
            <a:off x="548640" y="1874520"/>
            <a:ext cx="4480560" cy="2520315"/>
          </a:xfrm>
          <a:prstGeom prst="roundRect">
            <a:avLst>
              <a:gd name="adj" fmla="val 3628"/>
            </a:avLst>
          </a:prstGeom>
        </p:spPr>
      </p:pic>
      <p:sp>
        <p:nvSpPr>
          <p:cNvPr id="7" name="Answers card"/>
          <p:cNvSpPr/>
          <p:nvPr/>
        </p:nvSpPr>
        <p:spPr>
          <a:xfrm>
            <a:off x="5349240" y="1874520"/>
            <a:ext cx="3246120" cy="2520315"/>
          </a:xfrm>
          <a:prstGeom prst="roundRect">
            <a:avLst>
              <a:gd name="adj" fmla="val 6530"/>
            </a:avLst>
          </a:prstGeom>
          <a:solidFill>
            <a:srgbClr val="110F2B"/>
          </a:solidFill>
          <a:ln/>
        </p:spPr>
        <p:txBody>
          <a:bodyPr/>
          <a:lstStyle/>
          <a:p>
            <a:endParaRPr lang="en-ZA"/>
          </a:p>
        </p:txBody>
      </p:sp>
      <p:sp>
        <p:nvSpPr>
          <p:cNvPr id="8" name="Answers label"/>
          <p:cNvSpPr txBox="1"/>
          <p:nvPr/>
        </p:nvSpPr>
        <p:spPr>
          <a:xfrm>
            <a:off x="5532120" y="2048256"/>
            <a:ext cx="2880360" cy="201168"/>
          </a:xfrm>
          <a:prstGeom prst="rect">
            <a:avLst/>
          </a:prstGeom>
          <a:noFill/>
        </p:spPr>
        <p:txBody>
          <a:bodyPr wrap="square" lIns="0" rIns="0" tIns="0" bIns="0" anchor="t">
            <a:noAutofit/>
          </a:bodyPr>
          <a:lstStyle/>
          <a:p>
            <a:pPr algn="l"/>
            <a:r>
              <a:rPr sz="1050" b="0" i="0" spc="200">
                <a:solidFill>
                  <a:srgbClr val="FF5FA2"/>
                </a:solidFill>
                <a:latin typeface="Segoe UI Semibold"/>
              </a:rPr>
              <a:t>THREE ANSWERS</a:t>
            </a:r>
          </a:p>
        </p:txBody>
      </p:sp>
      <p:sp>
        <p:nvSpPr>
          <p:cNvPr id="9" name="rating question"/>
          <p:cNvSpPr txBox="1"/>
          <p:nvPr/>
        </p:nvSpPr>
        <p:spPr>
          <a:xfrm>
            <a:off x="5532120" y="2414016"/>
            <a:ext cx="2880360" cy="201168"/>
          </a:xfrm>
          <a:prstGeom prst="rect">
            <a:avLst/>
          </a:prstGeom>
          <a:noFill/>
        </p:spPr>
        <p:txBody>
          <a:bodyPr wrap="square" lIns="0" rIns="0" tIns="0" bIns="0" anchor="t">
            <a:noAutofit/>
          </a:bodyPr>
          <a:lstStyle/>
          <a:p>
            <a:pPr algn="l"/>
            <a:r>
              <a:rPr sz="1050" b="0" i="0">
                <a:solidFill>
                  <a:srgbClr val="ABA6C8"/>
                </a:solidFill>
                <a:latin typeface="Consolas"/>
              </a:rPr>
              <a:t>rating</a:t>
            </a:r>
            <a:r>
              <a:rPr sz="1050" b="0" i="0">
                <a:solidFill>
                  <a:srgbClr val="FFD166"/>
                </a:solidFill>
                <a:latin typeface="Consolas"/>
              </a:rPr>
              <a:t>  score</a:t>
            </a:r>
          </a:p>
        </p:txBody>
      </p:sp>
      <p:sp>
        <p:nvSpPr>
          <p:cNvPr id="10" name="rating answer"/>
          <p:cNvSpPr txBox="1"/>
          <p:nvPr/>
        </p:nvSpPr>
        <p:spPr>
          <a:xfrm>
            <a:off x="5532120" y="2615184"/>
            <a:ext cx="2880360" cy="310896"/>
          </a:xfrm>
          <a:prstGeom prst="rect">
            <a:avLst/>
          </a:prstGeom>
          <a:noFill/>
        </p:spPr>
        <p:txBody>
          <a:bodyPr wrap="square" lIns="0" rIns="0" tIns="0" bIns="0" anchor="t">
            <a:noAutofit/>
          </a:bodyPr>
          <a:lstStyle/>
          <a:p>
            <a:pPr algn="l"/>
            <a:r>
              <a:rPr sz="1600" b="0" i="0">
                <a:solidFill>
                  <a:srgbClr val="ECE9F8"/>
                </a:solidFill>
                <a:latin typeface="Segoe UI Black"/>
              </a:rPr>
              <a:t>Rookie</a:t>
            </a:r>
            <a:r>
              <a:rPr sz="1100" b="0" i="0">
                <a:solidFill>
                  <a:srgbClr val="ABA6C8"/>
                </a:solidFill>
                <a:latin typeface="Segoe UI"/>
              </a:rPr>
              <a:t>  0.20 / 3</a:t>
            </a:r>
          </a:p>
        </p:txBody>
      </p:sp>
      <p:sp>
        <p:nvSpPr>
          <p:cNvPr id="11" name="driver_of_the_day question"/>
          <p:cNvSpPr txBox="1"/>
          <p:nvPr/>
        </p:nvSpPr>
        <p:spPr>
          <a:xfrm>
            <a:off x="5532120" y="3054096"/>
            <a:ext cx="2880360" cy="201168"/>
          </a:xfrm>
          <a:prstGeom prst="rect">
            <a:avLst/>
          </a:prstGeom>
          <a:noFill/>
        </p:spPr>
        <p:txBody>
          <a:bodyPr wrap="square" lIns="0" rIns="0" tIns="0" bIns="0" anchor="t">
            <a:noAutofit/>
          </a:bodyPr>
          <a:lstStyle/>
          <a:p>
            <a:pPr algn="l"/>
            <a:r>
              <a:rPr sz="1050" b="0" i="0">
                <a:solidFill>
                  <a:srgbClr val="ABA6C8"/>
                </a:solidFill>
                <a:latin typeface="Consolas"/>
              </a:rPr>
              <a:t>driver_of_the_day</a:t>
            </a:r>
            <a:r>
              <a:rPr sz="1050" b="0" i="0">
                <a:solidFill>
                  <a:srgbClr val="FFD166"/>
                </a:solidFill>
                <a:latin typeface="Consolas"/>
              </a:rPr>
              <a:t>  choice</a:t>
            </a:r>
          </a:p>
        </p:txBody>
      </p:sp>
      <p:sp>
        <p:nvSpPr>
          <p:cNvPr id="12" name="driver_of_the_day answer"/>
          <p:cNvSpPr txBox="1"/>
          <p:nvPr/>
        </p:nvSpPr>
        <p:spPr>
          <a:xfrm>
            <a:off x="5532120" y="3255264"/>
            <a:ext cx="2880360" cy="310896"/>
          </a:xfrm>
          <a:prstGeom prst="rect">
            <a:avLst/>
          </a:prstGeom>
          <a:noFill/>
        </p:spPr>
        <p:txBody>
          <a:bodyPr wrap="square" lIns="0" rIns="0" tIns="0" bIns="0" anchor="t">
            <a:noAutofit/>
          </a:bodyPr>
          <a:lstStyle/>
          <a:p>
            <a:pPr algn="l"/>
            <a:r>
              <a:rPr sz="1600" b="0" i="0">
                <a:solidFill>
                  <a:srgbClr val="ECE9F8"/>
                </a:solidFill>
                <a:latin typeface="Segoe UI Black"/>
              </a:rPr>
              <a:t>Nova</a:t>
            </a:r>
            <a:r>
              <a:rPr sz="1100" b="0" i="0">
                <a:solidFill>
                  <a:srgbClr val="ABA6C8"/>
                </a:solidFill>
                <a:latin typeface="Segoe UI"/>
              </a:rPr>
              <a:t>  0.82</a:t>
            </a:r>
          </a:p>
        </p:txBody>
      </p:sp>
      <p:sp>
        <p:nvSpPr>
          <p:cNvPr id="13" name="clean_racer question"/>
          <p:cNvSpPr txBox="1"/>
          <p:nvPr/>
        </p:nvSpPr>
        <p:spPr>
          <a:xfrm>
            <a:off x="5532120" y="3694176"/>
            <a:ext cx="2880360" cy="201168"/>
          </a:xfrm>
          <a:prstGeom prst="rect">
            <a:avLst/>
          </a:prstGeom>
          <a:noFill/>
        </p:spPr>
        <p:txBody>
          <a:bodyPr wrap="square" lIns="0" rIns="0" tIns="0" bIns="0" anchor="t">
            <a:noAutofit/>
          </a:bodyPr>
          <a:lstStyle/>
          <a:p>
            <a:pPr algn="l"/>
            <a:r>
              <a:rPr sz="1050" b="0" i="0">
                <a:solidFill>
                  <a:srgbClr val="ABA6C8"/>
                </a:solidFill>
                <a:latin typeface="Consolas"/>
              </a:rPr>
              <a:t>clean_racer</a:t>
            </a:r>
            <a:r>
              <a:rPr sz="1050" b="0" i="0">
                <a:solidFill>
                  <a:srgbClr val="FFD166"/>
                </a:solidFill>
                <a:latin typeface="Consolas"/>
              </a:rPr>
              <a:t>  noul</a:t>
            </a:r>
          </a:p>
        </p:txBody>
      </p:sp>
      <p:sp>
        <p:nvSpPr>
          <p:cNvPr id="14" name="clean_racer answer"/>
          <p:cNvSpPr txBox="1"/>
          <p:nvPr/>
        </p:nvSpPr>
        <p:spPr>
          <a:xfrm>
            <a:off x="5532120" y="3895344"/>
            <a:ext cx="2880360" cy="310896"/>
          </a:xfrm>
          <a:prstGeom prst="rect">
            <a:avLst/>
          </a:prstGeom>
          <a:noFill/>
        </p:spPr>
        <p:txBody>
          <a:bodyPr wrap="square" lIns="0" rIns="0" tIns="0" bIns="0" anchor="t">
            <a:noAutofit/>
          </a:bodyPr>
          <a:lstStyle/>
          <a:p>
            <a:pPr algn="l"/>
            <a:r>
              <a:rPr sz="1600" b="0" i="0">
                <a:solidFill>
                  <a:srgbClr val="FF5FA2"/>
                </a:solidFill>
                <a:latin typeface="Segoe UI Black"/>
              </a:rPr>
              <a:t>No</a:t>
            </a:r>
            <a:r>
              <a:rPr sz="1100" b="0" i="0">
                <a:solidFill>
                  <a:srgbClr val="ABA6C8"/>
                </a:solidFill>
                <a:latin typeface="Segoe UI"/>
              </a:rPr>
              <a:t>  p = 0.00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4ADE80"/>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15 / 21</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528316"/>
            <a:ext cx="384048" cy="384048"/>
          </a:xfrm>
          <a:prstGeom prst="rect">
            <a:avLst/>
          </a:prstGeom>
        </p:spPr>
      </p:pic>
      <p:sp>
        <p:nvSpPr>
          <p:cNvPr id="9" name="Text 9"/>
          <p:cNvSpPr txBox="1"/>
          <p:nvPr/>
        </p:nvSpPr>
        <p:spPr>
          <a:xfrm>
            <a:off x="12984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and drawing, 60 Hz</a:t>
            </a:r>
            <a:endParaRPr lang="en-US" sz="1150" dirty="0"/>
          </a:p>
        </p:txBody>
      </p:sp>
      <p:cxnSp>
        <p:nvCxnSpPr>
          <p:cNvPr id="12" name="Arrow 12"/>
          <p:cNvCxnSpPr/>
          <p:nvPr/>
        </p:nvCxnSpPr>
        <p:spPr>
          <a:xfrm>
            <a:off x="3049524" y="3086100"/>
            <a:ext cx="219456"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528316"/>
            <a:ext cx="384048" cy="384048"/>
          </a:xfrm>
          <a:prstGeom prst="rect">
            <a:avLst/>
          </a:prstGeom>
        </p:spPr>
      </p:pic>
      <p:sp>
        <p:nvSpPr>
          <p:cNvPr id="15" name="Text 15"/>
          <p:cNvSpPr txBox="1"/>
          <p:nvPr/>
        </p:nvSpPr>
        <p:spPr>
          <a:xfrm>
            <a:off x="41178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files, calls the model</a:t>
            </a:r>
            <a:endParaRPr lang="en-US" sz="1150" dirty="0"/>
          </a:p>
        </p:txBody>
      </p:sp>
      <p:cxnSp>
        <p:nvCxnSpPr>
          <p:cNvPr id="18" name="Arrow 18"/>
          <p:cNvCxnSpPr/>
          <p:nvPr/>
        </p:nvCxnSpPr>
        <p:spPr>
          <a:xfrm>
            <a:off x="5870448" y="3086100"/>
            <a:ext cx="219456"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528316"/>
            <a:ext cx="384048" cy="384048"/>
          </a:xfrm>
          <a:prstGeom prst="rect">
            <a:avLst/>
          </a:prstGeom>
        </p:spPr>
      </p:pic>
      <p:sp>
        <p:nvSpPr>
          <p:cNvPr id="21" name="Text 21"/>
          <p:cNvSpPr txBox="1"/>
          <p:nvPr/>
        </p:nvSpPr>
        <p:spPr>
          <a:xfrm>
            <a:off x="6937248" y="2528316"/>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3076956"/>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442716"/>
            <a:ext cx="195072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Called via managed identity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4ADE80"/>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16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4ADE80"/>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17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874520"/>
            <a:ext cx="3886200" cy="109728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2130552"/>
            <a:ext cx="292608" cy="292608"/>
          </a:xfrm>
          <a:prstGeom prst="rect">
            <a:avLst/>
          </a:prstGeom>
        </p:spPr>
      </p:pic>
      <p:sp>
        <p:nvSpPr>
          <p:cNvPr id="8" name="Text 5"/>
          <p:cNvSpPr/>
          <p:nvPr/>
        </p:nvSpPr>
        <p:spPr>
          <a:xfrm>
            <a:off x="1234440" y="20756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5146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Managed identity; no keys in the browser</a:t>
            </a:r>
            <a:endParaRPr lang="en-US" sz="1150" dirty="0"/>
          </a:p>
        </p:txBody>
      </p:sp>
      <p:sp>
        <p:nvSpPr>
          <p:cNvPr id="10" name="Shape 7"/>
          <p:cNvSpPr/>
          <p:nvPr/>
        </p:nvSpPr>
        <p:spPr>
          <a:xfrm>
            <a:off x="4709160" y="1874520"/>
            <a:ext cx="3886200" cy="109728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2112264"/>
            <a:ext cx="329184" cy="329184"/>
          </a:xfrm>
          <a:prstGeom prst="rect">
            <a:avLst/>
          </a:prstGeom>
        </p:spPr>
      </p:pic>
      <p:sp>
        <p:nvSpPr>
          <p:cNvPr id="12" name="Text 8"/>
          <p:cNvSpPr/>
          <p:nvPr/>
        </p:nvSpPr>
        <p:spPr>
          <a:xfrm>
            <a:off x="5394960" y="20756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5146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telemetry; every field clamped</a:t>
            </a:r>
            <a:endParaRPr lang="en-US" sz="1150" dirty="0"/>
          </a:p>
        </p:txBody>
      </p:sp>
      <p:sp>
        <p:nvSpPr>
          <p:cNvPr id="14" name="Shape 10"/>
          <p:cNvSpPr/>
          <p:nvPr/>
        </p:nvSpPr>
        <p:spPr>
          <a:xfrm>
            <a:off x="548640" y="3246120"/>
            <a:ext cx="3886200" cy="109728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83864"/>
            <a:ext cx="329184" cy="329184"/>
          </a:xfrm>
          <a:prstGeom prst="rect">
            <a:avLst/>
          </a:prstGeom>
        </p:spPr>
      </p:pic>
      <p:sp>
        <p:nvSpPr>
          <p:cNvPr id="16" name="Text 11"/>
          <p:cNvSpPr/>
          <p:nvPr/>
        </p:nvSpPr>
        <p:spPr>
          <a:xfrm>
            <a:off x="1234440" y="34472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862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in flight, 20,000 calls a day</a:t>
            </a:r>
            <a:endParaRPr lang="en-US" sz="1150" dirty="0"/>
          </a:p>
        </p:txBody>
      </p:sp>
      <p:sp>
        <p:nvSpPr>
          <p:cNvPr id="18" name="Shape 13"/>
          <p:cNvSpPr/>
          <p:nvPr/>
        </p:nvSpPr>
        <p:spPr>
          <a:xfrm>
            <a:off x="4709160" y="3246120"/>
            <a:ext cx="3886200" cy="109728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502152"/>
            <a:ext cx="292608" cy="292608"/>
          </a:xfrm>
          <a:prstGeom prst="rect">
            <a:avLst/>
          </a:prstGeom>
        </p:spPr>
      </p:pic>
      <p:sp>
        <p:nvSpPr>
          <p:cNvPr id="20" name="Text 14"/>
          <p:cNvSpPr/>
          <p:nvPr/>
        </p:nvSpPr>
        <p:spPr>
          <a:xfrm>
            <a:off x="5394960" y="3447288"/>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86200"/>
            <a:ext cx="3429000" cy="27432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Local heuristic if the model fails</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18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2971800" y="3986784"/>
            <a:ext cx="347472" cy="347472"/>
          </a:xfrm>
          <a:prstGeom prst="rect">
            <a:avLst/>
          </a:prstGeom>
        </p:spPr>
      </p:pic>
      <p:sp>
        <p:nvSpPr>
          <p:cNvPr id="16" name="Text 13"/>
          <p:cNvSpPr/>
          <p:nvPr/>
        </p:nvSpPr>
        <p:spPr>
          <a:xfrm>
            <a:off x="3520440" y="3794760"/>
            <a:ext cx="283464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(input and output)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MONTHLY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19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$77 a month, at most</a:t>
            </a:r>
            <a:endParaRPr lang="en-US" sz="3400" dirty="0"/>
          </a:p>
        </p:txBody>
      </p:sp>
      <p:graphicFrame>
        <p:nvGraphicFramePr>
          <p:cNvPr id="6" name="Monthly cost pie"/>
          <p:cNvGraphicFramePr>
            <a:graphicFrameLocks noGrp="1"/>
          </p:cNvGraphicFramePr>
          <p:nvPr/>
        </p:nvGraphicFramePr>
        <p:xfrm>
          <a:off x="685800" y="1554480"/>
          <a:ext cx="310896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7" name="Rounded Rectangle 6"/>
          <p:cNvSpPr/>
          <p:nvPr/>
        </p:nvSpPr>
        <p:spPr>
          <a:xfrm>
            <a:off x="4114800" y="1554480"/>
            <a:ext cx="4480560" cy="640080"/>
          </a:xfrm>
          <a:prstGeom prst="roundRect">
            <a:avLst>
              <a:gd name="adj" fmla="val 15000"/>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343400" y="1810512"/>
            <a:ext cx="128016" cy="128016"/>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0" y="1760220"/>
            <a:ext cx="292608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APP SERVICE  ·  P0v3 LINUX</a:t>
            </a:r>
          </a:p>
        </p:txBody>
      </p:sp>
      <p:sp>
        <p:nvSpPr>
          <p:cNvPr id="10" name="TextBox 9"/>
          <p:cNvSpPr txBox="1"/>
          <p:nvPr/>
        </p:nvSpPr>
        <p:spPr>
          <a:xfrm>
            <a:off x="7360920" y="1691640"/>
            <a:ext cx="1005840" cy="365760"/>
          </a:xfrm>
          <a:prstGeom prst="rect">
            <a:avLst/>
          </a:prstGeom>
          <a:noFill/>
        </p:spPr>
        <p:txBody>
          <a:bodyPr wrap="square" lIns="0" tIns="0" rIns="0" bIns="0" anchor="ctr">
            <a:spAutoFit/>
          </a:bodyPr>
          <a:lstStyle/>
          <a:p>
            <a:pPr algn="r"/>
            <a:r>
              <a:rPr sz="2200" b="0" i="1">
                <a:solidFill>
                  <a:srgbClr val="ECE9F8"/>
                </a:solidFill>
                <a:latin typeface="Segoe UI Black"/>
                <a:ea typeface="Segoe UI Black"/>
                <a:cs typeface="Segoe UI Black"/>
              </a:rPr>
              <a:t>$62</a:t>
            </a:r>
          </a:p>
        </p:txBody>
      </p:sp>
      <p:sp>
        <p:nvSpPr>
          <p:cNvPr id="12" name="Rounded Rectangle 11"/>
          <p:cNvSpPr/>
          <p:nvPr/>
        </p:nvSpPr>
        <p:spPr>
          <a:xfrm>
            <a:off x="4114800" y="2423160"/>
            <a:ext cx="4480560" cy="640080"/>
          </a:xfrm>
          <a:prstGeom prst="roundRect">
            <a:avLst>
              <a:gd name="adj" fmla="val 15000"/>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43400" y="2679192"/>
            <a:ext cx="128016" cy="128016"/>
          </a:xfrm>
          <a:prstGeom prst="ellipse">
            <a:avLst/>
          </a:prstGeom>
          <a:solidFill>
            <a:srgbClr val="FFD1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2628900"/>
            <a:ext cx="292608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DECISION-1 TOKENS  ·  AT THE DAILY CAP</a:t>
            </a:r>
          </a:p>
        </p:txBody>
      </p:sp>
      <p:sp>
        <p:nvSpPr>
          <p:cNvPr id="15" name="TextBox 14"/>
          <p:cNvSpPr txBox="1"/>
          <p:nvPr/>
        </p:nvSpPr>
        <p:spPr>
          <a:xfrm>
            <a:off x="7360920" y="2560320"/>
            <a:ext cx="1005840" cy="365760"/>
          </a:xfrm>
          <a:prstGeom prst="rect">
            <a:avLst/>
          </a:prstGeom>
          <a:noFill/>
        </p:spPr>
        <p:txBody>
          <a:bodyPr wrap="square" lIns="0" tIns="0" rIns="0" bIns="0" anchor="ctr">
            <a:spAutoFit/>
          </a:bodyPr>
          <a:lstStyle/>
          <a:p>
            <a:pPr algn="r"/>
            <a:r>
              <a:rPr sz="2200" b="0" i="1">
                <a:solidFill>
                  <a:srgbClr val="ECE9F8"/>
                </a:solidFill>
                <a:latin typeface="Segoe UI Black"/>
                <a:ea typeface="Segoe UI Black"/>
                <a:cs typeface="Segoe UI Black"/>
              </a:rPr>
              <a:t>$15</a:t>
            </a:r>
          </a:p>
        </p:txBody>
      </p:sp>
      <p:sp>
        <p:nvSpPr>
          <p:cNvPr id="17" name="Rounded Rectangle 16"/>
          <p:cNvSpPr/>
          <p:nvPr/>
        </p:nvSpPr>
        <p:spPr>
          <a:xfrm>
            <a:off x="4114800" y="3291840"/>
            <a:ext cx="4480560" cy="1234440"/>
          </a:xfrm>
          <a:prstGeom prst="roundRect">
            <a:avLst>
              <a:gd name="adj" fmla="val 11428"/>
            </a:avLst>
          </a:prstGeom>
          <a:solidFill>
            <a:srgbClr val="110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43400" y="3456432"/>
            <a:ext cx="4023360" cy="228600"/>
          </a:xfrm>
          <a:prstGeom prst="rect">
            <a:avLst/>
          </a:prstGeom>
          <a:noFill/>
        </p:spPr>
        <p:txBody>
          <a:bodyPr wrap="square" lIns="0" tIns="0" rIns="0" bIns="0" anchor="ctr">
            <a:spAutoFit/>
          </a:bodyPr>
          <a:lstStyle/>
          <a:p>
            <a:pPr algn="l"/>
            <a:r>
              <a:rPr sz="900" b="0" i="0" spc="150">
                <a:solidFill>
                  <a:srgbClr val="ABA6C8"/>
                </a:solidFill>
                <a:latin typeface="Segoe UI Semibold"/>
                <a:ea typeface="Segoe UI Semibold"/>
                <a:cs typeface="Segoe UI Semibold"/>
              </a:rPr>
              <a:t>TOKEN EXPECTATIONS  ·  PER MONTH</a:t>
            </a:r>
          </a:p>
        </p:txBody>
      </p:sp>
      <p:sp>
        <p:nvSpPr>
          <p:cNvPr id="19" name="TextBox 18"/>
          <p:cNvSpPr txBox="1"/>
          <p:nvPr/>
        </p:nvSpPr>
        <p:spPr>
          <a:xfrm>
            <a:off x="434340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Idle</a:t>
            </a:r>
          </a:p>
          <a:p>
            <a:pPr algn="l"/>
            <a:r>
              <a:rPr sz="1600" b="0" i="1">
                <a:solidFill>
                  <a:srgbClr val="ECE9F8"/>
                </a:solidFill>
                <a:latin typeface="Segoe UI Black"/>
                <a:ea typeface="Segoe UI Black"/>
                <a:cs typeface="Segoe UI Black"/>
              </a:rPr>
              <a:t>$0</a:t>
            </a:r>
          </a:p>
          <a:p>
            <a:pPr algn="l"/>
            <a:r>
              <a:rPr sz="950" b="0" i="0">
                <a:solidFill>
                  <a:srgbClr val="ABA6C8"/>
                </a:solidFill>
                <a:latin typeface="Segoe UI"/>
                <a:ea typeface="Segoe UI"/>
                <a:cs typeface="Segoe UI"/>
              </a:rPr>
              <a:t>$62 total</a:t>
            </a:r>
          </a:p>
        </p:txBody>
      </p:sp>
      <p:sp>
        <p:nvSpPr>
          <p:cNvPr id="20" name="TextBox 19"/>
          <p:cNvSpPr txBox="1"/>
          <p:nvPr/>
        </p:nvSpPr>
        <p:spPr>
          <a:xfrm>
            <a:off x="568452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10 races a day</a:t>
            </a:r>
          </a:p>
          <a:p>
            <a:pPr algn="l"/>
            <a:r>
              <a:rPr sz="1600" b="0" i="1">
                <a:solidFill>
                  <a:srgbClr val="ECE9F8"/>
                </a:solidFill>
                <a:latin typeface="Segoe UI Black"/>
                <a:ea typeface="Segoe UI Black"/>
                <a:cs typeface="Segoe UI Black"/>
              </a:rPr>
              <a:t>≈$4.60</a:t>
            </a:r>
          </a:p>
          <a:p>
            <a:pPr algn="l"/>
            <a:r>
              <a:rPr sz="950" b="0" i="0">
                <a:solidFill>
                  <a:srgbClr val="ABA6C8"/>
                </a:solidFill>
                <a:latin typeface="Segoe UI"/>
                <a:ea typeface="Segoe UI"/>
                <a:cs typeface="Segoe UI"/>
              </a:rPr>
              <a:t>≈$67 total</a:t>
            </a:r>
          </a:p>
        </p:txBody>
      </p:sp>
      <p:sp>
        <p:nvSpPr>
          <p:cNvPr id="21" name="TextBox 20"/>
          <p:cNvSpPr txBox="1"/>
          <p:nvPr/>
        </p:nvSpPr>
        <p:spPr>
          <a:xfrm>
            <a:off x="7025640" y="3767328"/>
            <a:ext cx="1249680" cy="548640"/>
          </a:xfrm>
          <a:prstGeom prst="rect">
            <a:avLst/>
          </a:prstGeom>
          <a:noFill/>
        </p:spPr>
        <p:txBody>
          <a:bodyPr wrap="square" lIns="0" tIns="0" rIns="0" bIns="0" anchor="t">
            <a:spAutoFit/>
          </a:bodyPr>
          <a:lstStyle/>
          <a:p>
            <a:pPr algn="l"/>
            <a:r>
              <a:rPr sz="950" b="0" i="0">
                <a:solidFill>
                  <a:srgbClr val="ABA6C8"/>
                </a:solidFill>
                <a:latin typeface="Segoe UI"/>
                <a:ea typeface="Segoe UI"/>
                <a:cs typeface="Segoe UI"/>
              </a:rPr>
              <a:t>Cap, ≈30 races a day</a:t>
            </a:r>
          </a:p>
          <a:p>
            <a:pPr algn="l"/>
            <a:r>
              <a:rPr sz="1600" b="0" i="1">
                <a:solidFill>
                  <a:srgbClr val="FFD166"/>
                </a:solidFill>
                <a:latin typeface="Segoe UI Black"/>
                <a:ea typeface="Segoe UI Black"/>
                <a:cs typeface="Segoe UI Black"/>
              </a:rPr>
              <a:t>≈$15.40</a:t>
            </a:r>
          </a:p>
          <a:p>
            <a:pPr algn="l"/>
            <a:r>
              <a:rPr sz="950" b="0" i="0">
                <a:solidFill>
                  <a:srgbClr val="ABA6C8"/>
                </a:solidFill>
                <a:latin typeface="Segoe UI"/>
                <a:ea typeface="Segoe UI"/>
                <a:cs typeface="Segoe UI"/>
              </a:rPr>
              <a:t>≈$77 total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Image preview">
            <a:extLst>
              <a:ext uri="{FF2B5EF4-FFF2-40B4-BE49-F238E27FC236}">
                <a16:creationId xmlns:a16="http://schemas.microsoft.com/office/drawing/2014/main" id="{1EA80197-9483-974C-A334-720D4653C3C1}"/>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11804689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2402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3408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5877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2402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3172968"/>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3273552"/>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520440"/>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20" name="Shape 17"/>
          <p:cNvSpPr/>
          <p:nvPr/>
        </p:nvSpPr>
        <p:spPr>
          <a:xfrm>
            <a:off x="4937760" y="22402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2997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299716"/>
            <a:ext cx="155448" cy="155448"/>
          </a:xfrm>
          <a:prstGeom prst="rect">
            <a:avLst/>
          </a:prstGeom>
        </p:spPr>
      </p:pic>
      <p:sp>
        <p:nvSpPr>
          <p:cNvPr id="23" name="Text 18"/>
          <p:cNvSpPr/>
          <p:nvPr/>
        </p:nvSpPr>
        <p:spPr>
          <a:xfrm>
            <a:off x="5897880" y="22402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6974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756916"/>
            <a:ext cx="155448" cy="155448"/>
          </a:xfrm>
          <a:prstGeom prst="rect">
            <a:avLst/>
          </a:prstGeom>
        </p:spPr>
      </p:pic>
      <p:sp>
        <p:nvSpPr>
          <p:cNvPr id="26" name="Text 20"/>
          <p:cNvSpPr/>
          <p:nvPr/>
        </p:nvSpPr>
        <p:spPr>
          <a:xfrm>
            <a:off x="5897880" y="26974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3154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3214116"/>
            <a:ext cx="155448" cy="155448"/>
          </a:xfrm>
          <a:prstGeom prst="rect">
            <a:avLst/>
          </a:prstGeom>
        </p:spPr>
      </p:pic>
      <p:sp>
        <p:nvSpPr>
          <p:cNvPr id="29" name="Text 22"/>
          <p:cNvSpPr/>
          <p:nvPr/>
        </p:nvSpPr>
        <p:spPr>
          <a:xfrm>
            <a:off x="5897880" y="3154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6118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611880"/>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6118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40690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4069080"/>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40690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096512"/>
            <a:ext cx="219456" cy="219456"/>
          </a:xfrm>
          <a:prstGeom prst="rect">
            <a:avLst/>
          </a:prstGeom>
        </p:spPr>
      </p:pic>
      <p:sp>
        <p:nvSpPr>
          <p:cNvPr id="37" name="Text 29"/>
          <p:cNvSpPr/>
          <p:nvPr/>
        </p:nvSpPr>
        <p:spPr>
          <a:xfrm>
            <a:off x="859536" y="406908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069080"/>
            <a:ext cx="2423160" cy="274320"/>
          </a:xfrm>
          <a:prstGeom prst="rect">
            <a:avLst/>
          </a:prstGeom>
          <a:solidFill>
            <a:srgbClr val="07071A">
              <a:alpha val="0"/>
            </a:srgbClr>
          </a:solidFill>
          <a:ln/>
        </p:spPr>
        <p:txBody>
          <a:bodyPr/>
          <a:lstStyle/>
          <a:p>
            <a:endParaRPr lang="en-ZA"/>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7071A"/>
        </a:solidFill>
        <a:effectLst/>
      </p:bgPr>
    </p:bg>
    <p:spTree>
      <p:nvGrpSpPr>
        <p:cNvPr id="1" name=""/>
        <p:cNvGrpSpPr/>
        <p:nvPr/>
      </p:nvGrpSpPr>
      <p:grpSpPr/>
      <p:sp>
        <p:nvSpPr>
          <p:cNvPr id="2" name="Shape 0"/>
          <p:cNvSpPr/>
          <p:nvPr/>
        </p:nvSpPr>
        <p:spPr>
          <a:xfrm>
            <a:off x="548640" y="484632"/>
            <a:ext cx="109728" cy="109728"/>
          </a:xfrm>
          <a:prstGeom prst="ellipse">
            <a:avLst/>
          </a:prstGeom>
          <a:solidFill>
            <a:srgbClr val="FF5FA2"/>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VERDICT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13 / 21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How the steward judges</a:t>
            </a:r>
            <a:endParaRPr lang="en-US" sz="3400" dirty="0"/>
          </a:p>
        </p:txBody>
      </p:sp>
      <p:sp>
        <p:nvSpPr>
          <p:cNvPr id="6" name="Shape 5"/>
          <p:cNvSpPr/>
          <p:nvPr/>
        </p:nvSpPr>
        <p:spPr>
          <a:xfrm>
            <a:off x="548640" y="1920240"/>
            <a:ext cx="512064" cy="512064"/>
          </a:xfrm>
          <a:prstGeom prst="ellipse">
            <a:avLst/>
          </a:prstGeom>
          <a:solidFill>
            <a:srgbClr val="231E5A"/>
          </a:solidFill>
          <a:ln/>
        </p:spPr>
        <p:txBody>
          <a:bodyPr/>
          <a:lstStyle/>
          <a:p>
            <a:endParaRPr lang="en-ZA"/>
          </a:p>
        </p:txBody>
      </p:sp>
      <p:sp>
        <p:nvSpPr>
          <p:cNvPr id="7" name="Text 6"/>
          <p:cNvSpPr/>
          <p:nvPr/>
        </p:nvSpPr>
        <p:spPr>
          <a:xfrm>
            <a:off x="1243584" y="1901952"/>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game describes</a:t>
            </a:r>
            <a:endParaRPr lang="en-US" sz="1600" dirty="0"/>
          </a:p>
        </p:txBody>
      </p:sp>
      <p:sp>
        <p:nvSpPr>
          <p:cNvPr id="8" name="Text 7"/>
          <p:cNvSpPr/>
          <p:nvPr/>
        </p:nvSpPr>
        <p:spPr>
          <a:xfrm>
            <a:off x="1243584" y="2249424"/>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The crash, in plain text</a:t>
            </a:r>
            <a:endParaRPr lang="en-US" sz="1200" dirty="0"/>
          </a:p>
        </p:txBody>
      </p:sp>
      <p:pic>
        <p:nvPicPr>
          <p:cNvPr id="9" name="Image 8" descr="Monitor icon"/>
          <p:cNvPicPr>
            <a:picLocks noChangeAspect="1"/>
          </p:cNvPicPr>
          <p:nvPr/>
        </p:nvPicPr>
        <p:blipFill>
          <a:blip r:embed="rId2"/>
          <a:stretch>
            <a:fillRect/>
          </a:stretch>
        </p:blipFill>
        <p:spPr>
          <a:xfrm>
            <a:off x="667512" y="2039112"/>
            <a:ext cx="274320" cy="274320"/>
          </a:xfrm>
          <a:prstGeom prst="rect">
            <a:avLst/>
          </a:prstGeom>
        </p:spPr>
      </p:pic>
      <p:sp>
        <p:nvSpPr>
          <p:cNvPr id="10" name="Shape 8"/>
          <p:cNvSpPr/>
          <p:nvPr/>
        </p:nvSpPr>
        <p:spPr>
          <a:xfrm>
            <a:off x="548640" y="2880360"/>
            <a:ext cx="512064" cy="512064"/>
          </a:xfrm>
          <a:prstGeom prst="ellipse">
            <a:avLst/>
          </a:prstGeom>
          <a:solidFill>
            <a:srgbClr val="231E5A"/>
          </a:solidFill>
          <a:ln/>
        </p:spPr>
        <p:txBody>
          <a:bodyPr/>
          <a:lstStyle/>
          <a:p>
            <a:endParaRPr lang="en-ZA"/>
          </a:p>
        </p:txBody>
      </p:sp>
      <p:sp>
        <p:nvSpPr>
          <p:cNvPr id="11" name="Text 9"/>
          <p:cNvSpPr/>
          <p:nvPr/>
        </p:nvSpPr>
        <p:spPr>
          <a:xfrm>
            <a:off x="1243584" y="2862072"/>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 judges</a:t>
            </a:r>
            <a:endParaRPr lang="en-US" sz="1600" dirty="0"/>
          </a:p>
        </p:txBody>
      </p:sp>
      <p:sp>
        <p:nvSpPr>
          <p:cNvPr id="12" name="Text 10"/>
          <p:cNvSpPr/>
          <p:nvPr/>
        </p:nvSpPr>
        <p:spPr>
          <a:xfrm>
            <a:off x="1243584" y="3209544"/>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Who caused it, how badly</a:t>
            </a:r>
            <a:endParaRPr lang="en-US" sz="1200" dirty="0"/>
          </a:p>
        </p:txBody>
      </p:sp>
      <p:pic>
        <p:nvPicPr>
          <p:cNvPr id="13" name="Image 3" descr="Brain circuit icon"/>
          <p:cNvPicPr>
            <a:picLocks noChangeAspect="1"/>
          </p:cNvPicPr>
          <p:nvPr/>
        </p:nvPicPr>
        <p:blipFill>
          <a:blip r:embed="rId3"/>
          <a:stretch>
            <a:fillRect/>
          </a:stretch>
        </p:blipFill>
        <p:spPr>
          <a:xfrm>
            <a:off x="667512" y="2999232"/>
            <a:ext cx="274320" cy="274320"/>
          </a:xfrm>
          <a:prstGeom prst="rect">
            <a:avLst/>
          </a:prstGeom>
        </p:spPr>
      </p:pic>
      <p:sp>
        <p:nvSpPr>
          <p:cNvPr id="14" name="Shape 11"/>
          <p:cNvSpPr/>
          <p:nvPr/>
        </p:nvSpPr>
        <p:spPr>
          <a:xfrm>
            <a:off x="548640" y="3840480"/>
            <a:ext cx="512064" cy="512064"/>
          </a:xfrm>
          <a:prstGeom prst="ellipse">
            <a:avLst/>
          </a:prstGeom>
          <a:solidFill>
            <a:srgbClr val="231E5A"/>
          </a:solidFill>
          <a:ln/>
        </p:spPr>
        <p:txBody>
          <a:bodyPr/>
          <a:lstStyle/>
          <a:p>
            <a:endParaRPr lang="en-ZA"/>
          </a:p>
        </p:txBody>
      </p:sp>
      <p:sp>
        <p:nvSpPr>
          <p:cNvPr id="15" name="Text 12"/>
          <p:cNvSpPr/>
          <p:nvPr/>
        </p:nvSpPr>
        <p:spPr>
          <a:xfrm>
            <a:off x="1243584" y="3822192"/>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game decides</a:t>
            </a:r>
            <a:endParaRPr lang="en-US" sz="1600" dirty="0"/>
          </a:p>
        </p:txBody>
      </p:sp>
      <p:sp>
        <p:nvSpPr>
          <p:cNvPr id="16" name="Text 13"/>
          <p:cNvSpPr/>
          <p:nvPr/>
        </p:nvSpPr>
        <p:spPr>
          <a:xfrm>
            <a:off x="1243584" y="4169664"/>
            <a:ext cx="2363216" cy="274320"/>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The penalty, by the rulebook</a:t>
            </a:r>
            <a:endParaRPr lang="en-US" sz="1200" dirty="0"/>
          </a:p>
        </p:txBody>
      </p:sp>
      <p:pic>
        <p:nvPicPr>
          <p:cNvPr id="17" name="Image 2" descr="Stopwatch icon"/>
          <p:cNvPicPr>
            <a:picLocks noChangeAspect="1"/>
          </p:cNvPicPr>
          <p:nvPr/>
        </p:nvPicPr>
        <p:blipFill>
          <a:blip r:embed="rId4"/>
          <a:stretch>
            <a:fillRect/>
          </a:stretch>
        </p:blipFill>
        <p:spPr>
          <a:xfrm>
            <a:off x="667512" y="3959352"/>
            <a:ext cx="274320" cy="274320"/>
          </a:xfrm>
          <a:prstGeom prst="rect">
            <a:avLst/>
          </a:prstGeom>
        </p:spPr>
      </p:pic>
      <p:sp>
        <p:nvSpPr>
          <p:cNvPr id="18" name="Rulebook card"/>
          <p:cNvSpPr/>
          <p:nvPr/>
        </p:nvSpPr>
        <p:spPr>
          <a:xfrm>
            <a:off x="3877056" y="1874520"/>
            <a:ext cx="4718304" cy="2523744"/>
          </a:xfrm>
          <a:prstGeom prst="roundRect">
            <a:avLst>
              <a:gd name="adj" fmla="val 6521"/>
            </a:avLst>
          </a:prstGeom>
          <a:solidFill>
            <a:srgbClr val="110F2B"/>
          </a:solidFill>
          <a:ln/>
        </p:spPr>
        <p:txBody>
          <a:bodyPr/>
          <a:lstStyle/>
          <a:p>
            <a:endParaRPr lang="en-ZA"/>
          </a:p>
        </p:txBody>
      </p:sp>
      <p:sp>
        <p:nvSpPr>
          <p:cNvPr id="19" name="Rulebook label"/>
          <p:cNvSpPr txBox="1"/>
          <p:nvPr/>
        </p:nvSpPr>
        <p:spPr>
          <a:xfrm>
            <a:off x="4059936" y="2048256"/>
            <a:ext cx="4352544" cy="201168"/>
          </a:xfrm>
          <a:prstGeom prst="rect">
            <a:avLst/>
          </a:prstGeom>
          <a:noFill/>
        </p:spPr>
        <p:txBody>
          <a:bodyPr wrap="square" lIns="0" rIns="0" tIns="0" bIns="0">
            <a:noAutofit/>
          </a:bodyPr>
          <a:lstStyle/>
          <a:p>
            <a:pPr algn="l"/>
            <a:r>
              <a:rPr sz="1050" b="0" i="0" spc="200">
                <a:solidFill>
                  <a:srgbClr val="FF5FA2"/>
                </a:solidFill>
                <a:latin typeface="Segoe UI Semibold"/>
              </a:rPr>
              <a:t>THE RULEBOOK</a:t>
            </a:r>
          </a:p>
        </p:txBody>
      </p:sp>
      <p:sp>
        <p:nvSpPr>
          <p:cNvPr id="20" name="Blame question"/>
          <p:cNvSpPr txBox="1"/>
          <p:nvPr/>
        </p:nvSpPr>
        <p:spPr>
          <a:xfrm>
            <a:off x="4059936" y="2359152"/>
            <a:ext cx="2743200" cy="201168"/>
          </a:xfrm>
          <a:prstGeom prst="rect">
            <a:avLst/>
          </a:prstGeom>
          <a:noFill/>
        </p:spPr>
        <p:txBody>
          <a:bodyPr wrap="square" lIns="0" rIns="0" tIns="0" bIns="0">
            <a:noAutofit/>
          </a:bodyPr>
          <a:lstStyle/>
          <a:p>
            <a:pPr algn="l"/>
            <a:r>
              <a:rPr sz="1050" b="0" i="0">
                <a:solidFill>
                  <a:srgbClr val="ABA6C8"/>
                </a:solidFill>
                <a:latin typeface="Consolas"/>
              </a:rPr>
              <a:t>responsible</a:t>
            </a:r>
            <a:r>
              <a:rPr sz="1050" b="0" i="0">
                <a:solidFill>
                  <a:srgbClr val="FFD166"/>
                </a:solidFill>
                <a:latin typeface="Consolas"/>
              </a:rPr>
              <a:t>  choice</a:t>
            </a:r>
          </a:p>
        </p:txBody>
      </p:sp>
      <p:sp>
        <p:nvSpPr>
          <p:cNvPr id="21" name="Blame reading"/>
          <p:cNvSpPr txBox="1"/>
          <p:nvPr/>
        </p:nvSpPr>
        <p:spPr>
          <a:xfrm>
            <a:off x="7345924" y="2359152"/>
            <a:ext cx="914400" cy="201168"/>
          </a:xfrm>
          <a:prstGeom prst="rect">
            <a:avLst/>
          </a:prstGeom>
          <a:noFill/>
        </p:spPr>
        <p:txBody>
          <a:bodyPr wrap="square" lIns="0" rIns="0" tIns="0" bIns="0">
            <a:noAutofit/>
          </a:bodyPr>
          <a:lstStyle/>
          <a:p>
            <a:pPr algn="ctr"/>
            <a:r>
              <a:rPr sz="1100" b="0" i="0">
                <a:solidFill>
                  <a:srgbClr val="3DD6FF"/>
                </a:solidFill>
                <a:latin typeface="Segoe UI Semibold"/>
              </a:rPr>
              <a:t>You 0.86</a:t>
            </a:r>
          </a:p>
        </p:txBody>
      </p:sp>
      <p:sp>
        <p:nvSpPr>
          <p:cNvPr id="22" name="Blame benefit of the doubt"/>
          <p:cNvSpPr/>
          <p:nvPr/>
        </p:nvSpPr>
        <p:spPr>
          <a:xfrm>
            <a:off x="4059936" y="2706624"/>
            <a:ext cx="2584094" cy="256032"/>
          </a:xfrm>
          <a:prstGeom prst="rect">
            <a:avLst/>
          </a:prstGeom>
          <a:solidFill>
            <a:srgbClr val="36316A"/>
          </a:solidFill>
          <a:ln>
            <a:noFill/>
          </a:ln>
        </p:spPr>
        <p:txBody>
          <a:bodyPr rtlCol="0" anchor="ctr" rIns="0" tIns="0" bIns="0" wrap="none"/>
          <a:lstStyle/>
          <a:p>
            <a:pPr algn="l"/>
            <a:r>
              <a:rPr sz="1100" b="0" i="0">
                <a:solidFill>
                  <a:srgbClr val="ECE9F8"/>
                </a:solidFill>
                <a:latin typeface="Segoe UI Semibold"/>
              </a:rPr>
              <a:t>benefit of the doubt</a:t>
            </a:r>
          </a:p>
        </p:txBody>
      </p:sp>
      <p:sp>
        <p:nvSpPr>
          <p:cNvPr id="23" name="Blame blame"/>
          <p:cNvSpPr/>
          <p:nvPr/>
        </p:nvSpPr>
        <p:spPr>
          <a:xfrm>
            <a:off x="6671462" y="2706624"/>
            <a:ext cx="1741018" cy="256032"/>
          </a:xfrm>
          <a:prstGeom prst="rect">
            <a:avLst/>
          </a:prstGeom>
          <a:solidFill>
            <a:srgbClr val="FF5FA2"/>
          </a:solidFill>
          <a:ln>
            <a:noFill/>
          </a:ln>
        </p:spPr>
        <p:txBody>
          <a:bodyPr rtlCol="0" anchor="ctr" rIns="0" tIns="0" bIns="0" wrap="none"/>
          <a:lstStyle/>
          <a:p>
            <a:pPr algn="l"/>
            <a:r>
              <a:rPr sz="1100" b="0" i="0">
                <a:solidFill>
                  <a:srgbClr val="07071A"/>
                </a:solidFill>
                <a:latin typeface="Segoe UI Semibold"/>
              </a:rPr>
              <a:t>blame</a:t>
            </a:r>
          </a:p>
        </p:txBody>
      </p:sp>
      <p:sp>
        <p:nvSpPr>
          <p:cNvPr id="24" name="Blame 0 tick"/>
          <p:cNvSpPr txBox="1"/>
          <p:nvPr/>
        </p:nvSpPr>
        <p:spPr>
          <a:xfrm>
            <a:off x="4059936" y="3008376"/>
            <a:ext cx="548640" cy="182880"/>
          </a:xfrm>
          <a:prstGeom prst="rect">
            <a:avLst/>
          </a:prstGeom>
          <a:noFill/>
        </p:spPr>
        <p:txBody>
          <a:bodyPr wrap="square" lIns="0" rIns="0" tIns="0" bIns="0">
            <a:noAutofit/>
          </a:bodyPr>
          <a:lstStyle/>
          <a:p>
            <a:pPr algn="l"/>
            <a:r>
              <a:rPr sz="1050" b="0" i="0">
                <a:solidFill>
                  <a:srgbClr val="ABA6C8"/>
                </a:solidFill>
                <a:latin typeface="Segoe UI"/>
              </a:rPr>
              <a:t>0</a:t>
            </a:r>
          </a:p>
        </p:txBody>
      </p:sp>
      <p:sp>
        <p:nvSpPr>
          <p:cNvPr id="25" name="Blame 0.60 tick"/>
          <p:cNvSpPr txBox="1"/>
          <p:nvPr/>
        </p:nvSpPr>
        <p:spPr>
          <a:xfrm>
            <a:off x="6397142" y="3008376"/>
            <a:ext cx="548640" cy="182880"/>
          </a:xfrm>
          <a:prstGeom prst="rect">
            <a:avLst/>
          </a:prstGeom>
          <a:noFill/>
        </p:spPr>
        <p:txBody>
          <a:bodyPr wrap="square" lIns="0" rIns="0" tIns="0" bIns="0">
            <a:noAutofit/>
          </a:bodyPr>
          <a:lstStyle/>
          <a:p>
            <a:pPr algn="ctr"/>
            <a:r>
              <a:rPr sz="1050" b="0" i="0">
                <a:solidFill>
                  <a:srgbClr val="ABA6C8"/>
                </a:solidFill>
                <a:latin typeface="Segoe UI"/>
              </a:rPr>
              <a:t>0.60</a:t>
            </a:r>
          </a:p>
        </p:txBody>
      </p:sp>
      <p:sp>
        <p:nvSpPr>
          <p:cNvPr id="26" name="Blame 1 tick"/>
          <p:cNvSpPr txBox="1"/>
          <p:nvPr/>
        </p:nvSpPr>
        <p:spPr>
          <a:xfrm>
            <a:off x="7863840" y="3008376"/>
            <a:ext cx="548640" cy="182880"/>
          </a:xfrm>
          <a:prstGeom prst="rect">
            <a:avLst/>
          </a:prstGeom>
          <a:noFill/>
        </p:spPr>
        <p:txBody>
          <a:bodyPr wrap="square" lIns="0" rIns="0" tIns="0" bIns="0">
            <a:noAutofit/>
          </a:bodyPr>
          <a:lstStyle/>
          <a:p>
            <a:pPr algn="r"/>
            <a:r>
              <a:rPr sz="1050" b="0" i="0">
                <a:solidFill>
                  <a:srgbClr val="ABA6C8"/>
                </a:solidFill>
                <a:latin typeface="Segoe UI"/>
              </a:rPr>
              <a:t>1</a:t>
            </a:r>
          </a:p>
        </p:txBody>
      </p:sp>
      <p:sp>
        <p:nvSpPr>
          <p:cNvPr id="27" name="Blame pointer"/>
          <p:cNvSpPr/>
          <p:nvPr/>
        </p:nvSpPr>
        <p:spPr>
          <a:xfrm rot="10800000">
            <a:off x="7734544" y="2606040"/>
            <a:ext cx="137160" cy="91440"/>
          </a:xfrm>
          <a:prstGeom prst="triangle">
            <a:avLst/>
          </a:prstGeom>
          <a:solidFill>
            <a:srgbClr val="3DD6FF"/>
          </a:solidFill>
          <a:ln/>
        </p:spPr>
        <p:txBody>
          <a:bodyPr/>
          <a:lstStyle/>
          <a:p>
            <a:endParaRPr lang="en-ZA"/>
          </a:p>
        </p:txBody>
      </p:sp>
      <p:sp>
        <p:nvSpPr>
          <p:cNvPr id="28" name="Severity question"/>
          <p:cNvSpPr txBox="1"/>
          <p:nvPr/>
        </p:nvSpPr>
        <p:spPr>
          <a:xfrm>
            <a:off x="4059936" y="3419856"/>
            <a:ext cx="2743200" cy="201168"/>
          </a:xfrm>
          <a:prstGeom prst="rect">
            <a:avLst/>
          </a:prstGeom>
          <a:noFill/>
        </p:spPr>
        <p:txBody>
          <a:bodyPr wrap="square" lIns="0" rIns="0" tIns="0" bIns="0">
            <a:noAutofit/>
          </a:bodyPr>
          <a:lstStyle/>
          <a:p>
            <a:pPr algn="l"/>
            <a:r>
              <a:rPr sz="1050" b="0" i="0">
                <a:solidFill>
                  <a:srgbClr val="ABA6C8"/>
                </a:solidFill>
                <a:latin typeface="Consolas"/>
              </a:rPr>
              <a:t>severity</a:t>
            </a:r>
            <a:r>
              <a:rPr sz="1050" b="0" i="0">
                <a:solidFill>
                  <a:srgbClr val="FFD166"/>
                </a:solidFill>
                <a:latin typeface="Consolas"/>
              </a:rPr>
              <a:t>  score</a:t>
            </a:r>
          </a:p>
        </p:txBody>
      </p:sp>
      <p:sp>
        <p:nvSpPr>
          <p:cNvPr id="29" name="Severity reading"/>
          <p:cNvSpPr txBox="1"/>
          <p:nvPr/>
        </p:nvSpPr>
        <p:spPr>
          <a:xfrm>
            <a:off x="7498080" y="3419856"/>
            <a:ext cx="914400" cy="201168"/>
          </a:xfrm>
          <a:prstGeom prst="rect">
            <a:avLst/>
          </a:prstGeom>
          <a:noFill/>
        </p:spPr>
        <p:txBody>
          <a:bodyPr wrap="square" lIns="0" rIns="0" tIns="0" bIns="0">
            <a:noAutofit/>
          </a:bodyPr>
          <a:lstStyle/>
          <a:p>
            <a:pPr algn="r"/>
            <a:r>
              <a:rPr sz="1100" b="0" i="0">
                <a:solidFill>
                  <a:srgbClr val="3DD6FF"/>
                </a:solidFill>
                <a:latin typeface="Segoe UI Semibold"/>
              </a:rPr>
              <a:t>You 1.99</a:t>
            </a:r>
          </a:p>
        </p:txBody>
      </p:sp>
      <p:sp>
        <p:nvSpPr>
          <p:cNvPr id="30" name="Severity no penalty"/>
          <p:cNvSpPr/>
          <p:nvPr/>
        </p:nvSpPr>
        <p:spPr>
          <a:xfrm>
            <a:off x="4059936" y="3767328"/>
            <a:ext cx="1713586" cy="256032"/>
          </a:xfrm>
          <a:prstGeom prst="rect">
            <a:avLst/>
          </a:prstGeom>
          <a:solidFill>
            <a:srgbClr val="36316A"/>
          </a:solidFill>
          <a:ln>
            <a:noFill/>
          </a:ln>
        </p:spPr>
        <p:txBody>
          <a:bodyPr rtlCol="0" anchor="ctr" rIns="0" tIns="0" bIns="0" wrap="none"/>
          <a:lstStyle/>
          <a:p>
            <a:pPr algn="l"/>
            <a:r>
              <a:rPr sz="1100" b="0" i="0">
                <a:solidFill>
                  <a:srgbClr val="ECE9F8"/>
                </a:solidFill>
                <a:latin typeface="Segoe UI Semibold"/>
              </a:rPr>
              <a:t>no penalty</a:t>
            </a:r>
          </a:p>
        </p:txBody>
      </p:sp>
      <p:sp>
        <p:nvSpPr>
          <p:cNvPr id="31" name="Severity +2s"/>
          <p:cNvSpPr/>
          <p:nvPr/>
        </p:nvSpPr>
        <p:spPr>
          <a:xfrm>
            <a:off x="5800954" y="3767328"/>
            <a:ext cx="1495958" cy="256032"/>
          </a:xfrm>
          <a:prstGeom prst="rect">
            <a:avLst/>
          </a:prstGeom>
          <a:solidFill>
            <a:srgbClr val="FFD166"/>
          </a:solidFill>
          <a:ln>
            <a:noFill/>
          </a:ln>
        </p:spPr>
        <p:txBody>
          <a:bodyPr rtlCol="0" anchor="ctr" rIns="0" tIns="0" bIns="0" wrap="none"/>
          <a:lstStyle/>
          <a:p>
            <a:pPr algn="l"/>
            <a:r>
              <a:rPr sz="1100" b="0" i="0">
                <a:solidFill>
                  <a:srgbClr val="07071A"/>
                </a:solidFill>
                <a:latin typeface="Segoe UI Semibold"/>
              </a:rPr>
              <a:t>+2s</a:t>
            </a:r>
          </a:p>
        </p:txBody>
      </p:sp>
      <p:sp>
        <p:nvSpPr>
          <p:cNvPr id="32" name="Severity +5s"/>
          <p:cNvSpPr/>
          <p:nvPr/>
        </p:nvSpPr>
        <p:spPr>
          <a:xfrm>
            <a:off x="7324344" y="3767328"/>
            <a:ext cx="1088136" cy="256032"/>
          </a:xfrm>
          <a:prstGeom prst="rect">
            <a:avLst/>
          </a:prstGeom>
          <a:solidFill>
            <a:srgbClr val="FF5FA2"/>
          </a:solidFill>
          <a:ln>
            <a:noFill/>
          </a:ln>
        </p:spPr>
        <p:txBody>
          <a:bodyPr rtlCol="0" anchor="ctr" rIns="0" tIns="0" bIns="0" wrap="none"/>
          <a:lstStyle/>
          <a:p>
            <a:pPr algn="l"/>
            <a:r>
              <a:rPr sz="1100" b="0" i="0">
                <a:solidFill>
                  <a:srgbClr val="07071A"/>
                </a:solidFill>
                <a:latin typeface="Segoe UI Semibold"/>
              </a:rPr>
              <a:t>+5s</a:t>
            </a:r>
          </a:p>
        </p:txBody>
      </p:sp>
      <p:sp>
        <p:nvSpPr>
          <p:cNvPr id="33" name="Severity 0 tick"/>
          <p:cNvSpPr txBox="1"/>
          <p:nvPr/>
        </p:nvSpPr>
        <p:spPr>
          <a:xfrm>
            <a:off x="4059936" y="4069080"/>
            <a:ext cx="548640" cy="182880"/>
          </a:xfrm>
          <a:prstGeom prst="rect">
            <a:avLst/>
          </a:prstGeom>
          <a:noFill/>
        </p:spPr>
        <p:txBody>
          <a:bodyPr wrap="square" lIns="0" rIns="0" tIns="0" bIns="0">
            <a:noAutofit/>
          </a:bodyPr>
          <a:lstStyle/>
          <a:p>
            <a:pPr algn="l"/>
            <a:r>
              <a:rPr sz="1050" b="0" i="0">
                <a:solidFill>
                  <a:srgbClr val="ABA6C8"/>
                </a:solidFill>
                <a:latin typeface="Segoe UI"/>
              </a:rPr>
              <a:t>0</a:t>
            </a:r>
          </a:p>
        </p:txBody>
      </p:sp>
      <p:sp>
        <p:nvSpPr>
          <p:cNvPr id="34" name="Severity 0.8 tick"/>
          <p:cNvSpPr txBox="1"/>
          <p:nvPr/>
        </p:nvSpPr>
        <p:spPr>
          <a:xfrm>
            <a:off x="5526634" y="4069080"/>
            <a:ext cx="548640" cy="182880"/>
          </a:xfrm>
          <a:prstGeom prst="rect">
            <a:avLst/>
          </a:prstGeom>
          <a:noFill/>
        </p:spPr>
        <p:txBody>
          <a:bodyPr wrap="square" lIns="0" rIns="0" tIns="0" bIns="0">
            <a:noAutofit/>
          </a:bodyPr>
          <a:lstStyle/>
          <a:p>
            <a:pPr algn="ctr"/>
            <a:r>
              <a:rPr sz="1050" b="0" i="0">
                <a:solidFill>
                  <a:srgbClr val="ABA6C8"/>
                </a:solidFill>
                <a:latin typeface="Segoe UI"/>
              </a:rPr>
              <a:t>0.8</a:t>
            </a:r>
          </a:p>
        </p:txBody>
      </p:sp>
      <p:sp>
        <p:nvSpPr>
          <p:cNvPr id="35" name="Severity 1.5 tick"/>
          <p:cNvSpPr txBox="1"/>
          <p:nvPr/>
        </p:nvSpPr>
        <p:spPr>
          <a:xfrm>
            <a:off x="7050024" y="4069080"/>
            <a:ext cx="548640" cy="182880"/>
          </a:xfrm>
          <a:prstGeom prst="rect">
            <a:avLst/>
          </a:prstGeom>
          <a:noFill/>
        </p:spPr>
        <p:txBody>
          <a:bodyPr wrap="square" lIns="0" rIns="0" tIns="0" bIns="0">
            <a:noAutofit/>
          </a:bodyPr>
          <a:lstStyle/>
          <a:p>
            <a:pPr algn="ctr"/>
            <a:r>
              <a:rPr sz="1050" b="0" i="0">
                <a:solidFill>
                  <a:srgbClr val="ABA6C8"/>
                </a:solidFill>
                <a:latin typeface="Segoe UI"/>
              </a:rPr>
              <a:t>1.5</a:t>
            </a:r>
          </a:p>
        </p:txBody>
      </p:sp>
      <p:sp>
        <p:nvSpPr>
          <p:cNvPr id="36" name="Severity 2 tick"/>
          <p:cNvSpPr txBox="1"/>
          <p:nvPr/>
        </p:nvSpPr>
        <p:spPr>
          <a:xfrm>
            <a:off x="7863840" y="4069080"/>
            <a:ext cx="548640" cy="182880"/>
          </a:xfrm>
          <a:prstGeom prst="rect">
            <a:avLst/>
          </a:prstGeom>
          <a:noFill/>
        </p:spPr>
        <p:txBody>
          <a:bodyPr wrap="square" lIns="0" rIns="0" tIns="0" bIns="0">
            <a:noAutofit/>
          </a:bodyPr>
          <a:lstStyle/>
          <a:p>
            <a:pPr algn="r"/>
            <a:r>
              <a:rPr sz="1050" b="0" i="0">
                <a:solidFill>
                  <a:srgbClr val="ABA6C8"/>
                </a:solidFill>
                <a:latin typeface="Segoe UI"/>
              </a:rPr>
              <a:t>2</a:t>
            </a:r>
          </a:p>
        </p:txBody>
      </p:sp>
      <p:sp>
        <p:nvSpPr>
          <p:cNvPr id="37" name="Severity pointer"/>
          <p:cNvSpPr/>
          <p:nvPr/>
        </p:nvSpPr>
        <p:spPr>
          <a:xfrm rot="10800000">
            <a:off x="8322137" y="3666744"/>
            <a:ext cx="137160" cy="91440"/>
          </a:xfrm>
          <a:prstGeom prst="triangle">
            <a:avLst/>
          </a:prstGeom>
          <a:solidFill>
            <a:srgbClr val="3DD6FF"/>
          </a:solidFill>
          <a:ln/>
        </p:spPr>
        <p:txBody>
          <a:bodyPr/>
          <a:lstStyle/>
          <a:p>
            <a:endParaRPr lang="en-Z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22</TotalTime>
  <Words>4682</Words>
  <Application>Microsoft Office PowerPoint</Application>
  <PresentationFormat>On-screen Show (16:9)</PresentationFormat>
  <Paragraphs>337</Paragraphs>
  <Slides>17</Slides>
  <Notes>14</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6</cp:revision>
  <dcterms:created xsi:type="dcterms:W3CDTF">2026-10-27T19:13:30Z</dcterms:created>
  <dcterms:modified xsi:type="dcterms:W3CDTF">2026-10-29T08:50:07Z</dcterms:modified>
</cp:coreProperties>
</file>