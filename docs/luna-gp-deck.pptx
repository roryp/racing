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72" r:id="rId2"/>
    <p:sldId id="257" r:id="rId4"/>
    <p:sldId id="274" r:id="rId24"/>
    <p:sldId id="258" r:id="rId5"/>
    <p:sldId id="269" r:id="rId3"/>
    <p:sldId id="259" r:id="rId6"/>
    <p:sldId id="261" r:id="rId8"/>
    <p:sldId id="268" r:id="rId9"/>
    <p:sldId id="262" r:id="rId10"/>
    <p:sldId id="260" r:id="rId7"/>
    <p:sldId id="271" r:id="rId11"/>
    <p:sldId id="275" r:id="rId25"/>
    <p:sldId id="276" r:id="rId26"/>
    <p:sldId id="267" r:id="rId13"/>
    <p:sldId id="263" r:id="rId12"/>
    <p:sldId id="264" r:id="rId14"/>
    <p:sldId id="265" r:id="rId15"/>
    <p:sldId id="273" r:id="rId16"/>
    <p:sldId id="270" r:id="rId17"/>
    <p:sldId id="266"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9" d="100"/>
          <a:sy n="99" d="100"/>
        </p:scale>
        <p:origin x="1953"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5.xml"/><Relationship Id="rId4"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5.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3.xml"/><Relationship Id="rId25" Type="http://schemas.openxmlformats.org/officeDocument/2006/relationships/slide" Target="slides/slide12.xml"/><Relationship Id="rId26"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pieChart>
        <c:varyColors val="1"/>
        <c:ser>
          <c:idx val="0"/>
          <c:order val="0"/>
          <c:tx>
            <c:strRef>
              <c:f>Sheet1!$B$1</c:f>
              <c:strCache>
                <c:ptCount val="1"/>
                <c:pt idx="0">
                  <c:v>USD per month</c:v>
                </c:pt>
              </c:strCache>
            </c:strRef>
          </c:tx>
          <c:dPt>
            <c:idx val="0"/>
            <c:bubble3D val="0"/>
            <c:spPr>
              <a:solidFill>
                <a:srgbClr val="4ADE80"/>
              </a:solidFill>
              <a:ln w="19050">
                <a:solidFill>
                  <a:srgbClr val="07071A"/>
                </a:solidFill>
              </a:ln>
            </c:spPr>
            <c:extLst>
              <c:ext xmlns:c16="http://schemas.microsoft.com/office/drawing/2014/chart" uri="{C3380CC4-5D6E-409C-BE32-E72D297353CC}">
                <c16:uniqueId val="{00000001-730B-40AB-A127-4BE4CF7C6605}"/>
              </c:ext>
            </c:extLst>
          </c:dPt>
          <c:dPt>
            <c:idx val="1"/>
            <c:bubble3D val="0"/>
            <c:spPr>
              <a:solidFill>
                <a:srgbClr val="FFD166"/>
              </a:solidFill>
              <a:ln w="19050">
                <a:solidFill>
                  <a:srgbClr val="07071A"/>
                </a:solidFill>
              </a:ln>
            </c:spPr>
            <c:extLst>
              <c:ext xmlns:c16="http://schemas.microsoft.com/office/drawing/2014/chart" uri="{C3380CC4-5D6E-409C-BE32-E72D297353CC}">
                <c16:uniqueId val="{00000003-730B-40AB-A127-4BE4CF7C6605}"/>
              </c:ext>
            </c:extLst>
          </c:dPt>
          <c:dLbls>
            <c:numFmt formatCode="0%" sourceLinked="0"/>
            <c:spPr>
              <a:noFill/>
              <a:ln>
                <a:noFill/>
              </a:ln>
              <a:effectLst/>
            </c:spPr>
            <c:txPr>
              <a:bodyPr/>
              <a:lstStyle/>
              <a:p>
                <a:pPr>
                  <a:defRPr sz="1600" b="1">
                    <a:solidFill>
                      <a:srgbClr val="07071A"/>
                    </a:solidFill>
                  </a:defRPr>
                </a:pPr>
                <a:endParaRPr lang="en-US"/>
              </a:p>
            </c:txPr>
            <c:dLblPos val="ctr"/>
            <c:showLegendKey val="0"/>
            <c:showVal val="0"/>
            <c:showCatName val="0"/>
            <c:showSerName val="0"/>
            <c:showPercent val="1"/>
            <c:showBubbleSize val="0"/>
            <c:showLeaderLines val="1"/>
            <c:extLst>
              <c:ext xmlns:c15="http://schemas.microsoft.com/office/drawing/2012/chart" uri="{CE6537A1-D6FC-4f65-9D91-7224C49458BB}"/>
            </c:extLst>
          </c:dLbls>
          <c:cat>
            <c:strRef>
              <c:f>Sheet1!$A$2:$A$3</c:f>
              <c:strCache>
                <c:ptCount val="2"/>
                <c:pt idx="0">
                  <c:v>App Service P0v3</c:v>
                </c:pt>
                <c:pt idx="1">
                  <c:v>Decision-1 tokens</c:v>
                </c:pt>
              </c:strCache>
            </c:strRef>
          </c:cat>
          <c:val>
            <c:numRef>
              <c:f>Sheet1!$B$2:$B$3</c:f>
              <c:numCache>
                <c:formatCode>General</c:formatCode>
                <c:ptCount val="2"/>
                <c:pt idx="0">
                  <c:v>62.05</c:v>
                </c:pt>
                <c:pt idx="1">
                  <c:v>15.4</c:v>
                </c:pt>
              </c:numCache>
            </c:numRef>
          </c:val>
          <c:extLst>
            <c:ext xmlns:c16="http://schemas.microsoft.com/office/drawing/2014/chart" uri="{C3380CC4-5D6E-409C-BE32-E72D297353CC}">
              <c16:uniqueId val="{00000004-730B-40AB-A127-4BE4CF7C6605}"/>
            </c:ext>
          </c:extLst>
        </c:ser>
        <c:dLbls>
          <c:dLblPos val="ctr"/>
          <c:showLegendKey val="0"/>
          <c:showVal val="0"/>
          <c:showCatName val="0"/>
          <c:showSerName val="0"/>
          <c:showPercent val="1"/>
          <c:showBubbleSize val="0"/>
          <c:showLeaderLines val="1"/>
        </c:dLbls>
        <c:firstSliceAng val="0"/>
      </c:pieChart>
    </c:plotArea>
    <c:plotVisOnly val="1"/>
    <c:dispBlanksAs val="gap"/>
    <c:showDLblsOverMax val="1"/>
  </c:chart>
  <c:txPr>
    <a:bodyPr/>
    <a:lstStyle/>
    <a:p>
      <a:pPr>
        <a:defRPr sz="1800">
          <a:latin typeface="Segoe UI Semibol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5365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Here's the deal: you drive, the engine draws the road and runs the physics, and Microsoft-Decision-1 makes the rivals' calls. The tags above the cars are its live answers.</a:t>
            </a:r>
          </a:p>
          <a:p>
            <a:r>
              <a:rPr lang="en-US" dirty="0"/>
              <a:t>The model never moves a car. It answers typed questions; game code acts on the answers.</a:t>
            </a:r>
          </a:p>
          <a:p>
            <a:r>
              <a:rPr lang="en-US" dirty="0"/>
              <a:t>The split of work: the player steers, brakes and fires nitro on keyboard or touch; the game engine draws the pseudo-3D road and runs the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Sector 1, the model. Microsoft-Decision-1 isn't a chatbot: give it a situation and closed questions, and it returns a probability for every answer, with no prose.</a:t>
            </a:r>
          </a:p>
          <a:p>
            <a:r>
              <a:rPr lang="en-US" dirty="0"/>
              <a:t>Give it a situation and closed questions; it returns a calibrated probability for every answer option. No prose, no rationale.</a:t>
            </a:r>
          </a:p>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Every question is one of three types: noul for yes or no, choice to pick one option, and score to place something on a scale. The game uses all three.</a:t>
            </a:r>
          </a:p>
          <a:p>
            <a:r>
              <a:rPr lang="en-US" dirty="0"/>
              <a:t>One request carries one state and any mix of typed questions; a single pass answers them all.</a:t>
            </a:r>
          </a:p>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Σ i · p(i) (here 0.15 + 1.0 + 0.75 = 1.90), so it can fall between levels.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The model only returns a probability; the game decides what to do with it. Each personality reads the same number differently: aggressive drivers fire early, smooth ones hold back.</a:t>
            </a:r>
          </a:p>
          <a:p>
            <a:r>
              <a:rPr lang="en-US" dirty="0"/>
              <a:t>noul is the yes/no type: the request has only instructions (criteria with true/false definitions are optional; LUNA GP doesn't send them) and the answer is one probability. The probability does not fire nitro by itself: each rival compares it with its personality threshold (aggressive and wildcard 0.50, defensive 0.60, tactical and smooth 0.65). This slide compares a hypothetical result of 0.62 against all five thresholds; it is not one answer broadcast to every car. Each rival has its own request and can receive a different probability. A boost also needs at least 34% of the tank. The debrief's clean_racer question is a noul too.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Sector 2, the race. The game asks eight questions from three places: the rivals while they race, Race Control when you touch a rival, and the debrief after the flag. We'll follow them in that order.</a:t>
            </a:r>
          </a:p>
          <a:p>
            <a:r>
              <a:rPr lang="en-US" dirty="0"/>
              <a:t>Every model call the game makes. Each of the five rivals sends its own request containing maneuver, pace and nitro; these are not five drivers batched into one request. Requests from different rivals can overlap. Each rival asks again 0.65 to 1.05 s after its last answer in traffic and 1.4 to 1.8 s otherwise. Its personality is included in the model input and also selects the game's nitro threshold.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p>
          <a:p>
            <a:r>
              <a:rPr lang="en-US" dirty="0"/>
              <a:t>Answer spaces: maneuver picks one of 6 maneuvers; pace is a 0–3 score from Conserve to Flat out; nitro and clean_racer return p(true); responsible picks the player, the rival or a racing incident; severity is a 0–2 score from Light touch to Dangerous; rating is a 0–3 score from Rookie to Champion; driver_of_the_day picks you or one of the 5 rivals.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Start with a rival. About every second, each rival sends a fresh snapshot of its own situation and asks three things: which move, how hard to push, and whether to fire nitro.</a:t>
            </a:r>
          </a:p>
          <a:p>
            <a:r>
              <a:rPr lang="en-US"/>
              <a:t>Think of this as a repeated radio check, not a chat conversation. The snapshot and answers on this slide are illustrative, not a captured model reply. The actual exchange is JSON, shown on the next slide.</a:t>
            </a:r>
          </a:p>
          <a:p>
            <a:r>
              <a:rPr lang="en-US"/>
              <a:t>The browser posts telemetry for one rival to /api/rival. It includes driver name, number and personality; lap, position and gaps; speed, top speed, road position, nitro tank and whether the boost is active; upcoming track features and elevation; nearby cars ahead, behind or alongside and their relative speeds. The previous maneuver and its age are included when available. The server validates the data, writes the state as plain text, and adds the same three fixed questions: maneuver, pace and nitro. Personality is part of the model input, not just a rule applied after the answer.</a:t>
            </a:r>
          </a:p>
          <a:p>
            <a:r>
              <a:rPr lang="en-US"/>
              <a:t>The example reply selects overtake_left, scores pace at 2.4 on the 0-to-3 scale, and returns a nitro likelihood of 0.78. Game code steers and sets the speed target. It compares the nitro likelihood with the driver's personality threshold and checks the tank before boosting; aggressive Vega's threshold is 0.50 and a boost needs at least 34% of the tank. The model does not drive the physics directly.</a:t>
            </a:r>
          </a:p>
          <a:p>
            <a:r>
              <a:rPr lang="en-US"/>
              <a:t>There is no messages array, growing chat transcript or persistent model conversation per car. Each call supplies a fresh snapshot, including the last move and its age. Each of the five rivals has its own asynchronous decision loop and at most one outstanding request; requests from different rivals can overlap. After a reply, that rival waits 0.65 to 1.05 seconds in traffic or 1.4 to 1.8 seconds otherwise before asking again. Rivals observe traffic but do not exchange plans or coordinate as a swarm. A coordinated swarm remains a future project on the closing slide.</a:t>
            </a:r>
          </a:p>
        </p:txBody>
      </p:sp>
      <p:sp>
        <p:nvSpPr>
          <p:cNvPr id="4" name="Slide Number Placeholder 3"/>
          <p:cNvSpPr>
            <a:spLocks noGrp="1"/>
          </p:cNvSpPr>
          <p:nvPr>
            <p:ph type="sldNum" sz="quarter" idx="10"/>
          </p:nvPr>
        </p:nvSpPr>
        <p:spPr/>
        <p:txBody>
          <a:bodyPr/>
          <a:lstStyle/>
          <a:p>
            <a:fld id="{3FEF4712-8A2B-4CC3-AF43-90CF52B31007}" type="slidenum">
              <a:rPr lang="en-US"/>
              <a:t>8</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On the wire, that's one request with three named questions and one response with three named answers. All three questions share one copy of the race situation.</a:t>
            </a:r>
          </a:p>
          <a:p>
            <a:r>
              <a:rPr lang="en-US" dirty="0"/>
              <a:t>This is an abbreviated JSON example (one driver's situation in, three named answers out), not a literal complete packet: the ellipses mark omitted fields. The request's model is the configured deployment name; the response's model names the underlying model. state is a few lines of plain text built from validated telemetry, including personality, race position, speed, nitro, road and nearby cars, and the previous maneuver and its age. There is no messages array or growing chat history. All three questions include instructions explaining what to decide. The maneuver question's criteria is an object mapping the six choices to descriptions: racing_line, overtake_left, overtake_right, slipstream, defend and back_off. The pace question's criteria is an ordered list of four descriptions: Conserve, Race, Push and Flat out, indexed 0 to 3. The nitro question uses type noul and instructions, without criteria. The sample answers match the previous slide and are illustrative, not a measured model response. Actual choice and score answers also contain type, confidence and probabilities; a noul answer contains its type and one probability. Usage also includes input tokens. The server compacts the answers and adds timing and token information before returning them to the browser, where game code applies them. A measured rival call used about 630 input tokens and 3 output tokens.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Speaker notes"/>
          <p:cNvSpPr>
            <a:spLocks noGrp="1"/>
          </p:cNvSpPr>
          <p:nvPr>
            <p:ph type="body" idx="1"/>
          </p:nvPr>
        </p:nvSpPr>
        <p:spPr/>
        <p:txBody>
          <a:bodyPr/>
          <a:lstStyle/>
          <a:p>
            <a:r>
              <a:rPr lang="en-US" b="1" dirty="0"/>
              <a:t>Talk track: </a:t>
            </a:r>
            <a:r>
              <a:rPr lang="en-US" dirty="0"/>
              <a:t>Steering works the same way: the model picks racing_line, and game code works out where that line is and steers toward it 60 times a second.</a:t>
            </a:r>
          </a:p>
          <a:p>
            <a:r>
              <a:t>The model selects racing_line; game code computes the target and steers at 60 Hz.</a:t>
            </a:r>
          </a:p>
          <a:p>
            <a:r>
              <a:t>A racing line is the path a driver aims to take to carry speed through a corner. A conventional racing line often uses outside entry, an inside apex and outside exit. LUNA GP does not compute that optimized route: racing_line is a simple curve-following heuristic. Positive curvature is a right-hand bend and produces a positive offset, so the target biases toward the INSIDE of the bend, not the opposite side.</a:t>
            </a:r>
          </a:p>
          <a:p>
            <a:r>
              <a:t>Provenance: screenshot from the actual LUNA GP game at https://aka.ms/racing, captured on 2026-10-28. This is a controlled in-game setup using the existing debug hook, not a naturally occurring race moment. Lyra is positioned on a right-hand bend with clear road ahead and a slower player behind. The scene was held still while one real POST /api/rival request was made for that pictured car. The response is from Microsoft-Decision-1, not the local fallback. Request and result on the slide are condensed; displayed numbers are rounded. The HUD P3 and 230 km/h belong to the human player/camera, whereas the request's P2 and 268 km/h belong to Lyra (#22).</a:t>
            </a:r>
          </a:p>
          <a:p>
            <a:r>
              <a:t>The editable yellow overlay was added only in PowerPoint. It projects the engine's target offset at sampled road positions using the game's own segment projection. It is a target line, not a model-generated polyline or a prediction of the exact vehicle trajectory. The line is interrupted where Lyra's car occludes it. The screenshot itself has no racing-line overlay in normal gameplay.</a:t>
            </a:r>
          </a:p>
          <a:p>
            <a:r>
              <a:t>Implementation: Race.driveAi sets targetOffset = clamp(track.avgCurveAhead(car.progress, 40) * 0.12, -0.55, 0.55) for racing_line. Road offsets run from -1 (left edge) to +1 (right edge), with 0 at the centre. Here average curvature is +4, so the target is +0.48. The 40 segments cover about 55.6 metres in the game's distance scale. Each 60 Hz physics step moves the car toward that target by at most (0.25 + speed / MAX_SPEED) * dt. The model chooses the maneuver, pace and nitro probability; it does not steer frame by frame or supply path coordinates.</a:t>
            </a:r>
          </a:p>
          <a:p>
            <a:r>
              <a:t>Traffic and pace: an alongside-car guard prevents steering into another car. Overtake, slipstream, defend and back_off temporarily choose different lateral targets. Pace sets topSpeed * (0.92 + 0.03 * score), then cornering, traffic, drafting and nitro modify the speed target. Rivals do not use the player's centrifugal-drift physics. The fixed-step AI controller directly adjusts their lateral offsets.</a:t>
            </a:r>
          </a:p>
          <a:p>
            <a:r>
              <a:t>Exact server-built state for this request:</a:t>
            </a:r>
          </a:p>
          <a:p>
            <a:r>
              <a:t>Arcade circuit race, 3 laps, 6 cars. Driver under review: Lyra (#22).</a:t>
            </a:r>
          </a:p>
          <a:p>
            <a:r>
              <a:t>Personality: Smooth: clean and consistent, sticks to the racing line, only overtakes when it is easy.</a:t>
            </a:r>
          </a:p>
          <a:p>
            <a:r>
              <a:t>Race situation: lap 1 of 3; running P2 of 6, 3.4 s behind the leader.</a:t>
            </a:r>
          </a:p>
          <a:p>
            <a:r>
              <a:t>Car: 268 km/h (top speed 285 km/h), in the right lane, nitro tank 72%.</a:t>
            </a:r>
          </a:p>
          <a:p>
            <a:r>
              <a:t>Track ahead: currently in a medium right-hand corner with 81 m to go, then a 47 m straight, then a gentle left-hand corner (97 m long). The road climbs.</a:t>
            </a:r>
          </a:p>
          <a:p>
            <a:r>
              <a:t>Car ahead: none within 150 m.</a:t>
            </a:r>
          </a:p>
          <a:p>
            <a:r>
              <a:t>Car behind: the human player, 24 m behind, slightly to the left, 37 km/h slower (dropping back).</a:t>
            </a:r>
          </a:p>
          <a:p>
            <a:r>
              <a:t>Typed questions: maneuver (choice: racing_line, overtake_left, overtake_right, slipstream, defend, back_off); pace (score: Conserve, Race, Push, Flat out); nitro (noul). The exact fixed instructions and criteria are built by lib/prompts.js and converted to the Foundry request shape by lib/decisions.js. No conversation history or screenshot is sent with the rival request.</a:t>
            </a:r>
          </a:p>
          <a:p>
            <a:r>
              <a:t>Captured result: model microsoft-decision-1; maneuver.choice racing_line; maneuver.probabilities.racing_line 0.9924292785227681 (99.24% on slide); maneuver.confidence 0.9909151342273217 (a different field, not the displayed choice probability). pace.score 1.4615374821905507; nitro.probability 0.09535027692543765; refusals []; latencyMs 358; inputTokens 594. Nitro is held because 0.09535 is below Lyra's 0.65 threshold even though her tank is 72%, above the 34% minimum cost.</a:t>
            </a:r>
          </a:p>
          <a:p>
            <a:r>
              <a:t>Sources: public/js/race.js (driveAi, rivalPayload), public/js/track.js (avgCurveAhead), public/js/rivals.js (cadenceMs, apply), public/js/render.js (road projection), public/js/config.js (STEP and nitro thresholds), lib/prompts.js (buildRivalRequest), lib/decisions.js (toFoundryQuestions). Live game: https://aka.ms/racing.</a:t>
            </a:r>
          </a:p>
        </p:txBody>
      </p:sp>
      <p:sp>
        <p:nvSpPr>
          <p:cNvPr id="4" name="Slide Number Placeholder"/>
          <p:cNvSpPr>
            <a:spLocks noGrp="1"/>
          </p:cNvSpPr>
          <p:nvPr>
            <p:ph type="sldNum" sz="quarter" idx="10"/>
          </p:nvPr>
        </p:nvSpPr>
        <p:spPr/>
        <p:txBody>
          <a:bodyPr/>
          <a:lstStyle/>
          <a:p>
            <a:fld id="{F81BD507-B837-4F80-9B61-285A19E1B2C3}" type="slidenum">
              <a:rPr lang="en-US"/>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Now zoom in on one rival decision as it travels between those three boxes, including what happens when the model doesn't answer in time.</a:t>
            </a:r>
          </a:p>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Sector 3, under the hood. Everything runs in one web app: the browser runs the whole game, one Node process serves it and asks the model, and Foundry answers.</a:t>
            </a:r>
          </a:p>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The web app is public, so the server protects the quota: a managed identity with no keys in the browser, validated input, hard limits, and a local fallback when the model is unavailable.</a:t>
            </a:r>
          </a:p>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p>
          <a:p>
            <a:r>
              <a:rPr lang="en-US" dirty="0"/>
              <a:t>The browser sends telemetry, never questions, and request bodies are capped at 16–32 KB (16 KB for rival and steward calls, 32 KB for the debrief). Past 16 calls in flight or the daily cap, the server answers 429. Errors fall back to a local heuristic; a 503 or four failures in a row pause rival model calls for 8 s, and then the next decision tries the model again.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Sector 4, what it costs. Tokens are what you pay for: about 630 per rival decision, so a whole three-lap race costs about one and a half cents.</a:t>
            </a:r>
          </a:p>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Even at the daily cap, tokens add only about $15 a month; the always-on web app is most of the bill.</a:t>
            </a:r>
          </a:p>
          <a:p>
            <a:r>
              <a:rPr lang="en-US" dirty="0"/>
              <a:t>Monthly cost of the hosted game, from Azure retail prices for Central US (USD). Infrastructure: one Linux App Service plan, Premium v3 P0v3, at $0.085 an hour; always on for 730 hours is $62.05 a month, whether or not anyone races. The Foundry resource has no fixed charge, the managed identity and role assignment are free, and outbound data for the small static files stays well inside the free 100 GB a month, so they add nothing. Tokens: Microsoft-Decision-1 is $0.04 per million tokens, one rate for input and output. A rival call uses about 630 input and 3 output tokens. A 3-lap race makes about 600 calls, roughly 380,000 tokens or 1.5 cents. Ten races a day is about $4.62 a month. The server stops calling the model after 20,000 calls a UTC day (DAILY_CALL_LIMIT), about 30 races and 12.7 million tokens, so tokens can't exceed about $0.51 a day or $15.40 a month. The pie shows that ceiling: $77.45 a month, 80% hosting and 20% tokens. Hosting, not the model, sets the bill; a cheaper plan or stopping the app saves more than any prompt trimming. Steward and debrief calls are a handful per race and are ignored here. Taxes, support plans and reservation discounts are not included.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Your turn: race it at aka.ms/racing, or clone the repo and run your own. The next project is turning five independent rivals into a coordinated swarm.</a:t>
            </a:r>
          </a:p>
          <a:p>
            <a:r>
              <a:rPr lang="en-US" dirty="0"/>
              <a:t>Play the hosted game at aka.ms/racing: it runs on Azure App Service and reaches the model with its managed identity, and the server caps model calls at 20,000 a day. To run your own: Node.js 20+ (no install step: there are no npm dependencies) and, for AI rivals, FOUNDRY_ENDPOINT plus an Azure CLI login with access to the Foundry resource. Without it the game still runs with offline heuristics. P or Esc pauses, M mutes. Phones and tablets get touch controls. Future project: turn the independent rivals into a coordinated swarm that shares tactics and adapts together.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LUNA GP is a night-time arcade racer I built for fun, and to show what a decision model can do when it makes every call in the race: the rivals' tactics, the stewards' rulings and your post-race debrief.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The talk runs like a race: four sectors, then the flag. First the model, then what it does in the race, then what runs under the hood, then what it costs. Then it's your turn to drive.</a:t>
            </a:r>
          </a:p>
          <a:p>
            <a:r>
              <a:rPr lang="en-US" dirty="0"/>
              <a:t>Sector 1 (cyan dot): the model and its three question types. Sector 2 (pink): the race, following the eight questions through the rivals, Race Control and the debrief. Sector 3 (green): what runs where, one decision end to end, and the guard rails. Sector 4 (yellow): what it costs. The coloured dot next to each slide's label shows which sector it belongs to; the intro slides have a white dot.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Conceptually, the situation and the question go in, the model scores each allowed answer, and your code turns those probabilities into an action with a threshold. Remember the “who is at fault?” example: it comes back in the race.</a:t>
            </a:r>
          </a:p>
          <a:p>
            <a:r>
              <a:rPr lang="en-US" dirty="0"/>
              <a:t>The infographic is conceptual: it shows the idea, not the model's exact internals.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Now the fun part. Remember “who is at fault?” Touch a rival and Race Control asks the model exactly that. Here I ran into the back of Vega: the model was 86% sure it was my fault, and it cost me 5 seconds.</a:t>
            </a:r>
          </a:p>
          <a:p>
            <a:r>
              <a:rPr lang="en-US" dirty="0"/>
              <a:t>On contact with the player, the browser sends the contact telemetry to /api/steward: the kind of contact, both speeds, how each car moved sideways in the last 0.6 s, whether you were braking, on nitro or off the track, and the rival's last maneuver. The server asks two questions: responsible (choice: player, rival or racing incident) and severity (score: 0 light touch, 1 careless, 2 dangerous). Game code penalizes the responsible driver when the model is at least 60% sure and severity is at least 0.8: +2 s, or +5 s at 1.5 and above. Each rival is reviewed at most once every 4 s, and the model judges from telemetry only, with no image.</a:t>
            </a:r>
          </a:p>
          <a:p>
            <a:r>
              <a:rPr lang="en-US" dirty="0"/>
              <a:t>Provenance: captured on 2026-10-30 from the game running locally against Microsoft-Decision-1. The contact was staged with the game's ?debug hook: Vega was placed just ahead of the player at half speed, so the player ran into the back of Vega's car. The ruling is a real model answer: responsible player 0.86, Vega 0.07, racing incident 0.07; severity 1.99 (Dangerous); +5 s for the player. The bars on the right repeat those numbers.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After the flag, one last call grades your race: a score for your rating, a choice for driver of the day and a noul for clean racer. As you can see, there's no flattery.</a:t>
            </a:r>
          </a:p>
          <a:p>
            <a:r>
              <a:rPr lang="en-US" dirty="0"/>
              <a:t>When the race is classified, the browser sends a race summary to /api/debrief: each driver's start and finish position, time, penalties, best lap, overtakes and contacts, plus your time off track, crashes, nitro boosts and top speed. One call asks three questions: rating (score: Rookie, Club racer, Pro, Champion), driver_of_the_day (choice among the six cars) and clean_racer (noul). The results screen shows each answer's probabilities.</a:t>
            </a:r>
          </a:p>
          <a:p>
            <a:r>
              <a:rPr lang="en-US" dirty="0"/>
              <a:t>Provenance: captured on 2026-10-30 after a 1-lap race against Microsoft-Decision-1, run locally, with the player's car driven by a test script (throttle held, kept near the centre of the road). It finished last with two +5 s penalties. The debrief answered in one call (418 ms, 634 input tokens): rating 0.20 of 3 (Rookie, p 0.84), driver of the day Nova (0.82), clean racer p 0.00.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The whole race in one picture: telemetry in, typed questions out, typed answers back, and the game acts on them. One model, three workflows. The AI chooses; the game executes.</a:t>
            </a:r>
          </a:p>
          <a:p>
            <a:r>
              <a:rPr lang="en-US" dirty="0"/>
              <a:t>The same flow as the sequence diagram in sector 3, plus the three workflows from sector 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jpg"/><Relationship Id="rId3"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g"/><Relationship Id="rId3" Type="http://schemas.openxmlformats.org/officeDocument/2006/relationships/notesSlide" Target="../notesSlides/notesSlide1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 Id="rId4" Type="http://schemas.openxmlformats.org/officeDocument/2006/relationships/hyperlink" Target="https://aka.ms/racing" TargetMode="External"/><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hyperlink" Target="https://github.com/roryp/rac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71A"/>
        </a:solidFill>
        <a:effectLst/>
      </p:bgPr>
    </p:bg>
    <p:spTree>
      <p:nvGrpSpPr>
        <p:cNvPr id="1" name=""/>
        <p:cNvGrpSpPr/>
        <p:nvPr/>
      </p:nvGrpSpPr>
      <p:grpSpPr>
        <a:xfrm>
          <a:off x="0" y="0"/>
          <a:ext cx="0" cy="0"/>
          <a:chOff x="0" y="0"/>
          <a:chExt cx="0" cy="0"/>
        </a:xfrm>
      </p:grpSpPr>
      <p:pic>
        <p:nvPicPr>
          <p:cNvPr id="2" name="LUNA GP cover art" descr="LUNA GP racing beneath a full moon, with two rivals and decision probability indicators"/>
          <p:cNvPicPr>
            <a:picLocks noChangeAspect="1"/>
          </p:cNvPicPr>
          <p:nvPr/>
        </p:nvPicPr>
        <p:blipFill>
          <a:blip r:embed="rId2"/>
          <a:stretch>
            <a:fillRect/>
          </a:stretch>
        </p:blipFill>
        <p:spPr>
          <a:xfrm>
            <a:off x="715000" y="0"/>
            <a:ext cx="771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ECE9F8"/>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02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3"/>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txBody>
          <a:bodyPr/>
          <a:lstStyle/>
          <a:p>
            <a:endParaRPr lang="en-ZA"/>
          </a:p>
        </p:txBody>
      </p:sp>
      <p:pic>
        <p:nvPicPr>
          <p:cNvPr id="9" name="Image 1" descr="Steering wheel icon"/>
          <p:cNvPicPr>
            <a:picLocks noChangeAspect="1"/>
          </p:cNvPicPr>
          <p:nvPr/>
        </p:nvPicPr>
        <p:blipFill>
          <a:blip r:embed="rId4"/>
          <a:stretch>
            <a:fillRect/>
          </a:stretch>
        </p:blipFill>
        <p:spPr>
          <a:xfrm>
            <a:off x="667512" y="2103120"/>
            <a:ext cx="274320" cy="274320"/>
          </a:xfrm>
          <a:prstGeom prst="rect">
            <a:avLst/>
          </a:prstGeom>
        </p:spPr>
      </p:pic>
      <p:sp>
        <p:nvSpPr>
          <p:cNvPr id="10" name="Text 6"/>
          <p:cNvSpPr/>
          <p:nvPr/>
        </p:nvSpPr>
        <p:spPr>
          <a:xfrm>
            <a:off x="1243584" y="196596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313432"/>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Steer, brake, fire nitro</a:t>
            </a:r>
            <a:endParaRPr lang="en-US" sz="1200" dirty="0"/>
          </a:p>
        </p:txBody>
      </p:sp>
      <p:sp>
        <p:nvSpPr>
          <p:cNvPr id="12" name="Shape 8"/>
          <p:cNvSpPr/>
          <p:nvPr/>
        </p:nvSpPr>
        <p:spPr>
          <a:xfrm>
            <a:off x="548640" y="2944368"/>
            <a:ext cx="512064" cy="512064"/>
          </a:xfrm>
          <a:prstGeom prst="ellipse">
            <a:avLst/>
          </a:prstGeom>
          <a:solidFill>
            <a:srgbClr val="231E5A"/>
          </a:solidFill>
          <a:ln/>
        </p:spPr>
        <p:txBody>
          <a:bodyPr/>
          <a:lstStyle/>
          <a:p>
            <a:endParaRPr lang="en-ZA"/>
          </a:p>
        </p:txBody>
      </p:sp>
      <p:pic>
        <p:nvPicPr>
          <p:cNvPr id="13" name="Image 2" descr="Gauge icon"/>
          <p:cNvPicPr>
            <a:picLocks noChangeAspect="1"/>
          </p:cNvPicPr>
          <p:nvPr/>
        </p:nvPicPr>
        <p:blipFill>
          <a:blip r:embed="rId5"/>
          <a:stretch>
            <a:fillRect/>
          </a:stretch>
        </p:blipFill>
        <p:spPr>
          <a:xfrm>
            <a:off x="667512" y="3063240"/>
            <a:ext cx="274320" cy="274320"/>
          </a:xfrm>
          <a:prstGeom prst="rect">
            <a:avLst/>
          </a:prstGeom>
        </p:spPr>
      </p:pic>
      <p:sp>
        <p:nvSpPr>
          <p:cNvPr id="14" name="Text 9"/>
          <p:cNvSpPr/>
          <p:nvPr/>
        </p:nvSpPr>
        <p:spPr>
          <a:xfrm>
            <a:off x="1243584" y="292608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273552"/>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Road and physics</a:t>
            </a:r>
            <a:endParaRPr lang="en-US" sz="1200" dirty="0"/>
          </a:p>
        </p:txBody>
      </p:sp>
      <p:sp>
        <p:nvSpPr>
          <p:cNvPr id="16" name="Shape 11"/>
          <p:cNvSpPr/>
          <p:nvPr/>
        </p:nvSpPr>
        <p:spPr>
          <a:xfrm>
            <a:off x="548640" y="3904488"/>
            <a:ext cx="512064" cy="512064"/>
          </a:xfrm>
          <a:prstGeom prst="ellipse">
            <a:avLst/>
          </a:prstGeom>
          <a:solidFill>
            <a:srgbClr val="231E5A"/>
          </a:solidFill>
          <a:ln/>
        </p:spPr>
        <p:txBody>
          <a:bodyPr/>
          <a:lstStyle/>
          <a:p>
            <a:endParaRPr lang="en-ZA"/>
          </a:p>
        </p:txBody>
      </p:sp>
      <p:pic>
        <p:nvPicPr>
          <p:cNvPr id="17" name="Image 3" descr="Brain circuit icon"/>
          <p:cNvPicPr>
            <a:picLocks noChangeAspect="1"/>
          </p:cNvPicPr>
          <p:nvPr/>
        </p:nvPicPr>
        <p:blipFill>
          <a:blip r:embed="rId6"/>
          <a:stretch>
            <a:fillRect/>
          </a:stretch>
        </p:blipFill>
        <p:spPr>
          <a:xfrm>
            <a:off x="667512" y="4023360"/>
            <a:ext cx="274320" cy="274320"/>
          </a:xfrm>
          <a:prstGeom prst="rect">
            <a:avLst/>
          </a:prstGeom>
        </p:spPr>
      </p:pic>
      <p:sp>
        <p:nvSpPr>
          <p:cNvPr id="18" name="Text 12"/>
          <p:cNvSpPr/>
          <p:nvPr/>
        </p:nvSpPr>
        <p:spPr>
          <a:xfrm>
            <a:off x="1243584" y="388620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233672"/>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71A"/>
        </a:solidFill>
        <a:effectLst/>
      </p:bgPr>
    </p:bg>
    <p:spTree>
      <p:nvGrpSpPr>
        <p:cNvPr id="1" name=""/>
        <p:cNvGrpSpPr/>
        <p:nvPr/>
      </p:nvGrpSpPr>
      <p:grpSpPr/>
      <p:sp>
        <p:nvSpPr>
          <p:cNvPr id="2" name="Shape 0"/>
          <p:cNvSpPr/>
          <p:nvPr/>
        </p:nvSpPr>
        <p:spPr>
          <a:xfrm>
            <a:off x="548640" y="484632"/>
            <a:ext cx="109728" cy="109728"/>
          </a:xfrm>
          <a:prstGeom prst="ellipse">
            <a:avLst/>
          </a:prstGeom>
          <a:solidFill>
            <a:srgbClr val="ECE9F8"/>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RACE PLAN</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03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Four sectors to the flag</a:t>
            </a:r>
            <a:endParaRPr lang="en-US" sz="3400" dirty="0"/>
          </a:p>
        </p:txBody>
      </p:sp>
      <p:sp>
        <p:nvSpPr>
          <p:cNvPr id="6" name="Road"/>
          <p:cNvSpPr/>
          <p:nvPr/>
        </p:nvSpPr>
        <p:spPr>
          <a:xfrm>
            <a:off x="548640" y="2340864"/>
            <a:ext cx="8046720" cy="292608"/>
          </a:xfrm>
          <a:prstGeom prst="roundRect">
            <a:avLst>
              <a:gd name="adj" fmla="val 50000"/>
            </a:avLst>
          </a:prstGeom>
          <a:solidFill>
            <a:srgbClr val="1A1740"/>
          </a:solidFill>
          <a:ln>
            <a:noFill/>
          </a:ln>
        </p:spPr>
        <p:txBody>
          <a:bodyPr rtlCol="0" anchor="ctr"/>
          <a:lstStyle/>
          <a:p>
            <a:pPr algn="ctr"/>
          </a:p>
        </p:txBody>
      </p:sp>
      <p:cxnSp>
        <p:nvCxnSpPr>
          <p:cNvPr id="7" name="Lane marking"/>
          <p:cNvCxnSpPr/>
          <p:nvPr/>
        </p:nvCxnSpPr>
        <p:spPr>
          <a:xfrm>
            <a:off x="777240" y="2487168"/>
            <a:ext cx="7589520" cy="0"/>
          </a:xfrm>
          <a:prstGeom prst="line">
            <a:avLst/>
          </a:prstGeom>
          <a:ln w="19050">
            <a:solidFill>
              <a:srgbClr val="6C6790"/>
            </a:solidFill>
            <a:prstDash val="dash"/>
          </a:ln>
        </p:spPr>
      </p:cxnSp>
      <p:sp>
        <p:nvSpPr>
          <p:cNvPr id="8" name="Sector 1"/>
          <p:cNvSpPr/>
          <p:nvPr/>
        </p:nvSpPr>
        <p:spPr>
          <a:xfrm>
            <a:off x="722376" y="2157984"/>
            <a:ext cx="658368" cy="658368"/>
          </a:xfrm>
          <a:prstGeom prst="ellipse">
            <a:avLst/>
          </a:prstGeom>
          <a:solidFill>
            <a:srgbClr val="3DD6FF"/>
          </a:solidFill>
          <a:ln>
            <a:noFill/>
          </a:ln>
        </p:spPr>
        <p:txBody>
          <a:bodyPr rtlCol="0" anchor="ctr" lIns="0" rIns="0" tIns="0" bIns="0"/>
          <a:lstStyle/>
          <a:p>
            <a:pPr algn="ctr"/>
            <a:r>
              <a:rPr sz="2200">
                <a:solidFill>
                  <a:srgbClr val="07071A"/>
                </a:solidFill>
                <a:latin typeface="Segoe UI Black"/>
              </a:rPr>
              <a:t>1</a:t>
            </a:r>
          </a:p>
        </p:txBody>
      </p:sp>
      <p:sp>
        <p:nvSpPr>
          <p:cNvPr id="9" name="The model label"/>
          <p:cNvSpPr txBox="1"/>
          <p:nvPr/>
        </p:nvSpPr>
        <p:spPr>
          <a:xfrm>
            <a:off x="182880" y="3090672"/>
            <a:ext cx="1737360" cy="292608"/>
          </a:xfrm>
          <a:prstGeom prst="rect">
            <a:avLst/>
          </a:prstGeom>
          <a:noFill/>
        </p:spPr>
        <p:txBody>
          <a:bodyPr wrap="square" lIns="0" rIns="0" tIns="0" bIns="0" anchor="t">
            <a:noAutofit/>
          </a:bodyPr>
          <a:lstStyle/>
          <a:p>
            <a:pPr algn="ctr"/>
            <a:r>
              <a:rPr sz="1500" b="0" i="0">
                <a:solidFill>
                  <a:srgbClr val="ECE9F8"/>
                </a:solidFill>
                <a:latin typeface="Segoe UI Black"/>
              </a:rPr>
              <a:t>The model</a:t>
            </a:r>
          </a:p>
        </p:txBody>
      </p:sp>
      <p:sp>
        <p:nvSpPr>
          <p:cNvPr id="10" name="The model detail"/>
          <p:cNvSpPr txBox="1"/>
          <p:nvPr/>
        </p:nvSpPr>
        <p:spPr>
          <a:xfrm>
            <a:off x="182880" y="3419856"/>
            <a:ext cx="1737360" cy="457200"/>
          </a:xfrm>
          <a:prstGeom prst="rect">
            <a:avLst/>
          </a:prstGeom>
          <a:noFill/>
        </p:spPr>
        <p:txBody>
          <a:bodyPr wrap="square" lIns="0" rIns="0" tIns="0" bIns="0" anchor="t">
            <a:noAutofit/>
          </a:bodyPr>
          <a:lstStyle/>
          <a:p>
            <a:pPr algn="ctr"/>
            <a:r>
              <a:rPr sz="1200" b="0" i="0">
                <a:solidFill>
                  <a:srgbClr val="ABA6C8"/>
                </a:solidFill>
                <a:latin typeface="Segoe UI"/>
              </a:rPr>
              <a:t>Questions in,</a:t>
            </a:r>
          </a:p>
          <a:p>
            <a:pPr algn="ctr"/>
            <a:r>
              <a:rPr sz="1200" b="0" i="0">
                <a:solidFill>
                  <a:srgbClr val="ABA6C8"/>
                </a:solidFill>
                <a:latin typeface="Segoe UI"/>
              </a:rPr>
              <a:t>probabilities out</a:t>
            </a:r>
          </a:p>
        </p:txBody>
      </p:sp>
      <p:sp>
        <p:nvSpPr>
          <p:cNvPr id="11" name="Sector 2"/>
          <p:cNvSpPr/>
          <p:nvPr/>
        </p:nvSpPr>
        <p:spPr>
          <a:xfrm>
            <a:off x="2482596" y="2157984"/>
            <a:ext cx="658368" cy="658368"/>
          </a:xfrm>
          <a:prstGeom prst="ellipse">
            <a:avLst/>
          </a:prstGeom>
          <a:solidFill>
            <a:srgbClr val="FF5FA2"/>
          </a:solidFill>
          <a:ln>
            <a:noFill/>
          </a:ln>
        </p:spPr>
        <p:txBody>
          <a:bodyPr rtlCol="0" anchor="ctr" lIns="0" rIns="0" tIns="0" bIns="0"/>
          <a:lstStyle/>
          <a:p>
            <a:pPr algn="ctr"/>
            <a:r>
              <a:rPr sz="2200">
                <a:solidFill>
                  <a:srgbClr val="07071A"/>
                </a:solidFill>
                <a:latin typeface="Segoe UI Black"/>
              </a:rPr>
              <a:t>2</a:t>
            </a:r>
          </a:p>
        </p:txBody>
      </p:sp>
      <p:sp>
        <p:nvSpPr>
          <p:cNvPr id="12" name="In the race label"/>
          <p:cNvSpPr txBox="1"/>
          <p:nvPr/>
        </p:nvSpPr>
        <p:spPr>
          <a:xfrm>
            <a:off x="1943100" y="3090672"/>
            <a:ext cx="1737360" cy="292608"/>
          </a:xfrm>
          <a:prstGeom prst="rect">
            <a:avLst/>
          </a:prstGeom>
          <a:noFill/>
        </p:spPr>
        <p:txBody>
          <a:bodyPr wrap="square" lIns="0" rIns="0" tIns="0" bIns="0" anchor="t">
            <a:noAutofit/>
          </a:bodyPr>
          <a:lstStyle/>
          <a:p>
            <a:pPr algn="ctr"/>
            <a:r>
              <a:rPr sz="1500" b="0" i="0">
                <a:solidFill>
                  <a:srgbClr val="ECE9F8"/>
                </a:solidFill>
                <a:latin typeface="Segoe UI Black"/>
              </a:rPr>
              <a:t>In the race</a:t>
            </a:r>
          </a:p>
        </p:txBody>
      </p:sp>
      <p:sp>
        <p:nvSpPr>
          <p:cNvPr id="13" name="In the race detail"/>
          <p:cNvSpPr txBox="1"/>
          <p:nvPr/>
        </p:nvSpPr>
        <p:spPr>
          <a:xfrm>
            <a:off x="1943100" y="3419856"/>
            <a:ext cx="1737360" cy="457200"/>
          </a:xfrm>
          <a:prstGeom prst="rect">
            <a:avLst/>
          </a:prstGeom>
          <a:noFill/>
        </p:spPr>
        <p:txBody>
          <a:bodyPr wrap="square" lIns="0" rIns="0" tIns="0" bIns="0" anchor="t">
            <a:noAutofit/>
          </a:bodyPr>
          <a:lstStyle/>
          <a:p>
            <a:pPr algn="ctr"/>
            <a:r>
              <a:rPr sz="1200" b="0" i="0">
                <a:solidFill>
                  <a:srgbClr val="ABA6C8"/>
                </a:solidFill>
                <a:latin typeface="Segoe UI"/>
              </a:rPr>
              <a:t>Rivals, stewards</a:t>
            </a:r>
          </a:p>
          <a:p>
            <a:pPr algn="ctr"/>
            <a:r>
              <a:rPr sz="1200" b="0" i="0">
                <a:solidFill>
                  <a:srgbClr val="ABA6C8"/>
                </a:solidFill>
                <a:latin typeface="Segoe UI"/>
              </a:rPr>
              <a:t>and the debrief</a:t>
            </a:r>
          </a:p>
        </p:txBody>
      </p:sp>
      <p:sp>
        <p:nvSpPr>
          <p:cNvPr id="14" name="Sector 3"/>
          <p:cNvSpPr/>
          <p:nvPr/>
        </p:nvSpPr>
        <p:spPr>
          <a:xfrm>
            <a:off x="4242816" y="2157984"/>
            <a:ext cx="658368" cy="658368"/>
          </a:xfrm>
          <a:prstGeom prst="ellipse">
            <a:avLst/>
          </a:prstGeom>
          <a:solidFill>
            <a:srgbClr val="4ADE80"/>
          </a:solidFill>
          <a:ln>
            <a:noFill/>
          </a:ln>
        </p:spPr>
        <p:txBody>
          <a:bodyPr rtlCol="0" anchor="ctr" lIns="0" rIns="0" tIns="0" bIns="0"/>
          <a:lstStyle/>
          <a:p>
            <a:pPr algn="ctr"/>
            <a:r>
              <a:rPr sz="2200">
                <a:solidFill>
                  <a:srgbClr val="07071A"/>
                </a:solidFill>
                <a:latin typeface="Segoe UI Black"/>
              </a:rPr>
              <a:t>3</a:t>
            </a:r>
          </a:p>
        </p:txBody>
      </p:sp>
      <p:sp>
        <p:nvSpPr>
          <p:cNvPr id="15" name="Under the hood label"/>
          <p:cNvSpPr txBox="1"/>
          <p:nvPr/>
        </p:nvSpPr>
        <p:spPr>
          <a:xfrm>
            <a:off x="3703320" y="3090672"/>
            <a:ext cx="1737360" cy="292608"/>
          </a:xfrm>
          <a:prstGeom prst="rect">
            <a:avLst/>
          </a:prstGeom>
          <a:noFill/>
        </p:spPr>
        <p:txBody>
          <a:bodyPr wrap="square" lIns="0" rIns="0" tIns="0" bIns="0" anchor="t">
            <a:noAutofit/>
          </a:bodyPr>
          <a:lstStyle/>
          <a:p>
            <a:pPr algn="ctr"/>
            <a:r>
              <a:rPr sz="1500" b="0" i="0">
                <a:solidFill>
                  <a:srgbClr val="ECE9F8"/>
                </a:solidFill>
                <a:latin typeface="Segoe UI Black"/>
              </a:rPr>
              <a:t>Under the hood</a:t>
            </a:r>
          </a:p>
        </p:txBody>
      </p:sp>
      <p:sp>
        <p:nvSpPr>
          <p:cNvPr id="16" name="Under the hood detail"/>
          <p:cNvSpPr txBox="1"/>
          <p:nvPr/>
        </p:nvSpPr>
        <p:spPr>
          <a:xfrm>
            <a:off x="3703320" y="3419856"/>
            <a:ext cx="1737360" cy="457200"/>
          </a:xfrm>
          <a:prstGeom prst="rect">
            <a:avLst/>
          </a:prstGeom>
          <a:noFill/>
        </p:spPr>
        <p:txBody>
          <a:bodyPr wrap="square" lIns="0" rIns="0" tIns="0" bIns="0" anchor="t">
            <a:noAutofit/>
          </a:bodyPr>
          <a:lstStyle/>
          <a:p>
            <a:pPr algn="ctr"/>
            <a:r>
              <a:rPr sz="1200" b="0" i="0">
                <a:solidFill>
                  <a:srgbClr val="ABA6C8"/>
                </a:solidFill>
                <a:latin typeface="Segoe UI"/>
              </a:rPr>
              <a:t>Browser, server</a:t>
            </a:r>
          </a:p>
          <a:p>
            <a:pPr algn="ctr"/>
            <a:r>
              <a:rPr sz="1200" b="0" i="0">
                <a:solidFill>
                  <a:srgbClr val="ABA6C8"/>
                </a:solidFill>
                <a:latin typeface="Segoe UI"/>
              </a:rPr>
              <a:t>and Foundry</a:t>
            </a:r>
          </a:p>
        </p:txBody>
      </p:sp>
      <p:sp>
        <p:nvSpPr>
          <p:cNvPr id="17" name="Sector 4"/>
          <p:cNvSpPr/>
          <p:nvPr/>
        </p:nvSpPr>
        <p:spPr>
          <a:xfrm>
            <a:off x="6003036" y="2157984"/>
            <a:ext cx="658368" cy="658368"/>
          </a:xfrm>
          <a:prstGeom prst="ellipse">
            <a:avLst/>
          </a:prstGeom>
          <a:solidFill>
            <a:srgbClr val="FFD166"/>
          </a:solidFill>
          <a:ln>
            <a:noFill/>
          </a:ln>
        </p:spPr>
        <p:txBody>
          <a:bodyPr rtlCol="0" anchor="ctr" lIns="0" rIns="0" tIns="0" bIns="0"/>
          <a:lstStyle/>
          <a:p>
            <a:pPr algn="ctr"/>
            <a:r>
              <a:rPr sz="2200">
                <a:solidFill>
                  <a:srgbClr val="07071A"/>
                </a:solidFill>
                <a:latin typeface="Segoe UI Black"/>
              </a:rPr>
              <a:t>4</a:t>
            </a:r>
          </a:p>
        </p:txBody>
      </p:sp>
      <p:sp>
        <p:nvSpPr>
          <p:cNvPr id="18" name="What it costs label"/>
          <p:cNvSpPr txBox="1"/>
          <p:nvPr/>
        </p:nvSpPr>
        <p:spPr>
          <a:xfrm>
            <a:off x="5463540" y="3090672"/>
            <a:ext cx="1737360" cy="292608"/>
          </a:xfrm>
          <a:prstGeom prst="rect">
            <a:avLst/>
          </a:prstGeom>
          <a:noFill/>
        </p:spPr>
        <p:txBody>
          <a:bodyPr wrap="square" lIns="0" rIns="0" tIns="0" bIns="0" anchor="t">
            <a:noAutofit/>
          </a:bodyPr>
          <a:lstStyle/>
          <a:p>
            <a:pPr algn="ctr"/>
            <a:r>
              <a:rPr sz="1500" b="0" i="0">
                <a:solidFill>
                  <a:srgbClr val="ECE9F8"/>
                </a:solidFill>
                <a:latin typeface="Segoe UI Black"/>
              </a:rPr>
              <a:t>What it costs</a:t>
            </a:r>
          </a:p>
        </p:txBody>
      </p:sp>
      <p:sp>
        <p:nvSpPr>
          <p:cNvPr id="19" name="What it costs detail"/>
          <p:cNvSpPr txBox="1"/>
          <p:nvPr/>
        </p:nvSpPr>
        <p:spPr>
          <a:xfrm>
            <a:off x="5463540" y="3419856"/>
            <a:ext cx="1737360" cy="457200"/>
          </a:xfrm>
          <a:prstGeom prst="rect">
            <a:avLst/>
          </a:prstGeom>
          <a:noFill/>
        </p:spPr>
        <p:txBody>
          <a:bodyPr wrap="square" lIns="0" rIns="0" tIns="0" bIns="0" anchor="t">
            <a:noAutofit/>
          </a:bodyPr>
          <a:lstStyle/>
          <a:p>
            <a:pPr algn="ctr"/>
            <a:r>
              <a:rPr sz="1200" b="0" i="0">
                <a:solidFill>
                  <a:srgbClr val="ABA6C8"/>
                </a:solidFill>
                <a:latin typeface="Segoe UI"/>
              </a:rPr>
              <a:t>Per race</a:t>
            </a:r>
          </a:p>
          <a:p>
            <a:pPr algn="ctr"/>
            <a:r>
              <a:rPr sz="1200" b="0" i="0">
                <a:solidFill>
                  <a:srgbClr val="ABA6C8"/>
                </a:solidFill>
                <a:latin typeface="Segoe UI"/>
              </a:rPr>
              <a:t>and per month</a:t>
            </a:r>
          </a:p>
        </p:txBody>
      </p:sp>
      <p:grpSp>
        <p:nvGrpSpPr>
          <p:cNvPr id="20" name="Chequered flag"/>
          <p:cNvGrpSpPr/>
          <p:nvPr/>
        </p:nvGrpSpPr>
        <p:grpSpPr>
          <a:xfrm>
            <a:off x="7763256" y="2157984"/>
            <a:ext cx="658368" cy="658368"/>
            <a:chOff x="7763256" y="2157984"/>
            <a:chExt cx="658368" cy="658368"/>
          </a:xfrm>
        </p:grpSpPr>
        <p:sp>
          <p:nvSpPr>
            <p:cNvPr id="21" name="Flag square 00"/>
            <p:cNvSpPr/>
            <p:nvPr/>
          </p:nvSpPr>
          <p:spPr>
            <a:xfrm>
              <a:off x="7763256" y="2157984"/>
              <a:ext cx="164592" cy="164592"/>
            </a:xfrm>
            <a:prstGeom prst="rect">
              <a:avLst/>
            </a:prstGeom>
            <a:solidFill>
              <a:srgbClr val="ECE9F8"/>
            </a:solidFill>
            <a:ln>
              <a:noFill/>
            </a:ln>
          </p:spPr>
          <p:txBody>
            <a:bodyPr rtlCol="0" anchor="ctr"/>
            <a:lstStyle/>
            <a:p>
              <a:pPr algn="ctr"/>
            </a:p>
          </p:txBody>
        </p:sp>
        <p:sp>
          <p:nvSpPr>
            <p:cNvPr id="22" name="Flag square 01"/>
            <p:cNvSpPr/>
            <p:nvPr/>
          </p:nvSpPr>
          <p:spPr>
            <a:xfrm>
              <a:off x="7927848" y="2157984"/>
              <a:ext cx="164592" cy="164592"/>
            </a:xfrm>
            <a:prstGeom prst="rect">
              <a:avLst/>
            </a:prstGeom>
            <a:solidFill>
              <a:srgbClr val="07071A"/>
            </a:solidFill>
            <a:ln>
              <a:noFill/>
            </a:ln>
          </p:spPr>
          <p:txBody>
            <a:bodyPr rtlCol="0" anchor="ctr"/>
            <a:lstStyle/>
            <a:p>
              <a:pPr algn="ctr"/>
            </a:p>
          </p:txBody>
        </p:sp>
        <p:sp>
          <p:nvSpPr>
            <p:cNvPr id="23" name="Flag square 02"/>
            <p:cNvSpPr/>
            <p:nvPr/>
          </p:nvSpPr>
          <p:spPr>
            <a:xfrm>
              <a:off x="8092440" y="2157984"/>
              <a:ext cx="164592" cy="164592"/>
            </a:xfrm>
            <a:prstGeom prst="rect">
              <a:avLst/>
            </a:prstGeom>
            <a:solidFill>
              <a:srgbClr val="ECE9F8"/>
            </a:solidFill>
            <a:ln>
              <a:noFill/>
            </a:ln>
          </p:spPr>
          <p:txBody>
            <a:bodyPr rtlCol="0" anchor="ctr"/>
            <a:lstStyle/>
            <a:p>
              <a:pPr algn="ctr"/>
            </a:p>
          </p:txBody>
        </p:sp>
        <p:sp>
          <p:nvSpPr>
            <p:cNvPr id="24" name="Flag square 03"/>
            <p:cNvSpPr/>
            <p:nvPr/>
          </p:nvSpPr>
          <p:spPr>
            <a:xfrm>
              <a:off x="8257032" y="2157984"/>
              <a:ext cx="164592" cy="164592"/>
            </a:xfrm>
            <a:prstGeom prst="rect">
              <a:avLst/>
            </a:prstGeom>
            <a:solidFill>
              <a:srgbClr val="07071A"/>
            </a:solidFill>
            <a:ln>
              <a:noFill/>
            </a:ln>
          </p:spPr>
          <p:txBody>
            <a:bodyPr rtlCol="0" anchor="ctr"/>
            <a:lstStyle/>
            <a:p>
              <a:pPr algn="ctr"/>
            </a:p>
          </p:txBody>
        </p:sp>
        <p:sp>
          <p:nvSpPr>
            <p:cNvPr id="25" name="Flag square 10"/>
            <p:cNvSpPr/>
            <p:nvPr/>
          </p:nvSpPr>
          <p:spPr>
            <a:xfrm>
              <a:off x="7763256" y="2322576"/>
              <a:ext cx="164592" cy="164592"/>
            </a:xfrm>
            <a:prstGeom prst="rect">
              <a:avLst/>
            </a:prstGeom>
            <a:solidFill>
              <a:srgbClr val="07071A"/>
            </a:solidFill>
            <a:ln>
              <a:noFill/>
            </a:ln>
          </p:spPr>
          <p:txBody>
            <a:bodyPr rtlCol="0" anchor="ctr"/>
            <a:lstStyle/>
            <a:p>
              <a:pPr algn="ctr"/>
            </a:p>
          </p:txBody>
        </p:sp>
        <p:sp>
          <p:nvSpPr>
            <p:cNvPr id="26" name="Flag square 11"/>
            <p:cNvSpPr/>
            <p:nvPr/>
          </p:nvSpPr>
          <p:spPr>
            <a:xfrm>
              <a:off x="7927848" y="2322576"/>
              <a:ext cx="164592" cy="164592"/>
            </a:xfrm>
            <a:prstGeom prst="rect">
              <a:avLst/>
            </a:prstGeom>
            <a:solidFill>
              <a:srgbClr val="ECE9F8"/>
            </a:solidFill>
            <a:ln>
              <a:noFill/>
            </a:ln>
          </p:spPr>
          <p:txBody>
            <a:bodyPr rtlCol="0" anchor="ctr"/>
            <a:lstStyle/>
            <a:p>
              <a:pPr algn="ctr"/>
            </a:p>
          </p:txBody>
        </p:sp>
        <p:sp>
          <p:nvSpPr>
            <p:cNvPr id="27" name="Flag square 12"/>
            <p:cNvSpPr/>
            <p:nvPr/>
          </p:nvSpPr>
          <p:spPr>
            <a:xfrm>
              <a:off x="8092440" y="2322576"/>
              <a:ext cx="164592" cy="164592"/>
            </a:xfrm>
            <a:prstGeom prst="rect">
              <a:avLst/>
            </a:prstGeom>
            <a:solidFill>
              <a:srgbClr val="07071A"/>
            </a:solidFill>
            <a:ln>
              <a:noFill/>
            </a:ln>
          </p:spPr>
          <p:txBody>
            <a:bodyPr rtlCol="0" anchor="ctr"/>
            <a:lstStyle/>
            <a:p>
              <a:pPr algn="ctr"/>
            </a:p>
          </p:txBody>
        </p:sp>
        <p:sp>
          <p:nvSpPr>
            <p:cNvPr id="28" name="Flag square 13"/>
            <p:cNvSpPr/>
            <p:nvPr/>
          </p:nvSpPr>
          <p:spPr>
            <a:xfrm>
              <a:off x="8257032" y="2322576"/>
              <a:ext cx="164592" cy="164592"/>
            </a:xfrm>
            <a:prstGeom prst="rect">
              <a:avLst/>
            </a:prstGeom>
            <a:solidFill>
              <a:srgbClr val="ECE9F8"/>
            </a:solidFill>
            <a:ln>
              <a:noFill/>
            </a:ln>
          </p:spPr>
          <p:txBody>
            <a:bodyPr rtlCol="0" anchor="ctr"/>
            <a:lstStyle/>
            <a:p>
              <a:pPr algn="ctr"/>
            </a:p>
          </p:txBody>
        </p:sp>
        <p:sp>
          <p:nvSpPr>
            <p:cNvPr id="29" name="Flag square 20"/>
            <p:cNvSpPr/>
            <p:nvPr/>
          </p:nvSpPr>
          <p:spPr>
            <a:xfrm>
              <a:off x="7763256" y="2487168"/>
              <a:ext cx="164592" cy="164592"/>
            </a:xfrm>
            <a:prstGeom prst="rect">
              <a:avLst/>
            </a:prstGeom>
            <a:solidFill>
              <a:srgbClr val="ECE9F8"/>
            </a:solidFill>
            <a:ln>
              <a:noFill/>
            </a:ln>
          </p:spPr>
          <p:txBody>
            <a:bodyPr rtlCol="0" anchor="ctr"/>
            <a:lstStyle/>
            <a:p>
              <a:pPr algn="ctr"/>
            </a:p>
          </p:txBody>
        </p:sp>
        <p:sp>
          <p:nvSpPr>
            <p:cNvPr id="30" name="Flag square 21"/>
            <p:cNvSpPr/>
            <p:nvPr/>
          </p:nvSpPr>
          <p:spPr>
            <a:xfrm>
              <a:off x="7927848" y="2487168"/>
              <a:ext cx="164592" cy="164592"/>
            </a:xfrm>
            <a:prstGeom prst="rect">
              <a:avLst/>
            </a:prstGeom>
            <a:solidFill>
              <a:srgbClr val="07071A"/>
            </a:solidFill>
            <a:ln>
              <a:noFill/>
            </a:ln>
          </p:spPr>
          <p:txBody>
            <a:bodyPr rtlCol="0" anchor="ctr"/>
            <a:lstStyle/>
            <a:p>
              <a:pPr algn="ctr"/>
            </a:p>
          </p:txBody>
        </p:sp>
        <p:sp>
          <p:nvSpPr>
            <p:cNvPr id="31" name="Flag square 22"/>
            <p:cNvSpPr/>
            <p:nvPr/>
          </p:nvSpPr>
          <p:spPr>
            <a:xfrm>
              <a:off x="8092440" y="2487168"/>
              <a:ext cx="164592" cy="164592"/>
            </a:xfrm>
            <a:prstGeom prst="rect">
              <a:avLst/>
            </a:prstGeom>
            <a:solidFill>
              <a:srgbClr val="ECE9F8"/>
            </a:solidFill>
            <a:ln>
              <a:noFill/>
            </a:ln>
          </p:spPr>
          <p:txBody>
            <a:bodyPr rtlCol="0" anchor="ctr"/>
            <a:lstStyle/>
            <a:p>
              <a:pPr algn="ctr"/>
            </a:p>
          </p:txBody>
        </p:sp>
        <p:sp>
          <p:nvSpPr>
            <p:cNvPr id="32" name="Flag square 23"/>
            <p:cNvSpPr/>
            <p:nvPr/>
          </p:nvSpPr>
          <p:spPr>
            <a:xfrm>
              <a:off x="8257032" y="2487168"/>
              <a:ext cx="164592" cy="164592"/>
            </a:xfrm>
            <a:prstGeom prst="rect">
              <a:avLst/>
            </a:prstGeom>
            <a:solidFill>
              <a:srgbClr val="07071A"/>
            </a:solidFill>
            <a:ln>
              <a:noFill/>
            </a:ln>
          </p:spPr>
          <p:txBody>
            <a:bodyPr rtlCol="0" anchor="ctr"/>
            <a:lstStyle/>
            <a:p>
              <a:pPr algn="ctr"/>
            </a:p>
          </p:txBody>
        </p:sp>
        <p:sp>
          <p:nvSpPr>
            <p:cNvPr id="33" name="Flag square 30"/>
            <p:cNvSpPr/>
            <p:nvPr/>
          </p:nvSpPr>
          <p:spPr>
            <a:xfrm>
              <a:off x="7763256" y="2651760"/>
              <a:ext cx="164592" cy="164592"/>
            </a:xfrm>
            <a:prstGeom prst="rect">
              <a:avLst/>
            </a:prstGeom>
            <a:solidFill>
              <a:srgbClr val="07071A"/>
            </a:solidFill>
            <a:ln>
              <a:noFill/>
            </a:ln>
          </p:spPr>
          <p:txBody>
            <a:bodyPr rtlCol="0" anchor="ctr"/>
            <a:lstStyle/>
            <a:p>
              <a:pPr algn="ctr"/>
            </a:p>
          </p:txBody>
        </p:sp>
        <p:sp>
          <p:nvSpPr>
            <p:cNvPr id="34" name="Flag square 31"/>
            <p:cNvSpPr/>
            <p:nvPr/>
          </p:nvSpPr>
          <p:spPr>
            <a:xfrm>
              <a:off x="7927848" y="2651760"/>
              <a:ext cx="164592" cy="164592"/>
            </a:xfrm>
            <a:prstGeom prst="rect">
              <a:avLst/>
            </a:prstGeom>
            <a:solidFill>
              <a:srgbClr val="ECE9F8"/>
            </a:solidFill>
            <a:ln>
              <a:noFill/>
            </a:ln>
          </p:spPr>
          <p:txBody>
            <a:bodyPr rtlCol="0" anchor="ctr"/>
            <a:lstStyle/>
            <a:p>
              <a:pPr algn="ctr"/>
            </a:p>
          </p:txBody>
        </p:sp>
        <p:sp>
          <p:nvSpPr>
            <p:cNvPr id="35" name="Flag square 32"/>
            <p:cNvSpPr/>
            <p:nvPr/>
          </p:nvSpPr>
          <p:spPr>
            <a:xfrm>
              <a:off x="8092440" y="2651760"/>
              <a:ext cx="164592" cy="164592"/>
            </a:xfrm>
            <a:prstGeom prst="rect">
              <a:avLst/>
            </a:prstGeom>
            <a:solidFill>
              <a:srgbClr val="07071A"/>
            </a:solidFill>
            <a:ln>
              <a:noFill/>
            </a:ln>
          </p:spPr>
          <p:txBody>
            <a:bodyPr rtlCol="0" anchor="ctr"/>
            <a:lstStyle/>
            <a:p>
              <a:pPr algn="ctr"/>
            </a:p>
          </p:txBody>
        </p:sp>
        <p:sp>
          <p:nvSpPr>
            <p:cNvPr id="36" name="Flag square 33"/>
            <p:cNvSpPr/>
            <p:nvPr/>
          </p:nvSpPr>
          <p:spPr>
            <a:xfrm>
              <a:off x="8257032" y="2651760"/>
              <a:ext cx="164592" cy="164592"/>
            </a:xfrm>
            <a:prstGeom prst="rect">
              <a:avLst/>
            </a:prstGeom>
            <a:solidFill>
              <a:srgbClr val="ECE9F8"/>
            </a:solidFill>
            <a:ln>
              <a:noFill/>
            </a:ln>
          </p:spPr>
          <p:txBody>
            <a:bodyPr rtlCol="0" anchor="ctr"/>
            <a:lstStyle/>
            <a:p>
              <a:pPr algn="ctr"/>
            </a:p>
          </p:txBody>
        </p:sp>
        <p:sp>
          <p:nvSpPr>
            <p:cNvPr id="37" name="Flag edge"/>
            <p:cNvSpPr/>
            <p:nvPr/>
          </p:nvSpPr>
          <p:spPr>
            <a:xfrm>
              <a:off x="7763256" y="2157984"/>
              <a:ext cx="658368" cy="658368"/>
            </a:xfrm>
            <a:prstGeom prst="rect">
              <a:avLst/>
            </a:prstGeom>
            <a:noFill/>
            <a:ln w="15875">
              <a:solidFill>
                <a:srgbClr val="ECE9F8"/>
              </a:solidFill>
            </a:ln>
          </p:spPr>
          <p:txBody>
            <a:bodyPr rtlCol="0" anchor="ctr"/>
            <a:lstStyle/>
            <a:p>
              <a:pPr algn="ctr"/>
            </a:p>
          </p:txBody>
        </p:sp>
      </p:grpSp>
      <p:sp>
        <p:nvSpPr>
          <p:cNvPr id="38" name="Your turn label"/>
          <p:cNvSpPr txBox="1"/>
          <p:nvPr/>
        </p:nvSpPr>
        <p:spPr>
          <a:xfrm>
            <a:off x="7223760" y="3090672"/>
            <a:ext cx="1737360" cy="292608"/>
          </a:xfrm>
          <a:prstGeom prst="rect">
            <a:avLst/>
          </a:prstGeom>
          <a:noFill/>
        </p:spPr>
        <p:txBody>
          <a:bodyPr wrap="square" lIns="0" rIns="0" tIns="0" bIns="0" anchor="t">
            <a:noAutofit/>
          </a:bodyPr>
          <a:lstStyle/>
          <a:p>
            <a:pPr algn="ctr"/>
            <a:r>
              <a:rPr sz="1500" b="0" i="0">
                <a:solidFill>
                  <a:srgbClr val="ECE9F8"/>
                </a:solidFill>
                <a:latin typeface="Segoe UI Black"/>
              </a:rPr>
              <a:t>Your turn</a:t>
            </a:r>
          </a:p>
        </p:txBody>
      </p:sp>
      <p:sp>
        <p:nvSpPr>
          <p:cNvPr id="39" name="Your turn detail"/>
          <p:cNvSpPr txBox="1"/>
          <p:nvPr/>
        </p:nvSpPr>
        <p:spPr>
          <a:xfrm>
            <a:off x="7223760" y="3419856"/>
            <a:ext cx="1737360" cy="457200"/>
          </a:xfrm>
          <a:prstGeom prst="rect">
            <a:avLst/>
          </a:prstGeom>
          <a:noFill/>
        </p:spPr>
        <p:txBody>
          <a:bodyPr wrap="square" lIns="0" rIns="0" tIns="0" bIns="0" anchor="t">
            <a:noAutofit/>
          </a:bodyPr>
          <a:lstStyle/>
          <a:p>
            <a:pPr algn="ctr"/>
            <a:r>
              <a:rPr sz="1200" b="0" i="0">
                <a:solidFill>
                  <a:srgbClr val="3DD6FF"/>
                </a:solidFill>
                <a:latin typeface="Segoe UI"/>
              </a:rPr>
              <a:t>aka.ms/racing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3DD6FF"/>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04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783080"/>
            <a:ext cx="8046720" cy="411480"/>
          </a:xfrm>
          <a:prstGeom prst="rect">
            <a:avLst/>
          </a:prstGeom>
          <a:noFill/>
          <a:ln/>
        </p:spPr>
        <p:txBody>
          <a:bodyPr wrap="square" lIns="0" tIns="0" rIns="0" bIns="0" rtlCol="0" anchor="t"/>
          <a:lstStyle/>
          <a:p>
            <a:pPr marL="0" indent="0">
              <a:buNone/>
            </a:pPr>
            <a:r>
              <a:rPr lang="en-US" sz="1800" dirty="0">
                <a:solidFill>
                  <a:srgbClr val="ECE9F8"/>
                </a:solidFill>
                <a:latin typeface="Segoe UI" pitchFamily="34" charset="0"/>
                <a:ea typeface="Segoe UI" pitchFamily="34" charset="-122"/>
                <a:cs typeface="Segoe UI" pitchFamily="34" charset="-120"/>
              </a:rPr>
              <a:t>Closed questions in. </a:t>
            </a:r>
            <a:r>
              <a:rPr lang="en-US" sz="1800" b="1" dirty="0">
                <a:solidFill>
                  <a:srgbClr val="FFD166"/>
                </a:solidFill>
                <a:latin typeface="Segoe UI" pitchFamily="34" charset="0"/>
                <a:ea typeface="Segoe UI" pitchFamily="34" charset="-122"/>
                <a:cs typeface="Segoe UI" pitchFamily="34" charset="-120"/>
              </a:rPr>
              <a:t>Calibrated probabilities</a:t>
            </a:r>
            <a:r>
              <a:rPr lang="en-US" sz="1800" dirty="0">
                <a:solidFill>
                  <a:srgbClr val="ECE9F8"/>
                </a:solidFill>
                <a:latin typeface="Segoe UI" pitchFamily="34" charset="0"/>
                <a:ea typeface="Segoe UI" pitchFamily="34" charset="-122"/>
                <a:cs typeface="Segoe UI" pitchFamily="34" charset="-120"/>
              </a:rPr>
              <a:t> out.</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txBody>
          <a:bodyPr/>
          <a:lstStyle/>
          <a:p>
            <a:endParaRPr lang="en-ZA"/>
          </a:p>
        </p:txBody>
      </p:sp>
      <p:sp>
        <p:nvSpPr>
          <p:cNvPr id="8" name="Text 6"/>
          <p:cNvSpPr/>
          <p:nvPr/>
        </p:nvSpPr>
        <p:spPr>
          <a:xfrm>
            <a:off x="77724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txBody>
          <a:bodyPr/>
          <a:lstStyle/>
          <a:p>
            <a:endParaRPr lang="en-ZA"/>
          </a:p>
        </p:txBody>
      </p:sp>
      <p:sp>
        <p:nvSpPr>
          <p:cNvPr id="11" name="Text 9"/>
          <p:cNvSpPr/>
          <p:nvPr/>
        </p:nvSpPr>
        <p:spPr>
          <a:xfrm>
            <a:off x="355092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txBody>
          <a:bodyPr/>
          <a:lstStyle/>
          <a:p>
            <a:endParaRPr lang="en-ZA"/>
          </a:p>
        </p:txBody>
      </p:sp>
      <p:sp>
        <p:nvSpPr>
          <p:cNvPr id="14" name="Text 12"/>
          <p:cNvSpPr/>
          <p:nvPr/>
        </p:nvSpPr>
        <p:spPr>
          <a:xfrm>
            <a:off x="632460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txBody>
          <a:bodyPr/>
          <a:lstStyle/>
          <a:p>
            <a:endParaRPr lang="en-ZA"/>
          </a:p>
        </p:txBody>
      </p:sp>
      <p:sp>
        <p:nvSpPr>
          <p:cNvPr id="17" name="Text 15"/>
          <p:cNvSpPr/>
          <p:nvPr/>
        </p:nvSpPr>
        <p:spPr>
          <a:xfrm>
            <a:off x="777240" y="387248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marL="0" indent="0">
              <a:buNone/>
            </a:pPr>
            <a:r>
              <a:rPr lang="en-US" sz="1200" dirty="0">
                <a:solidFill>
                  <a:srgbClr val="FFD166"/>
                </a:solidFill>
                <a:latin typeface="Consolas" pitchFamily="34" charset="0"/>
                <a:ea typeface="Consolas" pitchFamily="34" charset="-122"/>
                <a:cs typeface="Consolas" pitchFamily="34" charset="-120"/>
              </a:rPr>
              <a:t>noul</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choice</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txBody>
          <a:bodyPr/>
          <a:lstStyle/>
          <a:p>
            <a:endParaRPr lang="en-ZA"/>
          </a:p>
        </p:txBody>
      </p:sp>
      <p:sp>
        <p:nvSpPr>
          <p:cNvPr id="20" name="Text 18"/>
          <p:cNvSpPr/>
          <p:nvPr/>
        </p:nvSpPr>
        <p:spPr>
          <a:xfrm>
            <a:off x="3550920" y="3872484"/>
            <a:ext cx="48158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marL="0" indent="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2CACD9-0420-1A1C-0D6C-009F80A55739}"/>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2900634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3DD6FF"/>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06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7" name="Shape 5"/>
          <p:cNvSpPr/>
          <p:nvPr/>
        </p:nvSpPr>
        <p:spPr>
          <a:xfrm>
            <a:off x="548640" y="1874520"/>
            <a:ext cx="2499360" cy="2651760"/>
          </a:xfrm>
          <a:prstGeom prst="roundRect">
            <a:avLst>
              <a:gd name="adj" fmla="val 4390"/>
            </a:avLst>
          </a:prstGeom>
          <a:solidFill>
            <a:srgbClr val="110F2B"/>
          </a:solidFill>
          <a:ln/>
        </p:spPr>
        <p:txBody>
          <a:bodyPr/>
          <a:lstStyle/>
          <a:p>
            <a:endParaRPr lang="en-ZA"/>
          </a:p>
        </p:txBody>
      </p:sp>
      <p:sp>
        <p:nvSpPr>
          <p:cNvPr id="8" name="Text 6"/>
          <p:cNvSpPr/>
          <p:nvPr/>
        </p:nvSpPr>
        <p:spPr>
          <a:xfrm>
            <a:off x="777240" y="2185416"/>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459736"/>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1" name="Text 9"/>
          <p:cNvSpPr/>
          <p:nvPr/>
        </p:nvSpPr>
        <p:spPr>
          <a:xfrm>
            <a:off x="777240" y="3950208"/>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txBody>
          <a:bodyPr/>
          <a:lstStyle/>
          <a:p>
            <a:endParaRPr lang="en-ZA"/>
          </a:p>
        </p:txBody>
      </p:sp>
      <p:sp>
        <p:nvSpPr>
          <p:cNvPr id="13" name="Text 11"/>
          <p:cNvSpPr/>
          <p:nvPr/>
        </p:nvSpPr>
        <p:spPr>
          <a:xfrm>
            <a:off x="3550920" y="2185416"/>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459736"/>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6" name="Text 14"/>
          <p:cNvSpPr/>
          <p:nvPr/>
        </p:nvSpPr>
        <p:spPr>
          <a:xfrm>
            <a:off x="3550920" y="3950208"/>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txBody>
          <a:bodyPr/>
          <a:lstStyle/>
          <a:p>
            <a:endParaRPr lang="en-ZA"/>
          </a:p>
        </p:txBody>
      </p:sp>
      <p:sp>
        <p:nvSpPr>
          <p:cNvPr id="18" name="Text 16"/>
          <p:cNvSpPr/>
          <p:nvPr/>
        </p:nvSpPr>
        <p:spPr>
          <a:xfrm>
            <a:off x="6324600" y="2185416"/>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459736"/>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1" name="Text 19"/>
          <p:cNvSpPr/>
          <p:nvPr/>
        </p:nvSpPr>
        <p:spPr>
          <a:xfrm>
            <a:off x="6324600" y="3950208"/>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880360"/>
            <a:ext cx="2042160" cy="457200"/>
          </a:xfrm>
          <a:prstGeom prst="rect">
            <a:avLst/>
          </a:prstGeom>
          <a:noFill/>
          <a:ln/>
        </p:spPr>
        <p:txBody>
          <a:bodyPr wrap="square" lIns="0" tIns="0" rIns="0" bIns="0" rtlCol="0" anchor="ctr"/>
          <a:lstStyle/>
          <a:p>
            <a:pPr marL="0" indent="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447288"/>
            <a:ext cx="2042160" cy="91440"/>
          </a:xfrm>
          <a:prstGeom prst="rect">
            <a:avLst/>
          </a:prstGeom>
          <a:solidFill>
            <a:srgbClr val="36316A"/>
          </a:solidFill>
          <a:ln/>
        </p:spPr>
        <p:txBody>
          <a:bodyPr/>
          <a:lstStyle/>
          <a:p>
            <a:endParaRPr lang="en-ZA"/>
          </a:p>
        </p:txBody>
      </p:sp>
      <p:sp>
        <p:nvSpPr>
          <p:cNvPr id="24" name="Shape 22"/>
          <p:cNvSpPr/>
          <p:nvPr/>
        </p:nvSpPr>
        <p:spPr>
          <a:xfrm>
            <a:off x="777240" y="3447288"/>
            <a:ext cx="1490777" cy="91440"/>
          </a:xfrm>
          <a:prstGeom prst="rect">
            <a:avLst/>
          </a:prstGeom>
          <a:solidFill>
            <a:srgbClr val="3DD6FF"/>
          </a:solidFill>
          <a:ln/>
        </p:spPr>
        <p:txBody>
          <a:bodyPr/>
          <a:lstStyle/>
          <a:p>
            <a:endParaRPr lang="en-ZA"/>
          </a:p>
        </p:txBody>
      </p:sp>
      <p:sp>
        <p:nvSpPr>
          <p:cNvPr id="25" name="Text 23"/>
          <p:cNvSpPr/>
          <p:nvPr/>
        </p:nvSpPr>
        <p:spPr>
          <a:xfrm>
            <a:off x="777240" y="3621024"/>
            <a:ext cx="914400" cy="182880"/>
          </a:xfrm>
          <a:prstGeom prst="rect">
            <a:avLst/>
          </a:prstGeom>
          <a:noFill/>
          <a:ln/>
        </p:spPr>
        <p:txBody>
          <a:bodyPr wrap="square" lIns="0" tIns="0" rIns="0" bIns="0" rtlCol="0" anchor="ctr"/>
          <a:lstStyle/>
          <a:p>
            <a:pPr marL="0" indent="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621024"/>
            <a:ext cx="914400"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907792"/>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953512"/>
            <a:ext cx="1356360" cy="91440"/>
          </a:xfrm>
          <a:prstGeom prst="rect">
            <a:avLst/>
          </a:prstGeom>
          <a:solidFill>
            <a:srgbClr val="36316A"/>
          </a:solidFill>
          <a:ln/>
        </p:spPr>
        <p:txBody>
          <a:bodyPr/>
          <a:lstStyle/>
          <a:p>
            <a:endParaRPr lang="en-ZA"/>
          </a:p>
        </p:txBody>
      </p:sp>
      <p:sp>
        <p:nvSpPr>
          <p:cNvPr id="29" name="Shape 27"/>
          <p:cNvSpPr/>
          <p:nvPr/>
        </p:nvSpPr>
        <p:spPr>
          <a:xfrm>
            <a:off x="3779520" y="2953512"/>
            <a:ext cx="840943" cy="91440"/>
          </a:xfrm>
          <a:prstGeom prst="rect">
            <a:avLst/>
          </a:prstGeom>
          <a:solidFill>
            <a:srgbClr val="FFD166"/>
          </a:solidFill>
          <a:ln/>
        </p:spPr>
        <p:txBody>
          <a:bodyPr/>
          <a:lstStyle/>
          <a:p>
            <a:endParaRPr lang="en-ZA"/>
          </a:p>
        </p:txBody>
      </p:sp>
      <p:sp>
        <p:nvSpPr>
          <p:cNvPr id="30" name="Text 28"/>
          <p:cNvSpPr/>
          <p:nvPr/>
        </p:nvSpPr>
        <p:spPr>
          <a:xfrm>
            <a:off x="5209032" y="2907792"/>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145536"/>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191256"/>
            <a:ext cx="1356360" cy="91440"/>
          </a:xfrm>
          <a:prstGeom prst="rect">
            <a:avLst/>
          </a:prstGeom>
          <a:solidFill>
            <a:srgbClr val="36316A"/>
          </a:solidFill>
          <a:ln/>
        </p:spPr>
        <p:txBody>
          <a:bodyPr/>
          <a:lstStyle/>
          <a:p>
            <a:endParaRPr lang="en-ZA"/>
          </a:p>
        </p:txBody>
      </p:sp>
      <p:sp>
        <p:nvSpPr>
          <p:cNvPr id="33" name="Shape 31"/>
          <p:cNvSpPr/>
          <p:nvPr/>
        </p:nvSpPr>
        <p:spPr>
          <a:xfrm>
            <a:off x="3779520" y="3191256"/>
            <a:ext cx="284836" cy="91440"/>
          </a:xfrm>
          <a:prstGeom prst="rect">
            <a:avLst/>
          </a:prstGeom>
          <a:solidFill>
            <a:srgbClr val="6C6790"/>
          </a:solidFill>
          <a:ln/>
        </p:spPr>
        <p:txBody>
          <a:bodyPr/>
          <a:lstStyle/>
          <a:p>
            <a:endParaRPr lang="en-ZA"/>
          </a:p>
        </p:txBody>
      </p:sp>
      <p:sp>
        <p:nvSpPr>
          <p:cNvPr id="34" name="Text 32"/>
          <p:cNvSpPr/>
          <p:nvPr/>
        </p:nvSpPr>
        <p:spPr>
          <a:xfrm>
            <a:off x="5209032" y="3145536"/>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383280"/>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429000"/>
            <a:ext cx="1356360" cy="91440"/>
          </a:xfrm>
          <a:prstGeom prst="rect">
            <a:avLst/>
          </a:prstGeom>
          <a:solidFill>
            <a:srgbClr val="36316A"/>
          </a:solidFill>
          <a:ln/>
        </p:spPr>
        <p:txBody>
          <a:bodyPr/>
          <a:lstStyle/>
          <a:p>
            <a:endParaRPr lang="en-ZA"/>
          </a:p>
        </p:txBody>
      </p:sp>
      <p:sp>
        <p:nvSpPr>
          <p:cNvPr id="37" name="Shape 35"/>
          <p:cNvSpPr/>
          <p:nvPr/>
        </p:nvSpPr>
        <p:spPr>
          <a:xfrm>
            <a:off x="3779520" y="3429000"/>
            <a:ext cx="162763" cy="91440"/>
          </a:xfrm>
          <a:prstGeom prst="rect">
            <a:avLst/>
          </a:prstGeom>
          <a:solidFill>
            <a:srgbClr val="6C6790"/>
          </a:solidFill>
          <a:ln/>
        </p:spPr>
        <p:txBody>
          <a:bodyPr/>
          <a:lstStyle/>
          <a:p>
            <a:endParaRPr lang="en-ZA"/>
          </a:p>
        </p:txBody>
      </p:sp>
      <p:sp>
        <p:nvSpPr>
          <p:cNvPr id="38" name="Text 36"/>
          <p:cNvSpPr/>
          <p:nvPr/>
        </p:nvSpPr>
        <p:spPr>
          <a:xfrm>
            <a:off x="5209032" y="3383280"/>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621024"/>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666744"/>
            <a:ext cx="1356360" cy="91440"/>
          </a:xfrm>
          <a:prstGeom prst="rect">
            <a:avLst/>
          </a:prstGeom>
          <a:solidFill>
            <a:srgbClr val="36316A"/>
          </a:solidFill>
          <a:ln/>
        </p:spPr>
        <p:txBody>
          <a:bodyPr/>
          <a:lstStyle/>
          <a:p>
            <a:endParaRPr lang="en-ZA"/>
          </a:p>
        </p:txBody>
      </p:sp>
      <p:sp>
        <p:nvSpPr>
          <p:cNvPr id="41" name="Shape 39"/>
          <p:cNvSpPr/>
          <p:nvPr/>
        </p:nvSpPr>
        <p:spPr>
          <a:xfrm>
            <a:off x="3779520" y="3666744"/>
            <a:ext cx="67818" cy="91440"/>
          </a:xfrm>
          <a:prstGeom prst="rect">
            <a:avLst/>
          </a:prstGeom>
          <a:solidFill>
            <a:srgbClr val="6C6790"/>
          </a:solidFill>
          <a:ln/>
        </p:spPr>
        <p:txBody>
          <a:bodyPr/>
          <a:lstStyle/>
          <a:p>
            <a:endParaRPr lang="en-ZA"/>
          </a:p>
        </p:txBody>
      </p:sp>
      <p:sp>
        <p:nvSpPr>
          <p:cNvPr id="42" name="Text 40"/>
          <p:cNvSpPr/>
          <p:nvPr/>
        </p:nvSpPr>
        <p:spPr>
          <a:xfrm>
            <a:off x="5209032" y="3621024"/>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516782"/>
            <a:ext cx="329184" cy="76810"/>
          </a:xfrm>
          <a:prstGeom prst="rect">
            <a:avLst/>
          </a:prstGeom>
          <a:solidFill>
            <a:srgbClr val="6C6790"/>
          </a:solidFill>
          <a:ln/>
        </p:spPr>
        <p:txBody>
          <a:bodyPr/>
          <a:lstStyle/>
          <a:p>
            <a:endParaRPr lang="en-ZA"/>
          </a:p>
        </p:txBody>
      </p:sp>
      <p:sp>
        <p:nvSpPr>
          <p:cNvPr id="44" name="Text 42"/>
          <p:cNvSpPr/>
          <p:nvPr/>
        </p:nvSpPr>
        <p:spPr>
          <a:xfrm>
            <a:off x="6324600"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478378"/>
            <a:ext cx="329184" cy="115214"/>
          </a:xfrm>
          <a:prstGeom prst="rect">
            <a:avLst/>
          </a:prstGeom>
          <a:solidFill>
            <a:srgbClr val="6C6790"/>
          </a:solidFill>
          <a:ln/>
        </p:spPr>
        <p:txBody>
          <a:bodyPr/>
          <a:lstStyle/>
          <a:p>
            <a:endParaRPr lang="en-ZA"/>
          </a:p>
        </p:txBody>
      </p:sp>
      <p:sp>
        <p:nvSpPr>
          <p:cNvPr id="46" name="Text 44"/>
          <p:cNvSpPr/>
          <p:nvPr/>
        </p:nvSpPr>
        <p:spPr>
          <a:xfrm>
            <a:off x="6895592"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209544"/>
            <a:ext cx="329184" cy="384048"/>
          </a:xfrm>
          <a:prstGeom prst="rect">
            <a:avLst/>
          </a:prstGeom>
          <a:solidFill>
            <a:srgbClr val="FFD166"/>
          </a:solidFill>
          <a:ln/>
        </p:spPr>
        <p:txBody>
          <a:bodyPr/>
          <a:lstStyle/>
          <a:p>
            <a:endParaRPr lang="en-ZA"/>
          </a:p>
        </p:txBody>
      </p:sp>
      <p:sp>
        <p:nvSpPr>
          <p:cNvPr id="48" name="Text 46"/>
          <p:cNvSpPr/>
          <p:nvPr/>
        </p:nvSpPr>
        <p:spPr>
          <a:xfrm>
            <a:off x="7466584"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401568"/>
            <a:ext cx="329184" cy="192024"/>
          </a:xfrm>
          <a:prstGeom prst="rect">
            <a:avLst/>
          </a:prstGeom>
          <a:solidFill>
            <a:srgbClr val="6C6790"/>
          </a:solidFill>
          <a:ln/>
        </p:spPr>
        <p:txBody>
          <a:bodyPr/>
          <a:lstStyle/>
          <a:p>
            <a:endParaRPr lang="en-ZA"/>
          </a:p>
        </p:txBody>
      </p:sp>
      <p:sp>
        <p:nvSpPr>
          <p:cNvPr id="50" name="Text 48"/>
          <p:cNvSpPr/>
          <p:nvPr/>
        </p:nvSpPr>
        <p:spPr>
          <a:xfrm>
            <a:off x="8037576"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862072"/>
            <a:ext cx="1097280" cy="201168"/>
          </a:xfrm>
          <a:prstGeom prst="rect">
            <a:avLst/>
          </a:prstGeom>
          <a:noFill/>
          <a:ln/>
        </p:spPr>
        <p:txBody>
          <a:bodyPr wrap="square" lIns="0" tIns="0" rIns="0" bIns="0" rtlCol="0" anchor="ctr"/>
          <a:lstStyle/>
          <a:p>
            <a:pPr marL="0" indent="0" algn="ctr">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3081528"/>
            <a:ext cx="137160" cy="91440"/>
          </a:xfrm>
          <a:prstGeom prst="triangle">
            <a:avLst/>
          </a:prstGeom>
          <a:solidFill>
            <a:srgbClr val="3DD6FF"/>
          </a:solidFill>
          <a:ln/>
        </p:spPr>
        <p:txBody>
          <a:bodyPr/>
          <a:lstStyle/>
          <a:p>
            <a:endParaRPr lang="en-ZA"/>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5FA2"/>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07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2761488"/>
        </p:xfrm>
        <a:graphic>
          <a:graphicData uri="http://schemas.openxmlformats.org/drawingml/2006/table">
            <a:tbl>
              <a:tblPr/>
              <a:tblGrid>
                <a:gridCol w="169164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4"/>
                    </a:ext>
                  </a:extLst>
                </a:gridCol>
              </a:tblGrid>
              <a:tr h="274320">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extLst>
                  <a:ext uri="{0D108BD9-81ED-4DB2-BD59-A6C34878D82A}">
                    <a16:rowId xmlns:a16="http://schemas.microsoft.com/office/drawing/2014/main" val="10000"/>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1"/>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2"/>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3"/>
                  </a:ext>
                </a:extLst>
              </a:tr>
              <a:tr h="310896">
                <a:tc rowSpan="2">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4"/>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5"/>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rowSpan="3">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6"/>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vMerge="1">
                  <a:txBody>
                    <a:bodyPr/>
                    <a:lstStyle/>
                    <a:p>
                      <a:endParaRPr lang="en-US"/>
                    </a:p>
                  </a:txBody>
                  <a:tcPr/>
                </a:tc>
                <a:extLst>
                  <a:ext uri="{0D108BD9-81ED-4DB2-BD59-A6C34878D82A}">
                    <a16:rowId xmlns:a16="http://schemas.microsoft.com/office/drawing/2014/main" val="10007"/>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vMerge="1">
                  <a:txBody>
                    <a:bodyPr/>
                    <a:lstStyle/>
                    <a:p>
                      <a:endParaRPr lang="en-US"/>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A radio check, not a chat">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5FA2"/>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RIVAL DECISIONS</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08 / 20</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A radio check, not a chat</a:t>
            </a:r>
            <a:endParaRPr lang="en-US" sz="3400"/>
          </a:p>
        </p:txBody>
      </p:sp>
      <p:sp>
        <p:nvSpPr>
          <p:cNvPr id="7" name="Input card"/>
          <p:cNvSpPr/>
          <p:nvPr/>
        </p:nvSpPr>
        <p:spPr>
          <a:xfrm>
            <a:off x="548640" y="1874520"/>
            <a:ext cx="3886200" cy="2651760"/>
          </a:xfrm>
          <a:prstGeom prst="roundRect">
            <a:avLst>
              <a:gd name="adj" fmla="val 9143"/>
            </a:avLst>
          </a:prstGeom>
          <a:solidFill>
            <a:srgbClr val="110F2B"/>
          </a:solidFill>
          <a:ln/>
        </p:spPr>
        <p:txBody>
          <a:bodyPr/>
          <a:lstStyle/>
          <a:p>
            <a:endParaRPr lang="en-ZA"/>
          </a:p>
        </p:txBody>
      </p:sp>
      <p:sp>
        <p:nvSpPr>
          <p:cNvPr id="8" name="Output card"/>
          <p:cNvSpPr/>
          <p:nvPr/>
        </p:nvSpPr>
        <p:spPr>
          <a:xfrm>
            <a:off x="4800600" y="1874520"/>
            <a:ext cx="3794760" cy="2651760"/>
          </a:xfrm>
          <a:prstGeom prst="roundRect">
            <a:avLst>
              <a:gd name="adj" fmla="val 9143"/>
            </a:avLst>
          </a:prstGeom>
          <a:solidFill>
            <a:srgbClr val="110F2B"/>
          </a:solidFill>
          <a:ln/>
        </p:spPr>
        <p:txBody>
          <a:bodyPr/>
          <a:lstStyle/>
          <a:p>
            <a:endParaRPr lang="en-ZA"/>
          </a:p>
        </p:txBody>
      </p:sp>
      <p:cxnSp>
        <p:nvCxnSpPr>
          <p:cNvPr id="9" name="Request to reply arrow"/>
          <p:cNvCxnSpPr/>
          <p:nvPr/>
        </p:nvCxnSpPr>
        <p:spPr>
          <a:xfrm>
            <a:off x="4498848" y="3200400"/>
            <a:ext cx="237744" cy="0"/>
          </a:xfrm>
          <a:prstGeom prst="line">
            <a:avLst/>
          </a:prstGeom>
          <a:ln w="22225">
            <a:solidFill>
              <a:srgbClr val="ABA6C8"/>
            </a:solidFill>
            <a:tailEnd type="triangle" w="med" len="med"/>
          </a:ln>
        </p:spPr>
      </p:cxnSp>
      <p:sp>
        <p:nvSpPr>
          <p:cNvPr id="10" name="Input label"/>
          <p:cNvSpPr txBox="1"/>
          <p:nvPr/>
        </p:nvSpPr>
        <p:spPr>
          <a:xfrm>
            <a:off x="777240" y="2075688"/>
            <a:ext cx="3429000" cy="219456"/>
          </a:xfrm>
          <a:prstGeom prst="rect">
            <a:avLst/>
          </a:prstGeom>
          <a:noFill/>
          <a:ln/>
        </p:spPr>
        <p:txBody>
          <a:bodyPr wrap="square" lIns="0" tIns="0" rIns="0" bIns="0"/>
          <a:lstStyle/>
          <a:p>
            <a:pPr>
              <a:buNone/>
            </a:pPr>
            <a:r>
              <a:rPr lang="en-US" sz="1050" b="1" spc="150">
                <a:solidFill>
                  <a:srgbClr val="3DD6FF"/>
                </a:solidFill>
                <a:latin typeface="Segoe UI Semibold"/>
              </a:rPr>
              <a:t>GAME SENDS TO THE MODEL</a:t>
            </a:r>
            <a:endParaRPr lang="en-US" sz="1050"/>
          </a:p>
        </p:txBody>
      </p:sp>
      <p:sp>
        <p:nvSpPr>
          <p:cNvPr id="11" name="Output label"/>
          <p:cNvSpPr txBox="1"/>
          <p:nvPr/>
        </p:nvSpPr>
        <p:spPr>
          <a:xfrm>
            <a:off x="5029200" y="2075688"/>
            <a:ext cx="3337560" cy="219456"/>
          </a:xfrm>
          <a:prstGeom prst="rect">
            <a:avLst/>
          </a:prstGeom>
          <a:noFill/>
          <a:ln/>
        </p:spPr>
        <p:txBody>
          <a:bodyPr wrap="square" lIns="0" tIns="0" rIns="0" bIns="0"/>
          <a:lstStyle/>
          <a:p>
            <a:pPr>
              <a:buNone/>
            </a:pPr>
            <a:r>
              <a:rPr lang="en-US" sz="1050" b="1" spc="150">
                <a:solidFill>
                  <a:srgbClr val="4ADE80"/>
                </a:solidFill>
                <a:latin typeface="Segoe UI Semibold"/>
              </a:rPr>
              <a:t>MODEL RETURNS TO THE GAME</a:t>
            </a:r>
            <a:endParaRPr lang="en-US" sz="1050"/>
          </a:p>
        </p:txBody>
      </p:sp>
      <p:sp>
        <p:nvSpPr>
          <p:cNvPr id="12" name="Driver heading"/>
          <p:cNvSpPr txBox="1"/>
          <p:nvPr/>
        </p:nvSpPr>
        <p:spPr>
          <a:xfrm>
            <a:off x="777240" y="2359152"/>
            <a:ext cx="3429000" cy="320040"/>
          </a:xfrm>
          <a:prstGeom prst="rect">
            <a:avLst/>
          </a:prstGeom>
          <a:noFill/>
          <a:ln/>
        </p:spPr>
        <p:txBody>
          <a:bodyPr wrap="square" lIns="0" tIns="0" rIns="0" bIns="0"/>
          <a:lstStyle/>
          <a:p>
            <a:pPr>
              <a:buNone/>
            </a:pPr>
            <a:r>
              <a:rPr lang="en-US" sz="1600" b="1">
                <a:solidFill>
                  <a:srgbClr val="ECE9F8"/>
                </a:solidFill>
                <a:latin typeface="Segoe UI Semibold"/>
              </a:rPr>
              <a:t>Vega (#7), aggressive</a:t>
            </a:r>
            <a:endParaRPr lang="en-US" sz="1600"/>
          </a:p>
        </p:txBody>
      </p:sp>
      <p:sp>
        <p:nvSpPr>
          <p:cNvPr id="13" name="Answers heading"/>
          <p:cNvSpPr txBox="1"/>
          <p:nvPr/>
        </p:nvSpPr>
        <p:spPr>
          <a:xfrm>
            <a:off x="5029200" y="2359152"/>
            <a:ext cx="3337560" cy="320040"/>
          </a:xfrm>
          <a:prstGeom prst="rect">
            <a:avLst/>
          </a:prstGeom>
          <a:noFill/>
          <a:ln/>
        </p:spPr>
        <p:txBody>
          <a:bodyPr wrap="square" lIns="0" tIns="0" rIns="0" bIns="0"/>
          <a:lstStyle/>
          <a:p>
            <a:pPr>
              <a:buNone/>
            </a:pPr>
            <a:r>
              <a:rPr lang="en-US" sz="1600" b="1">
                <a:solidFill>
                  <a:srgbClr val="ECE9F8"/>
                </a:solidFill>
                <a:latin typeface="Segoe UI Semibold"/>
              </a:rPr>
              <a:t>Three answers</a:t>
            </a:r>
            <a:endParaRPr lang="en-US" sz="1600"/>
          </a:p>
        </p:txBody>
      </p:sp>
      <p:sp>
        <p:nvSpPr>
          <p:cNvPr id="14" name="Driver snapshot"/>
          <p:cNvSpPr txBox="1"/>
          <p:nvPr/>
        </p:nvSpPr>
        <p:spPr>
          <a:xfrm>
            <a:off x="777240" y="2816352"/>
            <a:ext cx="3429000" cy="914400"/>
          </a:xfrm>
          <a:prstGeom prst="rect">
            <a:avLst/>
          </a:prstGeom>
          <a:noFill/>
          <a:ln/>
        </p:spPr>
        <p:txBody>
          <a:bodyPr wrap="square" lIns="0" tIns="0" rIns="0" bIns="0"/>
          <a:lstStyle/>
          <a:p>
            <a:pPr>
              <a:lnSpc>
                <a:spcPts val="1700"/>
              </a:lnSpc>
              <a:spcAft>
                <a:spcPts val="0"/>
              </a:spcAft>
              <a:buNone/>
            </a:pPr>
            <a:r>
              <a:rPr lang="en-US" sz="1250">
                <a:solidFill>
                  <a:srgbClr val="ECE9F8"/>
                </a:solidFill>
                <a:latin typeface="Segoe UI"/>
              </a:rPr>
              <a:t>Lap 2/3 · P2/6 · 260 km/h</a:t>
            </a:r>
            <a:endParaRPr lang="en-US" sz="1250"/>
          </a:p>
          <a:p>
            <a:pPr>
              <a:lnSpc>
                <a:spcPts val="1700"/>
              </a:lnSpc>
              <a:spcAft>
                <a:spcPts val="0"/>
              </a:spcAft>
              <a:buNone/>
            </a:pPr>
            <a:r>
              <a:rPr lang="en-US" sz="1250">
                <a:solidFill>
                  <a:srgbClr val="ECE9F8"/>
                </a:solidFill>
                <a:latin typeface="Segoe UI"/>
              </a:rPr>
              <a:t>Nitro tank 70% · 300 m of straight road</a:t>
            </a:r>
            <a:endParaRPr lang="en-US" sz="1250"/>
          </a:p>
          <a:p>
            <a:pPr>
              <a:lnSpc>
                <a:spcPts val="1700"/>
              </a:lnSpc>
              <a:spcAft>
                <a:spcPts val="0"/>
              </a:spcAft>
              <a:buNone/>
            </a:pPr>
            <a:r>
              <a:rPr lang="en-US" sz="1250">
                <a:solidFill>
                  <a:srgbClr val="ECE9F8"/>
                </a:solidFill>
                <a:latin typeface="Segoe UI"/>
              </a:rPr>
              <a:t>Player 18 m ahead, 12 km/h slower</a:t>
            </a:r>
            <a:endParaRPr lang="en-US" sz="1250"/>
          </a:p>
          <a:p>
            <a:pPr>
              <a:lnSpc>
                <a:spcPts val="1700"/>
              </a:lnSpc>
              <a:spcAft>
                <a:spcPts val="0"/>
              </a:spcAft>
              <a:buNone/>
            </a:pPr>
            <a:r>
              <a:rPr lang="en-US" sz="1250">
                <a:solidFill>
                  <a:srgbClr val="ECE9F8"/>
                </a:solidFill>
                <a:latin typeface="Segoe UI"/>
              </a:rPr>
              <a:t>Last move: slipstream, 1.2 s ago</a:t>
            </a:r>
            <a:endParaRPr lang="en-US" sz="1250"/>
          </a:p>
        </p:txBody>
      </p:sp>
      <p:sp>
        <p:nvSpPr>
          <p:cNvPr id="15" name="Three questions"/>
          <p:cNvSpPr txBox="1"/>
          <p:nvPr/>
        </p:nvSpPr>
        <p:spPr>
          <a:xfrm>
            <a:off x="777240" y="4023360"/>
            <a:ext cx="3429000" cy="256032"/>
          </a:xfrm>
          <a:prstGeom prst="rect">
            <a:avLst/>
          </a:prstGeom>
          <a:noFill/>
          <a:ln/>
        </p:spPr>
        <p:txBody>
          <a:bodyPr wrap="square" lIns="0" tIns="0" rIns="0" bIns="0"/>
          <a:lstStyle/>
          <a:p>
            <a:pPr>
              <a:buNone/>
            </a:pPr>
            <a:r>
              <a:rPr lang="en-US" sz="1250" b="1">
                <a:solidFill>
                  <a:srgbClr val="FFD166"/>
                </a:solidFill>
                <a:latin typeface="Segoe UI Semibold"/>
              </a:rPr>
              <a:t>Ask: Which move? How hard? Nitro?</a:t>
            </a:r>
            <a:endParaRPr lang="en-US" sz="1250"/>
          </a:p>
        </p:txBody>
      </p:sp>
      <p:sp>
        <p:nvSpPr>
          <p:cNvPr id="16" name="Maneuver key"/>
          <p:cNvSpPr txBox="1"/>
          <p:nvPr/>
        </p:nvSpPr>
        <p:spPr>
          <a:xfrm>
            <a:off x="5029200" y="2802636"/>
            <a:ext cx="1097280" cy="274320"/>
          </a:xfrm>
          <a:prstGeom prst="rect">
            <a:avLst/>
          </a:prstGeom>
          <a:noFill/>
          <a:ln/>
        </p:spPr>
        <p:txBody>
          <a:bodyPr wrap="square" lIns="0" tIns="0" rIns="0" bIns="0"/>
          <a:lstStyle/>
          <a:p>
            <a:pPr>
              <a:buNone/>
            </a:pPr>
            <a:r>
              <a:rPr lang="en-US" sz="1200">
                <a:solidFill>
                  <a:srgbClr val="ABA6C8"/>
                </a:solidFill>
                <a:latin typeface="Consolas"/>
              </a:rPr>
              <a:t>maneuver</a:t>
            </a:r>
            <a:endParaRPr lang="en-US" sz="1200"/>
          </a:p>
        </p:txBody>
      </p:sp>
      <p:sp>
        <p:nvSpPr>
          <p:cNvPr id="17" name="Maneuver value"/>
          <p:cNvSpPr txBox="1"/>
          <p:nvPr/>
        </p:nvSpPr>
        <p:spPr>
          <a:xfrm>
            <a:off x="6217920" y="2775204"/>
            <a:ext cx="2148840" cy="320040"/>
          </a:xfrm>
          <a:prstGeom prst="rect">
            <a:avLst/>
          </a:prstGeom>
          <a:noFill/>
          <a:ln/>
        </p:spPr>
        <p:txBody>
          <a:bodyPr wrap="square" lIns="0" tIns="0" rIns="0" bIns="0"/>
          <a:lstStyle/>
          <a:p>
            <a:pPr>
              <a:buNone/>
            </a:pPr>
            <a:r>
              <a:rPr lang="en-US" sz="1500" b="1">
                <a:solidFill>
                  <a:srgbClr val="3DD6FF"/>
                </a:solidFill>
                <a:latin typeface="Segoe UI Semibold"/>
              </a:rPr>
              <a:t>Overtake left</a:t>
            </a:r>
            <a:endParaRPr lang="en-US" sz="1500"/>
          </a:p>
        </p:txBody>
      </p:sp>
      <p:sp>
        <p:nvSpPr>
          <p:cNvPr id="18" name="Pace key"/>
          <p:cNvSpPr txBox="1"/>
          <p:nvPr/>
        </p:nvSpPr>
        <p:spPr>
          <a:xfrm>
            <a:off x="5029200" y="3401568"/>
            <a:ext cx="1097280" cy="274320"/>
          </a:xfrm>
          <a:prstGeom prst="rect">
            <a:avLst/>
          </a:prstGeom>
          <a:noFill/>
          <a:ln/>
        </p:spPr>
        <p:txBody>
          <a:bodyPr wrap="square" lIns="0" tIns="0" rIns="0" bIns="0"/>
          <a:lstStyle/>
          <a:p>
            <a:pPr>
              <a:buNone/>
            </a:pPr>
            <a:r>
              <a:rPr lang="en-US" sz="1200">
                <a:solidFill>
                  <a:srgbClr val="ABA6C8"/>
                </a:solidFill>
                <a:latin typeface="Consolas"/>
              </a:rPr>
              <a:t>pace</a:t>
            </a:r>
            <a:endParaRPr lang="en-US" sz="1200"/>
          </a:p>
        </p:txBody>
      </p:sp>
      <p:sp>
        <p:nvSpPr>
          <p:cNvPr id="19" name="Pace value"/>
          <p:cNvSpPr txBox="1"/>
          <p:nvPr/>
        </p:nvSpPr>
        <p:spPr>
          <a:xfrm>
            <a:off x="6217920" y="3374136"/>
            <a:ext cx="2148840" cy="320040"/>
          </a:xfrm>
          <a:prstGeom prst="rect">
            <a:avLst/>
          </a:prstGeom>
          <a:noFill/>
          <a:ln/>
        </p:spPr>
        <p:txBody>
          <a:bodyPr wrap="square" lIns="0" tIns="0" rIns="0" bIns="0"/>
          <a:lstStyle/>
          <a:p>
            <a:pPr>
              <a:buNone/>
            </a:pPr>
            <a:r>
              <a:rPr lang="en-US" sz="1500" b="1">
                <a:solidFill>
                  <a:srgbClr val="3DD6FF"/>
                </a:solidFill>
                <a:latin typeface="Segoe UI Semibold"/>
              </a:rPr>
              <a:t>2.4 / 3</a:t>
            </a:r>
            <a:endParaRPr lang="en-US" sz="1500"/>
          </a:p>
        </p:txBody>
      </p:sp>
      <p:sp>
        <p:nvSpPr>
          <p:cNvPr id="20" name="Nitro key"/>
          <p:cNvSpPr txBox="1"/>
          <p:nvPr/>
        </p:nvSpPr>
        <p:spPr>
          <a:xfrm>
            <a:off x="5029200" y="4000500"/>
            <a:ext cx="1097280" cy="274320"/>
          </a:xfrm>
          <a:prstGeom prst="rect">
            <a:avLst/>
          </a:prstGeom>
          <a:noFill/>
          <a:ln/>
        </p:spPr>
        <p:txBody>
          <a:bodyPr wrap="square" lIns="0" tIns="0" rIns="0" bIns="0"/>
          <a:lstStyle/>
          <a:p>
            <a:pPr>
              <a:buNone/>
            </a:pPr>
            <a:r>
              <a:rPr lang="en-US" sz="1200">
                <a:solidFill>
                  <a:srgbClr val="ABA6C8"/>
                </a:solidFill>
                <a:latin typeface="Consolas"/>
              </a:rPr>
              <a:t>nitro</a:t>
            </a:r>
            <a:endParaRPr lang="en-US" sz="1200"/>
          </a:p>
        </p:txBody>
      </p:sp>
      <p:sp>
        <p:nvSpPr>
          <p:cNvPr id="21" name="Nitro value"/>
          <p:cNvSpPr txBox="1"/>
          <p:nvPr/>
        </p:nvSpPr>
        <p:spPr>
          <a:xfrm>
            <a:off x="6217920" y="3973068"/>
            <a:ext cx="2148840" cy="320040"/>
          </a:xfrm>
          <a:prstGeom prst="rect">
            <a:avLst/>
          </a:prstGeom>
          <a:noFill/>
          <a:ln/>
        </p:spPr>
        <p:txBody>
          <a:bodyPr wrap="square" lIns="0" tIns="0" rIns="0" bIns="0"/>
          <a:lstStyle/>
          <a:p>
            <a:pPr>
              <a:buNone/>
            </a:pPr>
            <a:r>
              <a:rPr lang="en-US" sz="1500" b="1">
                <a:solidFill>
                  <a:srgbClr val="3DD6FF"/>
                </a:solidFill>
                <a:latin typeface="Segoe UI Semibold"/>
              </a:rPr>
              <a:t>0.78 (78%)</a:t>
            </a:r>
            <a:endParaRPr lang="en-US" sz="15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One request, three answers">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5FA2"/>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THE JSON EXCHANGE</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09 / 20</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One request, three answers</a:t>
            </a:r>
            <a:endParaRPr lang="en-US" sz="3400"/>
          </a:p>
        </p:txBody>
      </p:sp>
      <p:sp>
        <p:nvSpPr>
          <p:cNvPr id="7" name="Request card"/>
          <p:cNvSpPr/>
          <p:nvPr/>
        </p:nvSpPr>
        <p:spPr>
          <a:xfrm>
            <a:off x="548640" y="1874520"/>
            <a:ext cx="3794760" cy="2651760"/>
          </a:xfrm>
          <a:prstGeom prst="roundRect">
            <a:avLst>
              <a:gd name="adj" fmla="val 9143"/>
            </a:avLst>
          </a:prstGeom>
          <a:solidFill>
            <a:srgbClr val="110F2B"/>
          </a:solidFill>
          <a:ln/>
        </p:spPr>
        <p:txBody>
          <a:bodyPr/>
          <a:lstStyle/>
          <a:p>
            <a:endParaRPr lang="en-ZA"/>
          </a:p>
        </p:txBody>
      </p:sp>
      <p:sp>
        <p:nvSpPr>
          <p:cNvPr id="8" name="Response card"/>
          <p:cNvSpPr/>
          <p:nvPr/>
        </p:nvSpPr>
        <p:spPr>
          <a:xfrm>
            <a:off x="4663440" y="1874520"/>
            <a:ext cx="3931920" cy="2651760"/>
          </a:xfrm>
          <a:prstGeom prst="roundRect">
            <a:avLst>
              <a:gd name="adj" fmla="val 9143"/>
            </a:avLst>
          </a:prstGeom>
          <a:solidFill>
            <a:srgbClr val="110F2B"/>
          </a:solidFill>
          <a:ln/>
        </p:spPr>
        <p:txBody>
          <a:bodyPr/>
          <a:lstStyle/>
          <a:p>
            <a:endParaRPr lang="en-ZA"/>
          </a:p>
        </p:txBody>
      </p:sp>
      <p:sp>
        <p:nvSpPr>
          <p:cNvPr id="9" name="Request label"/>
          <p:cNvSpPr txBox="1"/>
          <p:nvPr/>
        </p:nvSpPr>
        <p:spPr>
          <a:xfrm>
            <a:off x="777240" y="213055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REQUEST</a:t>
            </a:r>
            <a:endParaRPr lang="en-US" sz="1050"/>
          </a:p>
        </p:txBody>
      </p:sp>
      <p:sp>
        <p:nvSpPr>
          <p:cNvPr id="10" name="Response label"/>
          <p:cNvSpPr txBox="1"/>
          <p:nvPr/>
        </p:nvSpPr>
        <p:spPr>
          <a:xfrm>
            <a:off x="4892040" y="213055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RESPONSE</a:t>
            </a:r>
            <a:endParaRPr lang="en-US" sz="1050"/>
          </a:p>
        </p:txBody>
      </p:sp>
      <p:sp>
        <p:nvSpPr>
          <p:cNvPr id="11" name="Request JSON"/>
          <p:cNvSpPr txBox="1"/>
          <p:nvPr/>
        </p:nvSpPr>
        <p:spPr>
          <a:xfrm>
            <a:off x="777240" y="2414016"/>
            <a:ext cx="3337560" cy="1764792"/>
          </a:xfrm>
          <a:prstGeom prst="rect">
            <a:avLst/>
          </a:prstGeom>
          <a:noFill/>
          <a:ln/>
        </p:spPr>
        <p:txBody>
          <a:bodyPr wrap="square" lIns="0" tIns="0" rIns="0" bIns="0"/>
          <a:lstStyle/>
          <a:p>
            <a:pPr>
              <a:lnSpc>
                <a:spcPts val="1150"/>
              </a:lnSpc>
              <a:buNone/>
            </a:pPr>
            <a:r>
              <a:rPr lang="en-US" sz="1050">
                <a:solidFill>
                  <a:srgbClr val="3DD6FF"/>
                </a:solidFill>
                <a:latin typeface="Consolas"/>
              </a:rPr>
              <a:t>POST …/providers/microsoft/v1/systemone</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"&lt;deployment-name&gt;",</a:t>
            </a:r>
            <a:endParaRPr sz="1050"/>
          </a:p>
          <a:p>
            <a:pPr>
              <a:lnSpc>
                <a:spcPts val="1150"/>
              </a:lnSpc>
              <a:buNone/>
            </a:pPr>
            <a:r>
              <a:rPr lang="en-US" sz="1050">
                <a:solidFill>
                  <a:srgbClr val="ECE9F8"/>
                </a:solidFill>
                <a:latin typeface="Consolas"/>
              </a:rPr>
              <a:t>  "state": </a:t>
            </a:r>
            <a:r>
              <a:rPr lang="en-US" sz="1050">
                <a:solidFill>
                  <a:srgbClr val="FFD166"/>
                </a:solidFill>
                <a:latin typeface="Consolas"/>
              </a:rPr>
              <a:t>"&lt;Vega's snapshot&gt;",</a:t>
            </a:r>
            <a:endParaRPr sz="1050"/>
          </a:p>
          <a:p>
            <a:pPr>
              <a:lnSpc>
                <a:spcPts val="1150"/>
              </a:lnSpc>
              <a:buNone/>
            </a:pPr>
            <a:r>
              <a:rPr lang="en-US" sz="1050">
                <a:solidFill>
                  <a:srgbClr val="ECE9F8"/>
                </a:solidFill>
                <a:latin typeface="Consolas"/>
              </a:rPr>
              <a:t>  "questions": {</a:t>
            </a:r>
            <a:endParaRPr sz="1050"/>
          </a:p>
          <a:p>
            <a:pPr>
              <a:lnSpc>
                <a:spcPts val="1150"/>
              </a:lnSpc>
              <a:buNone/>
            </a:pPr>
            <a:r>
              <a:rPr lang="en-US" sz="1050">
                <a:solidFill>
                  <a:srgbClr val="ECE9F8"/>
                </a:solidFill>
                <a:latin typeface="Consolas"/>
              </a:rPr>
              <a:t>    "maneuver": { "type": </a:t>
            </a:r>
            <a:r>
              <a:rPr lang="en-US" sz="1050">
                <a:solidFill>
                  <a:srgbClr val="FFD166"/>
                </a:solidFill>
                <a:latin typeface="Consolas"/>
              </a:rPr>
              <a:t>"choice", … },</a:t>
            </a:r>
            <a:endParaRPr sz="1050"/>
          </a:p>
          <a:p>
            <a:pPr>
              <a:lnSpc>
                <a:spcPts val="1150"/>
              </a:lnSpc>
              <a:buNone/>
            </a:pPr>
            <a:r>
              <a:rPr lang="en-US" sz="1050">
                <a:solidFill>
                  <a:srgbClr val="ECE9F8"/>
                </a:solidFill>
                <a:latin typeface="Consolas"/>
              </a:rPr>
              <a:t>    "pace": { "type": </a:t>
            </a:r>
            <a:r>
              <a:rPr lang="en-US" sz="1050">
                <a:solidFill>
                  <a:srgbClr val="FFD166"/>
                </a:solidFill>
                <a:latin typeface="Consolas"/>
              </a:rPr>
              <a:t>"score", … },</a:t>
            </a:r>
            <a:endParaRPr sz="1050"/>
          </a:p>
          <a:p>
            <a:pPr>
              <a:lnSpc>
                <a:spcPts val="1150"/>
              </a:lnSpc>
              <a:buNone/>
            </a:pPr>
            <a:r>
              <a:rPr lang="en-US" sz="1050">
                <a:solidFill>
                  <a:srgbClr val="ECE9F8"/>
                </a:solidFill>
                <a:latin typeface="Consolas"/>
              </a:rPr>
              <a:t>    "nitro": { "type": </a:t>
            </a:r>
            <a:r>
              <a:rPr lang="en-US" sz="1050">
                <a:solidFill>
                  <a:srgbClr val="FFD166"/>
                </a:solidFill>
                <a:latin typeface="Consolas"/>
              </a:rPr>
              <a:t>"noul",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ABA6C8"/>
                </a:solidFill>
                <a:latin typeface="Consolas"/>
              </a:rPr>
              <a:t>}</a:t>
            </a:r>
            <a:endParaRPr sz="1050"/>
          </a:p>
        </p:txBody>
      </p:sp>
      <p:sp>
        <p:nvSpPr>
          <p:cNvPr id="12" name="Response JSON"/>
          <p:cNvSpPr txBox="1"/>
          <p:nvPr/>
        </p:nvSpPr>
        <p:spPr>
          <a:xfrm>
            <a:off x="4892040" y="2414016"/>
            <a:ext cx="3474720" cy="1874520"/>
          </a:xfrm>
          <a:prstGeom prst="rect">
            <a:avLst/>
          </a:prstGeom>
          <a:noFill/>
          <a:ln/>
        </p:spPr>
        <p:txBody>
          <a:bodyPr wrap="square" lIns="0" tIns="0" rIns="0" bIns="0"/>
          <a:lstStyle/>
          <a:p>
            <a:pPr>
              <a:lnSpc>
                <a:spcPts val="1150"/>
              </a:lnSpc>
              <a:buNone/>
            </a:pPr>
            <a:r>
              <a:rPr lang="en-US" sz="1050">
                <a:solidFill>
                  <a:srgbClr val="4ADE80"/>
                </a:solidFill>
                <a:latin typeface="Consolas"/>
              </a:rPr>
              <a:t>200 OK</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"microsoft-decision-1",</a:t>
            </a:r>
            <a:endParaRPr sz="1050"/>
          </a:p>
          <a:p>
            <a:pPr>
              <a:lnSpc>
                <a:spcPts val="1150"/>
              </a:lnSpc>
              <a:buNone/>
            </a:pPr>
            <a:r>
              <a:rPr lang="en-US" sz="1050">
                <a:solidFill>
                  <a:srgbClr val="ECE9F8"/>
                </a:solidFill>
                <a:latin typeface="Consolas"/>
              </a:rPr>
              <a:t>  "answers": {</a:t>
            </a:r>
            <a:endParaRPr sz="1050"/>
          </a:p>
          <a:p>
            <a:pPr>
              <a:lnSpc>
                <a:spcPts val="1150"/>
              </a:lnSpc>
              <a:buNone/>
            </a:pPr>
            <a:r>
              <a:rPr lang="en-US" sz="1050">
                <a:solidFill>
                  <a:srgbClr val="ECE9F8"/>
                </a:solidFill>
                <a:latin typeface="Consolas"/>
              </a:rPr>
              <a:t>    "maneuver": {</a:t>
            </a:r>
            <a:endParaRPr sz="1050"/>
          </a:p>
          <a:p>
            <a:pPr>
              <a:lnSpc>
                <a:spcPts val="1150"/>
              </a:lnSpc>
              <a:buNone/>
            </a:pPr>
            <a:r>
              <a:rPr lang="en-US" sz="1050">
                <a:solidFill>
                  <a:srgbClr val="ECE9F8"/>
                </a:solidFill>
                <a:latin typeface="Consolas"/>
              </a:rPr>
              <a:t>      "choice": </a:t>
            </a:r>
            <a:r>
              <a:rPr lang="en-US" sz="1050">
                <a:solidFill>
                  <a:srgbClr val="FFD166"/>
                </a:solidFill>
                <a:latin typeface="Consolas"/>
              </a:rPr>
              <a:t>"overtake_left",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"pace": { "score": </a:t>
            </a:r>
            <a:r>
              <a:rPr lang="en-US" sz="1050">
                <a:solidFill>
                  <a:srgbClr val="3DD6FF"/>
                </a:solidFill>
                <a:latin typeface="Consolas"/>
              </a:rPr>
              <a:t>2.4, … },</a:t>
            </a:r>
            <a:endParaRPr sz="1050"/>
          </a:p>
          <a:p>
            <a:pPr>
              <a:lnSpc>
                <a:spcPts val="1150"/>
              </a:lnSpc>
              <a:buNone/>
            </a:pPr>
            <a:r>
              <a:rPr lang="en-US" sz="1050">
                <a:solidFill>
                  <a:srgbClr val="ECE9F8"/>
                </a:solidFill>
                <a:latin typeface="Consolas"/>
              </a:rPr>
              <a:t>    "nitro": { "noul": </a:t>
            </a:r>
            <a:r>
              <a:rPr lang="en-US" sz="1050">
                <a:solidFill>
                  <a:srgbClr val="3DD6FF"/>
                </a:solidFill>
                <a:latin typeface="Consolas"/>
              </a:rPr>
              <a:t>0.78,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"usage": { "output_tokens": </a:t>
            </a:r>
            <a:r>
              <a:rPr lang="en-US" sz="1050">
                <a:solidFill>
                  <a:srgbClr val="3DD6FF"/>
                </a:solidFill>
                <a:latin typeface="Consolas"/>
              </a:rPr>
              <a:t>3, … }</a:t>
            </a:r>
            <a:endParaRPr sz="1050"/>
          </a:p>
          <a:p>
            <a:pPr>
              <a:lnSpc>
                <a:spcPts val="1150"/>
              </a:lnSpc>
              <a:buNone/>
            </a:pPr>
            <a:r>
              <a:rPr lang="en-US" sz="1050">
                <a:solidFill>
                  <a:srgbClr val="ABA6C8"/>
                </a:solidFill>
                <a:latin typeface="Consolas"/>
              </a:rPr>
              <a:t>}</a:t>
            </a:r>
            <a:endParaRPr sz="10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5FA2"/>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NITRO POLICY</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10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txBody>
          <a:bodyPr/>
          <a:lstStyle/>
          <a:p>
            <a:endParaRPr lang="en-ZA"/>
          </a:p>
        </p:txBody>
      </p:sp>
      <p:sp>
        <p:nvSpPr>
          <p:cNvPr id="7" name="Text 5"/>
          <p:cNvSpPr/>
          <p:nvPr/>
        </p:nvSpPr>
        <p:spPr>
          <a:xfrm>
            <a:off x="777240" y="1874520"/>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"instructions"</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3DD6FF"/>
                </a:solidFill>
                <a:latin typeface="Consolas" pitchFamily="34" charset="0"/>
                <a:ea typeface="Consolas" pitchFamily="34" charset="-122"/>
                <a:cs typeface="Consolas" pitchFamily="34" charset="-120"/>
              </a:rPr>
              <a:t>0.62</a:t>
            </a:r>
            <a:r>
              <a:rPr lang="en-US" sz="1100" dirty="0">
                <a:solidFill>
                  <a:srgbClr val="ABA6C8"/>
                </a:solidFill>
                <a:latin typeface="Consolas" pitchFamily="34" charset="0"/>
                <a:ea typeface="Consolas" pitchFamily="34" charset="-122"/>
                <a:cs typeface="Consolas" pitchFamily="34" charset="-120"/>
              </a:rPr>
              <a:t> }</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txBody>
          <a:bodyPr/>
          <a:lstStyle/>
          <a:p>
            <a:endParaRPr lang="en-ZA"/>
          </a:p>
        </p:txBody>
      </p:sp>
      <p:sp>
        <p:nvSpPr>
          <p:cNvPr id="14" name="Text 12"/>
          <p:cNvSpPr/>
          <p:nvPr/>
        </p:nvSpPr>
        <p:spPr>
          <a:xfrm>
            <a:off x="6330696" y="2258568"/>
            <a:ext cx="1280160" cy="219456"/>
          </a:xfrm>
          <a:prstGeom prst="rect">
            <a:avLst/>
          </a:prstGeom>
          <a:noFill/>
          <a:ln/>
        </p:spPr>
        <p:txBody>
          <a:bodyPr wrap="square" lIns="0" tIns="0" rIns="0" bIns="0" rtlCol="0" anchor="ctr"/>
          <a:lstStyle/>
          <a:p>
            <a:pPr marL="0" indent="0" algn="ctr">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txBody>
          <a:bodyPr/>
          <a:lstStyle/>
          <a:p>
            <a:endParaRPr lang="en-ZA"/>
          </a:p>
        </p:txBody>
      </p:sp>
      <p:sp>
        <p:nvSpPr>
          <p:cNvPr id="16" name="Shape 14"/>
          <p:cNvSpPr/>
          <p:nvPr/>
        </p:nvSpPr>
        <p:spPr>
          <a:xfrm>
            <a:off x="5407152" y="2761488"/>
            <a:ext cx="128016" cy="128016"/>
          </a:xfrm>
          <a:prstGeom prst="ellipse">
            <a:avLst/>
          </a:prstGeom>
          <a:solidFill>
            <a:srgbClr val="ECE9F8"/>
          </a:solidFill>
          <a:ln/>
        </p:spPr>
        <p:txBody>
          <a:bodyPr/>
          <a:lstStyle/>
          <a:p>
            <a:endParaRPr lang="en-ZA"/>
          </a:p>
        </p:txBody>
      </p:sp>
      <p:sp>
        <p:nvSpPr>
          <p:cNvPr id="17" name="Text 15"/>
          <p:cNvSpPr/>
          <p:nvPr/>
        </p:nvSpPr>
        <p:spPr>
          <a:xfrm>
            <a:off x="519684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txBody>
          <a:bodyPr/>
          <a:lstStyle/>
          <a:p>
            <a:endParaRPr lang="en-ZA"/>
          </a:p>
        </p:txBody>
      </p:sp>
      <p:sp>
        <p:nvSpPr>
          <p:cNvPr id="19" name="Text 17"/>
          <p:cNvSpPr/>
          <p:nvPr/>
        </p:nvSpPr>
        <p:spPr>
          <a:xfrm>
            <a:off x="644652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txBody>
          <a:bodyPr/>
          <a:lstStyle/>
          <a:p>
            <a:endParaRPr lang="en-ZA"/>
          </a:p>
        </p:txBody>
      </p:sp>
      <p:sp>
        <p:nvSpPr>
          <p:cNvPr id="21" name="Text 19"/>
          <p:cNvSpPr/>
          <p:nvPr/>
        </p:nvSpPr>
        <p:spPr>
          <a:xfrm>
            <a:off x="707136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Vega, Rigel</a:t>
            </a:r>
            <a:r>
              <a:rPr lang="en-US" sz="1150" dirty="0">
                <a:solidFill>
                  <a:srgbClr val="ABA6C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Orion</a:t>
            </a:r>
            <a:r>
              <a:rPr lang="en-US" sz="1150" dirty="0">
                <a:solidFill>
                  <a:srgbClr val="ABA6C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Nova, Lyra</a:t>
            </a:r>
            <a:r>
              <a:rPr lang="en-US" sz="1150" dirty="0">
                <a:solidFill>
                  <a:srgbClr val="ABA6C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marL="0" indent="0" algn="r">
              <a:buNone/>
            </a:pPr>
            <a:r>
              <a:rPr lang="en-US" sz="1100" b="1" kern="0" spc="20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How rivals follow the line">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5FA2"/>
          </a:solidFill>
          <a:ln>
            <a:noFill/>
          </a:ln>
        </p:spPr>
        <p:txBody>
          <a:bodyPr/>
          <a:lstStyle/>
          <a:p>
            <a:endParaRPr lang="en-ZA"/>
          </a:p>
        </p:txBody>
      </p:sp>
      <p:sp>
        <p:nvSpPr>
          <p:cNvPr id="3" name="Section label"/>
          <p:cNvSpPr txBox="1"/>
          <p:nvPr/>
        </p:nvSpPr>
        <p:spPr>
          <a:xfrm>
            <a:off x="749808" y="393192"/>
            <a:ext cx="5943600" cy="292608"/>
          </a:xfrm>
          <a:prstGeom prst="rect">
            <a:avLst/>
          </a:prstGeom>
          <a:noFill/>
          <a:ln>
            <a:noFill/>
          </a:ln>
        </p:spPr>
        <p:txBody>
          <a:bodyPr wrap="none" lIns="0" tIns="0" rIns="0" bIns="0" anchor="ctr"/>
          <a:lstStyle/>
          <a:p>
            <a:pPr>
              <a:buNone/>
            </a:pPr>
            <a:r>
              <a:rPr lang="en-US" sz="1100" b="1" spc="300">
                <a:solidFill>
                  <a:srgbClr val="ABA6C8"/>
                </a:solidFill>
                <a:latin typeface="Segoe UI Semibold"/>
              </a:rPr>
              <a:t>RACING LINE</a:t>
            </a:r>
          </a:p>
        </p:txBody>
      </p:sp>
      <p:sp>
        <p:nvSpPr>
          <p:cNvPr id="4" name="Slide counter"/>
          <p:cNvSpPr txBox="1"/>
          <p:nvPr/>
        </p:nvSpPr>
        <p:spPr>
          <a:xfrm>
            <a:off x="7223760" y="393192"/>
            <a:ext cx="1371600" cy="292608"/>
          </a:xfrm>
          <a:prstGeom prst="rect">
            <a:avLst/>
          </a:prstGeom>
          <a:noFill/>
          <a:ln>
            <a:noFill/>
          </a:ln>
        </p:spPr>
        <p:txBody>
          <a:bodyPr wrap="none" lIns="0" tIns="0" rIns="0" bIns="0" anchor="ctr"/>
          <a:lstStyle/>
          <a:p>
            <a:pPr algn="r">
              <a:buNone/>
            </a:pPr>
            <a:r>
              <a:rPr lang="en-US" sz="1100">
                <a:solidFill>
                  <a:srgbClr val="ABA6C8"/>
                </a:solidFill>
                <a:latin typeface="Segoe UI Semibold"/>
              </a:rPr>
              <a:t>11 / 20</a:t>
            </a:r>
          </a:p>
        </p:txBody>
      </p:sp>
      <p:sp>
        <p:nvSpPr>
          <p:cNvPr id="5" name="Slide title"/>
          <p:cNvSpPr txBox="1"/>
          <p:nvPr/>
        </p:nvSpPr>
        <p:spPr>
          <a:xfrm>
            <a:off x="548640" y="731520"/>
            <a:ext cx="8046720" cy="658368"/>
          </a:xfrm>
          <a:prstGeom prst="rect">
            <a:avLst/>
          </a:prstGeom>
          <a:noFill/>
          <a:ln>
            <a:noFill/>
          </a:ln>
        </p:spPr>
        <p:txBody>
          <a:bodyPr wrap="none" lIns="0" tIns="0" rIns="0" bIns="0"/>
          <a:lstStyle/>
          <a:p>
            <a:pPr>
              <a:buNone/>
            </a:pPr>
            <a:r>
              <a:rPr lang="en-US" sz="3400" b="1" i="1">
                <a:solidFill>
                  <a:srgbClr val="ECE9F8"/>
                </a:solidFill>
                <a:latin typeface="Segoe UI Black"/>
              </a:rPr>
              <a:t>How rivals follow the line</a:t>
            </a:r>
          </a:p>
        </p:txBody>
      </p:sp>
      <p:pic>
        <p:nvPicPr>
          <p:cNvPr id="7" name="Actual LUNA GP game capture" descr="Controlled scene captured in the actual game: the player is P3 and Lyra, the purple rival labelled LINE, is P2 on a right-hand bend. The matching live model request is for Lyra, not the player."/>
          <p:cNvPicPr>
            <a:picLocks noChangeAspect="1"/>
          </p:cNvPicPr>
          <p:nvPr/>
        </p:nvPicPr>
        <p:blipFill>
          <a:blip r:embed="rId3"/>
          <a:stretch>
            <a:fillRect/>
          </a:stretch>
        </p:blipFill>
        <p:spPr>
          <a:xfrm>
            <a:off x="548640" y="1874520"/>
            <a:ext cx="4480560" cy="2520315"/>
          </a:xfrm>
          <a:prstGeom prst="rect">
            <a:avLst/>
          </a:prstGeom>
          <a:ln>
            <a:noFill/>
          </a:ln>
        </p:spPr>
      </p:pic>
      <p:sp>
        <p:nvSpPr>
          <p:cNvPr id="8" name="Racing-line contrast underlay"/>
          <p:cNvSpPr/>
          <p:nvPr/>
        </p:nvSpPr>
        <p:spPr>
          <a:xfrm>
            <a:off x="548640" y="187452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moveTo>
                  <a:pt x="826" y="352"/>
                </a:moveTo>
                <a:lnTo>
                  <a:pt x="834" y="349"/>
                </a:lnTo>
                <a:lnTo>
                  <a:pt x="845" y="345"/>
                </a:lnTo>
                <a:lnTo>
                  <a:pt x="857" y="342"/>
                </a:lnTo>
                <a:lnTo>
                  <a:pt x="871" y="339"/>
                </a:lnTo>
                <a:lnTo>
                  <a:pt x="887" y="336"/>
                </a:lnTo>
                <a:lnTo>
                  <a:pt x="908" y="333"/>
                </a:lnTo>
                <a:lnTo>
                  <a:pt x="925" y="331"/>
                </a:lnTo>
              </a:path>
            </a:pathLst>
          </a:custGeom>
          <a:noFill/>
          <a:ln w="66040" cap="rnd">
            <a:solidFill>
              <a:srgbClr val="07071A">
                <a:alpha val="80000"/>
              </a:srgbClr>
            </a:solidFill>
            <a:round/>
          </a:ln>
        </p:spPr>
        <p:txBody>
          <a:bodyPr/>
          <a:lstStyle/>
          <a:p>
            <a:endParaRPr lang="en-ZA"/>
          </a:p>
        </p:txBody>
      </p:sp>
      <p:sp>
        <p:nvSpPr>
          <p:cNvPr id="9" name="Editable racing-line target - near" descr="Projected engine target: offset = clamp(0.12 * avgCurveAhead(position, 40), -0.55, 0.55). These points are sampled from the actual game's projection. Interrupted behind Lyra's car so the overlay does not paint over it."/>
          <p:cNvSpPr/>
          <p:nvPr/>
        </p:nvSpPr>
        <p:spPr>
          <a:xfrm>
            <a:off x="548640" y="187452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path>
            </a:pathLst>
          </a:custGeom>
          <a:noFill/>
          <a:ln w="33020" cap="rnd">
            <a:solidFill>
              <a:srgbClr val="FFD166"/>
            </a:solidFill>
            <a:round/>
          </a:ln>
        </p:spPr>
        <p:txBody>
          <a:bodyPr/>
          <a:lstStyle/>
          <a:p>
            <a:endParaRPr lang="en-ZA"/>
          </a:p>
        </p:txBody>
      </p:sp>
      <p:sp>
        <p:nvSpPr>
          <p:cNvPr id="10" name="Editable racing-line target - ahead" descr="The target line continues ahead of Lyra toward the inside of this right-hand bend. An explanatory annotation, not a path returned by the AI."/>
          <p:cNvSpPr/>
          <p:nvPr/>
        </p:nvSpPr>
        <p:spPr>
          <a:xfrm>
            <a:off x="548640" y="1874520"/>
            <a:ext cx="4480560" cy="2520315"/>
          </a:xfrm>
          <a:custGeom>
            <a:avLst/>
            <a:gdLst/>
            <a:ahLst/>
            <a:cxnLst/>
            <a:rect l="0" t="0" r="r" b="b"/>
            <a:pathLst>
              <a:path w="1280" h="720" fill="none">
                <a:moveTo>
                  <a:pt x="826" y="352"/>
                </a:moveTo>
                <a:lnTo>
                  <a:pt x="834" y="349"/>
                </a:lnTo>
                <a:lnTo>
                  <a:pt x="845" y="345"/>
                </a:lnTo>
                <a:lnTo>
                  <a:pt x="857" y="342"/>
                </a:lnTo>
                <a:lnTo>
                  <a:pt x="871" y="339"/>
                </a:lnTo>
                <a:lnTo>
                  <a:pt x="887" y="336"/>
                </a:lnTo>
                <a:lnTo>
                  <a:pt x="908" y="333"/>
                </a:lnTo>
                <a:lnTo>
                  <a:pt x="925" y="331"/>
                </a:lnTo>
              </a:path>
            </a:pathLst>
          </a:custGeom>
          <a:noFill/>
          <a:ln w="21590" cap="rnd">
            <a:solidFill>
              <a:srgbClr val="FFD166"/>
            </a:solidFill>
            <a:round/>
            <a:tailEnd type="triangle" w="sm" len="sm"/>
          </a:ln>
        </p:spPr>
        <p:txBody>
          <a:bodyPr/>
          <a:lstStyle/>
          <a:p>
            <a:endParaRPr lang="en-ZA"/>
          </a:p>
        </p:txBody>
      </p:sp>
      <p:sp>
        <p:nvSpPr>
          <p:cNvPr id="11" name="Lyra request-to-screenshot callout"/>
          <p:cNvSpPr txBox="1"/>
          <p:nvPr/>
        </p:nvSpPr>
        <p:spPr>
          <a:xfrm>
            <a:off x="786384" y="2606040"/>
            <a:ext cx="2651760" cy="274320"/>
          </a:xfrm>
          <a:prstGeom prst="roundRect">
            <a:avLst>
              <a:gd name="adj" fmla="val 18000"/>
            </a:avLst>
          </a:prstGeom>
          <a:solidFill>
            <a:srgbClr val="07071A">
              <a:alpha val="90000"/>
            </a:srgbClr>
          </a:solidFill>
          <a:ln>
            <a:noFill/>
          </a:ln>
        </p:spPr>
        <p:txBody>
          <a:bodyPr wrap="none" lIns="91440" tIns="0" rIns="91440" bIns="0" anchor="ctr"/>
          <a:lstStyle/>
          <a:p>
            <a:pPr>
              <a:buNone/>
            </a:pPr>
            <a:r>
              <a:rPr lang="en-US" sz="1100" b="1">
                <a:solidFill>
                  <a:srgbClr val="D7BCFF"/>
                </a:solidFill>
                <a:latin typeface="Segoe UI Semibold"/>
              </a:rPr>
              <a:t>LYRA #22 / P2 / 268 km/h</a:t>
            </a:r>
          </a:p>
        </p:txBody>
      </p:sp>
      <p:sp>
        <p:nvSpPr>
          <p:cNvPr id="14" name="Request card"/>
          <p:cNvSpPr/>
          <p:nvPr/>
        </p:nvSpPr>
        <p:spPr>
          <a:xfrm>
            <a:off x="5349240" y="1874520"/>
            <a:ext cx="3246120" cy="1197864"/>
          </a:xfrm>
          <a:prstGeom prst="roundRect">
            <a:avLst>
              <a:gd name="adj" fmla="val 14000"/>
            </a:avLst>
          </a:prstGeom>
          <a:solidFill>
            <a:srgbClr val="110F26"/>
          </a:solidFill>
          <a:ln>
            <a:noFill/>
          </a:ln>
        </p:spPr>
        <p:txBody>
          <a:bodyPr/>
          <a:lstStyle/>
          <a:p>
            <a:endParaRPr lang="en-ZA"/>
          </a:p>
        </p:txBody>
      </p:sp>
      <p:sp>
        <p:nvSpPr>
          <p:cNvPr id="15" name="AI request label"/>
          <p:cNvSpPr txBox="1"/>
          <p:nvPr/>
        </p:nvSpPr>
        <p:spPr>
          <a:xfrm>
            <a:off x="5532120" y="2020824"/>
            <a:ext cx="2880360" cy="182880"/>
          </a:xfrm>
          <a:prstGeom prst="rect">
            <a:avLst/>
          </a:prstGeom>
          <a:noFill/>
          <a:ln>
            <a:noFill/>
          </a:ln>
        </p:spPr>
        <p:txBody>
          <a:bodyPr wrap="none" lIns="0" tIns="0" rIns="0" bIns="0"/>
          <a:lstStyle/>
          <a:p>
            <a:pPr>
              <a:buNone/>
            </a:pPr>
            <a:r>
              <a:rPr lang="en-US" sz="1050" b="1" spc="80">
                <a:solidFill>
                  <a:srgbClr val="3DD6FF"/>
                </a:solidFill>
                <a:latin typeface="Segoe UI Semibold"/>
              </a:rPr>
              <a:t>AI REQUEST / STATE SUMMARY</a:t>
            </a:r>
          </a:p>
        </p:txBody>
      </p:sp>
      <p:sp>
        <p:nvSpPr>
          <p:cNvPr id="16" name="Matching Lyra telemetry"/>
          <p:cNvSpPr txBox="1"/>
          <p:nvPr/>
        </p:nvSpPr>
        <p:spPr>
          <a:xfrm>
            <a:off x="5532120" y="2258568"/>
            <a:ext cx="2880360" cy="694944"/>
          </a:xfrm>
          <a:prstGeom prst="rect">
            <a:avLst/>
          </a:prstGeom>
          <a:noFill/>
          <a:ln>
            <a:noFill/>
          </a:ln>
        </p:spPr>
        <p:txBody>
          <a:bodyPr wrap="none" lIns="0" tIns="0" rIns="0" bIns="0"/>
          <a:lstStyle/>
          <a:p>
            <a:pPr>
              <a:lnSpc>
                <a:spcPts val="1600"/>
              </a:lnSpc>
              <a:buNone/>
            </a:pPr>
            <a:r>
              <a:rPr lang="en-US" sz="1300" b="1">
                <a:solidFill>
                  <a:srgbClr val="ECE9F8"/>
                </a:solidFill>
                <a:latin typeface="Segoe UI Semibold"/>
              </a:rPr>
              <a:t>Lyra #22 / smooth / lap 1/3 / P2</a:t>
            </a:r>
          </a:p>
          <a:p>
            <a:pPr>
              <a:lnSpc>
                <a:spcPts val="1600"/>
              </a:lnSpc>
              <a:buNone/>
            </a:pPr>
            <a:r>
              <a:rPr lang="en-US" sz="1300">
                <a:solidFill>
                  <a:srgbClr val="ECE9F8"/>
                </a:solidFill>
                <a:latin typeface="Segoe UI"/>
              </a:rPr>
              <a:t>268 km/h / medium right / uphill</a:t>
            </a:r>
          </a:p>
          <a:p>
            <a:pPr>
              <a:lnSpc>
                <a:spcPts val="1600"/>
              </a:lnSpc>
              <a:buNone/>
            </a:pPr>
            <a:r>
              <a:rPr lang="en-US" sz="1300">
                <a:solidFill>
                  <a:srgbClr val="ECE9F8"/>
                </a:solidFill>
                <a:latin typeface="Segoe UI"/>
              </a:rPr>
              <a:t>No car ahead within 150 m</a:t>
            </a:r>
          </a:p>
        </p:txBody>
      </p:sp>
      <p:sp>
        <p:nvSpPr>
          <p:cNvPr id="18" name="Live result card"/>
          <p:cNvSpPr/>
          <p:nvPr/>
        </p:nvSpPr>
        <p:spPr>
          <a:xfrm>
            <a:off x="5349240" y="3300984"/>
            <a:ext cx="3246120" cy="1097280"/>
          </a:xfrm>
          <a:prstGeom prst="roundRect">
            <a:avLst>
              <a:gd name="adj" fmla="val 14000"/>
            </a:avLst>
          </a:prstGeom>
          <a:solidFill>
            <a:srgbClr val="110F26"/>
          </a:solidFill>
          <a:ln>
            <a:noFill/>
          </a:ln>
        </p:spPr>
        <p:txBody>
          <a:bodyPr/>
          <a:lstStyle/>
          <a:p>
            <a:endParaRPr lang="en-ZA"/>
          </a:p>
        </p:txBody>
      </p:sp>
      <p:sp>
        <p:nvSpPr>
          <p:cNvPr id="19" name="Live response label"/>
          <p:cNvSpPr txBox="1"/>
          <p:nvPr/>
        </p:nvSpPr>
        <p:spPr>
          <a:xfrm>
            <a:off x="5532120" y="3447288"/>
            <a:ext cx="2880360" cy="182880"/>
          </a:xfrm>
          <a:prstGeom prst="rect">
            <a:avLst/>
          </a:prstGeom>
          <a:noFill/>
          <a:ln>
            <a:noFill/>
          </a:ln>
        </p:spPr>
        <p:txBody>
          <a:bodyPr wrap="none" lIns="0" tIns="0" rIns="0" bIns="0"/>
          <a:lstStyle/>
          <a:p>
            <a:pPr>
              <a:buNone/>
            </a:pPr>
            <a:r>
              <a:rPr lang="en-US" sz="1050" b="1" spc="80">
                <a:solidFill>
                  <a:srgbClr val="45E89A"/>
                </a:solidFill>
                <a:latin typeface="Segoe UI Semibold"/>
              </a:rPr>
              <a:t>LIVE RESULT / 358 ms</a:t>
            </a:r>
          </a:p>
        </p:txBody>
      </p:sp>
      <p:sp>
        <p:nvSpPr>
          <p:cNvPr id="20" name="Chosen maneuver"/>
          <p:cNvSpPr txBox="1"/>
          <p:nvPr/>
        </p:nvSpPr>
        <p:spPr>
          <a:xfrm>
            <a:off x="5532120" y="3712464"/>
            <a:ext cx="1911096" cy="274320"/>
          </a:xfrm>
          <a:prstGeom prst="rect">
            <a:avLst/>
          </a:prstGeom>
          <a:noFill/>
          <a:ln>
            <a:noFill/>
          </a:ln>
        </p:spPr>
        <p:txBody>
          <a:bodyPr wrap="none" lIns="0" tIns="0" rIns="0" bIns="0"/>
          <a:lstStyle/>
          <a:p>
            <a:pPr>
              <a:buNone/>
            </a:pPr>
            <a:r>
              <a:rPr lang="en-US" sz="1800" b="1">
                <a:solidFill>
                  <a:srgbClr val="3DD6FF"/>
                </a:solidFill>
                <a:latin typeface="Consolas"/>
              </a:rPr>
              <a:t>racing_line</a:t>
            </a:r>
          </a:p>
        </p:txBody>
      </p:sp>
      <p:sp>
        <p:nvSpPr>
          <p:cNvPr id="21" name="Maneuver probability"/>
          <p:cNvSpPr txBox="1"/>
          <p:nvPr/>
        </p:nvSpPr>
        <p:spPr>
          <a:xfrm>
            <a:off x="7242048" y="3785616"/>
            <a:ext cx="1170432" cy="182880"/>
          </a:xfrm>
          <a:prstGeom prst="rect">
            <a:avLst/>
          </a:prstGeom>
          <a:noFill/>
          <a:ln>
            <a:noFill/>
          </a:ln>
        </p:spPr>
        <p:txBody>
          <a:bodyPr wrap="none" lIns="0" tIns="0" rIns="0" bIns="0"/>
          <a:lstStyle/>
          <a:p>
            <a:pPr algn="r">
              <a:buNone/>
            </a:pPr>
            <a:r>
              <a:rPr lang="en-US" sz="1050" b="1">
                <a:solidFill>
                  <a:srgbClr val="45E89A"/>
                </a:solidFill>
                <a:latin typeface="Segoe UI Semibold"/>
              </a:rPr>
              <a:t>choice: 99.24%</a:t>
            </a:r>
          </a:p>
        </p:txBody>
      </p:sp>
      <p:sp>
        <p:nvSpPr>
          <p:cNvPr id="22" name="Pace and nitro results"/>
          <p:cNvSpPr txBox="1"/>
          <p:nvPr/>
        </p:nvSpPr>
        <p:spPr>
          <a:xfrm>
            <a:off x="5532120" y="3995928"/>
            <a:ext cx="2880360" cy="228600"/>
          </a:xfrm>
          <a:prstGeom prst="rect">
            <a:avLst/>
          </a:prstGeom>
          <a:noFill/>
          <a:ln>
            <a:noFill/>
          </a:ln>
        </p:spPr>
        <p:txBody>
          <a:bodyPr wrap="none" lIns="0" tIns="0" rIns="0" bIns="0"/>
          <a:lstStyle/>
          <a:p>
            <a:pPr>
              <a:buNone/>
            </a:pPr>
            <a:r>
              <a:rPr lang="en-US" sz="1250">
                <a:solidFill>
                  <a:srgbClr val="ECE9F8"/>
                </a:solidFill>
                <a:latin typeface="Consolas"/>
              </a:rPr>
              <a:t>pace 1.46 / 3   nitro 0.095</a:t>
            </a:r>
          </a:p>
        </p:txBody>
      </p:sp>
      <p:sp>
        <p:nvSpPr>
          <p:cNvPr id="24" name="Leader identifying Lyra"/>
          <p:cNvSpPr/>
          <p:nvPr/>
        </p:nvSpPr>
        <p:spPr>
          <a:xfrm>
            <a:off x="2980944" y="2880360"/>
            <a:ext cx="192024" cy="283464"/>
          </a:xfrm>
          <a:custGeom>
            <a:avLst/>
            <a:gdLst/>
            <a:ahLst/>
            <a:cxnLst/>
            <a:rect l="0" t="0" r="r" b="b"/>
            <a:pathLst>
              <a:path w="1000" h="1000" fill="none">
                <a:moveTo>
                  <a:pt x="0" y="0"/>
                </a:moveTo>
                <a:lnTo>
                  <a:pt x="1000" y="1000"/>
                </a:lnTo>
              </a:path>
            </a:pathLst>
          </a:custGeom>
          <a:noFill/>
          <a:ln w="16510" cap="rnd">
            <a:solidFill>
              <a:srgbClr val="D7BCFF"/>
            </a:solidFill>
            <a:tailEnd type="triangle" w="sm" len="sm"/>
          </a:ln>
        </p:spPr>
        <p:txBody>
          <a:bodyPr/>
          <a:lstStyle/>
          <a:p>
            <a:endParaRPr lang="en-ZA"/>
          </a:p>
        </p:txBody>
      </p:sp>
      <p:sp>
        <p:nvSpPr>
          <p:cNvPr id="25" name="Identify the player HUD"/>
          <p:cNvSpPr txBox="1"/>
          <p:nvPr/>
        </p:nvSpPr>
        <p:spPr>
          <a:xfrm>
            <a:off x="1179576" y="2029968"/>
            <a:ext cx="594360" cy="182880"/>
          </a:xfrm>
          <a:prstGeom prst="rect">
            <a:avLst/>
          </a:prstGeom>
          <a:noFill/>
          <a:ln>
            <a:noFill/>
          </a:ln>
        </p:spPr>
        <p:txBody>
          <a:bodyPr wrap="none" lIns="0" tIns="0" rIns="0" bIns="0"/>
          <a:lstStyle/>
          <a:p>
            <a:pPr>
              <a:buNone/>
            </a:pPr>
            <a:r>
              <a:rPr lang="en-US" sz="950" b="1">
                <a:solidFill>
                  <a:srgbClr val="3DD6FF"/>
                </a:solidFill>
                <a:latin typeface="Segoe UI Semibold"/>
              </a:rPr>
              <a:t>YOU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071A"/>
        </a:solidFill>
        <a:effectLst/>
      </p:bgPr>
    </p:bg>
    <p:spTree>
      <p:nvGrpSpPr>
        <p:cNvPr id="1" name=""/>
        <p:cNvGrpSpPr/>
        <p:nvPr/>
      </p:nvGrpSpPr>
      <p:grpSpPr/>
      <p:sp>
        <p:nvSpPr>
          <p:cNvPr id="2" name="Shape 0"/>
          <p:cNvSpPr/>
          <p:nvPr/>
        </p:nvSpPr>
        <p:spPr>
          <a:xfrm>
            <a:off x="548640" y="484632"/>
            <a:ext cx="109728" cy="109728"/>
          </a:xfrm>
          <a:prstGeom prst="ellipse">
            <a:avLst/>
          </a:prstGeom>
          <a:solidFill>
            <a:srgbClr val="FF5FA2"/>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RACE CONTROL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12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The model is the steward</a:t>
            </a:r>
            <a:endParaRPr lang="en-US" sz="3400" dirty="0"/>
          </a:p>
        </p:txBody>
      </p:sp>
      <p:pic>
        <p:nvPicPr>
          <p:cNvPr id="6" name="Race Control penalty capture" descr="LUNA GP race view with a +5 s penalty banner: Race Control ruled that the player caused a rear-end contact with Vega"/>
          <p:cNvPicPr>
            <a:picLocks noChangeAspect="1"/>
          </p:cNvPicPr>
          <p:nvPr/>
        </p:nvPicPr>
        <p:blipFill>
          <a:blip r:embed="rId2"/>
          <a:stretch>
            <a:fillRect/>
          </a:stretch>
        </p:blipFill>
        <p:spPr>
          <a:xfrm>
            <a:off x="548640" y="1874520"/>
            <a:ext cx="4480560" cy="2520315"/>
          </a:xfrm>
          <a:prstGeom prst="roundRect">
            <a:avLst>
              <a:gd name="adj" fmla="val 3628"/>
            </a:avLst>
          </a:prstGeom>
        </p:spPr>
      </p:pic>
      <p:sp>
        <p:nvSpPr>
          <p:cNvPr id="7" name="Ruling card"/>
          <p:cNvSpPr/>
          <p:nvPr/>
        </p:nvSpPr>
        <p:spPr>
          <a:xfrm>
            <a:off x="5349240" y="1874520"/>
            <a:ext cx="3246120" cy="2520315"/>
          </a:xfrm>
          <a:prstGeom prst="roundRect">
            <a:avLst>
              <a:gd name="adj" fmla="val 6530"/>
            </a:avLst>
          </a:prstGeom>
          <a:solidFill>
            <a:srgbClr val="110F2B"/>
          </a:solidFill>
          <a:ln/>
        </p:spPr>
        <p:txBody>
          <a:bodyPr/>
          <a:lstStyle/>
          <a:p>
            <a:endParaRPr lang="en-ZA"/>
          </a:p>
        </p:txBody>
      </p:sp>
      <p:sp>
        <p:nvSpPr>
          <p:cNvPr id="8" name="Ruling label"/>
          <p:cNvSpPr txBox="1"/>
          <p:nvPr/>
        </p:nvSpPr>
        <p:spPr>
          <a:xfrm>
            <a:off x="5532120" y="2048256"/>
            <a:ext cx="2880360" cy="201168"/>
          </a:xfrm>
          <a:prstGeom prst="rect">
            <a:avLst/>
          </a:prstGeom>
          <a:noFill/>
        </p:spPr>
        <p:txBody>
          <a:bodyPr wrap="square" lIns="0" rIns="0" tIns="0" bIns="0" anchor="t">
            <a:noAutofit/>
          </a:bodyPr>
          <a:lstStyle/>
          <a:p>
            <a:pPr algn="l"/>
            <a:r>
              <a:rPr sz="1050" b="0" i="0" spc="200">
                <a:solidFill>
                  <a:srgbClr val="FF5FA2"/>
                </a:solidFill>
                <a:latin typeface="Segoe UI Semibold"/>
              </a:rPr>
              <a:t>RULING</a:t>
            </a:r>
          </a:p>
        </p:txBody>
      </p:sp>
      <p:sp>
        <p:nvSpPr>
          <p:cNvPr id="9" name="Responsible question"/>
          <p:cNvSpPr txBox="1"/>
          <p:nvPr/>
        </p:nvSpPr>
        <p:spPr>
          <a:xfrm>
            <a:off x="5532120" y="2359152"/>
            <a:ext cx="2880360" cy="201168"/>
          </a:xfrm>
          <a:prstGeom prst="rect">
            <a:avLst/>
          </a:prstGeom>
          <a:noFill/>
        </p:spPr>
        <p:txBody>
          <a:bodyPr wrap="square" lIns="0" rIns="0" tIns="0" bIns="0" anchor="t">
            <a:noAutofit/>
          </a:bodyPr>
          <a:lstStyle/>
          <a:p>
            <a:pPr algn="l"/>
            <a:r>
              <a:rPr sz="1050" b="0" i="0">
                <a:solidFill>
                  <a:srgbClr val="ABA6C8"/>
                </a:solidFill>
                <a:latin typeface="Consolas"/>
              </a:rPr>
              <a:t>responsible</a:t>
            </a:r>
            <a:r>
              <a:rPr sz="1050" b="0" i="0">
                <a:solidFill>
                  <a:srgbClr val="FFD166"/>
                </a:solidFill>
                <a:latin typeface="Consolas"/>
              </a:rPr>
              <a:t>  choice</a:t>
            </a:r>
          </a:p>
        </p:txBody>
      </p:sp>
      <p:sp>
        <p:nvSpPr>
          <p:cNvPr id="10" name="You option"/>
          <p:cNvSpPr txBox="1"/>
          <p:nvPr/>
        </p:nvSpPr>
        <p:spPr>
          <a:xfrm>
            <a:off x="5532120" y="2615184"/>
            <a:ext cx="731520" cy="201168"/>
          </a:xfrm>
          <a:prstGeom prst="rect">
            <a:avLst/>
          </a:prstGeom>
          <a:noFill/>
        </p:spPr>
        <p:txBody>
          <a:bodyPr wrap="square" lIns="0" rIns="0" tIns="0" bIns="0" anchor="t">
            <a:noAutofit/>
          </a:bodyPr>
          <a:lstStyle/>
          <a:p>
            <a:pPr algn="l"/>
            <a:r>
              <a:rPr sz="1100" b="0" i="0">
                <a:solidFill>
                  <a:srgbClr val="ECE9F8"/>
                </a:solidFill>
                <a:latin typeface="Segoe UI"/>
              </a:rPr>
              <a:t>You</a:t>
            </a:r>
          </a:p>
        </p:txBody>
      </p:sp>
      <p:sp>
        <p:nvSpPr>
          <p:cNvPr id="11" name="You track"/>
          <p:cNvSpPr/>
          <p:nvPr/>
        </p:nvSpPr>
        <p:spPr>
          <a:xfrm>
            <a:off x="6281928" y="2679192"/>
            <a:ext cx="1508760" cy="73152"/>
          </a:xfrm>
          <a:prstGeom prst="rect">
            <a:avLst/>
          </a:prstGeom>
          <a:solidFill>
            <a:srgbClr val="36316A"/>
          </a:solidFill>
          <a:ln>
            <a:noFill/>
          </a:ln>
        </p:spPr>
        <p:txBody>
          <a:bodyPr rtlCol="0" anchor="ctr"/>
          <a:lstStyle/>
          <a:p>
            <a:pPr algn="ctr"/>
          </a:p>
        </p:txBody>
      </p:sp>
      <p:sp>
        <p:nvSpPr>
          <p:cNvPr id="12" name="You probability"/>
          <p:cNvSpPr/>
          <p:nvPr/>
        </p:nvSpPr>
        <p:spPr>
          <a:xfrm>
            <a:off x="6281928" y="2679192"/>
            <a:ext cx="1297534" cy="73152"/>
          </a:xfrm>
          <a:prstGeom prst="rect">
            <a:avLst/>
          </a:prstGeom>
          <a:solidFill>
            <a:srgbClr val="FF5FA2"/>
          </a:solidFill>
          <a:ln>
            <a:noFill/>
          </a:ln>
        </p:spPr>
        <p:txBody>
          <a:bodyPr rtlCol="0" anchor="ctr"/>
          <a:lstStyle/>
          <a:p>
            <a:pPr algn="ctr"/>
          </a:p>
        </p:txBody>
      </p:sp>
      <p:sp>
        <p:nvSpPr>
          <p:cNvPr id="13" name="You value"/>
          <p:cNvSpPr txBox="1"/>
          <p:nvPr/>
        </p:nvSpPr>
        <p:spPr>
          <a:xfrm>
            <a:off x="7863840" y="2615184"/>
            <a:ext cx="548640" cy="201168"/>
          </a:xfrm>
          <a:prstGeom prst="rect">
            <a:avLst/>
          </a:prstGeom>
          <a:noFill/>
        </p:spPr>
        <p:txBody>
          <a:bodyPr wrap="square" lIns="0" rIns="0" tIns="0" bIns="0" anchor="t">
            <a:noAutofit/>
          </a:bodyPr>
          <a:lstStyle/>
          <a:p>
            <a:pPr algn="r"/>
            <a:r>
              <a:rPr sz="1100" b="0" i="0">
                <a:solidFill>
                  <a:srgbClr val="ABA6C8"/>
                </a:solidFill>
                <a:latin typeface="Segoe UI"/>
              </a:rPr>
              <a:t>0.86</a:t>
            </a:r>
          </a:p>
        </p:txBody>
      </p:sp>
      <p:sp>
        <p:nvSpPr>
          <p:cNvPr id="14" name="Vega option"/>
          <p:cNvSpPr txBox="1"/>
          <p:nvPr/>
        </p:nvSpPr>
        <p:spPr>
          <a:xfrm>
            <a:off x="5532120" y="2825496"/>
            <a:ext cx="731520" cy="201168"/>
          </a:xfrm>
          <a:prstGeom prst="rect">
            <a:avLst/>
          </a:prstGeom>
          <a:noFill/>
        </p:spPr>
        <p:txBody>
          <a:bodyPr wrap="square" lIns="0" rIns="0" tIns="0" bIns="0" anchor="t">
            <a:noAutofit/>
          </a:bodyPr>
          <a:lstStyle/>
          <a:p>
            <a:pPr algn="l"/>
            <a:r>
              <a:rPr sz="1100" b="0" i="0">
                <a:solidFill>
                  <a:srgbClr val="ECE9F8"/>
                </a:solidFill>
                <a:latin typeface="Segoe UI"/>
              </a:rPr>
              <a:t>Vega</a:t>
            </a:r>
          </a:p>
        </p:txBody>
      </p:sp>
      <p:sp>
        <p:nvSpPr>
          <p:cNvPr id="15" name="Vega track"/>
          <p:cNvSpPr/>
          <p:nvPr/>
        </p:nvSpPr>
        <p:spPr>
          <a:xfrm>
            <a:off x="6281928" y="2889504"/>
            <a:ext cx="1508760" cy="73152"/>
          </a:xfrm>
          <a:prstGeom prst="rect">
            <a:avLst/>
          </a:prstGeom>
          <a:solidFill>
            <a:srgbClr val="36316A"/>
          </a:solidFill>
          <a:ln>
            <a:noFill/>
          </a:ln>
        </p:spPr>
        <p:txBody>
          <a:bodyPr rtlCol="0" anchor="ctr"/>
          <a:lstStyle/>
          <a:p>
            <a:pPr algn="ctr"/>
          </a:p>
        </p:txBody>
      </p:sp>
      <p:sp>
        <p:nvSpPr>
          <p:cNvPr id="16" name="Vega probability"/>
          <p:cNvSpPr/>
          <p:nvPr/>
        </p:nvSpPr>
        <p:spPr>
          <a:xfrm>
            <a:off x="6281928" y="2889504"/>
            <a:ext cx="105613" cy="73152"/>
          </a:xfrm>
          <a:prstGeom prst="rect">
            <a:avLst/>
          </a:prstGeom>
          <a:solidFill>
            <a:srgbClr val="6C6790"/>
          </a:solidFill>
          <a:ln>
            <a:noFill/>
          </a:ln>
        </p:spPr>
        <p:txBody>
          <a:bodyPr rtlCol="0" anchor="ctr"/>
          <a:lstStyle/>
          <a:p>
            <a:pPr algn="ctr"/>
          </a:p>
        </p:txBody>
      </p:sp>
      <p:sp>
        <p:nvSpPr>
          <p:cNvPr id="17" name="Vega value"/>
          <p:cNvSpPr txBox="1"/>
          <p:nvPr/>
        </p:nvSpPr>
        <p:spPr>
          <a:xfrm>
            <a:off x="7863840" y="2825496"/>
            <a:ext cx="548640" cy="201168"/>
          </a:xfrm>
          <a:prstGeom prst="rect">
            <a:avLst/>
          </a:prstGeom>
          <a:noFill/>
        </p:spPr>
        <p:txBody>
          <a:bodyPr wrap="square" lIns="0" rIns="0" tIns="0" bIns="0" anchor="t">
            <a:noAutofit/>
          </a:bodyPr>
          <a:lstStyle/>
          <a:p>
            <a:pPr algn="r"/>
            <a:r>
              <a:rPr sz="1100" b="0" i="0">
                <a:solidFill>
                  <a:srgbClr val="ABA6C8"/>
                </a:solidFill>
                <a:latin typeface="Segoe UI"/>
              </a:rPr>
              <a:t>0.07</a:t>
            </a:r>
          </a:p>
        </p:txBody>
      </p:sp>
      <p:sp>
        <p:nvSpPr>
          <p:cNvPr id="18" name="Incident option"/>
          <p:cNvSpPr txBox="1"/>
          <p:nvPr/>
        </p:nvSpPr>
        <p:spPr>
          <a:xfrm>
            <a:off x="5532120" y="3035808"/>
            <a:ext cx="731520" cy="201168"/>
          </a:xfrm>
          <a:prstGeom prst="rect">
            <a:avLst/>
          </a:prstGeom>
          <a:noFill/>
        </p:spPr>
        <p:txBody>
          <a:bodyPr wrap="square" lIns="0" rIns="0" tIns="0" bIns="0" anchor="t">
            <a:noAutofit/>
          </a:bodyPr>
          <a:lstStyle/>
          <a:p>
            <a:pPr algn="l"/>
            <a:r>
              <a:rPr sz="1100" b="0" i="0">
                <a:solidFill>
                  <a:srgbClr val="ECE9F8"/>
                </a:solidFill>
                <a:latin typeface="Segoe UI"/>
              </a:rPr>
              <a:t>Incident</a:t>
            </a:r>
          </a:p>
        </p:txBody>
      </p:sp>
      <p:sp>
        <p:nvSpPr>
          <p:cNvPr id="19" name="Incident track"/>
          <p:cNvSpPr/>
          <p:nvPr/>
        </p:nvSpPr>
        <p:spPr>
          <a:xfrm>
            <a:off x="6281928" y="3099816"/>
            <a:ext cx="1508760" cy="73152"/>
          </a:xfrm>
          <a:prstGeom prst="rect">
            <a:avLst/>
          </a:prstGeom>
          <a:solidFill>
            <a:srgbClr val="36316A"/>
          </a:solidFill>
          <a:ln>
            <a:noFill/>
          </a:ln>
        </p:spPr>
        <p:txBody>
          <a:bodyPr rtlCol="0" anchor="ctr"/>
          <a:lstStyle/>
          <a:p>
            <a:pPr algn="ctr"/>
          </a:p>
        </p:txBody>
      </p:sp>
      <p:sp>
        <p:nvSpPr>
          <p:cNvPr id="20" name="Incident probability"/>
          <p:cNvSpPr/>
          <p:nvPr/>
        </p:nvSpPr>
        <p:spPr>
          <a:xfrm>
            <a:off x="6281928" y="3099816"/>
            <a:ext cx="105613" cy="73152"/>
          </a:xfrm>
          <a:prstGeom prst="rect">
            <a:avLst/>
          </a:prstGeom>
          <a:solidFill>
            <a:srgbClr val="6C6790"/>
          </a:solidFill>
          <a:ln>
            <a:noFill/>
          </a:ln>
        </p:spPr>
        <p:txBody>
          <a:bodyPr rtlCol="0" anchor="ctr"/>
          <a:lstStyle/>
          <a:p>
            <a:pPr algn="ctr"/>
          </a:p>
        </p:txBody>
      </p:sp>
      <p:sp>
        <p:nvSpPr>
          <p:cNvPr id="21" name="Incident value"/>
          <p:cNvSpPr txBox="1"/>
          <p:nvPr/>
        </p:nvSpPr>
        <p:spPr>
          <a:xfrm>
            <a:off x="7863840" y="3035808"/>
            <a:ext cx="548640" cy="201168"/>
          </a:xfrm>
          <a:prstGeom prst="rect">
            <a:avLst/>
          </a:prstGeom>
          <a:noFill/>
        </p:spPr>
        <p:txBody>
          <a:bodyPr wrap="square" lIns="0" rIns="0" tIns="0" bIns="0" anchor="t">
            <a:noAutofit/>
          </a:bodyPr>
          <a:lstStyle/>
          <a:p>
            <a:pPr algn="r"/>
            <a:r>
              <a:rPr sz="1100" b="0" i="0">
                <a:solidFill>
                  <a:srgbClr val="ABA6C8"/>
                </a:solidFill>
                <a:latin typeface="Segoe UI"/>
              </a:rPr>
              <a:t>0.07</a:t>
            </a:r>
          </a:p>
        </p:txBody>
      </p:sp>
      <p:sp>
        <p:nvSpPr>
          <p:cNvPr id="22" name="Severity question"/>
          <p:cNvSpPr txBox="1"/>
          <p:nvPr/>
        </p:nvSpPr>
        <p:spPr>
          <a:xfrm>
            <a:off x="5532120" y="3346704"/>
            <a:ext cx="2880360" cy="201168"/>
          </a:xfrm>
          <a:prstGeom prst="rect">
            <a:avLst/>
          </a:prstGeom>
          <a:noFill/>
        </p:spPr>
        <p:txBody>
          <a:bodyPr wrap="square" lIns="0" rIns="0" tIns="0" bIns="0" anchor="t">
            <a:noAutofit/>
          </a:bodyPr>
          <a:lstStyle/>
          <a:p>
            <a:pPr algn="l"/>
            <a:r>
              <a:rPr sz="1050" b="0" i="0">
                <a:solidFill>
                  <a:srgbClr val="ABA6C8"/>
                </a:solidFill>
                <a:latin typeface="Consolas"/>
              </a:rPr>
              <a:t>severity</a:t>
            </a:r>
            <a:r>
              <a:rPr sz="1050" b="0" i="0">
                <a:solidFill>
                  <a:srgbClr val="FFD166"/>
                </a:solidFill>
                <a:latin typeface="Consolas"/>
              </a:rPr>
              <a:t>  score</a:t>
            </a:r>
          </a:p>
        </p:txBody>
      </p:sp>
      <p:sp>
        <p:nvSpPr>
          <p:cNvPr id="23" name="Severity value"/>
          <p:cNvSpPr txBox="1"/>
          <p:nvPr/>
        </p:nvSpPr>
        <p:spPr>
          <a:xfrm>
            <a:off x="5532120" y="3566160"/>
            <a:ext cx="2880360" cy="274320"/>
          </a:xfrm>
          <a:prstGeom prst="rect">
            <a:avLst/>
          </a:prstGeom>
          <a:noFill/>
        </p:spPr>
        <p:txBody>
          <a:bodyPr wrap="square" lIns="0" rIns="0" tIns="0" bIns="0" anchor="t">
            <a:noAutofit/>
          </a:bodyPr>
          <a:lstStyle/>
          <a:p>
            <a:pPr algn="l"/>
            <a:r>
              <a:rPr sz="1300" b="0" i="0">
                <a:solidFill>
                  <a:srgbClr val="ECE9F8"/>
                </a:solidFill>
                <a:latin typeface="Segoe UI Semibold"/>
              </a:rPr>
              <a:t>1.99 / 2 · Dangerous</a:t>
            </a:r>
          </a:p>
        </p:txBody>
      </p:sp>
      <p:sp>
        <p:nvSpPr>
          <p:cNvPr id="24" name="Penalty"/>
          <p:cNvSpPr txBox="1"/>
          <p:nvPr/>
        </p:nvSpPr>
        <p:spPr>
          <a:xfrm>
            <a:off x="5532120" y="3886200"/>
            <a:ext cx="2880360" cy="329184"/>
          </a:xfrm>
          <a:prstGeom prst="rect">
            <a:avLst/>
          </a:prstGeom>
          <a:noFill/>
        </p:spPr>
        <p:txBody>
          <a:bodyPr wrap="square" lIns="0" rIns="0" tIns="0" bIns="0" anchor="t">
            <a:noAutofit/>
          </a:bodyPr>
          <a:lstStyle/>
          <a:p>
            <a:pPr algn="l"/>
            <a:r>
              <a:rPr sz="1700" b="0" i="0">
                <a:solidFill>
                  <a:srgbClr val="FF5FA2"/>
                </a:solidFill>
                <a:latin typeface="Segoe UI Black"/>
              </a:rPr>
              <a:t>+5s penalty for YOU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071A"/>
        </a:solidFill>
        <a:effectLst/>
      </p:bgPr>
    </p:bg>
    <p:spTree>
      <p:nvGrpSpPr>
        <p:cNvPr id="1" name=""/>
        <p:cNvGrpSpPr/>
        <p:nvPr/>
      </p:nvGrpSpPr>
      <p:grpSpPr/>
      <p:sp>
        <p:nvSpPr>
          <p:cNvPr id="2" name="Shape 0"/>
          <p:cNvSpPr/>
          <p:nvPr/>
        </p:nvSpPr>
        <p:spPr>
          <a:xfrm>
            <a:off x="548640" y="484632"/>
            <a:ext cx="109728" cy="109728"/>
          </a:xfrm>
          <a:prstGeom prst="ellipse">
            <a:avLst/>
          </a:prstGeom>
          <a:solidFill>
            <a:srgbClr val="FF5FA2"/>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DEBRIEF</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13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No flattery from the model</a:t>
            </a:r>
            <a:endParaRPr lang="en-US" sz="3400" dirty="0"/>
          </a:p>
        </p:txBody>
      </p:sp>
      <p:pic>
        <p:nvPicPr>
          <p:cNvPr id="6" name="Debrief capture" descr="LUNA GP results screen: the player finished P6 with 10 s of penalties; the model's debrief rates the player Rookie (0.20 of 3), picks Nova as driver of the day and answers No to clean racer"/>
          <p:cNvPicPr>
            <a:picLocks noChangeAspect="1"/>
          </p:cNvPicPr>
          <p:nvPr/>
        </p:nvPicPr>
        <p:blipFill>
          <a:blip r:embed="rId2"/>
          <a:stretch>
            <a:fillRect/>
          </a:stretch>
        </p:blipFill>
        <p:spPr>
          <a:xfrm>
            <a:off x="548640" y="1874520"/>
            <a:ext cx="4480560" cy="2520315"/>
          </a:xfrm>
          <a:prstGeom prst="roundRect">
            <a:avLst>
              <a:gd name="adj" fmla="val 3628"/>
            </a:avLst>
          </a:prstGeom>
        </p:spPr>
      </p:pic>
      <p:sp>
        <p:nvSpPr>
          <p:cNvPr id="7" name="Answers card"/>
          <p:cNvSpPr/>
          <p:nvPr/>
        </p:nvSpPr>
        <p:spPr>
          <a:xfrm>
            <a:off x="5349240" y="1874520"/>
            <a:ext cx="3246120" cy="2520315"/>
          </a:xfrm>
          <a:prstGeom prst="roundRect">
            <a:avLst>
              <a:gd name="adj" fmla="val 6530"/>
            </a:avLst>
          </a:prstGeom>
          <a:solidFill>
            <a:srgbClr val="110F2B"/>
          </a:solidFill>
          <a:ln/>
        </p:spPr>
        <p:txBody>
          <a:bodyPr/>
          <a:lstStyle/>
          <a:p>
            <a:endParaRPr lang="en-ZA"/>
          </a:p>
        </p:txBody>
      </p:sp>
      <p:sp>
        <p:nvSpPr>
          <p:cNvPr id="8" name="Answers label"/>
          <p:cNvSpPr txBox="1"/>
          <p:nvPr/>
        </p:nvSpPr>
        <p:spPr>
          <a:xfrm>
            <a:off x="5532120" y="2048256"/>
            <a:ext cx="2880360" cy="201168"/>
          </a:xfrm>
          <a:prstGeom prst="rect">
            <a:avLst/>
          </a:prstGeom>
          <a:noFill/>
        </p:spPr>
        <p:txBody>
          <a:bodyPr wrap="square" lIns="0" rIns="0" tIns="0" bIns="0" anchor="t">
            <a:noAutofit/>
          </a:bodyPr>
          <a:lstStyle/>
          <a:p>
            <a:pPr algn="l"/>
            <a:r>
              <a:rPr sz="1050" b="0" i="0" spc="200">
                <a:solidFill>
                  <a:srgbClr val="FF5FA2"/>
                </a:solidFill>
                <a:latin typeface="Segoe UI Semibold"/>
              </a:rPr>
              <a:t>THREE ANSWERS</a:t>
            </a:r>
          </a:p>
        </p:txBody>
      </p:sp>
      <p:sp>
        <p:nvSpPr>
          <p:cNvPr id="9" name="rating question"/>
          <p:cNvSpPr txBox="1"/>
          <p:nvPr/>
        </p:nvSpPr>
        <p:spPr>
          <a:xfrm>
            <a:off x="5532120" y="2414016"/>
            <a:ext cx="2880360" cy="201168"/>
          </a:xfrm>
          <a:prstGeom prst="rect">
            <a:avLst/>
          </a:prstGeom>
          <a:noFill/>
        </p:spPr>
        <p:txBody>
          <a:bodyPr wrap="square" lIns="0" rIns="0" tIns="0" bIns="0" anchor="t">
            <a:noAutofit/>
          </a:bodyPr>
          <a:lstStyle/>
          <a:p>
            <a:pPr algn="l"/>
            <a:r>
              <a:rPr sz="1050" b="0" i="0">
                <a:solidFill>
                  <a:srgbClr val="ABA6C8"/>
                </a:solidFill>
                <a:latin typeface="Consolas"/>
              </a:rPr>
              <a:t>rating</a:t>
            </a:r>
            <a:r>
              <a:rPr sz="1050" b="0" i="0">
                <a:solidFill>
                  <a:srgbClr val="FFD166"/>
                </a:solidFill>
                <a:latin typeface="Consolas"/>
              </a:rPr>
              <a:t>  score</a:t>
            </a:r>
          </a:p>
        </p:txBody>
      </p:sp>
      <p:sp>
        <p:nvSpPr>
          <p:cNvPr id="10" name="rating answer"/>
          <p:cNvSpPr txBox="1"/>
          <p:nvPr/>
        </p:nvSpPr>
        <p:spPr>
          <a:xfrm>
            <a:off x="5532120" y="2615184"/>
            <a:ext cx="2880360" cy="310896"/>
          </a:xfrm>
          <a:prstGeom prst="rect">
            <a:avLst/>
          </a:prstGeom>
          <a:noFill/>
        </p:spPr>
        <p:txBody>
          <a:bodyPr wrap="square" lIns="0" rIns="0" tIns="0" bIns="0" anchor="t">
            <a:noAutofit/>
          </a:bodyPr>
          <a:lstStyle/>
          <a:p>
            <a:pPr algn="l"/>
            <a:r>
              <a:rPr sz="1600" b="0" i="0">
                <a:solidFill>
                  <a:srgbClr val="ECE9F8"/>
                </a:solidFill>
                <a:latin typeface="Segoe UI Black"/>
              </a:rPr>
              <a:t>Rookie</a:t>
            </a:r>
            <a:r>
              <a:rPr sz="1100" b="0" i="0">
                <a:solidFill>
                  <a:srgbClr val="ABA6C8"/>
                </a:solidFill>
                <a:latin typeface="Segoe UI"/>
              </a:rPr>
              <a:t>  0.20 / 3</a:t>
            </a:r>
          </a:p>
        </p:txBody>
      </p:sp>
      <p:sp>
        <p:nvSpPr>
          <p:cNvPr id="11" name="driver_of_the_day question"/>
          <p:cNvSpPr txBox="1"/>
          <p:nvPr/>
        </p:nvSpPr>
        <p:spPr>
          <a:xfrm>
            <a:off x="5532120" y="3054096"/>
            <a:ext cx="2880360" cy="201168"/>
          </a:xfrm>
          <a:prstGeom prst="rect">
            <a:avLst/>
          </a:prstGeom>
          <a:noFill/>
        </p:spPr>
        <p:txBody>
          <a:bodyPr wrap="square" lIns="0" rIns="0" tIns="0" bIns="0" anchor="t">
            <a:noAutofit/>
          </a:bodyPr>
          <a:lstStyle/>
          <a:p>
            <a:pPr algn="l"/>
            <a:r>
              <a:rPr sz="1050" b="0" i="0">
                <a:solidFill>
                  <a:srgbClr val="ABA6C8"/>
                </a:solidFill>
                <a:latin typeface="Consolas"/>
              </a:rPr>
              <a:t>driver_of_the_day</a:t>
            </a:r>
            <a:r>
              <a:rPr sz="1050" b="0" i="0">
                <a:solidFill>
                  <a:srgbClr val="FFD166"/>
                </a:solidFill>
                <a:latin typeface="Consolas"/>
              </a:rPr>
              <a:t>  choice</a:t>
            </a:r>
          </a:p>
        </p:txBody>
      </p:sp>
      <p:sp>
        <p:nvSpPr>
          <p:cNvPr id="12" name="driver_of_the_day answer"/>
          <p:cNvSpPr txBox="1"/>
          <p:nvPr/>
        </p:nvSpPr>
        <p:spPr>
          <a:xfrm>
            <a:off x="5532120" y="3255264"/>
            <a:ext cx="2880360" cy="310896"/>
          </a:xfrm>
          <a:prstGeom prst="rect">
            <a:avLst/>
          </a:prstGeom>
          <a:noFill/>
        </p:spPr>
        <p:txBody>
          <a:bodyPr wrap="square" lIns="0" rIns="0" tIns="0" bIns="0" anchor="t">
            <a:noAutofit/>
          </a:bodyPr>
          <a:lstStyle/>
          <a:p>
            <a:pPr algn="l"/>
            <a:r>
              <a:rPr sz="1600" b="0" i="0">
                <a:solidFill>
                  <a:srgbClr val="ECE9F8"/>
                </a:solidFill>
                <a:latin typeface="Segoe UI Black"/>
              </a:rPr>
              <a:t>Nova</a:t>
            </a:r>
            <a:r>
              <a:rPr sz="1100" b="0" i="0">
                <a:solidFill>
                  <a:srgbClr val="ABA6C8"/>
                </a:solidFill>
                <a:latin typeface="Segoe UI"/>
              </a:rPr>
              <a:t>  0.82</a:t>
            </a:r>
          </a:p>
        </p:txBody>
      </p:sp>
      <p:sp>
        <p:nvSpPr>
          <p:cNvPr id="13" name="clean_racer question"/>
          <p:cNvSpPr txBox="1"/>
          <p:nvPr/>
        </p:nvSpPr>
        <p:spPr>
          <a:xfrm>
            <a:off x="5532120" y="3694176"/>
            <a:ext cx="2880360" cy="201168"/>
          </a:xfrm>
          <a:prstGeom prst="rect">
            <a:avLst/>
          </a:prstGeom>
          <a:noFill/>
        </p:spPr>
        <p:txBody>
          <a:bodyPr wrap="square" lIns="0" rIns="0" tIns="0" bIns="0" anchor="t">
            <a:noAutofit/>
          </a:bodyPr>
          <a:lstStyle/>
          <a:p>
            <a:pPr algn="l"/>
            <a:r>
              <a:rPr sz="1050" b="0" i="0">
                <a:solidFill>
                  <a:srgbClr val="ABA6C8"/>
                </a:solidFill>
                <a:latin typeface="Consolas"/>
              </a:rPr>
              <a:t>clean_racer</a:t>
            </a:r>
            <a:r>
              <a:rPr sz="1050" b="0" i="0">
                <a:solidFill>
                  <a:srgbClr val="FFD166"/>
                </a:solidFill>
                <a:latin typeface="Consolas"/>
              </a:rPr>
              <a:t>  noul</a:t>
            </a:r>
          </a:p>
        </p:txBody>
      </p:sp>
      <p:sp>
        <p:nvSpPr>
          <p:cNvPr id="14" name="clean_racer answer"/>
          <p:cNvSpPr txBox="1"/>
          <p:nvPr/>
        </p:nvSpPr>
        <p:spPr>
          <a:xfrm>
            <a:off x="5532120" y="3895344"/>
            <a:ext cx="2880360" cy="310896"/>
          </a:xfrm>
          <a:prstGeom prst="rect">
            <a:avLst/>
          </a:prstGeom>
          <a:noFill/>
        </p:spPr>
        <p:txBody>
          <a:bodyPr wrap="square" lIns="0" rIns="0" tIns="0" bIns="0" anchor="t">
            <a:noAutofit/>
          </a:bodyPr>
          <a:lstStyle/>
          <a:p>
            <a:pPr algn="l"/>
            <a:r>
              <a:rPr sz="1600" b="0" i="0">
                <a:solidFill>
                  <a:srgbClr val="FF5FA2"/>
                </a:solidFill>
                <a:latin typeface="Segoe UI Black"/>
              </a:rPr>
              <a:t>No</a:t>
            </a:r>
            <a:r>
              <a:rPr sz="1100" b="0" i="0">
                <a:solidFill>
                  <a:srgbClr val="ABA6C8"/>
                </a:solidFill>
                <a:latin typeface="Segoe UI"/>
              </a:rPr>
              <a:t>  p = 0.00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4ADE80"/>
          </a:solidFill>
          <a:ln/>
        </p:spPr>
        <p:txBody>
          <a:bodyPr/>
          <a:lstStyle/>
          <a:p>
            <a:endParaRPr lang="en-ZA"/>
          </a:p>
        </p:txBody>
      </p:sp>
      <p:sp>
        <p:nvSpPr>
          <p:cNvPr id="3" name="Text 3"/>
          <p:cNvSpPr txBox="1"/>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14 / 20</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web app, one Node process</a:t>
            </a:r>
            <a:endParaRPr lang="en-US" sz="3400" dirty="0"/>
          </a:p>
        </p:txBody>
      </p:sp>
      <p:sp>
        <p:nvSpPr>
          <p:cNvPr id="7" name="Card 7"/>
          <p:cNvSpPr/>
          <p:nvPr/>
        </p:nvSpPr>
        <p:spPr>
          <a:xfrm>
            <a:off x="548640" y="2148840"/>
            <a:ext cx="2407920" cy="1874520"/>
          </a:xfrm>
          <a:prstGeom prst="roundRect">
            <a:avLst>
              <a:gd name="adj" fmla="val 9143"/>
            </a:avLst>
          </a:prstGeom>
          <a:solidFill>
            <a:srgbClr val="110F2B"/>
          </a:solidFill>
          <a:ln/>
        </p:spPr>
        <p:txBody>
          <a:bodyPr/>
          <a:lstStyle/>
          <a:p>
            <a:endParaRPr lang="en-ZA"/>
          </a:p>
        </p:txBody>
      </p:sp>
      <p:pic>
        <p:nvPicPr>
          <p:cNvPr id="8" name="Image 8" descr="Monitor icon"/>
          <p:cNvPicPr>
            <a:picLocks noChangeAspect="1"/>
          </p:cNvPicPr>
          <p:nvPr/>
        </p:nvPicPr>
        <p:blipFill>
          <a:blip r:embed="rId3"/>
          <a:stretch>
            <a:fillRect/>
          </a:stretch>
        </p:blipFill>
        <p:spPr>
          <a:xfrm>
            <a:off x="777240" y="2528316"/>
            <a:ext cx="384048" cy="384048"/>
          </a:xfrm>
          <a:prstGeom prst="rect">
            <a:avLst/>
          </a:prstGeom>
        </p:spPr>
      </p:pic>
      <p:sp>
        <p:nvSpPr>
          <p:cNvPr id="9" name="Text 9"/>
          <p:cNvSpPr txBox="1"/>
          <p:nvPr/>
        </p:nvSpPr>
        <p:spPr>
          <a:xfrm>
            <a:off x="1298448" y="2528316"/>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BROWSER</a:t>
            </a:r>
            <a:endParaRPr lang="en-US" sz="1050" dirty="0"/>
          </a:p>
        </p:txBody>
      </p:sp>
      <p:sp>
        <p:nvSpPr>
          <p:cNvPr id="10" name="Text 10"/>
          <p:cNvSpPr txBox="1"/>
          <p:nvPr/>
        </p:nvSpPr>
        <p:spPr>
          <a:xfrm>
            <a:off x="777240" y="3076956"/>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The whole game</a:t>
            </a:r>
            <a:endParaRPr lang="en-US" sz="1400" dirty="0"/>
          </a:p>
        </p:txBody>
      </p:sp>
      <p:sp>
        <p:nvSpPr>
          <p:cNvPr id="11" name="Text 11"/>
          <p:cNvSpPr txBox="1"/>
          <p:nvPr/>
        </p:nvSpPr>
        <p:spPr>
          <a:xfrm>
            <a:off x="777240" y="3442716"/>
            <a:ext cx="195072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Physics and drawing, 60 Hz</a:t>
            </a:r>
            <a:endParaRPr lang="en-US" sz="1150" dirty="0"/>
          </a:p>
        </p:txBody>
      </p:sp>
      <p:cxnSp>
        <p:nvCxnSpPr>
          <p:cNvPr id="12" name="Arrow 12"/>
          <p:cNvCxnSpPr/>
          <p:nvPr/>
        </p:nvCxnSpPr>
        <p:spPr>
          <a:xfrm>
            <a:off x="3049524" y="3086100"/>
            <a:ext cx="219456"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txBody>
          <a:bodyPr/>
          <a:lstStyle/>
          <a:p>
            <a:endParaRPr lang="en-ZA"/>
          </a:p>
        </p:txBody>
      </p:sp>
      <p:pic>
        <p:nvPicPr>
          <p:cNvPr id="14" name="Image 14" descr="Server icon"/>
          <p:cNvPicPr>
            <a:picLocks noChangeAspect="1"/>
          </p:cNvPicPr>
          <p:nvPr/>
        </p:nvPicPr>
        <p:blipFill>
          <a:blip r:embed="rId4"/>
          <a:stretch>
            <a:fillRect/>
          </a:stretch>
        </p:blipFill>
        <p:spPr>
          <a:xfrm>
            <a:off x="3596640" y="2528316"/>
            <a:ext cx="384048" cy="384048"/>
          </a:xfrm>
          <a:prstGeom prst="rect">
            <a:avLst/>
          </a:prstGeom>
        </p:spPr>
      </p:pic>
      <p:sp>
        <p:nvSpPr>
          <p:cNvPr id="15" name="Text 15"/>
          <p:cNvSpPr txBox="1"/>
          <p:nvPr/>
        </p:nvSpPr>
        <p:spPr>
          <a:xfrm>
            <a:off x="4117848" y="2528316"/>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APP SERVICE</a:t>
            </a:r>
            <a:endParaRPr lang="en-US" sz="1050" dirty="0"/>
          </a:p>
        </p:txBody>
      </p:sp>
      <p:sp>
        <p:nvSpPr>
          <p:cNvPr id="16" name="Text 16"/>
          <p:cNvSpPr txBox="1"/>
          <p:nvPr/>
        </p:nvSpPr>
        <p:spPr>
          <a:xfrm>
            <a:off x="3596640" y="3076956"/>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Consolas" pitchFamily="34" charset="0"/>
                <a:ea typeface="Consolas" pitchFamily="34" charset="-122"/>
                <a:cs typeface="Consolas" pitchFamily="34" charset="-120"/>
              </a:rPr>
              <a:t>node server.js</a:t>
            </a:r>
            <a:endParaRPr lang="en-US" sz="1400" dirty="0"/>
          </a:p>
        </p:txBody>
      </p:sp>
      <p:sp>
        <p:nvSpPr>
          <p:cNvPr id="17" name="Text 17"/>
          <p:cNvSpPr txBox="1"/>
          <p:nvPr/>
        </p:nvSpPr>
        <p:spPr>
          <a:xfrm>
            <a:off x="3596640" y="3442716"/>
            <a:ext cx="195072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Serves files, calls the model</a:t>
            </a:r>
            <a:endParaRPr lang="en-US" sz="1150" dirty="0"/>
          </a:p>
        </p:txBody>
      </p:sp>
      <p:cxnSp>
        <p:nvCxnSpPr>
          <p:cNvPr id="18" name="Arrow 18"/>
          <p:cNvCxnSpPr/>
          <p:nvPr/>
        </p:nvCxnSpPr>
        <p:spPr>
          <a:xfrm>
            <a:off x="5870448" y="3086100"/>
            <a:ext cx="219456"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txBody>
          <a:bodyPr/>
          <a:lstStyle/>
          <a:p>
            <a:endParaRPr lang="en-ZA"/>
          </a:p>
        </p:txBody>
      </p:sp>
      <p:pic>
        <p:nvPicPr>
          <p:cNvPr id="20" name="Image 20" descr="Brain circuit icon"/>
          <p:cNvPicPr>
            <a:picLocks noChangeAspect="1"/>
          </p:cNvPicPr>
          <p:nvPr/>
        </p:nvPicPr>
        <p:blipFill>
          <a:blip r:embed="rId5"/>
          <a:stretch>
            <a:fillRect/>
          </a:stretch>
        </p:blipFill>
        <p:spPr>
          <a:xfrm>
            <a:off x="6416040" y="2528316"/>
            <a:ext cx="384048" cy="384048"/>
          </a:xfrm>
          <a:prstGeom prst="rect">
            <a:avLst/>
          </a:prstGeom>
        </p:spPr>
      </p:pic>
      <p:sp>
        <p:nvSpPr>
          <p:cNvPr id="21" name="Text 21"/>
          <p:cNvSpPr txBox="1"/>
          <p:nvPr/>
        </p:nvSpPr>
        <p:spPr>
          <a:xfrm>
            <a:off x="6937248" y="2528316"/>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FOUNDRY</a:t>
            </a:r>
            <a:endParaRPr lang="en-US" sz="1050" dirty="0"/>
          </a:p>
        </p:txBody>
      </p:sp>
      <p:sp>
        <p:nvSpPr>
          <p:cNvPr id="22" name="Text 22"/>
          <p:cNvSpPr txBox="1"/>
          <p:nvPr/>
        </p:nvSpPr>
        <p:spPr>
          <a:xfrm>
            <a:off x="6416040" y="3076956"/>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Microsoft-Decision-1</a:t>
            </a:r>
            <a:endParaRPr lang="en-US" sz="1400" dirty="0"/>
          </a:p>
        </p:txBody>
      </p:sp>
      <p:sp>
        <p:nvSpPr>
          <p:cNvPr id="23" name="Text 23"/>
          <p:cNvSpPr txBox="1"/>
          <p:nvPr/>
        </p:nvSpPr>
        <p:spPr>
          <a:xfrm>
            <a:off x="6416040" y="3442716"/>
            <a:ext cx="195072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Called via managed identity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4ADE80"/>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15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3"/>
          <a:stretch>
            <a:fillRect/>
          </a:stretch>
        </p:blipFill>
        <p:spPr>
          <a:xfrm>
            <a:off x="548640" y="1622464"/>
            <a:ext cx="8046720" cy="29038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4ADE80"/>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16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874520"/>
            <a:ext cx="3886200" cy="1097280"/>
          </a:xfrm>
          <a:prstGeom prst="roundRect">
            <a:avLst>
              <a:gd name="adj" fmla="val 8571"/>
            </a:avLst>
          </a:prstGeom>
          <a:solidFill>
            <a:srgbClr val="110F2B"/>
          </a:solidFill>
          <a:ln/>
        </p:spPr>
        <p:txBody>
          <a:bodyPr/>
          <a:lstStyle/>
          <a:p>
            <a:endParaRPr lang="en-ZA"/>
          </a:p>
        </p:txBody>
      </p:sp>
      <p:pic>
        <p:nvPicPr>
          <p:cNvPr id="7" name="Image 0" descr="Key icon"/>
          <p:cNvPicPr>
            <a:picLocks noChangeAspect="1"/>
          </p:cNvPicPr>
          <p:nvPr/>
        </p:nvPicPr>
        <p:blipFill>
          <a:blip r:embed="rId3"/>
          <a:stretch>
            <a:fillRect/>
          </a:stretch>
        </p:blipFill>
        <p:spPr>
          <a:xfrm>
            <a:off x="795528" y="2130552"/>
            <a:ext cx="292608" cy="292608"/>
          </a:xfrm>
          <a:prstGeom prst="rect">
            <a:avLst/>
          </a:prstGeom>
        </p:spPr>
      </p:pic>
      <p:sp>
        <p:nvSpPr>
          <p:cNvPr id="8" name="Text 5"/>
          <p:cNvSpPr/>
          <p:nvPr/>
        </p:nvSpPr>
        <p:spPr>
          <a:xfrm>
            <a:off x="1234440" y="20756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5146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Managed identity; no keys in the browser</a:t>
            </a:r>
            <a:endParaRPr lang="en-US" sz="1150" dirty="0"/>
          </a:p>
        </p:txBody>
      </p:sp>
      <p:sp>
        <p:nvSpPr>
          <p:cNvPr id="10" name="Shape 7"/>
          <p:cNvSpPr/>
          <p:nvPr/>
        </p:nvSpPr>
        <p:spPr>
          <a:xfrm>
            <a:off x="4709160" y="1874520"/>
            <a:ext cx="3886200" cy="1097280"/>
          </a:xfrm>
          <a:prstGeom prst="roundRect">
            <a:avLst>
              <a:gd name="adj" fmla="val 8571"/>
            </a:avLst>
          </a:prstGeom>
          <a:solidFill>
            <a:srgbClr val="110F2B"/>
          </a:solidFill>
          <a:ln/>
        </p:spPr>
        <p:txBody>
          <a:bodyPr/>
          <a:lstStyle/>
          <a:p>
            <a:endParaRPr lang="en-ZA"/>
          </a:p>
        </p:txBody>
      </p:sp>
      <p:pic>
        <p:nvPicPr>
          <p:cNvPr id="11" name="Image 1" descr="Shield icon"/>
          <p:cNvPicPr>
            <a:picLocks noChangeAspect="1"/>
          </p:cNvPicPr>
          <p:nvPr/>
        </p:nvPicPr>
        <p:blipFill>
          <a:blip r:embed="rId4"/>
          <a:stretch>
            <a:fillRect/>
          </a:stretch>
        </p:blipFill>
        <p:spPr>
          <a:xfrm>
            <a:off x="4937760" y="2112264"/>
            <a:ext cx="329184" cy="329184"/>
          </a:xfrm>
          <a:prstGeom prst="rect">
            <a:avLst/>
          </a:prstGeom>
        </p:spPr>
      </p:pic>
      <p:sp>
        <p:nvSpPr>
          <p:cNvPr id="12" name="Text 8"/>
          <p:cNvSpPr/>
          <p:nvPr/>
        </p:nvSpPr>
        <p:spPr>
          <a:xfrm>
            <a:off x="5394960" y="20756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5146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Same-origin telemetry; every field clamped</a:t>
            </a:r>
            <a:endParaRPr lang="en-US" sz="1150" dirty="0"/>
          </a:p>
        </p:txBody>
      </p:sp>
      <p:sp>
        <p:nvSpPr>
          <p:cNvPr id="14" name="Shape 10"/>
          <p:cNvSpPr/>
          <p:nvPr/>
        </p:nvSpPr>
        <p:spPr>
          <a:xfrm>
            <a:off x="548640" y="3246120"/>
            <a:ext cx="3886200" cy="1097280"/>
          </a:xfrm>
          <a:prstGeom prst="roundRect">
            <a:avLst>
              <a:gd name="adj" fmla="val 8571"/>
            </a:avLst>
          </a:prstGeom>
          <a:solidFill>
            <a:srgbClr val="110F2B"/>
          </a:solidFill>
          <a:ln/>
        </p:spPr>
        <p:txBody>
          <a:bodyPr/>
          <a:lstStyle/>
          <a:p>
            <a:endParaRPr lang="en-ZA"/>
          </a:p>
        </p:txBody>
      </p:sp>
      <p:pic>
        <p:nvPicPr>
          <p:cNvPr id="15" name="Image 2" descr="Stopwatch icon"/>
          <p:cNvPicPr>
            <a:picLocks noChangeAspect="1"/>
          </p:cNvPicPr>
          <p:nvPr/>
        </p:nvPicPr>
        <p:blipFill>
          <a:blip r:embed="rId5"/>
          <a:stretch>
            <a:fillRect/>
          </a:stretch>
        </p:blipFill>
        <p:spPr>
          <a:xfrm>
            <a:off x="777240" y="3483864"/>
            <a:ext cx="329184" cy="329184"/>
          </a:xfrm>
          <a:prstGeom prst="rect">
            <a:avLst/>
          </a:prstGeom>
        </p:spPr>
      </p:pic>
      <p:sp>
        <p:nvSpPr>
          <p:cNvPr id="16" name="Text 11"/>
          <p:cNvSpPr/>
          <p:nvPr/>
        </p:nvSpPr>
        <p:spPr>
          <a:xfrm>
            <a:off x="1234440" y="34472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862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16 in flight, 20,000 calls a day</a:t>
            </a:r>
            <a:endParaRPr lang="en-US" sz="1150" dirty="0"/>
          </a:p>
        </p:txBody>
      </p:sp>
      <p:sp>
        <p:nvSpPr>
          <p:cNvPr id="18" name="Shape 13"/>
          <p:cNvSpPr/>
          <p:nvPr/>
        </p:nvSpPr>
        <p:spPr>
          <a:xfrm>
            <a:off x="4709160" y="3246120"/>
            <a:ext cx="3886200" cy="1097280"/>
          </a:xfrm>
          <a:prstGeom prst="roundRect">
            <a:avLst>
              <a:gd name="adj" fmla="val 8571"/>
            </a:avLst>
          </a:prstGeom>
          <a:solidFill>
            <a:srgbClr val="110F2B"/>
          </a:solidFill>
          <a:ln/>
        </p:spPr>
        <p:txBody>
          <a:bodyPr/>
          <a:lstStyle/>
          <a:p>
            <a:endParaRPr lang="en-ZA"/>
          </a:p>
        </p:txBody>
      </p:sp>
      <p:pic>
        <p:nvPicPr>
          <p:cNvPr id="19" name="Image 3" descr="Unplugged cable icon"/>
          <p:cNvPicPr>
            <a:picLocks noChangeAspect="1"/>
          </p:cNvPicPr>
          <p:nvPr/>
        </p:nvPicPr>
        <p:blipFill>
          <a:blip r:embed="rId6"/>
          <a:stretch>
            <a:fillRect/>
          </a:stretch>
        </p:blipFill>
        <p:spPr>
          <a:xfrm>
            <a:off x="4956048" y="3502152"/>
            <a:ext cx="292608" cy="292608"/>
          </a:xfrm>
          <a:prstGeom prst="rect">
            <a:avLst/>
          </a:prstGeom>
        </p:spPr>
      </p:pic>
      <p:sp>
        <p:nvSpPr>
          <p:cNvPr id="20" name="Text 14"/>
          <p:cNvSpPr/>
          <p:nvPr/>
        </p:nvSpPr>
        <p:spPr>
          <a:xfrm>
            <a:off x="5394960" y="34472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862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Local heuristic if the model fails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17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marL="0" indent="0" algn="ctr">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txBody>
          <a:bodyPr/>
          <a:lstStyle/>
          <a:p>
            <a:endParaRPr lang="en-ZA"/>
          </a:p>
        </p:txBody>
      </p:sp>
      <p:pic>
        <p:nvPicPr>
          <p:cNvPr id="15" name="Image 0" descr="Coins icon"/>
          <p:cNvPicPr>
            <a:picLocks noChangeAspect="1"/>
          </p:cNvPicPr>
          <p:nvPr/>
        </p:nvPicPr>
        <p:blipFill>
          <a:blip r:embed="rId3"/>
          <a:stretch>
            <a:fillRect/>
          </a:stretch>
        </p:blipFill>
        <p:spPr>
          <a:xfrm>
            <a:off x="2971800" y="3986784"/>
            <a:ext cx="347472" cy="347472"/>
          </a:xfrm>
          <a:prstGeom prst="rect">
            <a:avLst/>
          </a:prstGeom>
        </p:spPr>
      </p:pic>
      <p:sp>
        <p:nvSpPr>
          <p:cNvPr id="16" name="Text 13"/>
          <p:cNvSpPr/>
          <p:nvPr/>
        </p:nvSpPr>
        <p:spPr>
          <a:xfrm>
            <a:off x="3520440" y="3794760"/>
            <a:ext cx="2834640" cy="731520"/>
          </a:xfrm>
          <a:prstGeom prst="rect">
            <a:avLst/>
          </a:prstGeom>
          <a:noFill/>
          <a:ln/>
        </p:spPr>
        <p:txBody>
          <a:bodyPr wrap="square" lIns="0" tIns="0" rIns="0" bIns="0" rtlCol="0" anchor="ctr"/>
          <a:lstStyle/>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(input and output)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MONTHLY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18 / 20</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$77 a month, at most</a:t>
            </a:r>
            <a:endParaRPr lang="en-US" sz="3400" dirty="0"/>
          </a:p>
        </p:txBody>
      </p:sp>
      <p:graphicFrame>
        <p:nvGraphicFramePr>
          <p:cNvPr id="6" name="Monthly cost pie"/>
          <p:cNvGraphicFramePr>
            <a:graphicFrameLocks noGrp="1"/>
          </p:cNvGraphicFramePr>
          <p:nvPr/>
        </p:nvGraphicFramePr>
        <p:xfrm>
          <a:off x="685800" y="1554480"/>
          <a:ext cx="310896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4114800" y="1554480"/>
            <a:ext cx="4480560" cy="640080"/>
          </a:xfrm>
          <a:prstGeom prst="roundRect">
            <a:avLst>
              <a:gd name="adj" fmla="val 15000"/>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343400" y="1810512"/>
            <a:ext cx="128016" cy="128016"/>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1760220"/>
            <a:ext cx="292608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APP SERVICE  ·  P0v3 LINUX</a:t>
            </a:r>
          </a:p>
        </p:txBody>
      </p:sp>
      <p:sp>
        <p:nvSpPr>
          <p:cNvPr id="10" name="TextBox 9"/>
          <p:cNvSpPr txBox="1"/>
          <p:nvPr/>
        </p:nvSpPr>
        <p:spPr>
          <a:xfrm>
            <a:off x="7360920" y="1691640"/>
            <a:ext cx="1005840" cy="365760"/>
          </a:xfrm>
          <a:prstGeom prst="rect">
            <a:avLst/>
          </a:prstGeom>
          <a:noFill/>
        </p:spPr>
        <p:txBody>
          <a:bodyPr wrap="square" lIns="0" tIns="0" rIns="0" bIns="0" anchor="ctr">
            <a:spAutoFit/>
          </a:bodyPr>
          <a:lstStyle/>
          <a:p>
            <a:pPr algn="r"/>
            <a:r>
              <a:rPr sz="2200" b="0" i="1">
                <a:solidFill>
                  <a:srgbClr val="ECE9F8"/>
                </a:solidFill>
                <a:latin typeface="Segoe UI Black"/>
                <a:ea typeface="Segoe UI Black"/>
                <a:cs typeface="Segoe UI Black"/>
              </a:rPr>
              <a:t>$62</a:t>
            </a:r>
          </a:p>
        </p:txBody>
      </p:sp>
      <p:sp>
        <p:nvSpPr>
          <p:cNvPr id="12" name="Rounded Rectangle 11"/>
          <p:cNvSpPr/>
          <p:nvPr/>
        </p:nvSpPr>
        <p:spPr>
          <a:xfrm>
            <a:off x="4114800" y="2423160"/>
            <a:ext cx="4480560" cy="640080"/>
          </a:xfrm>
          <a:prstGeom prst="roundRect">
            <a:avLst>
              <a:gd name="adj" fmla="val 15000"/>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43400" y="2679192"/>
            <a:ext cx="128016" cy="128016"/>
          </a:xfrm>
          <a:prstGeom prst="ellipse">
            <a:avLst/>
          </a:prstGeom>
          <a:solidFill>
            <a:srgbClr val="FFD1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0" y="2628900"/>
            <a:ext cx="292608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DECISION-1 TOKENS  ·  AT THE DAILY CAP</a:t>
            </a:r>
          </a:p>
        </p:txBody>
      </p:sp>
      <p:sp>
        <p:nvSpPr>
          <p:cNvPr id="15" name="TextBox 14"/>
          <p:cNvSpPr txBox="1"/>
          <p:nvPr/>
        </p:nvSpPr>
        <p:spPr>
          <a:xfrm>
            <a:off x="7360920" y="2560320"/>
            <a:ext cx="1005840" cy="365760"/>
          </a:xfrm>
          <a:prstGeom prst="rect">
            <a:avLst/>
          </a:prstGeom>
          <a:noFill/>
        </p:spPr>
        <p:txBody>
          <a:bodyPr wrap="square" lIns="0" tIns="0" rIns="0" bIns="0" anchor="ctr">
            <a:spAutoFit/>
          </a:bodyPr>
          <a:lstStyle/>
          <a:p>
            <a:pPr algn="r"/>
            <a:r>
              <a:rPr sz="2200" b="0" i="1">
                <a:solidFill>
                  <a:srgbClr val="ECE9F8"/>
                </a:solidFill>
                <a:latin typeface="Segoe UI Black"/>
                <a:ea typeface="Segoe UI Black"/>
                <a:cs typeface="Segoe UI Black"/>
              </a:rPr>
              <a:t>$15</a:t>
            </a:r>
          </a:p>
        </p:txBody>
      </p:sp>
      <p:sp>
        <p:nvSpPr>
          <p:cNvPr id="17" name="Rounded Rectangle 16"/>
          <p:cNvSpPr/>
          <p:nvPr/>
        </p:nvSpPr>
        <p:spPr>
          <a:xfrm>
            <a:off x="4114800" y="3291840"/>
            <a:ext cx="4480560" cy="1234440"/>
          </a:xfrm>
          <a:prstGeom prst="roundRect">
            <a:avLst>
              <a:gd name="adj" fmla="val 11428"/>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43400" y="3456432"/>
            <a:ext cx="402336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TOKEN EXPECTATIONS  ·  PER MONTH</a:t>
            </a:r>
          </a:p>
        </p:txBody>
      </p:sp>
      <p:sp>
        <p:nvSpPr>
          <p:cNvPr id="19" name="TextBox 18"/>
          <p:cNvSpPr txBox="1"/>
          <p:nvPr/>
        </p:nvSpPr>
        <p:spPr>
          <a:xfrm>
            <a:off x="4343400" y="3767328"/>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Idle</a:t>
            </a:r>
          </a:p>
          <a:p>
            <a:pPr algn="l"/>
            <a:r>
              <a:rPr sz="1600" b="0" i="1">
                <a:solidFill>
                  <a:srgbClr val="ECE9F8"/>
                </a:solidFill>
                <a:latin typeface="Segoe UI Black"/>
                <a:ea typeface="Segoe UI Black"/>
                <a:cs typeface="Segoe UI Black"/>
              </a:rPr>
              <a:t>$0</a:t>
            </a:r>
          </a:p>
          <a:p>
            <a:pPr algn="l"/>
            <a:r>
              <a:rPr sz="950" b="0" i="0">
                <a:solidFill>
                  <a:srgbClr val="ABA6C8"/>
                </a:solidFill>
                <a:latin typeface="Segoe UI"/>
                <a:ea typeface="Segoe UI"/>
                <a:cs typeface="Segoe UI"/>
              </a:rPr>
              <a:t>$62 total</a:t>
            </a:r>
          </a:p>
        </p:txBody>
      </p:sp>
      <p:sp>
        <p:nvSpPr>
          <p:cNvPr id="20" name="TextBox 19"/>
          <p:cNvSpPr txBox="1"/>
          <p:nvPr/>
        </p:nvSpPr>
        <p:spPr>
          <a:xfrm>
            <a:off x="5684520" y="3767328"/>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10 races a day</a:t>
            </a:r>
          </a:p>
          <a:p>
            <a:pPr algn="l"/>
            <a:r>
              <a:rPr sz="1600" b="0" i="1">
                <a:solidFill>
                  <a:srgbClr val="ECE9F8"/>
                </a:solidFill>
                <a:latin typeface="Segoe UI Black"/>
                <a:ea typeface="Segoe UI Black"/>
                <a:cs typeface="Segoe UI Black"/>
              </a:rPr>
              <a:t>≈$4.60</a:t>
            </a:r>
          </a:p>
          <a:p>
            <a:pPr algn="l"/>
            <a:r>
              <a:rPr sz="950" b="0" i="0">
                <a:solidFill>
                  <a:srgbClr val="ABA6C8"/>
                </a:solidFill>
                <a:latin typeface="Segoe UI"/>
                <a:ea typeface="Segoe UI"/>
                <a:cs typeface="Segoe UI"/>
              </a:rPr>
              <a:t>≈$67 total</a:t>
            </a:r>
          </a:p>
        </p:txBody>
      </p:sp>
      <p:sp>
        <p:nvSpPr>
          <p:cNvPr id="21" name="TextBox 20"/>
          <p:cNvSpPr txBox="1"/>
          <p:nvPr/>
        </p:nvSpPr>
        <p:spPr>
          <a:xfrm>
            <a:off x="7025640" y="3767328"/>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Cap, ≈30 races a day</a:t>
            </a:r>
          </a:p>
          <a:p>
            <a:pPr algn="l"/>
            <a:r>
              <a:rPr sz="1600" b="0" i="1">
                <a:solidFill>
                  <a:srgbClr val="FFD166"/>
                </a:solidFill>
                <a:latin typeface="Segoe UI Black"/>
                <a:ea typeface="Segoe UI Black"/>
                <a:cs typeface="Segoe UI Black"/>
              </a:rPr>
              <a:t>≈$15.40</a:t>
            </a:r>
          </a:p>
          <a:p>
            <a:pPr algn="l"/>
            <a:r>
              <a:rPr sz="950" b="0" i="0">
                <a:solidFill>
                  <a:srgbClr val="ABA6C8"/>
                </a:solidFill>
                <a:latin typeface="Segoe UI"/>
                <a:ea typeface="Segoe UI"/>
                <a:cs typeface="Segoe UI"/>
              </a:rPr>
              <a:t>≈$77 total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5143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descr="Image preview">
            <a:extLst>
              <a:ext uri="{FF2B5EF4-FFF2-40B4-BE49-F238E27FC236}">
                <a16:creationId xmlns:a16="http://schemas.microsoft.com/office/drawing/2014/main" id="{1EA80197-9483-974C-A334-720D4653C3C1}"/>
              </a:ext>
            </a:extLst>
          </p:cNvPr>
          <p:cNvPicPr>
            <a:picLocks noChangeAspect="1"/>
          </p:cNvPicPr>
          <p:nvPr/>
        </p:nvPicPr>
        <p:blipFill>
          <a:blip r:embed="rId2"/>
          <a:srcRect b="19"/>
          <a:stretch>
            <a:fillRect/>
          </a:stretch>
        </p:blipFill>
        <p:spPr>
          <a:xfrm>
            <a:off x="20" y="961"/>
            <a:ext cx="9143980" cy="5142539"/>
          </a:xfrm>
          <a:prstGeom prst="rect">
            <a:avLst/>
          </a:prstGeom>
        </p:spPr>
      </p:pic>
    </p:spTree>
    <p:extLst>
      <p:ext uri="{BB962C8B-B14F-4D97-AF65-F5344CB8AC3E}">
        <p14:creationId xmlns:p14="http://schemas.microsoft.com/office/powerpoint/2010/main" val="11804689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txBody>
          <a:bodyPr/>
          <a:lstStyle/>
          <a:p>
            <a:endParaRPr lang="en-ZA"/>
          </a:p>
        </p:txBody>
      </p:sp>
      <p:sp>
        <p:nvSpPr>
          <p:cNvPr id="3" name="Shape 1"/>
          <p:cNvSpPr/>
          <p:nvPr/>
        </p:nvSpPr>
        <p:spPr>
          <a:xfrm>
            <a:off x="2834640" y="548640"/>
            <a:ext cx="36576" cy="36576"/>
          </a:xfrm>
          <a:prstGeom prst="ellipse">
            <a:avLst/>
          </a:prstGeom>
          <a:solidFill>
            <a:srgbClr val="FFFFFF">
              <a:alpha val="60000"/>
            </a:srgbClr>
          </a:solidFill>
          <a:ln/>
        </p:spPr>
        <p:txBody>
          <a:bodyPr/>
          <a:lstStyle/>
          <a:p>
            <a:endParaRPr lang="en-ZA"/>
          </a:p>
        </p:txBody>
      </p:sp>
      <p:sp>
        <p:nvSpPr>
          <p:cNvPr id="4" name="Shape 2"/>
          <p:cNvSpPr/>
          <p:nvPr/>
        </p:nvSpPr>
        <p:spPr>
          <a:xfrm>
            <a:off x="4754880" y="594360"/>
            <a:ext cx="27432" cy="27432"/>
          </a:xfrm>
          <a:prstGeom prst="ellipse">
            <a:avLst/>
          </a:prstGeom>
          <a:solidFill>
            <a:srgbClr val="FFFFFF">
              <a:alpha val="45000"/>
            </a:srgbClr>
          </a:solidFill>
          <a:ln/>
        </p:spPr>
        <p:txBody>
          <a:bodyPr/>
          <a:lstStyle/>
          <a:p>
            <a:endParaRPr lang="en-ZA"/>
          </a:p>
        </p:txBody>
      </p:sp>
      <p:sp>
        <p:nvSpPr>
          <p:cNvPr id="5" name="Shape 3"/>
          <p:cNvSpPr/>
          <p:nvPr/>
        </p:nvSpPr>
        <p:spPr>
          <a:xfrm>
            <a:off x="6035040" y="502920"/>
            <a:ext cx="32004" cy="32004"/>
          </a:xfrm>
          <a:prstGeom prst="ellipse">
            <a:avLst/>
          </a:prstGeom>
          <a:solidFill>
            <a:srgbClr val="FFFFFF">
              <a:alpha val="55000"/>
            </a:srgbClr>
          </a:solidFill>
          <a:ln/>
        </p:spPr>
        <p:txBody>
          <a:bodyPr/>
          <a:lstStyle/>
          <a:p>
            <a:endParaRPr lang="en-ZA"/>
          </a:p>
        </p:txBody>
      </p:sp>
      <p:sp>
        <p:nvSpPr>
          <p:cNvPr id="6" name="Shape 4"/>
          <p:cNvSpPr/>
          <p:nvPr/>
        </p:nvSpPr>
        <p:spPr>
          <a:xfrm>
            <a:off x="8595360" y="3017520"/>
            <a:ext cx="27432" cy="27432"/>
          </a:xfrm>
          <a:prstGeom prst="ellipse">
            <a:avLst/>
          </a:prstGeom>
          <a:solidFill>
            <a:srgbClr val="FFFFFF">
              <a:alpha val="50000"/>
            </a:srgbClr>
          </a:solidFill>
          <a:ln/>
        </p:spPr>
        <p:txBody>
          <a:bodyPr/>
          <a:lstStyle/>
          <a:p>
            <a:endParaRPr lang="en-ZA"/>
          </a:p>
        </p:txBody>
      </p:sp>
      <p:sp>
        <p:nvSpPr>
          <p:cNvPr id="7" name="Shape 5"/>
          <p:cNvSpPr/>
          <p:nvPr/>
        </p:nvSpPr>
        <p:spPr>
          <a:xfrm>
            <a:off x="4480560" y="4846320"/>
            <a:ext cx="27432" cy="27432"/>
          </a:xfrm>
          <a:prstGeom prst="ellipse">
            <a:avLst/>
          </a:prstGeom>
          <a:solidFill>
            <a:srgbClr val="FFFFFF">
              <a:alpha val="45000"/>
            </a:srgbClr>
          </a:solidFill>
          <a:ln/>
        </p:spPr>
        <p:txBody>
          <a:bodyPr/>
          <a:lstStyle/>
          <a:p>
            <a:endParaRPr lang="en-ZA"/>
          </a:p>
        </p:txBody>
      </p:sp>
      <p:sp>
        <p:nvSpPr>
          <p:cNvPr id="8" name="Shape 6"/>
          <p:cNvSpPr/>
          <p:nvPr/>
        </p:nvSpPr>
        <p:spPr>
          <a:xfrm>
            <a:off x="2651760" y="4864608"/>
            <a:ext cx="22860" cy="22860"/>
          </a:xfrm>
          <a:prstGeom prst="ellipse">
            <a:avLst/>
          </a:prstGeom>
          <a:solidFill>
            <a:srgbClr val="FFFFFF">
              <a:alpha val="40000"/>
            </a:srgbClr>
          </a:solidFill>
          <a:ln/>
        </p:spPr>
        <p:txBody>
          <a:bodyPr/>
          <a:lstStyle/>
          <a:p>
            <a:endParaRPr lang="en-ZA"/>
          </a:p>
        </p:txBody>
      </p:sp>
      <p:sp>
        <p:nvSpPr>
          <p:cNvPr id="9" name="Shape 7"/>
          <p:cNvSpPr/>
          <p:nvPr/>
        </p:nvSpPr>
        <p:spPr>
          <a:xfrm>
            <a:off x="7680960" y="4846320"/>
            <a:ext cx="27432" cy="27432"/>
          </a:xfrm>
          <a:prstGeom prst="ellipse">
            <a:avLst/>
          </a:prstGeom>
          <a:solidFill>
            <a:srgbClr val="FFFFFF">
              <a:alpha val="45000"/>
            </a:srgbClr>
          </a:solidFill>
          <a:ln/>
        </p:spPr>
        <p:txBody>
          <a:bodyPr/>
          <a:lstStyle/>
          <a:p>
            <a:endParaRPr lang="en-ZA"/>
          </a:p>
        </p:txBody>
      </p:sp>
      <p:pic>
        <p:nvPicPr>
          <p:cNvPr id="10" name="Image 0" descr="Moon"/>
          <p:cNvPicPr>
            <a:picLocks noChangeAspect="1"/>
          </p:cNvPicPr>
          <p:nvPr/>
        </p:nvPicPr>
        <p:blipFill>
          <a:blip r:embed="rId3"/>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marL="0" indent="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240280"/>
            <a:ext cx="3840480" cy="713232"/>
          </a:xfrm>
          <a:prstGeom prst="roundRect">
            <a:avLst>
              <a:gd name="adj" fmla="val 15385"/>
            </a:avLst>
          </a:prstGeom>
          <a:solidFill>
            <a:srgbClr val="110F2B"/>
          </a:solidFill>
          <a:ln/>
        </p:spPr>
        <p:txBody>
          <a:bodyPr/>
          <a:lstStyle/>
          <a:p>
            <a:endParaRPr lang="en-ZA"/>
          </a:p>
        </p:txBody>
      </p:sp>
      <p:sp>
        <p:nvSpPr>
          <p:cNvPr id="13" name="Text 10"/>
          <p:cNvSpPr/>
          <p:nvPr/>
        </p:nvSpPr>
        <p:spPr>
          <a:xfrm>
            <a:off x="777240" y="2340864"/>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587752"/>
            <a:ext cx="3383280" cy="274320"/>
          </a:xfrm>
          <a:prstGeom prst="rect">
            <a:avLst/>
          </a:prstGeom>
          <a:noFill/>
          <a:ln/>
        </p:spPr>
        <p:txBody>
          <a:bodyPr wrap="square" lIns="0" tIns="0" rIns="0" bIns="0" rtlCol="0" anchor="ctr"/>
          <a:lstStyle/>
          <a:p>
            <a:pPr marL="0" indent="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4" tooltip="Play LUNA GP"/>
          </p:cNvPr>
          <p:cNvSpPr/>
          <p:nvPr/>
        </p:nvSpPr>
        <p:spPr>
          <a:xfrm>
            <a:off x="548640" y="2240280"/>
            <a:ext cx="3840480" cy="713232"/>
          </a:xfrm>
          <a:prstGeom prst="rect">
            <a:avLst/>
          </a:prstGeom>
          <a:solidFill>
            <a:srgbClr val="07071A">
              <a:alpha val="0"/>
            </a:srgbClr>
          </a:solidFill>
          <a:ln/>
        </p:spPr>
        <p:txBody>
          <a:bodyPr/>
          <a:lstStyle/>
          <a:p>
            <a:endParaRPr lang="en-ZA"/>
          </a:p>
        </p:txBody>
      </p:sp>
      <p:sp>
        <p:nvSpPr>
          <p:cNvPr id="16" name="Shape 13"/>
          <p:cNvSpPr/>
          <p:nvPr/>
        </p:nvSpPr>
        <p:spPr>
          <a:xfrm>
            <a:off x="548640" y="3172968"/>
            <a:ext cx="3840480" cy="713232"/>
          </a:xfrm>
          <a:prstGeom prst="roundRect">
            <a:avLst>
              <a:gd name="adj" fmla="val 15385"/>
            </a:avLst>
          </a:prstGeom>
          <a:solidFill>
            <a:srgbClr val="110F2B"/>
          </a:solidFill>
          <a:ln/>
        </p:spPr>
        <p:txBody>
          <a:bodyPr/>
          <a:lstStyle/>
          <a:p>
            <a:endParaRPr lang="en-ZA"/>
          </a:p>
        </p:txBody>
      </p:sp>
      <p:sp>
        <p:nvSpPr>
          <p:cNvPr id="17" name="Text 14"/>
          <p:cNvSpPr/>
          <p:nvPr/>
        </p:nvSpPr>
        <p:spPr>
          <a:xfrm>
            <a:off x="777240" y="3273552"/>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520440"/>
            <a:ext cx="3383280" cy="274320"/>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npm start</a:t>
            </a:r>
            <a:r>
              <a:rPr lang="en-US" sz="1300" dirty="0">
                <a:solidFill>
                  <a:srgbClr val="ABA6C8"/>
                </a:solidFill>
                <a:latin typeface="Consolas" pitchFamily="34" charset="0"/>
                <a:ea typeface="Consolas" pitchFamily="34" charset="-122"/>
                <a:cs typeface="Consolas" pitchFamily="34" charset="-120"/>
              </a:rPr>
              <a:t>  →  </a:t>
            </a: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20" name="Shape 17"/>
          <p:cNvSpPr/>
          <p:nvPr/>
        </p:nvSpPr>
        <p:spPr>
          <a:xfrm>
            <a:off x="4937760" y="22402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1" name="Image 1" descr="Left arrow key"/>
          <p:cNvPicPr>
            <a:picLocks noChangeAspect="1"/>
          </p:cNvPicPr>
          <p:nvPr/>
        </p:nvPicPr>
        <p:blipFill>
          <a:blip r:embed="rId5"/>
          <a:stretch>
            <a:fillRect/>
          </a:stretch>
        </p:blipFill>
        <p:spPr>
          <a:xfrm>
            <a:off x="5134356" y="2299716"/>
            <a:ext cx="155448" cy="155448"/>
          </a:xfrm>
          <a:prstGeom prst="rect">
            <a:avLst/>
          </a:prstGeom>
        </p:spPr>
      </p:pic>
      <p:pic>
        <p:nvPicPr>
          <p:cNvPr id="22" name="Image 2" descr="Right arrow key"/>
          <p:cNvPicPr>
            <a:picLocks noChangeAspect="1"/>
          </p:cNvPicPr>
          <p:nvPr/>
        </p:nvPicPr>
        <p:blipFill>
          <a:blip r:embed="rId6"/>
          <a:stretch>
            <a:fillRect/>
          </a:stretch>
        </p:blipFill>
        <p:spPr>
          <a:xfrm>
            <a:off x="5362956" y="2299716"/>
            <a:ext cx="155448" cy="155448"/>
          </a:xfrm>
          <a:prstGeom prst="rect">
            <a:avLst/>
          </a:prstGeom>
        </p:spPr>
      </p:pic>
      <p:sp>
        <p:nvSpPr>
          <p:cNvPr id="23" name="Text 18"/>
          <p:cNvSpPr/>
          <p:nvPr/>
        </p:nvSpPr>
        <p:spPr>
          <a:xfrm>
            <a:off x="5897880" y="22402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6974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5" name="Image 3" descr="Up arrow key"/>
          <p:cNvPicPr>
            <a:picLocks noChangeAspect="1"/>
          </p:cNvPicPr>
          <p:nvPr/>
        </p:nvPicPr>
        <p:blipFill>
          <a:blip r:embed="rId7"/>
          <a:stretch>
            <a:fillRect/>
          </a:stretch>
        </p:blipFill>
        <p:spPr>
          <a:xfrm>
            <a:off x="5248656" y="2756916"/>
            <a:ext cx="155448" cy="155448"/>
          </a:xfrm>
          <a:prstGeom prst="rect">
            <a:avLst/>
          </a:prstGeom>
        </p:spPr>
      </p:pic>
      <p:sp>
        <p:nvSpPr>
          <p:cNvPr id="26" name="Text 20"/>
          <p:cNvSpPr/>
          <p:nvPr/>
        </p:nvSpPr>
        <p:spPr>
          <a:xfrm>
            <a:off x="5897880" y="26974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31546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8" name="Image 4" descr="Down arrow key"/>
          <p:cNvPicPr>
            <a:picLocks noChangeAspect="1"/>
          </p:cNvPicPr>
          <p:nvPr/>
        </p:nvPicPr>
        <p:blipFill>
          <a:blip r:embed="rId8"/>
          <a:stretch>
            <a:fillRect/>
          </a:stretch>
        </p:blipFill>
        <p:spPr>
          <a:xfrm>
            <a:off x="5248656" y="3214116"/>
            <a:ext cx="155448" cy="155448"/>
          </a:xfrm>
          <a:prstGeom prst="rect">
            <a:avLst/>
          </a:prstGeom>
        </p:spPr>
      </p:pic>
      <p:sp>
        <p:nvSpPr>
          <p:cNvPr id="29" name="Text 22"/>
          <p:cNvSpPr/>
          <p:nvPr/>
        </p:nvSpPr>
        <p:spPr>
          <a:xfrm>
            <a:off x="5897880" y="31546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6118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1" name="Text 24"/>
          <p:cNvSpPr/>
          <p:nvPr/>
        </p:nvSpPr>
        <p:spPr>
          <a:xfrm>
            <a:off x="4937760" y="3611880"/>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6118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40690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4" name="Text 27"/>
          <p:cNvSpPr/>
          <p:nvPr/>
        </p:nvSpPr>
        <p:spPr>
          <a:xfrm>
            <a:off x="4937760" y="4069080"/>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40690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9"/>
          <a:stretch>
            <a:fillRect/>
          </a:stretch>
        </p:blipFill>
        <p:spPr>
          <a:xfrm>
            <a:off x="548640" y="4096512"/>
            <a:ext cx="219456" cy="219456"/>
          </a:xfrm>
          <a:prstGeom prst="rect">
            <a:avLst/>
          </a:prstGeom>
        </p:spPr>
      </p:pic>
      <p:sp>
        <p:nvSpPr>
          <p:cNvPr id="37" name="Text 29"/>
          <p:cNvSpPr/>
          <p:nvPr/>
        </p:nvSpPr>
        <p:spPr>
          <a:xfrm>
            <a:off x="859536" y="4069080"/>
            <a:ext cx="3529584"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10" tooltip="Open the repository"/>
          </p:cNvPr>
          <p:cNvSpPr/>
          <p:nvPr/>
        </p:nvSpPr>
        <p:spPr>
          <a:xfrm>
            <a:off x="548640" y="4069080"/>
            <a:ext cx="2423160" cy="274320"/>
          </a:xfrm>
          <a:prstGeom prst="rect">
            <a:avLst/>
          </a:prstGeom>
          <a:solidFill>
            <a:srgbClr val="07071A">
              <a:alpha val="0"/>
            </a:srgbClr>
          </a:solidFill>
          <a:ln/>
        </p:spPr>
        <p:txBody>
          <a:bodyPr/>
          <a:lstStyle/>
          <a:p>
            <a:endParaRPr lang="en-ZA"/>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marL="0" indent="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22</TotalTime>
  <Words>4682</Words>
  <Application>Microsoft Office PowerPoint</Application>
  <PresentationFormat>On-screen Show (16:9)</PresentationFormat>
  <Paragraphs>337</Paragraphs>
  <Slides>17</Slides>
  <Notes>14</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Consolas</vt:lpstr>
      <vt:lpstr>Segoe UI</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Rory Preddy</cp:lastModifiedBy>
  <cp:revision>6</cp:revision>
  <dcterms:created xsi:type="dcterms:W3CDTF">2026-10-27T19:13:30Z</dcterms:created>
  <dcterms:modified xsi:type="dcterms:W3CDTF">2026-10-29T08:50:07Z</dcterms:modified>
</cp:coreProperties>
</file>