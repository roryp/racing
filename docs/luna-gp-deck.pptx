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6.xml" ContentType="application/vnd.openxmlformats-officedocument.presentationml.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69" r:id="rId3"/>
    <p:sldId id="270" r:id="rId4"/>
    <p:sldId id="257" r:id="rId5"/>
    <p:sldId id="258" r:id="rId6"/>
    <p:sldId id="259" r:id="rId7"/>
    <p:sldId id="260" r:id="rId8"/>
    <p:sldId id="261" r:id="rId9"/>
    <p:sldId id="268" r:id="rId10"/>
    <p:sldId id="262" r:id="rId11"/>
    <p:sldId id="271" r:id="rId22"/>
    <p:sldId id="263" r:id="rId12"/>
    <p:sldId id="267" r:id="rId13"/>
    <p:sldId id="264" r:id="rId14"/>
    <p:sldId id="265" r:id="rId15"/>
    <p:sldId id="266"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16.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p:nvPr>
            <p:ph type="sldNum" sz="quarter" idx="10"/>
          </p:nvPr>
        </p:nvSpPr>
        <p:spPr/>
        <p:txBody>
          <a:bodyPr/>
          <a:lstStyle/>
          <a:p>
            <a:fld id="{F81BD507-B837-4F80-9B61-285A19E1B2C3}" type="slidenum">
              <a:rPr lang="en-US"/>
              <a:t>11</a:t>
            </a:fld>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0.png"/></Relationships>
</file>

<file path=ppt/slides/_rels/slide13.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1.png"/></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racing-line-capture.png"/><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a:effectLst/>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3"/>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marL="0" indent="0">
              <a:buNone/>
            </a:pPr>
            <a:r>
              <a:rPr lang="en-US" sz="7200" i="1" dirty="0">
                <a:solidFill>
                  <a:srgbClr val="FFD166"/>
                </a:solidFill>
                <a:latin typeface="Segoe UI Black" pitchFamily="34" charset="0"/>
                <a:ea typeface="Segoe UI Black" pitchFamily="34" charset="-122"/>
                <a:cs typeface="Segoe UI Black" pitchFamily="34" charset="-120"/>
              </a:rPr>
              <a:t>LUNA</a:t>
            </a: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marL="0" indent="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r>
              <a:rPr lang="en-US" sz="2000" b="1" dirty="0">
                <a:solidFill>
                  <a:srgbClr val="FFD166"/>
                </a:solidFill>
                <a:latin typeface="Segoe UI" pitchFamily="34" charset="0"/>
                <a:ea typeface="Segoe UI" pitchFamily="34" charset="-122"/>
                <a:cs typeface="Segoe UI" pitchFamily="34" charset="-120"/>
              </a:rPr>
              <a:t>Microsoft-Decision-1</a:t>
            </a: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xml:space="preserve">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xml:space="preserve">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xml:space="preserve">: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xml:space="preserve">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 xml:space="preserve">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 xml:space="preserve">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xml:space="preserve">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xml:space="preserve">  "questions": {</a:t>
            </a:r>
            <a:endParaRPr sz="1050"/>
          </a:p>
          <a:p>
            <a:pPr>
              <a:lnSpc>
                <a:spcPts val="1150"/>
              </a:lnSpc>
              <a:buNone/>
            </a:pPr>
            <a:r>
              <a:rPr lang="en-US" sz="1050">
                <a:solidFill>
                  <a:srgbClr val="ECE9F8"/>
                </a:solidFill>
                <a:latin typeface="Consolas"/>
              </a:rPr>
              <a:t xml:space="preserve">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xml:space="preserve">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xml:space="preserve">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xml:space="preserve">  "answers": {</a:t>
            </a:r>
            <a:endParaRPr sz="1050"/>
          </a:p>
          <a:p>
            <a:pPr>
              <a:lnSpc>
                <a:spcPts val="1150"/>
              </a:lnSpc>
              <a:buNone/>
            </a:pPr>
            <a:r>
              <a:rPr lang="en-US" sz="1050">
                <a:solidFill>
                  <a:srgbClr val="ECE9F8"/>
                </a:solidFill>
                <a:latin typeface="Consolas"/>
              </a:rPr>
              <a:t xml:space="preserve">    "maneuver": {</a:t>
            </a:r>
            <a:endParaRPr sz="1050"/>
          </a:p>
          <a:p>
            <a:pPr>
              <a:lnSpc>
                <a:spcPts val="1150"/>
              </a:lnSpc>
              <a:buNone/>
            </a:pPr>
            <a:r>
              <a:rPr lang="en-US" sz="1050">
                <a:solidFill>
                  <a:srgbClr val="ECE9F8"/>
                </a:solidFill>
                <a:latin typeface="Consolas"/>
              </a:rPr>
              <a:t xml:space="preserve">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xml:space="preserve">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14</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a:noFill/>
          </a:ln>
        </p:spPr>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09 / 14</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sp>
        <p:nvSpPr>
          <p:cNvPr id="6" name="Racing-line approximation"/>
          <p:cNvSpPr txBox="1"/>
          <p:nvPr/>
        </p:nvSpPr>
        <p:spPr>
          <a:xfrm>
            <a:off x="548640" y="1362456"/>
            <a:ext cx="8046720" cy="274320"/>
          </a:xfrm>
          <a:prstGeom prst="rect">
            <a:avLst/>
          </a:prstGeom>
          <a:noFill/>
          <a:ln>
            <a:noFill/>
          </a:ln>
        </p:spPr>
        <p:txBody>
          <a:bodyPr wrap="none" lIns="0" tIns="0" rIns="0" bIns="0"/>
          <a:lstStyle/>
          <a:p>
            <a:pPr>
              <a:buNone/>
            </a:pPr>
            <a:r>
              <a:rPr lang="en-US" sz="1370">
                <a:solidFill>
                  <a:srgbClr val="ABA6C8"/>
                </a:solidFill>
                <a:latin typeface="Segoe UI"/>
              </a:rPr>
              <a:t>The model selects racing_line; game code computes the target and steers at 60 Hz.</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2"/>
          <a:stretch>
            <a:fillRect/>
          </a:stretch>
        </p:blipFill>
        <p:spPr>
          <a:xfrm>
            <a:off x="548640" y="1737360"/>
            <a:ext cx="4480560" cy="2520315"/>
          </a:xfrm>
          <a:prstGeom prst="rect">
            <a:avLst/>
          </a:prstGeom>
          <a:ln>
            <a:noFill/>
          </a:ln>
        </p:spPr>
      </p:pic>
      <p:sp>
        <p:nvSpPr>
          <p:cNvPr id="8" name="Racing-line contrast underlay"/>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sp>
      <p:sp>
        <p:nvSpPr>
          <p:cNvPr id="10" name="Editable racing-line target - ahead" descr="The target line continues ahead of Lyra toward the inside of this right-hand bend. An explanatory annotation, not a path returned by the AI."/>
          <p:cNvSpPr/>
          <p:nvPr/>
        </p:nvSpPr>
        <p:spPr>
          <a:xfrm>
            <a:off x="548640" y="173736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sp>
      <p:sp>
        <p:nvSpPr>
          <p:cNvPr id="11" name="Lyra request-to-screenshot callout"/>
          <p:cNvSpPr txBox="1"/>
          <p:nvPr/>
        </p:nvSpPr>
        <p:spPr>
          <a:xfrm>
            <a:off x="786384" y="246888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2" name="Capture provenance"/>
          <p:cNvSpPr txBox="1"/>
          <p:nvPr/>
        </p:nvSpPr>
        <p:spPr>
          <a:xfrm>
            <a:off x="548640" y="4352544"/>
            <a:ext cx="4480560" cy="201168"/>
          </a:xfrm>
          <a:prstGeom prst="rect">
            <a:avLst/>
          </a:prstGeom>
          <a:noFill/>
          <a:ln>
            <a:noFill/>
          </a:ln>
        </p:spPr>
        <p:txBody>
          <a:bodyPr wrap="none" lIns="0" tIns="0" rIns="0" bIns="0"/>
          <a:lstStyle/>
          <a:p>
            <a:pPr>
              <a:buNone/>
            </a:pPr>
            <a:r>
              <a:rPr lang="en-US" sz="1100">
                <a:solidFill>
                  <a:srgbClr val="ABA6C8"/>
                </a:solidFill>
                <a:latin typeface="Segoe UI"/>
              </a:rPr>
              <a:t>Yellow: engine target. Controlled game capture; overlay added.</a:t>
            </a:r>
          </a:p>
        </p:txBody>
      </p:sp>
      <p:sp>
        <p:nvSpPr>
          <p:cNvPr id="13" name="How the engine follows the line"/>
          <p:cNvSpPr txBox="1"/>
          <p:nvPr/>
        </p:nvSpPr>
        <p:spPr>
          <a:xfrm>
            <a:off x="548640" y="4544568"/>
            <a:ext cx="4480560" cy="201168"/>
          </a:xfrm>
          <a:prstGeom prst="rect">
            <a:avLst/>
          </a:prstGeom>
          <a:noFill/>
          <a:ln>
            <a:noFill/>
          </a:ln>
        </p:spPr>
        <p:txBody>
          <a:bodyPr wrap="none" lIns="0" tIns="0" rIns="0" bIns="0"/>
          <a:lstStyle/>
          <a:p>
            <a:pPr>
              <a:buNone/>
            </a:pPr>
            <a:r>
              <a:rPr lang="en-US" sz="1140" b="1">
                <a:solidFill>
                  <a:srgbClr val="ECE9F8"/>
                </a:solidFill>
                <a:latin typeface="Segoe UI Semibold"/>
              </a:rPr>
              <a:t>40-segment lookahead; inside bias, not a full apex line.</a:t>
            </a:r>
          </a:p>
        </p:txBody>
      </p:sp>
      <p:sp>
        <p:nvSpPr>
          <p:cNvPr id="14" name="Request card"/>
          <p:cNvSpPr/>
          <p:nvPr/>
        </p:nvSpPr>
        <p:spPr>
          <a:xfrm>
            <a:off x="5349240" y="1737360"/>
            <a:ext cx="3246120" cy="1572768"/>
          </a:xfrm>
          <a:prstGeom prst="roundRect">
            <a:avLst>
              <a:gd name="adj" fmla="val 14000"/>
            </a:avLst>
          </a:prstGeom>
          <a:solidFill>
            <a:srgbClr val="110F26"/>
          </a:solidFill>
          <a:ln>
            <a:noFill/>
          </a:ln>
        </p:spPr>
      </p:sp>
      <p:sp>
        <p:nvSpPr>
          <p:cNvPr id="15" name="AI request label"/>
          <p:cNvSpPr txBox="1"/>
          <p:nvPr/>
        </p:nvSpPr>
        <p:spPr>
          <a:xfrm>
            <a:off x="5532120" y="188366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12140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7" name="Three typed questions"/>
          <p:cNvSpPr txBox="1"/>
          <p:nvPr/>
        </p:nvSpPr>
        <p:spPr>
          <a:xfrm>
            <a:off x="5532120" y="2852928"/>
            <a:ext cx="2880360" cy="347472"/>
          </a:xfrm>
          <a:prstGeom prst="rect">
            <a:avLst/>
          </a:prstGeom>
          <a:noFill/>
          <a:ln>
            <a:noFill/>
          </a:ln>
        </p:spPr>
        <p:txBody>
          <a:bodyPr wrap="none" lIns="0" tIns="0" rIns="0" bIns="0"/>
          <a:lstStyle/>
          <a:p>
            <a:pPr>
              <a:lnSpc>
                <a:spcPts val="1300"/>
              </a:lnSpc>
              <a:buNone/>
            </a:pPr>
            <a:r>
              <a:rPr lang="en-US" sz="1130">
                <a:solidFill>
                  <a:srgbClr val="3DD6FF"/>
                </a:solidFill>
                <a:latin typeface="Consolas"/>
              </a:rPr>
              <a:t>maneuver: choice</a:t>
            </a:r>
          </a:p>
          <a:p>
            <a:pPr>
              <a:lnSpc>
                <a:spcPts val="1300"/>
              </a:lnSpc>
              <a:buNone/>
            </a:pPr>
            <a:r>
              <a:rPr lang="en-US" sz="1130">
                <a:solidFill>
                  <a:srgbClr val="3DD6FF"/>
                </a:solidFill>
                <a:latin typeface="Consolas"/>
              </a:rPr>
              <a:t xml:space="preserve">pace: score    nitro: noul</a:t>
            </a:r>
          </a:p>
        </p:txBody>
      </p:sp>
      <p:sp>
        <p:nvSpPr>
          <p:cNvPr id="18" name="Live result card"/>
          <p:cNvSpPr/>
          <p:nvPr/>
        </p:nvSpPr>
        <p:spPr>
          <a:xfrm>
            <a:off x="5349240" y="3493008"/>
            <a:ext cx="3246120" cy="1188720"/>
          </a:xfrm>
          <a:prstGeom prst="roundRect">
            <a:avLst>
              <a:gd name="adj" fmla="val 14000"/>
            </a:avLst>
          </a:prstGeom>
          <a:solidFill>
            <a:srgbClr val="110F26"/>
          </a:solidFill>
          <a:ln>
            <a:noFill/>
          </a:ln>
        </p:spPr>
      </p:sp>
      <p:sp>
        <p:nvSpPr>
          <p:cNvPr id="19" name="Live response label"/>
          <p:cNvSpPr txBox="1"/>
          <p:nvPr/>
        </p:nvSpPr>
        <p:spPr>
          <a:xfrm>
            <a:off x="5532120" y="3639312"/>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904488"/>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977640"/>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4187952"/>
            <a:ext cx="2880360" cy="228600"/>
          </a:xfrm>
          <a:prstGeom prst="rect">
            <a:avLst/>
          </a:prstGeom>
          <a:noFill/>
          <a:ln>
            <a:noFill/>
          </a:ln>
        </p:spPr>
        <p:txBody>
          <a:bodyPr wrap="none" lIns="0" tIns="0" rIns="0" bIns="0"/>
          <a:lstStyle/>
          <a:p>
            <a:pPr>
              <a:buNone/>
            </a:pPr>
            <a:r>
              <a:rPr lang="en-US" sz="1250">
                <a:solidFill>
                  <a:srgbClr val="ECE9F8"/>
                </a:solidFill>
                <a:latin typeface="Consolas"/>
              </a:rPr>
              <a:t xml:space="preserve">pace 1.46 / 3   nitro 0.095</a:t>
            </a:r>
          </a:p>
        </p:txBody>
      </p:sp>
      <p:sp>
        <p:nvSpPr>
          <p:cNvPr id="23" name="Nitro threshold policy"/>
          <p:cNvSpPr txBox="1"/>
          <p:nvPr/>
        </p:nvSpPr>
        <p:spPr>
          <a:xfrm>
            <a:off x="5532120" y="4425696"/>
            <a:ext cx="2880360" cy="201168"/>
          </a:xfrm>
          <a:prstGeom prst="rect">
            <a:avLst/>
          </a:prstGeom>
          <a:noFill/>
          <a:ln>
            <a:noFill/>
          </a:ln>
        </p:spPr>
        <p:txBody>
          <a:bodyPr wrap="none" lIns="0" tIns="0" rIns="0" bIns="0"/>
          <a:lstStyle/>
          <a:p>
            <a:pPr>
              <a:buNone/>
            </a:pPr>
            <a:r>
              <a:rPr lang="en-US" sz="1100">
                <a:solidFill>
                  <a:srgbClr val="ABA6C8"/>
                </a:solidFill>
                <a:latin typeface="Segoe UI"/>
              </a:rPr>
              <a:t>No boost: nitro 0.095 &lt; Lyra's 0.65.</a:t>
            </a:r>
          </a:p>
        </p:txBody>
      </p:sp>
      <p:sp>
        <p:nvSpPr>
          <p:cNvPr id="24" name="Leader identifying Lyra"/>
          <p:cNvSpPr/>
          <p:nvPr/>
        </p:nvSpPr>
        <p:spPr>
          <a:xfrm>
            <a:off x="2980944" y="274320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sp>
      <p:sp>
        <p:nvSpPr>
          <p:cNvPr id="25" name="Identify the player HUD"/>
          <p:cNvSpPr txBox="1"/>
          <p:nvPr/>
        </p:nvSpPr>
        <p:spPr>
          <a:xfrm>
            <a:off x="1179576" y="189280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15</TotalTime>
  <Words>3351</Words>
  <Application>Microsoft Office PowerPoint</Application>
  <PresentationFormat>On-screen Show (16:9)</PresentationFormat>
  <Paragraphs>285</Paragraphs>
  <Slides>16</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rivals follow the line</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3</cp:revision>
  <dcterms:created xsi:type="dcterms:W3CDTF">2026-10-27T19:13:30Z</dcterms:created>
  <dcterms:modified xsi:type="dcterms:W3CDTF">2026-10-28T16:00:42Z</dcterms:modified>
</cp:coreProperties>
</file>