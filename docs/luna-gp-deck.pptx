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69" r:id="rId3"/>
    <p:sldId id="270" r:id="rId4"/>
    <p:sldId id="257" r:id="rId5"/>
    <p:sldId id="258" r:id="rId6"/>
    <p:sldId id="259" r:id="rId7"/>
    <p:sldId id="260" r:id="rId8"/>
    <p:sldId id="261" r:id="rId9"/>
    <p:sldId id="268" r:id="rId10"/>
    <p:sldId id="262" r:id="rId11"/>
    <p:sldId id="271" r:id="rId12"/>
    <p:sldId id="263" r:id="rId13"/>
    <p:sldId id="267"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9" d="100"/>
          <a:sy n="99" d="100"/>
        </p:scale>
        <p:origin x="1953"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5365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probability does not fire nitro by itself: each rival compares it with its personality threshold (aggressive and wildcard 0.50, defensive 0.60, tactical and smooth 0.65). This slide compares a hypothetical result of 0.62 against all five thresholds; it is not one answer broadcast to every car. Each rival has its own request and can receive a different probability. A boost also needs at least 34% of the tank. The debrief's clean_racer question is a noul too.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Each of the five rivals sends its own request containing maneuver, pace and nitro; these are not five drivers batched into one request. Requests from different rivals can overlap. Each rival asks again 0.65 to 1.05 s after its last answer in traffic and 1.4 to 1.8 s otherwise. Its personality is included in the model input and also selects the game's nitro threshold.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picks from the six cars in the race: you and the five rivals. All policies (thresholds, penalties, the speed formula) live in game code, not in the prompt.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Think of this as a repeated radio check, not a chat conversation. The snapshot and answers on this slide are illustrative, not a captured model reply. The actual exchange is JSON, shown on the next slide.</a:t>
            </a:r>
          </a:p>
          <a:p>
            <a:r>
              <a:rPr lang="en-US"/>
              <a:t>The browser posts telemetry for one rival to /api/rival. It includes driver name, number and personality; lap, position and gaps; speed, top speed, road position, nitro tank and whether the boost is active; upcoming track features and elevation; nearby cars ahead, behind or alongside and their relative speeds. The previous maneuver and its age are included when available. The server validates the data, writes the state as plain text, and adds the same three fixed questions: maneuver, pace and nitro. Personality is part of the model input, not just a rule applied after the answer.</a:t>
            </a:r>
          </a:p>
          <a:p>
            <a:r>
              <a:rPr lang="en-US"/>
              <a:t>The example reply selects overtake_left, scores pace at 2.4 on the 0-to-3 scale, and returns a nitro likelihood of 0.78. Game code steers and sets the speed target. It compares the nitro likelihood with the driver's personality threshold and checks the tank before boosting; aggressive Vega's threshold is 0.50 and a boost needs at least 34% of the tank. The model does not drive the physics directly.</a:t>
            </a:r>
          </a:p>
          <a:p>
            <a:r>
              <a:rPr lang="en-US"/>
              <a:t>There is no messages array, growing chat transcript or persistent model conversation per car. Each call supplies a fresh snapshot, including the last move and its age. Each of the five rivals has its own asynchronous decision loop and at most one outstanding request; requests from different rivals can overlap. After a reply, that rival waits 0.65 to 1.05 seconds in traffic or 1.4 to 1.8 seconds otherwise before asking again. Rivals observe traffic but do not exchange plans or coordinate as a swarm. A coordinated swarm remains a future project on the closing slide.</a:t>
            </a:r>
          </a:p>
        </p:txBody>
      </p:sp>
      <p:sp>
        <p:nvSpPr>
          <p:cNvPr id="4" name="Slide Number Placeholder 3"/>
          <p:cNvSpPr>
            <a:spLocks noGrp="1"/>
          </p:cNvSpPr>
          <p:nvPr>
            <p:ph type="sldNum" sz="quarter" idx="10"/>
          </p:nvPr>
        </p:nvSpPr>
        <p:spPr/>
        <p:txBody>
          <a:bodyPr/>
          <a:lstStyle/>
          <a:p>
            <a:fld id="{3FEF4712-8A2B-4CC3-AF43-90CF52B31007}" type="slidenum">
              <a:rPr lang="en-US"/>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abbreviated JSON example, not a literal complete packet: the ellipses mark omitted fields. The request's model is the configured deployment name; the response's model names the underlying model. state is a few lines of plain text built from validated telemetry, including personality, race position, speed, nitro, road and nearby cars, and the previous maneuver and its age. There is no messages array or growing chat history. All three questions include instructions explaining what to decide. The maneuver question's criteria is an object mapping the six choices to descriptions: racing_line, overtake_left, overtake_right, slipstream, defend and back_off. The pace question's criteria is an ordered list of four descriptions: Conserve, Race, Push and Flat out, indexed 0 to 3. The nitro question uses type noul and instructions, without criteria. The sample answers match the previous slide and are illustrative, not a measured model response. Actual choice and score answers also contain type, confidence and probabilities; a noul answer contains its type and one probability. Usage also includes input tokens. The server compacts the answers and adds timing and token information before returning them to the browser, where game code applies them. A measured rival call used about 630 input tokens and 3 output tokens.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Speaker notes"/>
          <p:cNvSpPr>
            <a:spLocks noGrp="1"/>
          </p:cNvSpPr>
          <p:nvPr>
            <p:ph type="body" idx="1"/>
          </p:nvPr>
        </p:nvSpPr>
        <p:spPr/>
        <p:txBody>
          <a:bodyPr/>
          <a:lstStyle/>
          <a:p>
            <a:r>
              <a:t>A racing line is the path a driver aims to take to carry speed through a corner. A conventional racing line often uses outside entry, an inside apex and outside exit. LUNA GP does not compute that optimized route: racing_line is a simple curve-following heuristic. Positive curvature is a right-hand bend and produces a positive offset, so the target biases toward the INSIDE of the bend, not the opposite side.</a:t>
            </a:r>
          </a:p>
          <a:p>
            <a:r>
              <a:t>Provenance: screenshot from the actual LUNA GP game at https://aka.ms/racing, captured on 2026-10-28. This is a controlled in-game setup using the existing debug hook, not a naturally occurring race moment. Lyra is positioned on a right-hand bend with clear road ahead and a slower player behind. The scene was held still while one real POST /api/rival request was made for that pictured car. The response is from Microsoft-Decision-1, not the local fallback. Request and result on the slide are condensed; displayed numbers are rounded. The HUD P3 and 230 km/h belong to the human player/camera, whereas the request's P2 and 268 km/h belong to Lyra (#22).</a:t>
            </a:r>
          </a:p>
          <a:p>
            <a:r>
              <a:t>The editable yellow overlay was added only in PowerPoint. It projects the engine's target offset at sampled road positions using the game's own segment projection. It is a target line, not a model-generated polyline or a prediction of the exact vehicle trajectory. The line is interrupted where Lyra's car occludes it. The screenshot itself has no racing-line overlay in normal gameplay.</a:t>
            </a:r>
          </a:p>
          <a:p>
            <a:r>
              <a:t>Implementation: Race.driveAi sets targetOffset = clamp(track.avgCurveAhead(car.progress, 40) * 0.12, -0.55, 0.55) for racing_line. Road offsets run from -1 (left edge) to +1 (right edge), with 0 at the centre. Here average curvature is +4, so the target is +0.48. The 40 segments cover about 55.6 metres in the game's distance scale. Each 60 Hz physics step moves the car toward that target by at most (0.25 + speed / MAX_SPEED) * dt. The model chooses the maneuver, pace and nitro probability; it does not steer frame by frame or supply path coordinates.</a:t>
            </a:r>
          </a:p>
          <a:p>
            <a:r>
              <a:t>Traffic and pace: an alongside-car guard prevents steering into another car. Overtake, slipstream, defend and back_off temporarily choose different lateral targets. Pace sets topSpeed * (0.92 + 0.03 * score), then cornering, traffic, drafting and nitro modify the speed target. Rivals do not use the player's centrifugal-drift physics. The fixed-step AI controller directly adjusts their lateral offsets.</a:t>
            </a:r>
          </a:p>
          <a:p>
            <a:r>
              <a:t>Exact server-built state for this request:</a:t>
            </a:r>
          </a:p>
          <a:p>
            <a:r>
              <a:t>Arcade circuit race, 3 laps, 6 cars. Driver under review: Lyra (#22).</a:t>
            </a:r>
          </a:p>
          <a:p>
            <a:r>
              <a:t>Personality: Smooth: clean and consistent, sticks to the racing line, only overtakes when it is easy.</a:t>
            </a:r>
          </a:p>
          <a:p>
            <a:r>
              <a:t>Race situation: lap 1 of 3; running P2 of 6, 3.4 s behind the leader.</a:t>
            </a:r>
          </a:p>
          <a:p>
            <a:r>
              <a:t>Car: 268 km/h (top speed 285 km/h), in the right lane, nitro tank 72%.</a:t>
            </a:r>
          </a:p>
          <a:p>
            <a:r>
              <a:t>Track ahead: currently in a medium right-hand corner with 81 m to go, then a 47 m straight, then a gentle left-hand corner (97 m long). The road climbs.</a:t>
            </a:r>
          </a:p>
          <a:p>
            <a:r>
              <a:t>Car ahead: none within 150 m.</a:t>
            </a:r>
          </a:p>
          <a:p>
            <a:r>
              <a:t>Car behind: the human player, 24 m behind, slightly to the left, 37 km/h slower (dropping back).</a:t>
            </a:r>
          </a:p>
          <a:p>
            <a:r>
              <a:t>Typed questions: maneuver (choice: racing_line, overtake_left, overtake_right, slipstream, defend, back_off); pace (score: Conserve, Race, Push, Flat out); nitro (noul). The exact fixed instructions and criteria are built by lib/prompts.js and converted to the Foundry request shape by lib/decisions.js. No conversation history or screenshot is sent with the rival request.</a:t>
            </a:r>
          </a:p>
          <a:p>
            <a:r>
              <a:t>Captured result: model microsoft-decision-1; maneuver.choice racing_line; maneuver.probabilities.racing_line 0.9924292785227681 (99.24% on slide); maneuver.confidence 0.9909151342273217 (a different field, not the displayed choice probability). pace.score 1.4615374821905507; nitro.probability 0.09535027692543765; refusals []; latencyMs 358; inputTokens 594. Nitro is held because 0.09535 is below Lyra's 0.65 threshold even though her tank is 72%, above the 34% minimum cost.</a:t>
            </a:r>
          </a:p>
          <a:p>
            <a:r>
              <a:t>Sources: public/js/race.js (driveAi, rivalPayload), public/js/track.js (avgCurveAhead), public/js/rivals.js (cadenceMs, apply), public/js/render.js (road projection), public/js/config.js (STEP and nitro thresholds), lib/prompts.js (buildRivalRequest), lib/decisions.js (toFoundryQuestions). Live game: https://aka.ms/racing.</a:t>
            </a:r>
          </a:p>
        </p:txBody>
      </p:sp>
      <p:sp>
        <p:nvSpPr>
          <p:cNvPr id="4" name="Slide Number Placeholder"/>
          <p:cNvSpPr>
            <a:spLocks noGrp="1"/>
          </p:cNvSpPr>
          <p:nvPr>
            <p:ph type="sldNum" sz="quarter" idx="10"/>
          </p:nvPr>
        </p:nvSpPr>
        <p:spPr/>
        <p:txBody>
          <a:bodyPr/>
          <a:lstStyle/>
          <a:p>
            <a:fld id="{F81BD507-B837-4F80-9B61-285A19E1B2C3}" type="slidenum">
              <a:rPr lang="en-US"/>
              <a:t>11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aka.ms/racing: it runs on Azure App Service and reaches the model with its managed identity, and the server caps model calls at 20,000 a day. To run your own: Node.js 20+ and, for AI rivals, FOUNDRY_ENDPOINT plus an Azure CLI login with access to the Foundry resource. Without it the game still runs with offline heuristics. P or Esc pauses, M mutes. Future project: turn the independent rivals into a coordinated swarm that shares tactics and adapts together.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10" Type="http://schemas.openxmlformats.org/officeDocument/2006/relationships/hyperlink" Target="https://github.com/roryp/racing" TargetMode="External"/><Relationship Id="rId4" Type="http://schemas.openxmlformats.org/officeDocument/2006/relationships/hyperlink" Target="https://aka.ms/racing" TargetMode="External"/><Relationship Id="rId9"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a:effectLst/>
      </p:bgPr>
    </p:bg>
    <p:spTree>
      <p:nvGrpSpPr>
        <p:cNvPr id="1" name=""/>
        <p:cNvGrpSpPr/>
        <p:nvPr/>
      </p:nvGrpSpPr>
      <p:grpSpPr>
        <a:xfrm>
          <a:off x="0" y="0"/>
          <a:ext cx="0" cy="0"/>
          <a:chOff x="0" y="0"/>
          <a:chExt cx="0" cy="0"/>
        </a:xfrm>
      </p:grpSpPr>
      <p:pic>
        <p:nvPicPr>
          <p:cNvPr id="14" name="Image 0" descr="LUNA GP race start: the player car lines up under the start gantry with rival cars ahead"/>
          <p:cNvPicPr>
            <a:picLocks noChangeAspect="1"/>
          </p:cNvPicPr>
          <p:nvPr/>
        </p:nvPicPr>
        <p:blipFill>
          <a:blip r:embed="rId3"/>
          <a:stretch>
            <a:fillRect/>
          </a:stretch>
        </p:blipFill>
        <p:spPr>
          <a:xfrm>
            <a:off x="5394960" y="1183624"/>
            <a:ext cx="3200400" cy="2776251"/>
          </a:xfrm>
          <a:prstGeom prst="roundRect">
            <a:avLst>
              <a:gd name="adj" fmla="val 6000"/>
            </a:avLst>
          </a:prstGeom>
          <a:ln w="12700">
            <a:solidFill>
              <a:srgbClr val="2A2650"/>
            </a:solidFill>
          </a:ln>
        </p:spPr>
      </p:pic>
      <p:sp>
        <p:nvSpPr>
          <p:cNvPr id="15" name="Text 12"/>
          <p:cNvSpPr/>
          <p:nvPr/>
        </p:nvSpPr>
        <p:spPr>
          <a:xfrm>
            <a:off x="548640" y="1280160"/>
            <a:ext cx="4572000" cy="1188720"/>
          </a:xfrm>
          <a:prstGeom prst="rect">
            <a:avLst/>
          </a:prstGeom>
          <a:noFill/>
          <a:ln/>
        </p:spPr>
        <p:txBody>
          <a:bodyPr wrap="square" lIns="0" tIns="0" rIns="0" bIns="0" rtlCol="0" anchor="ctr"/>
          <a:lstStyle/>
          <a:p>
            <a:pPr marL="0" indent="0">
              <a:buNone/>
            </a:pPr>
            <a:r>
              <a:rPr lang="en-US" sz="7200" i="1" dirty="0">
                <a:solidFill>
                  <a:srgbClr val="FFD166"/>
                </a:solidFill>
                <a:latin typeface="Segoe UI Black" pitchFamily="34" charset="0"/>
                <a:ea typeface="Segoe UI Black" pitchFamily="34" charset="-122"/>
                <a:cs typeface="Segoe UI Black" pitchFamily="34" charset="-120"/>
              </a:rPr>
              <a:t>LUNA</a:t>
            </a:r>
            <a:r>
              <a:rPr lang="en-US" sz="7200" i="1" dirty="0">
                <a:solidFill>
                  <a:srgbClr val="3DD6FF"/>
                </a:solidFill>
                <a:latin typeface="Segoe UI Black" pitchFamily="34" charset="0"/>
                <a:ea typeface="Segoe UI Black" pitchFamily="34" charset="-122"/>
                <a:cs typeface="Segoe UI Black" pitchFamily="34" charset="-120"/>
              </a:rPr>
              <a:t>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marL="0" indent="0">
              <a:buNone/>
            </a:pPr>
            <a:r>
              <a:rPr lang="en-US" sz="2000" dirty="0">
                <a:solidFill>
                  <a:srgbClr val="ECE9F8"/>
                </a:solidFill>
                <a:latin typeface="Segoe UI" pitchFamily="34" charset="0"/>
                <a:ea typeface="Segoe UI" pitchFamily="34" charset="-122"/>
                <a:cs typeface="Segoe UI" pitchFamily="34" charset="-120"/>
              </a:rPr>
              <a:t>A night-time arcade racer where every rival thinks with </a:t>
            </a:r>
            <a:r>
              <a:rPr lang="en-US" sz="2000" b="1" dirty="0">
                <a:solidFill>
                  <a:srgbClr val="FFD166"/>
                </a:solidFill>
                <a:latin typeface="Segoe UI" pitchFamily="34" charset="0"/>
                <a:ea typeface="Segoe UI" pitchFamily="34" charset="-122"/>
                <a:cs typeface="Segoe UI" pitchFamily="34" charset="-120"/>
              </a:rPr>
              <a:t>Microsoft-Decision-1</a:t>
            </a: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572000" cy="274320"/>
          </a:xfrm>
          <a:prstGeom prst="rect">
            <a:avLst/>
          </a:prstGeom>
          <a:noFill/>
          <a:ln/>
        </p:spPr>
        <p:txBody>
          <a:bodyPr wrap="square" lIns="0" tIns="0" rIns="0" bIns="0" rtlCol="0" anchor="ctr"/>
          <a:lstStyle/>
          <a:p>
            <a:pPr marL="0" indent="0">
              <a:buNone/>
            </a:pPr>
            <a:r>
              <a:rPr lang="en-US" sz="1200" dirty="0">
                <a:solidFill>
                  <a:srgbClr val="ABA6C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C2CACD9-0420-1A1C-0D6C-009F80A55739}"/>
              </a:ext>
            </a:extLst>
          </p:cNvPr>
          <p:cNvPicPr>
            <a:picLocks noChangeAspect="1"/>
          </p:cNvPicPr>
          <p:nvPr/>
        </p:nvPicPr>
        <p:blipFill>
          <a:blip r:embed="rId2"/>
          <a:stretch>
            <a:fillRect/>
          </a:stretch>
        </p:blipFill>
        <p:spPr>
          <a:xfrm>
            <a:off x="2429" y="0"/>
            <a:ext cx="9139141" cy="5143500"/>
          </a:xfrm>
          <a:prstGeom prst="rect">
            <a:avLst/>
          </a:prstGeom>
        </p:spPr>
      </p:pic>
    </p:spTree>
    <p:extLst>
      <p:ext uri="{BB962C8B-B14F-4D97-AF65-F5344CB8AC3E}">
        <p14:creationId xmlns:p14="http://schemas.microsoft.com/office/powerpoint/2010/main" val="29006342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51435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descr="Image preview">
            <a:extLst>
              <a:ext uri="{FF2B5EF4-FFF2-40B4-BE49-F238E27FC236}">
                <a16:creationId xmlns:a16="http://schemas.microsoft.com/office/drawing/2014/main" id="{1EA80197-9483-974C-A334-720D4653C3C1}"/>
              </a:ext>
            </a:extLst>
          </p:cNvPr>
          <p:cNvPicPr>
            <a:picLocks noChangeAspect="1"/>
          </p:cNvPicPr>
          <p:nvPr/>
        </p:nvPicPr>
        <p:blipFill>
          <a:blip r:embed="rId2"/>
          <a:srcRect b="19"/>
          <a:stretch>
            <a:fillRect/>
          </a:stretch>
        </p:blipFill>
        <p:spPr>
          <a:xfrm>
            <a:off x="20" y="961"/>
            <a:ext cx="9143980" cy="5142539"/>
          </a:xfrm>
          <a:prstGeom prst="rect">
            <a:avLst/>
          </a:prstGeom>
        </p:spPr>
      </p:pic>
    </p:spTree>
    <p:extLst>
      <p:ext uri="{BB962C8B-B14F-4D97-AF65-F5344CB8AC3E}">
        <p14:creationId xmlns:p14="http://schemas.microsoft.com/office/powerpoint/2010/main" val="11804689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02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marL="0" indent="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3"/>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txBody>
          <a:bodyPr/>
          <a:lstStyle/>
          <a:p>
            <a:endParaRPr lang="en-ZA"/>
          </a:p>
        </p:txBody>
      </p:sp>
      <p:pic>
        <p:nvPicPr>
          <p:cNvPr id="9" name="Image 1" descr="Steering wheel icon"/>
          <p:cNvPicPr>
            <a:picLocks noChangeAspect="1"/>
          </p:cNvPicPr>
          <p:nvPr/>
        </p:nvPicPr>
        <p:blipFill>
          <a:blip r:embed="rId4"/>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txBody>
          <a:bodyPr/>
          <a:lstStyle/>
          <a:p>
            <a:endParaRPr lang="en-ZA"/>
          </a:p>
        </p:txBody>
      </p:sp>
      <p:pic>
        <p:nvPicPr>
          <p:cNvPr id="13" name="Image 2" descr="Gauge icon"/>
          <p:cNvPicPr>
            <a:picLocks noChangeAspect="1"/>
          </p:cNvPicPr>
          <p:nvPr/>
        </p:nvPicPr>
        <p:blipFill>
          <a:blip r:embed="rId5"/>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txBody>
          <a:bodyPr/>
          <a:lstStyle/>
          <a:p>
            <a:endParaRPr lang="en-ZA"/>
          </a:p>
        </p:txBody>
      </p:sp>
      <p:pic>
        <p:nvPicPr>
          <p:cNvPr id="17" name="Image 3" descr="Brain circuit icon"/>
          <p:cNvPicPr>
            <a:picLocks noChangeAspect="1"/>
          </p:cNvPicPr>
          <p:nvPr/>
        </p:nvPicPr>
        <p:blipFill>
          <a:blip r:embed="rId6"/>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03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marL="0" indent="0">
              <a:buNone/>
            </a:pPr>
            <a:r>
              <a:rPr lang="en-US" sz="1800" dirty="0">
                <a:solidFill>
                  <a:srgbClr val="ECE9F8"/>
                </a:solidFill>
                <a:latin typeface="Segoe UI" pitchFamily="34" charset="0"/>
                <a:ea typeface="Segoe UI" pitchFamily="34" charset="-122"/>
                <a:cs typeface="Segoe UI" pitchFamily="34" charset="-120"/>
              </a:rPr>
              <a:t>Give it a situation and closed questions; it returns a </a:t>
            </a:r>
            <a:r>
              <a:rPr lang="en-US" sz="1800" b="1" dirty="0">
                <a:solidFill>
                  <a:srgbClr val="FFD166"/>
                </a:solidFill>
                <a:latin typeface="Segoe UI" pitchFamily="34" charset="0"/>
                <a:ea typeface="Segoe UI" pitchFamily="34" charset="-122"/>
                <a:cs typeface="Segoe UI" pitchFamily="34" charset="-120"/>
              </a:rPr>
              <a:t>calibrated probability</a:t>
            </a:r>
            <a:r>
              <a:rPr lang="en-US" sz="1800" dirty="0">
                <a:solidFill>
                  <a:srgbClr val="ECE9F8"/>
                </a:solidFill>
                <a:latin typeface="Segoe UI" pitchFamily="34" charset="0"/>
                <a:ea typeface="Segoe UI" pitchFamily="34" charset="-122"/>
                <a:cs typeface="Segoe UI" pitchFamily="34" charset="-120"/>
              </a:rPr>
              <a:t>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txBody>
          <a:bodyPr/>
          <a:lstStyle/>
          <a:p>
            <a:endParaRPr lang="en-ZA"/>
          </a:p>
        </p:txBody>
      </p:sp>
      <p:sp>
        <p:nvSpPr>
          <p:cNvPr id="8" name="Text 6"/>
          <p:cNvSpPr/>
          <p:nvPr/>
        </p:nvSpPr>
        <p:spPr>
          <a:xfrm>
            <a:off x="77724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txBody>
          <a:bodyPr/>
          <a:lstStyle/>
          <a:p>
            <a:endParaRPr lang="en-ZA"/>
          </a:p>
        </p:txBody>
      </p:sp>
      <p:sp>
        <p:nvSpPr>
          <p:cNvPr id="11" name="Text 9"/>
          <p:cNvSpPr/>
          <p:nvPr/>
        </p:nvSpPr>
        <p:spPr>
          <a:xfrm>
            <a:off x="355092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txBody>
          <a:bodyPr/>
          <a:lstStyle/>
          <a:p>
            <a:endParaRPr lang="en-ZA"/>
          </a:p>
        </p:txBody>
      </p:sp>
      <p:sp>
        <p:nvSpPr>
          <p:cNvPr id="14" name="Text 12"/>
          <p:cNvSpPr/>
          <p:nvPr/>
        </p:nvSpPr>
        <p:spPr>
          <a:xfrm>
            <a:off x="632460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txBody>
          <a:bodyPr/>
          <a:lstStyle/>
          <a:p>
            <a:endParaRPr lang="en-ZA"/>
          </a:p>
        </p:txBody>
      </p:sp>
      <p:sp>
        <p:nvSpPr>
          <p:cNvPr id="17" name="Text 15"/>
          <p:cNvSpPr/>
          <p:nvPr/>
        </p:nvSpPr>
        <p:spPr>
          <a:xfrm>
            <a:off x="777240" y="387248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marL="0" indent="0">
              <a:buNone/>
            </a:pPr>
            <a:r>
              <a:rPr lang="en-US" sz="1200" dirty="0">
                <a:solidFill>
                  <a:srgbClr val="FFD166"/>
                </a:solidFill>
                <a:latin typeface="Consolas" pitchFamily="34" charset="0"/>
                <a:ea typeface="Consolas" pitchFamily="34" charset="-122"/>
                <a:cs typeface="Consolas" pitchFamily="34" charset="-120"/>
              </a:rPr>
              <a:t>noul</a:t>
            </a:r>
            <a:r>
              <a:rPr lang="en-US" sz="1200" dirty="0">
                <a:solidFill>
                  <a:srgbClr val="ABA6C8"/>
                </a:solidFill>
                <a:latin typeface="Consolas" pitchFamily="34" charset="0"/>
                <a:ea typeface="Consolas" pitchFamily="34" charset="-122"/>
                <a:cs typeface="Consolas" pitchFamily="34" charset="-120"/>
              </a:rPr>
              <a:t> · </a:t>
            </a:r>
            <a:r>
              <a:rPr lang="en-US" sz="1200" dirty="0">
                <a:solidFill>
                  <a:srgbClr val="FFD166"/>
                </a:solidFill>
                <a:latin typeface="Consolas" pitchFamily="34" charset="0"/>
                <a:ea typeface="Consolas" pitchFamily="34" charset="-122"/>
                <a:cs typeface="Consolas" pitchFamily="34" charset="-120"/>
              </a:rPr>
              <a:t>choice</a:t>
            </a:r>
            <a:r>
              <a:rPr lang="en-US" sz="1200" dirty="0">
                <a:solidFill>
                  <a:srgbClr val="ABA6C8"/>
                </a:solidFill>
                <a:latin typeface="Consolas" pitchFamily="34" charset="0"/>
                <a:ea typeface="Consolas" pitchFamily="34" charset="-122"/>
                <a:cs typeface="Consolas" pitchFamily="34" charset="-120"/>
              </a:rPr>
              <a:t> · </a:t>
            </a: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txBody>
          <a:bodyPr/>
          <a:lstStyle/>
          <a:p>
            <a:endParaRPr lang="en-ZA"/>
          </a:p>
        </p:txBody>
      </p:sp>
      <p:sp>
        <p:nvSpPr>
          <p:cNvPr id="20" name="Text 18"/>
          <p:cNvSpPr/>
          <p:nvPr/>
        </p:nvSpPr>
        <p:spPr>
          <a:xfrm>
            <a:off x="3550920" y="3872484"/>
            <a:ext cx="48158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marL="0" indent="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04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marL="0" indent="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txBody>
          <a:bodyPr/>
          <a:lstStyle/>
          <a:p>
            <a:endParaRPr lang="en-ZA"/>
          </a:p>
        </p:txBody>
      </p:sp>
      <p:sp>
        <p:nvSpPr>
          <p:cNvPr id="8" name="Text 6"/>
          <p:cNvSpPr/>
          <p:nvPr/>
        </p:nvSpPr>
        <p:spPr>
          <a:xfrm>
            <a:off x="77724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txBody>
          <a:bodyPr/>
          <a:lstStyle/>
          <a:p>
            <a:endParaRPr lang="en-ZA"/>
          </a:p>
        </p:txBody>
      </p:sp>
      <p:sp>
        <p:nvSpPr>
          <p:cNvPr id="13" name="Text 11"/>
          <p:cNvSpPr/>
          <p:nvPr/>
        </p:nvSpPr>
        <p:spPr>
          <a:xfrm>
            <a:off x="355092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txBody>
          <a:bodyPr/>
          <a:lstStyle/>
          <a:p>
            <a:endParaRPr lang="en-ZA"/>
          </a:p>
        </p:txBody>
      </p:sp>
      <p:sp>
        <p:nvSpPr>
          <p:cNvPr id="18" name="Text 16"/>
          <p:cNvSpPr/>
          <p:nvPr/>
        </p:nvSpPr>
        <p:spPr>
          <a:xfrm>
            <a:off x="632460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marL="0" indent="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txBody>
          <a:bodyPr/>
          <a:lstStyle/>
          <a:p>
            <a:endParaRPr lang="en-ZA"/>
          </a:p>
        </p:txBody>
      </p:sp>
      <p:sp>
        <p:nvSpPr>
          <p:cNvPr id="24" name="Shape 22"/>
          <p:cNvSpPr/>
          <p:nvPr/>
        </p:nvSpPr>
        <p:spPr>
          <a:xfrm>
            <a:off x="777240" y="3337560"/>
            <a:ext cx="1490777" cy="91440"/>
          </a:xfrm>
          <a:prstGeom prst="rect">
            <a:avLst/>
          </a:prstGeom>
          <a:solidFill>
            <a:srgbClr val="3DD6FF"/>
          </a:solidFill>
          <a:ln/>
        </p:spPr>
        <p:txBody>
          <a:bodyPr/>
          <a:lstStyle/>
          <a:p>
            <a:endParaRPr lang="en-ZA"/>
          </a:p>
        </p:txBody>
      </p:sp>
      <p:sp>
        <p:nvSpPr>
          <p:cNvPr id="25" name="Text 23"/>
          <p:cNvSpPr/>
          <p:nvPr/>
        </p:nvSpPr>
        <p:spPr>
          <a:xfrm>
            <a:off x="777240" y="3511296"/>
            <a:ext cx="914400" cy="182880"/>
          </a:xfrm>
          <a:prstGeom prst="rect">
            <a:avLst/>
          </a:prstGeom>
          <a:noFill/>
          <a:ln/>
        </p:spPr>
        <p:txBody>
          <a:bodyPr wrap="square" lIns="0" tIns="0" rIns="0" bIns="0" rtlCol="0" anchor="ctr"/>
          <a:lstStyle/>
          <a:p>
            <a:pPr marL="0" indent="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txBody>
          <a:bodyPr/>
          <a:lstStyle/>
          <a:p>
            <a:endParaRPr lang="en-ZA"/>
          </a:p>
        </p:txBody>
      </p:sp>
      <p:sp>
        <p:nvSpPr>
          <p:cNvPr id="29" name="Shape 27"/>
          <p:cNvSpPr/>
          <p:nvPr/>
        </p:nvSpPr>
        <p:spPr>
          <a:xfrm>
            <a:off x="3779520" y="2843784"/>
            <a:ext cx="840943" cy="91440"/>
          </a:xfrm>
          <a:prstGeom prst="rect">
            <a:avLst/>
          </a:prstGeom>
          <a:solidFill>
            <a:srgbClr val="FFD166"/>
          </a:solidFill>
          <a:ln/>
        </p:spPr>
        <p:txBody>
          <a:bodyPr/>
          <a:lstStyle/>
          <a:p>
            <a:endParaRPr lang="en-ZA"/>
          </a:p>
        </p:txBody>
      </p:sp>
      <p:sp>
        <p:nvSpPr>
          <p:cNvPr id="30" name="Text 28"/>
          <p:cNvSpPr/>
          <p:nvPr/>
        </p:nvSpPr>
        <p:spPr>
          <a:xfrm>
            <a:off x="5209032" y="2798064"/>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txBody>
          <a:bodyPr/>
          <a:lstStyle/>
          <a:p>
            <a:endParaRPr lang="en-ZA"/>
          </a:p>
        </p:txBody>
      </p:sp>
      <p:sp>
        <p:nvSpPr>
          <p:cNvPr id="33" name="Shape 31"/>
          <p:cNvSpPr/>
          <p:nvPr/>
        </p:nvSpPr>
        <p:spPr>
          <a:xfrm>
            <a:off x="3779520" y="3081528"/>
            <a:ext cx="284836" cy="91440"/>
          </a:xfrm>
          <a:prstGeom prst="rect">
            <a:avLst/>
          </a:prstGeom>
          <a:solidFill>
            <a:srgbClr val="6C6790"/>
          </a:solidFill>
          <a:ln/>
        </p:spPr>
        <p:txBody>
          <a:bodyPr/>
          <a:lstStyle/>
          <a:p>
            <a:endParaRPr lang="en-ZA"/>
          </a:p>
        </p:txBody>
      </p:sp>
      <p:sp>
        <p:nvSpPr>
          <p:cNvPr id="34" name="Text 32"/>
          <p:cNvSpPr/>
          <p:nvPr/>
        </p:nvSpPr>
        <p:spPr>
          <a:xfrm>
            <a:off x="5209032" y="3035808"/>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txBody>
          <a:bodyPr/>
          <a:lstStyle/>
          <a:p>
            <a:endParaRPr lang="en-ZA"/>
          </a:p>
        </p:txBody>
      </p:sp>
      <p:sp>
        <p:nvSpPr>
          <p:cNvPr id="37" name="Shape 35"/>
          <p:cNvSpPr/>
          <p:nvPr/>
        </p:nvSpPr>
        <p:spPr>
          <a:xfrm>
            <a:off x="3779520" y="3319272"/>
            <a:ext cx="162763" cy="91440"/>
          </a:xfrm>
          <a:prstGeom prst="rect">
            <a:avLst/>
          </a:prstGeom>
          <a:solidFill>
            <a:srgbClr val="6C6790"/>
          </a:solidFill>
          <a:ln/>
        </p:spPr>
        <p:txBody>
          <a:bodyPr/>
          <a:lstStyle/>
          <a:p>
            <a:endParaRPr lang="en-ZA"/>
          </a:p>
        </p:txBody>
      </p:sp>
      <p:sp>
        <p:nvSpPr>
          <p:cNvPr id="38" name="Text 36"/>
          <p:cNvSpPr/>
          <p:nvPr/>
        </p:nvSpPr>
        <p:spPr>
          <a:xfrm>
            <a:off x="5209032" y="3273552"/>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txBody>
          <a:bodyPr/>
          <a:lstStyle/>
          <a:p>
            <a:endParaRPr lang="en-ZA"/>
          </a:p>
        </p:txBody>
      </p:sp>
      <p:sp>
        <p:nvSpPr>
          <p:cNvPr id="41" name="Shape 39"/>
          <p:cNvSpPr/>
          <p:nvPr/>
        </p:nvSpPr>
        <p:spPr>
          <a:xfrm>
            <a:off x="3779520" y="3557016"/>
            <a:ext cx="67818" cy="91440"/>
          </a:xfrm>
          <a:prstGeom prst="rect">
            <a:avLst/>
          </a:prstGeom>
          <a:solidFill>
            <a:srgbClr val="6C6790"/>
          </a:solidFill>
          <a:ln/>
        </p:spPr>
        <p:txBody>
          <a:bodyPr/>
          <a:lstStyle/>
          <a:p>
            <a:endParaRPr lang="en-ZA"/>
          </a:p>
        </p:txBody>
      </p:sp>
      <p:sp>
        <p:nvSpPr>
          <p:cNvPr id="42" name="Text 40"/>
          <p:cNvSpPr/>
          <p:nvPr/>
        </p:nvSpPr>
        <p:spPr>
          <a:xfrm>
            <a:off x="5209032" y="3511296"/>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txBody>
          <a:bodyPr/>
          <a:lstStyle/>
          <a:p>
            <a:endParaRPr lang="en-ZA"/>
          </a:p>
        </p:txBody>
      </p:sp>
      <p:sp>
        <p:nvSpPr>
          <p:cNvPr id="44" name="Text 42"/>
          <p:cNvSpPr/>
          <p:nvPr/>
        </p:nvSpPr>
        <p:spPr>
          <a:xfrm>
            <a:off x="6324600"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txBody>
          <a:bodyPr/>
          <a:lstStyle/>
          <a:p>
            <a:endParaRPr lang="en-ZA"/>
          </a:p>
        </p:txBody>
      </p:sp>
      <p:sp>
        <p:nvSpPr>
          <p:cNvPr id="46" name="Text 44"/>
          <p:cNvSpPr/>
          <p:nvPr/>
        </p:nvSpPr>
        <p:spPr>
          <a:xfrm>
            <a:off x="6895592"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txBody>
          <a:bodyPr/>
          <a:lstStyle/>
          <a:p>
            <a:endParaRPr lang="en-ZA"/>
          </a:p>
        </p:txBody>
      </p:sp>
      <p:sp>
        <p:nvSpPr>
          <p:cNvPr id="48" name="Text 46"/>
          <p:cNvSpPr/>
          <p:nvPr/>
        </p:nvSpPr>
        <p:spPr>
          <a:xfrm>
            <a:off x="7466584"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txBody>
          <a:bodyPr/>
          <a:lstStyle/>
          <a:p>
            <a:endParaRPr lang="en-ZA"/>
          </a:p>
        </p:txBody>
      </p:sp>
      <p:sp>
        <p:nvSpPr>
          <p:cNvPr id="50" name="Text 48"/>
          <p:cNvSpPr/>
          <p:nvPr/>
        </p:nvSpPr>
        <p:spPr>
          <a:xfrm>
            <a:off x="8037576"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marL="0" indent="0" algn="ctr">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txBody>
          <a:bodyPr/>
          <a:lstStyle/>
          <a:p>
            <a:endParaRPr lang="en-ZA"/>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05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txBody>
          <a:bodyPr/>
          <a:lstStyle/>
          <a:p>
            <a:endParaRPr lang="en-ZA"/>
          </a:p>
        </p:txBody>
      </p:sp>
      <p:sp>
        <p:nvSpPr>
          <p:cNvPr id="7" name="Text 5"/>
          <p:cNvSpPr/>
          <p:nvPr/>
        </p:nvSpPr>
        <p:spPr>
          <a:xfrm>
            <a:off x="777240" y="1874520"/>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"instructions"</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3DD6FF"/>
                </a:solidFill>
                <a:latin typeface="Consolas" pitchFamily="34" charset="0"/>
                <a:ea typeface="Consolas" pitchFamily="34" charset="-122"/>
                <a:cs typeface="Consolas" pitchFamily="34" charset="-120"/>
              </a:rPr>
              <a:t>0.62</a:t>
            </a:r>
            <a:r>
              <a:rPr lang="en-US" sz="1100" dirty="0">
                <a:solidFill>
                  <a:srgbClr val="ABA6C8"/>
                </a:solidFill>
                <a:latin typeface="Consolas" pitchFamily="34" charset="0"/>
                <a:ea typeface="Consolas" pitchFamily="34" charset="-122"/>
                <a:cs typeface="Consolas" pitchFamily="34" charset="-120"/>
              </a:rPr>
              <a:t> }</a:t>
            </a:r>
            <a:endParaRPr lang="en-US" sz="110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txBody>
          <a:bodyPr/>
          <a:lstStyle/>
          <a:p>
            <a:endParaRPr lang="en-ZA"/>
          </a:p>
        </p:txBody>
      </p:sp>
      <p:sp>
        <p:nvSpPr>
          <p:cNvPr id="14" name="Text 12"/>
          <p:cNvSpPr/>
          <p:nvPr/>
        </p:nvSpPr>
        <p:spPr>
          <a:xfrm>
            <a:off x="6330696" y="2258568"/>
            <a:ext cx="1280160" cy="219456"/>
          </a:xfrm>
          <a:prstGeom prst="rect">
            <a:avLst/>
          </a:prstGeom>
          <a:noFill/>
          <a:ln/>
        </p:spPr>
        <p:txBody>
          <a:bodyPr wrap="square" lIns="0" tIns="0" rIns="0" bIns="0" rtlCol="0" anchor="ctr"/>
          <a:lstStyle/>
          <a:p>
            <a:pPr marL="0" indent="0" algn="ctr">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txBody>
          <a:bodyPr/>
          <a:lstStyle/>
          <a:p>
            <a:endParaRPr lang="en-ZA"/>
          </a:p>
        </p:txBody>
      </p:sp>
      <p:sp>
        <p:nvSpPr>
          <p:cNvPr id="16" name="Shape 14"/>
          <p:cNvSpPr/>
          <p:nvPr/>
        </p:nvSpPr>
        <p:spPr>
          <a:xfrm>
            <a:off x="5407152" y="2761488"/>
            <a:ext cx="128016" cy="128016"/>
          </a:xfrm>
          <a:prstGeom prst="ellipse">
            <a:avLst/>
          </a:prstGeom>
          <a:solidFill>
            <a:srgbClr val="ECE9F8"/>
          </a:solidFill>
          <a:ln/>
        </p:spPr>
        <p:txBody>
          <a:bodyPr/>
          <a:lstStyle/>
          <a:p>
            <a:endParaRPr lang="en-ZA"/>
          </a:p>
        </p:txBody>
      </p:sp>
      <p:sp>
        <p:nvSpPr>
          <p:cNvPr id="17" name="Text 15"/>
          <p:cNvSpPr/>
          <p:nvPr/>
        </p:nvSpPr>
        <p:spPr>
          <a:xfrm>
            <a:off x="519684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txBody>
          <a:bodyPr/>
          <a:lstStyle/>
          <a:p>
            <a:endParaRPr lang="en-ZA"/>
          </a:p>
        </p:txBody>
      </p:sp>
      <p:sp>
        <p:nvSpPr>
          <p:cNvPr id="19" name="Text 17"/>
          <p:cNvSpPr/>
          <p:nvPr/>
        </p:nvSpPr>
        <p:spPr>
          <a:xfrm>
            <a:off x="644652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txBody>
          <a:bodyPr/>
          <a:lstStyle/>
          <a:p>
            <a:endParaRPr lang="en-ZA"/>
          </a:p>
        </p:txBody>
      </p:sp>
      <p:sp>
        <p:nvSpPr>
          <p:cNvPr id="21" name="Text 19"/>
          <p:cNvSpPr/>
          <p:nvPr/>
        </p:nvSpPr>
        <p:spPr>
          <a:xfrm>
            <a:off x="707136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Vega, Rigel</a:t>
            </a:r>
            <a:r>
              <a:rPr lang="en-US" sz="1150" dirty="0">
                <a:solidFill>
                  <a:srgbClr val="ABA6C8"/>
                </a:solidFill>
                <a:latin typeface="Segoe UI" pitchFamily="34" charset="0"/>
                <a:ea typeface="Segoe UI" pitchFamily="34" charset="-122"/>
                <a:cs typeface="Segoe UI" pitchFamily="34" charset="-120"/>
              </a:rPr>
              <a:t>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Orion</a:t>
            </a:r>
            <a:r>
              <a:rPr lang="en-US" sz="1150" dirty="0">
                <a:solidFill>
                  <a:srgbClr val="ABA6C8"/>
                </a:solidFill>
                <a:latin typeface="Segoe UI" pitchFamily="34" charset="0"/>
                <a:ea typeface="Segoe UI" pitchFamily="34" charset="-122"/>
                <a:cs typeface="Segoe UI" pitchFamily="34" charset="-120"/>
              </a:rPr>
              <a:t>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Nova, Lyra</a:t>
            </a:r>
            <a:r>
              <a:rPr lang="en-US" sz="1150" dirty="0">
                <a:solidFill>
                  <a:srgbClr val="ABA6C8"/>
                </a:solidFill>
                <a:latin typeface="Segoe UI" pitchFamily="34" charset="0"/>
                <a:ea typeface="Segoe UI" pitchFamily="34" charset="-122"/>
                <a:cs typeface="Segoe UI" pitchFamily="34" charset="-120"/>
              </a:rPr>
              <a:t>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marL="0" indent="0" algn="r">
              <a:buNone/>
            </a:pPr>
            <a:r>
              <a:rPr lang="en-US" sz="1100" b="1" kern="0" spc="20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06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2761488"/>
        </p:xfrm>
        <a:graphic>
          <a:graphicData uri="http://schemas.openxmlformats.org/drawingml/2006/table">
            <a:tbl>
              <a:tblPr/>
              <a:tblGrid>
                <a:gridCol w="13258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2423160">
                  <a:extLst>
                    <a:ext uri="{9D8B030D-6E8A-4147-A177-3AD203B41FA5}">
                      <a16:colId xmlns:a16="http://schemas.microsoft.com/office/drawing/2014/main" val="20004"/>
                    </a:ext>
                  </a:extLst>
                </a:gridCol>
              </a:tblGrid>
              <a:tr h="274320">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extLst>
                  <a:ext uri="{0D108BD9-81ED-4DB2-BD59-A6C34878D82A}">
                    <a16:rowId xmlns:a16="http://schemas.microsoft.com/office/drawing/2014/main" val="10000"/>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1"/>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2"/>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3"/>
                  </a:ext>
                </a:extLst>
              </a:tr>
              <a:tr h="310896">
                <a:tc rowSpan="2">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4"/>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5"/>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6"/>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you or one of the 5 rivals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7"/>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A radio check, not a chat">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RIVAL DECISIONS</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07 / 14</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A radio check, not a chat</a:t>
            </a:r>
            <a:endParaRPr lang="en-US" sz="3400"/>
          </a:p>
        </p:txBody>
      </p:sp>
      <p:sp>
        <p:nvSpPr>
          <p:cNvPr id="6" name="Slide subtitle"/>
          <p:cNvSpPr txBox="1"/>
          <p:nvPr/>
        </p:nvSpPr>
        <p:spPr>
          <a:xfrm>
            <a:off x="548640" y="1417320"/>
            <a:ext cx="8046720" cy="292608"/>
          </a:xfrm>
          <a:prstGeom prst="rect">
            <a:avLst/>
          </a:prstGeom>
          <a:noFill/>
          <a:ln/>
        </p:spPr>
        <p:txBody>
          <a:bodyPr wrap="square" lIns="0" tIns="0" rIns="0" bIns="0"/>
          <a:lstStyle/>
          <a:p>
            <a:pPr>
              <a:buNone/>
            </a:pPr>
            <a:r>
              <a:rPr lang="en-US" sz="1450">
                <a:solidFill>
                  <a:srgbClr val="ABA6C8"/>
                </a:solidFill>
                <a:latin typeface="Segoe UI"/>
              </a:rPr>
              <a:t>Illustrative snapshot and reply; each request is about one driver.</a:t>
            </a:r>
            <a:endParaRPr lang="en-US" sz="1450"/>
          </a:p>
        </p:txBody>
      </p:sp>
      <p:sp>
        <p:nvSpPr>
          <p:cNvPr id="7" name="Input card"/>
          <p:cNvSpPr/>
          <p:nvPr/>
        </p:nvSpPr>
        <p:spPr>
          <a:xfrm>
            <a:off x="548640" y="1874520"/>
            <a:ext cx="3886200" cy="2148840"/>
          </a:xfrm>
          <a:prstGeom prst="roundRect">
            <a:avLst>
              <a:gd name="adj" fmla="val 9143"/>
            </a:avLst>
          </a:prstGeom>
          <a:solidFill>
            <a:srgbClr val="110F2B"/>
          </a:solidFill>
          <a:ln/>
        </p:spPr>
        <p:txBody>
          <a:bodyPr/>
          <a:lstStyle/>
          <a:p>
            <a:endParaRPr lang="en-ZA"/>
          </a:p>
        </p:txBody>
      </p:sp>
      <p:sp>
        <p:nvSpPr>
          <p:cNvPr id="8" name="Output card"/>
          <p:cNvSpPr/>
          <p:nvPr/>
        </p:nvSpPr>
        <p:spPr>
          <a:xfrm>
            <a:off x="4800600" y="1874520"/>
            <a:ext cx="3794760" cy="2148840"/>
          </a:xfrm>
          <a:prstGeom prst="roundRect">
            <a:avLst>
              <a:gd name="adj" fmla="val 9143"/>
            </a:avLst>
          </a:prstGeom>
          <a:solidFill>
            <a:srgbClr val="110F2B"/>
          </a:solidFill>
          <a:ln/>
        </p:spPr>
        <p:txBody>
          <a:bodyPr/>
          <a:lstStyle/>
          <a:p>
            <a:endParaRPr lang="en-ZA"/>
          </a:p>
        </p:txBody>
      </p:sp>
      <p:cxnSp>
        <p:nvCxnSpPr>
          <p:cNvPr id="9" name="Request to reply arrow"/>
          <p:cNvCxnSpPr/>
          <p:nvPr/>
        </p:nvCxnSpPr>
        <p:spPr>
          <a:xfrm>
            <a:off x="4480560" y="2971800"/>
            <a:ext cx="265176" cy="0"/>
          </a:xfrm>
          <a:prstGeom prst="line">
            <a:avLst/>
          </a:prstGeom>
          <a:ln w="22225">
            <a:solidFill>
              <a:srgbClr val="ABA6C8"/>
            </a:solidFill>
            <a:tailEnd type="triangle" w="med" len="med"/>
          </a:ln>
        </p:spPr>
      </p:cxnSp>
      <p:sp>
        <p:nvSpPr>
          <p:cNvPr id="10" name="Input label"/>
          <p:cNvSpPr txBox="1"/>
          <p:nvPr/>
        </p:nvSpPr>
        <p:spPr>
          <a:xfrm>
            <a:off x="777240" y="2048256"/>
            <a:ext cx="3429000" cy="219456"/>
          </a:xfrm>
          <a:prstGeom prst="rect">
            <a:avLst/>
          </a:prstGeom>
          <a:noFill/>
          <a:ln/>
        </p:spPr>
        <p:txBody>
          <a:bodyPr wrap="square" lIns="0" tIns="0" rIns="0" bIns="0"/>
          <a:lstStyle/>
          <a:p>
            <a:pPr>
              <a:buNone/>
            </a:pPr>
            <a:r>
              <a:rPr lang="en-US" sz="1050" b="1" spc="150">
                <a:solidFill>
                  <a:srgbClr val="3DD6FF"/>
                </a:solidFill>
                <a:latin typeface="Segoe UI Semibold"/>
              </a:rPr>
              <a:t>GAME SENDS TO THE MODEL</a:t>
            </a:r>
            <a:endParaRPr lang="en-US" sz="1050"/>
          </a:p>
        </p:txBody>
      </p:sp>
      <p:sp>
        <p:nvSpPr>
          <p:cNvPr id="11" name="Output label"/>
          <p:cNvSpPr txBox="1"/>
          <p:nvPr/>
        </p:nvSpPr>
        <p:spPr>
          <a:xfrm>
            <a:off x="5029200" y="2048256"/>
            <a:ext cx="3337560" cy="219456"/>
          </a:xfrm>
          <a:prstGeom prst="rect">
            <a:avLst/>
          </a:prstGeom>
          <a:noFill/>
          <a:ln/>
        </p:spPr>
        <p:txBody>
          <a:bodyPr wrap="square" lIns="0" tIns="0" rIns="0" bIns="0"/>
          <a:lstStyle/>
          <a:p>
            <a:pPr>
              <a:buNone/>
            </a:pPr>
            <a:r>
              <a:rPr lang="en-US" sz="1050" b="1" spc="150">
                <a:solidFill>
                  <a:srgbClr val="4ADE80"/>
                </a:solidFill>
                <a:latin typeface="Segoe UI Semibold"/>
              </a:rPr>
              <a:t>MODEL RETURNS TO THE GAME</a:t>
            </a:r>
            <a:endParaRPr lang="en-US" sz="1050"/>
          </a:p>
        </p:txBody>
      </p:sp>
      <p:sp>
        <p:nvSpPr>
          <p:cNvPr id="12" name="Driver heading"/>
          <p:cNvSpPr txBox="1"/>
          <p:nvPr/>
        </p:nvSpPr>
        <p:spPr>
          <a:xfrm>
            <a:off x="777240" y="2304288"/>
            <a:ext cx="3429000" cy="320040"/>
          </a:xfrm>
          <a:prstGeom prst="rect">
            <a:avLst/>
          </a:prstGeom>
          <a:noFill/>
          <a:ln/>
        </p:spPr>
        <p:txBody>
          <a:bodyPr wrap="square" lIns="0" tIns="0" rIns="0" bIns="0"/>
          <a:lstStyle/>
          <a:p>
            <a:pPr>
              <a:buNone/>
            </a:pPr>
            <a:r>
              <a:rPr lang="en-US" sz="1600" b="1">
                <a:solidFill>
                  <a:srgbClr val="ECE9F8"/>
                </a:solidFill>
                <a:latin typeface="Segoe UI Semibold"/>
              </a:rPr>
              <a:t>Vega (#7), aggressive</a:t>
            </a:r>
            <a:endParaRPr lang="en-US" sz="1600"/>
          </a:p>
        </p:txBody>
      </p:sp>
      <p:sp>
        <p:nvSpPr>
          <p:cNvPr id="13" name="Answers heading"/>
          <p:cNvSpPr txBox="1"/>
          <p:nvPr/>
        </p:nvSpPr>
        <p:spPr>
          <a:xfrm>
            <a:off x="5029200" y="2304288"/>
            <a:ext cx="3337560" cy="320040"/>
          </a:xfrm>
          <a:prstGeom prst="rect">
            <a:avLst/>
          </a:prstGeom>
          <a:noFill/>
          <a:ln/>
        </p:spPr>
        <p:txBody>
          <a:bodyPr wrap="square" lIns="0" tIns="0" rIns="0" bIns="0"/>
          <a:lstStyle/>
          <a:p>
            <a:pPr>
              <a:buNone/>
            </a:pPr>
            <a:r>
              <a:rPr lang="en-US" sz="1600" b="1">
                <a:solidFill>
                  <a:srgbClr val="ECE9F8"/>
                </a:solidFill>
                <a:latin typeface="Segoe UI Semibold"/>
              </a:rPr>
              <a:t>Three answers</a:t>
            </a:r>
            <a:endParaRPr lang="en-US" sz="1600"/>
          </a:p>
        </p:txBody>
      </p:sp>
      <p:sp>
        <p:nvSpPr>
          <p:cNvPr id="14" name="Driver snapshot"/>
          <p:cNvSpPr txBox="1"/>
          <p:nvPr/>
        </p:nvSpPr>
        <p:spPr>
          <a:xfrm>
            <a:off x="777240" y="2688336"/>
            <a:ext cx="3429000" cy="914400"/>
          </a:xfrm>
          <a:prstGeom prst="rect">
            <a:avLst/>
          </a:prstGeom>
          <a:noFill/>
          <a:ln/>
        </p:spPr>
        <p:txBody>
          <a:bodyPr wrap="square" lIns="0" tIns="0" rIns="0" bIns="0"/>
          <a:lstStyle/>
          <a:p>
            <a:pPr>
              <a:lnSpc>
                <a:spcPts val="1700"/>
              </a:lnSpc>
              <a:spcAft>
                <a:spcPts val="0"/>
              </a:spcAft>
              <a:buNone/>
            </a:pPr>
            <a:r>
              <a:rPr lang="en-US" sz="1250">
                <a:solidFill>
                  <a:srgbClr val="ECE9F8"/>
                </a:solidFill>
                <a:latin typeface="Segoe UI"/>
              </a:rPr>
              <a:t>Lap 2/3 · P2/6 · 260 km/h</a:t>
            </a:r>
            <a:endParaRPr lang="en-US" sz="1250"/>
          </a:p>
          <a:p>
            <a:pPr>
              <a:lnSpc>
                <a:spcPts val="1700"/>
              </a:lnSpc>
              <a:spcAft>
                <a:spcPts val="0"/>
              </a:spcAft>
              <a:buNone/>
            </a:pPr>
            <a:r>
              <a:rPr lang="en-US" sz="1250">
                <a:solidFill>
                  <a:srgbClr val="ECE9F8"/>
                </a:solidFill>
                <a:latin typeface="Segoe UI"/>
              </a:rPr>
              <a:t>Nitro tank 70% · 300 m of straight road</a:t>
            </a:r>
            <a:endParaRPr lang="en-US" sz="1250"/>
          </a:p>
          <a:p>
            <a:pPr>
              <a:lnSpc>
                <a:spcPts val="1700"/>
              </a:lnSpc>
              <a:spcAft>
                <a:spcPts val="0"/>
              </a:spcAft>
              <a:buNone/>
            </a:pPr>
            <a:r>
              <a:rPr lang="en-US" sz="1250">
                <a:solidFill>
                  <a:srgbClr val="ECE9F8"/>
                </a:solidFill>
                <a:latin typeface="Segoe UI"/>
              </a:rPr>
              <a:t>Player 18 m ahead, 12 km/h slower</a:t>
            </a:r>
            <a:endParaRPr lang="en-US" sz="1250"/>
          </a:p>
          <a:p>
            <a:pPr>
              <a:lnSpc>
                <a:spcPts val="1700"/>
              </a:lnSpc>
              <a:spcAft>
                <a:spcPts val="0"/>
              </a:spcAft>
              <a:buNone/>
            </a:pPr>
            <a:r>
              <a:rPr lang="en-US" sz="1250">
                <a:solidFill>
                  <a:srgbClr val="ECE9F8"/>
                </a:solidFill>
                <a:latin typeface="Segoe UI"/>
              </a:rPr>
              <a:t>Last move: slipstream, 1.2 s ago</a:t>
            </a:r>
            <a:endParaRPr lang="en-US" sz="1250"/>
          </a:p>
        </p:txBody>
      </p:sp>
      <p:sp>
        <p:nvSpPr>
          <p:cNvPr id="15" name="Three questions"/>
          <p:cNvSpPr txBox="1"/>
          <p:nvPr/>
        </p:nvSpPr>
        <p:spPr>
          <a:xfrm>
            <a:off x="777240" y="3694176"/>
            <a:ext cx="3429000" cy="256032"/>
          </a:xfrm>
          <a:prstGeom prst="rect">
            <a:avLst/>
          </a:prstGeom>
          <a:noFill/>
          <a:ln/>
        </p:spPr>
        <p:txBody>
          <a:bodyPr wrap="square" lIns="0" tIns="0" rIns="0" bIns="0"/>
          <a:lstStyle/>
          <a:p>
            <a:pPr>
              <a:buNone/>
            </a:pPr>
            <a:r>
              <a:rPr lang="en-US" sz="1250" b="1">
                <a:solidFill>
                  <a:srgbClr val="FFD166"/>
                </a:solidFill>
                <a:latin typeface="Segoe UI Semibold"/>
              </a:rPr>
              <a:t>Ask: Which move? How hard? Nitro?</a:t>
            </a:r>
            <a:endParaRPr lang="en-US" sz="1250"/>
          </a:p>
        </p:txBody>
      </p:sp>
      <p:sp>
        <p:nvSpPr>
          <p:cNvPr id="16" name="Maneuver key"/>
          <p:cNvSpPr txBox="1"/>
          <p:nvPr/>
        </p:nvSpPr>
        <p:spPr>
          <a:xfrm>
            <a:off x="5029200" y="2706624"/>
            <a:ext cx="1097280" cy="274320"/>
          </a:xfrm>
          <a:prstGeom prst="rect">
            <a:avLst/>
          </a:prstGeom>
          <a:noFill/>
          <a:ln/>
        </p:spPr>
        <p:txBody>
          <a:bodyPr wrap="square" lIns="0" tIns="0" rIns="0" bIns="0"/>
          <a:lstStyle/>
          <a:p>
            <a:pPr>
              <a:buNone/>
            </a:pPr>
            <a:r>
              <a:rPr lang="en-US" sz="1200">
                <a:solidFill>
                  <a:srgbClr val="ABA6C8"/>
                </a:solidFill>
                <a:latin typeface="Consolas"/>
              </a:rPr>
              <a:t>maneuver</a:t>
            </a:r>
            <a:endParaRPr lang="en-US" sz="1200"/>
          </a:p>
        </p:txBody>
      </p:sp>
      <p:sp>
        <p:nvSpPr>
          <p:cNvPr id="17" name="Maneuver value"/>
          <p:cNvSpPr txBox="1"/>
          <p:nvPr/>
        </p:nvSpPr>
        <p:spPr>
          <a:xfrm>
            <a:off x="6217920" y="2679192"/>
            <a:ext cx="2148840" cy="320040"/>
          </a:xfrm>
          <a:prstGeom prst="rect">
            <a:avLst/>
          </a:prstGeom>
          <a:noFill/>
          <a:ln/>
        </p:spPr>
        <p:txBody>
          <a:bodyPr wrap="square" lIns="0" tIns="0" rIns="0" bIns="0"/>
          <a:lstStyle/>
          <a:p>
            <a:pPr>
              <a:buNone/>
            </a:pPr>
            <a:r>
              <a:rPr lang="en-US" sz="1500" b="1">
                <a:solidFill>
                  <a:srgbClr val="3DD6FF"/>
                </a:solidFill>
                <a:latin typeface="Segoe UI Semibold"/>
              </a:rPr>
              <a:t>Overtake left</a:t>
            </a:r>
            <a:endParaRPr lang="en-US" sz="1500"/>
          </a:p>
        </p:txBody>
      </p:sp>
      <p:sp>
        <p:nvSpPr>
          <p:cNvPr id="18" name="Pace key"/>
          <p:cNvSpPr txBox="1"/>
          <p:nvPr/>
        </p:nvSpPr>
        <p:spPr>
          <a:xfrm>
            <a:off x="5029200" y="3035808"/>
            <a:ext cx="1097280" cy="274320"/>
          </a:xfrm>
          <a:prstGeom prst="rect">
            <a:avLst/>
          </a:prstGeom>
          <a:noFill/>
          <a:ln/>
        </p:spPr>
        <p:txBody>
          <a:bodyPr wrap="square" lIns="0" tIns="0" rIns="0" bIns="0"/>
          <a:lstStyle/>
          <a:p>
            <a:pPr>
              <a:buNone/>
            </a:pPr>
            <a:r>
              <a:rPr lang="en-US" sz="1200">
                <a:solidFill>
                  <a:srgbClr val="ABA6C8"/>
                </a:solidFill>
                <a:latin typeface="Consolas"/>
              </a:rPr>
              <a:t>pace</a:t>
            </a:r>
            <a:endParaRPr lang="en-US" sz="1200"/>
          </a:p>
        </p:txBody>
      </p:sp>
      <p:sp>
        <p:nvSpPr>
          <p:cNvPr id="19" name="Pace value"/>
          <p:cNvSpPr txBox="1"/>
          <p:nvPr/>
        </p:nvSpPr>
        <p:spPr>
          <a:xfrm>
            <a:off x="6217920" y="3008376"/>
            <a:ext cx="2148840" cy="320040"/>
          </a:xfrm>
          <a:prstGeom prst="rect">
            <a:avLst/>
          </a:prstGeom>
          <a:noFill/>
          <a:ln/>
        </p:spPr>
        <p:txBody>
          <a:bodyPr wrap="square" lIns="0" tIns="0" rIns="0" bIns="0"/>
          <a:lstStyle/>
          <a:p>
            <a:pPr>
              <a:buNone/>
            </a:pPr>
            <a:r>
              <a:rPr lang="en-US" sz="1500" b="1">
                <a:solidFill>
                  <a:srgbClr val="3DD6FF"/>
                </a:solidFill>
                <a:latin typeface="Segoe UI Semibold"/>
              </a:rPr>
              <a:t>2.4 / 3</a:t>
            </a:r>
            <a:endParaRPr lang="en-US" sz="1500"/>
          </a:p>
        </p:txBody>
      </p:sp>
      <p:sp>
        <p:nvSpPr>
          <p:cNvPr id="20" name="Nitro key"/>
          <p:cNvSpPr txBox="1"/>
          <p:nvPr/>
        </p:nvSpPr>
        <p:spPr>
          <a:xfrm>
            <a:off x="5029200" y="3364992"/>
            <a:ext cx="1097280" cy="274320"/>
          </a:xfrm>
          <a:prstGeom prst="rect">
            <a:avLst/>
          </a:prstGeom>
          <a:noFill/>
          <a:ln/>
        </p:spPr>
        <p:txBody>
          <a:bodyPr wrap="square" lIns="0" tIns="0" rIns="0" bIns="0"/>
          <a:lstStyle/>
          <a:p>
            <a:pPr>
              <a:buNone/>
            </a:pPr>
            <a:r>
              <a:rPr lang="en-US" sz="1200">
                <a:solidFill>
                  <a:srgbClr val="ABA6C8"/>
                </a:solidFill>
                <a:latin typeface="Consolas"/>
              </a:rPr>
              <a:t>nitro</a:t>
            </a:r>
            <a:endParaRPr lang="en-US" sz="1200"/>
          </a:p>
        </p:txBody>
      </p:sp>
      <p:sp>
        <p:nvSpPr>
          <p:cNvPr id="21" name="Nitro value"/>
          <p:cNvSpPr txBox="1"/>
          <p:nvPr/>
        </p:nvSpPr>
        <p:spPr>
          <a:xfrm>
            <a:off x="6217920" y="3337560"/>
            <a:ext cx="2148840" cy="320040"/>
          </a:xfrm>
          <a:prstGeom prst="rect">
            <a:avLst/>
          </a:prstGeom>
          <a:noFill/>
          <a:ln/>
        </p:spPr>
        <p:txBody>
          <a:bodyPr wrap="square" lIns="0" tIns="0" rIns="0" bIns="0"/>
          <a:lstStyle/>
          <a:p>
            <a:pPr>
              <a:buNone/>
            </a:pPr>
            <a:r>
              <a:rPr lang="en-US" sz="1500" b="1">
                <a:solidFill>
                  <a:srgbClr val="3DD6FF"/>
                </a:solidFill>
                <a:latin typeface="Segoe UI Semibold"/>
              </a:rPr>
              <a:t>0.78 (78%)</a:t>
            </a:r>
            <a:endParaRPr lang="en-US" sz="1500"/>
          </a:p>
        </p:txBody>
      </p:sp>
      <p:sp>
        <p:nvSpPr>
          <p:cNvPr id="22" name="Game action"/>
          <p:cNvSpPr txBox="1"/>
          <p:nvPr/>
        </p:nvSpPr>
        <p:spPr>
          <a:xfrm>
            <a:off x="5029200" y="3749040"/>
            <a:ext cx="3337560" cy="219456"/>
          </a:xfrm>
          <a:prstGeom prst="rect">
            <a:avLst/>
          </a:prstGeom>
          <a:noFill/>
          <a:ln/>
        </p:spPr>
        <p:txBody>
          <a:bodyPr wrap="square" lIns="0" tIns="0" rIns="0" bIns="0"/>
          <a:lstStyle/>
          <a:p>
            <a:pPr>
              <a:buNone/>
            </a:pPr>
            <a:r>
              <a:rPr lang="en-US" sz="1100">
                <a:solidFill>
                  <a:srgbClr val="ABA6C8"/>
                </a:solidFill>
                <a:latin typeface="Segoe UI"/>
              </a:rPr>
              <a:t>Game checks the boost threshold and tank.</a:t>
            </a:r>
            <a:endParaRPr lang="en-US" sz="1100"/>
          </a:p>
        </p:txBody>
      </p:sp>
      <p:sp>
        <p:nvSpPr>
          <p:cNvPr id="23" name="No chat history"/>
          <p:cNvSpPr txBox="1"/>
          <p:nvPr/>
        </p:nvSpPr>
        <p:spPr>
          <a:xfrm>
            <a:off x="548640" y="4206240"/>
            <a:ext cx="8046720" cy="256032"/>
          </a:xfrm>
          <a:prstGeom prst="rect">
            <a:avLst/>
          </a:prstGeom>
          <a:noFill/>
          <a:ln/>
        </p:spPr>
        <p:txBody>
          <a:bodyPr wrap="square" lIns="0" tIns="0" rIns="0" bIns="0"/>
          <a:lstStyle/>
          <a:p>
            <a:pPr>
              <a:buNone/>
            </a:pPr>
            <a:r>
              <a:rPr lang="en-US" sz="1200" b="1">
                <a:solidFill>
                  <a:srgbClr val="FFD166"/>
                </a:solidFill>
                <a:latin typeface="Segoe UI Semibold"/>
              </a:rPr>
              <a:t>No chat history: </a:t>
            </a:r>
            <a:r>
              <a:rPr lang="en-US" sz="1200">
                <a:solidFill>
                  <a:srgbClr val="ECE9F8"/>
                </a:solidFill>
                <a:latin typeface="Segoe UI"/>
              </a:rPr>
              <a:t>each repeat sends fresh data plus the previous move and its age.</a:t>
            </a:r>
            <a:endParaRPr lang="en-US" sz="1200"/>
          </a:p>
        </p:txBody>
      </p:sp>
      <p:sp>
        <p:nvSpPr>
          <p:cNvPr id="24" name="Independent requests"/>
          <p:cNvSpPr txBox="1"/>
          <p:nvPr/>
        </p:nvSpPr>
        <p:spPr>
          <a:xfrm>
            <a:off x="548640" y="4498848"/>
            <a:ext cx="8046720" cy="182880"/>
          </a:xfrm>
          <a:prstGeom prst="rect">
            <a:avLst/>
          </a:prstGeom>
          <a:noFill/>
          <a:ln/>
        </p:spPr>
        <p:txBody>
          <a:bodyPr wrap="square" lIns="0" tIns="0" rIns="0" bIns="0"/>
          <a:lstStyle/>
          <a:p>
            <a:pPr>
              <a:buNone/>
            </a:pPr>
            <a:r>
              <a:rPr lang="en-US" sz="1200" b="1">
                <a:solidFill>
                  <a:srgbClr val="FFD166"/>
                </a:solidFill>
                <a:latin typeface="Segoe UI Semibold"/>
              </a:rPr>
              <a:t>Five independent drivers: </a:t>
            </a:r>
            <a:r>
              <a:rPr lang="en-US" sz="1200">
                <a:solidFill>
                  <a:srgbClr val="ECE9F8"/>
                </a:solidFill>
                <a:latin typeface="Segoe UI"/>
              </a:rPr>
              <a:t>requests can overlap; rivals do not exchange plans.</a:t>
            </a:r>
            <a:endParaRPr lang="en-US" sz="12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One request, three answers">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THE JSON EXCHANGE</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08 / 14</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One request, three answers</a:t>
            </a:r>
            <a:endParaRPr lang="en-US" sz="3400"/>
          </a:p>
        </p:txBody>
      </p:sp>
      <p:sp>
        <p:nvSpPr>
          <p:cNvPr id="6" name="Slide subtitle"/>
          <p:cNvSpPr txBox="1"/>
          <p:nvPr/>
        </p:nvSpPr>
        <p:spPr>
          <a:xfrm>
            <a:off x="548640" y="1417320"/>
            <a:ext cx="8046720" cy="320040"/>
          </a:xfrm>
          <a:prstGeom prst="rect">
            <a:avLst/>
          </a:prstGeom>
          <a:noFill/>
          <a:ln/>
        </p:spPr>
        <p:txBody>
          <a:bodyPr wrap="square" lIns="0" tIns="0" rIns="0" bIns="0"/>
          <a:lstStyle/>
          <a:p>
            <a:pPr>
              <a:buNone/>
            </a:pPr>
            <a:r>
              <a:rPr lang="en-US" sz="1450">
                <a:solidFill>
                  <a:srgbClr val="ABA6C8"/>
                </a:solidFill>
                <a:latin typeface="Segoe UI"/>
              </a:rPr>
              <a:t>Abbreviated JSON: one driver's situation in, three named answers out.</a:t>
            </a:r>
            <a:endParaRPr lang="en-US" sz="1450"/>
          </a:p>
        </p:txBody>
      </p:sp>
      <p:sp>
        <p:nvSpPr>
          <p:cNvPr id="7" name="Request card"/>
          <p:cNvSpPr/>
          <p:nvPr/>
        </p:nvSpPr>
        <p:spPr>
          <a:xfrm>
            <a:off x="548640" y="1874520"/>
            <a:ext cx="3794760" cy="2651760"/>
          </a:xfrm>
          <a:prstGeom prst="roundRect">
            <a:avLst>
              <a:gd name="adj" fmla="val 9143"/>
            </a:avLst>
          </a:prstGeom>
          <a:solidFill>
            <a:srgbClr val="110F2B"/>
          </a:solidFill>
          <a:ln/>
        </p:spPr>
        <p:txBody>
          <a:bodyPr/>
          <a:lstStyle/>
          <a:p>
            <a:endParaRPr lang="en-ZA"/>
          </a:p>
        </p:txBody>
      </p:sp>
      <p:sp>
        <p:nvSpPr>
          <p:cNvPr id="8" name="Response card"/>
          <p:cNvSpPr/>
          <p:nvPr/>
        </p:nvSpPr>
        <p:spPr>
          <a:xfrm>
            <a:off x="4663440" y="1874520"/>
            <a:ext cx="3931920" cy="2651760"/>
          </a:xfrm>
          <a:prstGeom prst="roundRect">
            <a:avLst>
              <a:gd name="adj" fmla="val 9143"/>
            </a:avLst>
          </a:prstGeom>
          <a:solidFill>
            <a:srgbClr val="110F2B"/>
          </a:solidFill>
          <a:ln/>
        </p:spPr>
        <p:txBody>
          <a:bodyPr/>
          <a:lstStyle/>
          <a:p>
            <a:endParaRPr lang="en-ZA"/>
          </a:p>
        </p:txBody>
      </p:sp>
      <p:sp>
        <p:nvSpPr>
          <p:cNvPr id="9" name="Request label"/>
          <p:cNvSpPr txBox="1"/>
          <p:nvPr/>
        </p:nvSpPr>
        <p:spPr>
          <a:xfrm>
            <a:off x="777240" y="203911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REQUEST</a:t>
            </a:r>
            <a:endParaRPr lang="en-US" sz="1050"/>
          </a:p>
        </p:txBody>
      </p:sp>
      <p:sp>
        <p:nvSpPr>
          <p:cNvPr id="10" name="Response label"/>
          <p:cNvSpPr txBox="1"/>
          <p:nvPr/>
        </p:nvSpPr>
        <p:spPr>
          <a:xfrm>
            <a:off x="4892040" y="203911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RESPONSE</a:t>
            </a:r>
            <a:endParaRPr lang="en-US" sz="1050"/>
          </a:p>
        </p:txBody>
      </p:sp>
      <p:sp>
        <p:nvSpPr>
          <p:cNvPr id="11" name="Request JSON"/>
          <p:cNvSpPr txBox="1"/>
          <p:nvPr/>
        </p:nvSpPr>
        <p:spPr>
          <a:xfrm>
            <a:off x="777240" y="2322576"/>
            <a:ext cx="3337560" cy="1764792"/>
          </a:xfrm>
          <a:prstGeom prst="rect">
            <a:avLst/>
          </a:prstGeom>
          <a:noFill/>
          <a:ln/>
        </p:spPr>
        <p:txBody>
          <a:bodyPr wrap="square" lIns="0" tIns="0" rIns="0" bIns="0"/>
          <a:lstStyle/>
          <a:p>
            <a:pPr>
              <a:lnSpc>
                <a:spcPts val="1150"/>
              </a:lnSpc>
              <a:buNone/>
            </a:pPr>
            <a:r>
              <a:rPr lang="en-US" sz="1050">
                <a:solidFill>
                  <a:srgbClr val="3DD6FF"/>
                </a:solidFill>
                <a:latin typeface="Consolas"/>
              </a:rPr>
              <a:t>POST …/providers/microsoft/v1/systemone</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"model": </a:t>
            </a:r>
            <a:r>
              <a:rPr lang="en-US" sz="1050">
                <a:solidFill>
                  <a:srgbClr val="FFD166"/>
                </a:solidFill>
                <a:latin typeface="Consolas"/>
              </a:rPr>
              <a:t>"&lt;deployment-name&gt;",</a:t>
            </a:r>
            <a:endParaRPr sz="1050"/>
          </a:p>
          <a:p>
            <a:pPr>
              <a:lnSpc>
                <a:spcPts val="1150"/>
              </a:lnSpc>
              <a:buNone/>
            </a:pPr>
            <a:r>
              <a:rPr lang="en-US" sz="1050">
                <a:solidFill>
                  <a:srgbClr val="ECE9F8"/>
                </a:solidFill>
                <a:latin typeface="Consolas"/>
              </a:rPr>
              <a:t>  "state": </a:t>
            </a:r>
            <a:r>
              <a:rPr lang="en-US" sz="1050">
                <a:solidFill>
                  <a:srgbClr val="FFD166"/>
                </a:solidFill>
                <a:latin typeface="Consolas"/>
              </a:rPr>
              <a:t>"&lt;Vega's snapshot&gt;",</a:t>
            </a:r>
            <a:endParaRPr sz="1050"/>
          </a:p>
          <a:p>
            <a:pPr>
              <a:lnSpc>
                <a:spcPts val="1150"/>
              </a:lnSpc>
              <a:buNone/>
            </a:pPr>
            <a:r>
              <a:rPr lang="en-US" sz="1050">
                <a:solidFill>
                  <a:srgbClr val="ECE9F8"/>
                </a:solidFill>
                <a:latin typeface="Consolas"/>
              </a:rPr>
              <a:t>  "questions": {</a:t>
            </a:r>
            <a:endParaRPr sz="1050"/>
          </a:p>
          <a:p>
            <a:pPr>
              <a:lnSpc>
                <a:spcPts val="1150"/>
              </a:lnSpc>
              <a:buNone/>
            </a:pPr>
            <a:r>
              <a:rPr lang="en-US" sz="1050">
                <a:solidFill>
                  <a:srgbClr val="ECE9F8"/>
                </a:solidFill>
                <a:latin typeface="Consolas"/>
              </a:rPr>
              <a:t>    "maneuver": { "type": </a:t>
            </a:r>
            <a:r>
              <a:rPr lang="en-US" sz="1050">
                <a:solidFill>
                  <a:srgbClr val="FFD166"/>
                </a:solidFill>
                <a:latin typeface="Consolas"/>
              </a:rPr>
              <a:t>"choice", … },</a:t>
            </a:r>
            <a:endParaRPr sz="1050"/>
          </a:p>
          <a:p>
            <a:pPr>
              <a:lnSpc>
                <a:spcPts val="1150"/>
              </a:lnSpc>
              <a:buNone/>
            </a:pPr>
            <a:r>
              <a:rPr lang="en-US" sz="1050">
                <a:solidFill>
                  <a:srgbClr val="ECE9F8"/>
                </a:solidFill>
                <a:latin typeface="Consolas"/>
              </a:rPr>
              <a:t>    "pace": { "type": </a:t>
            </a:r>
            <a:r>
              <a:rPr lang="en-US" sz="1050">
                <a:solidFill>
                  <a:srgbClr val="FFD166"/>
                </a:solidFill>
                <a:latin typeface="Consolas"/>
              </a:rPr>
              <a:t>"score", … },</a:t>
            </a:r>
            <a:endParaRPr sz="1050"/>
          </a:p>
          <a:p>
            <a:pPr>
              <a:lnSpc>
                <a:spcPts val="1150"/>
              </a:lnSpc>
              <a:buNone/>
            </a:pPr>
            <a:r>
              <a:rPr lang="en-US" sz="1050">
                <a:solidFill>
                  <a:srgbClr val="ECE9F8"/>
                </a:solidFill>
                <a:latin typeface="Consolas"/>
              </a:rPr>
              <a:t>    "nitro": { "type": </a:t>
            </a:r>
            <a:r>
              <a:rPr lang="en-US" sz="1050">
                <a:solidFill>
                  <a:srgbClr val="FFD166"/>
                </a:solidFill>
                <a:latin typeface="Consolas"/>
              </a:rPr>
              <a:t>"noul", …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ABA6C8"/>
                </a:solidFill>
                <a:latin typeface="Consolas"/>
              </a:rPr>
              <a:t>}</a:t>
            </a:r>
            <a:endParaRPr sz="1050"/>
          </a:p>
        </p:txBody>
      </p:sp>
      <p:sp>
        <p:nvSpPr>
          <p:cNvPr id="12" name="Response JSON"/>
          <p:cNvSpPr txBox="1"/>
          <p:nvPr/>
        </p:nvSpPr>
        <p:spPr>
          <a:xfrm>
            <a:off x="4892040" y="2322576"/>
            <a:ext cx="3474720" cy="1874520"/>
          </a:xfrm>
          <a:prstGeom prst="rect">
            <a:avLst/>
          </a:prstGeom>
          <a:noFill/>
          <a:ln/>
        </p:spPr>
        <p:txBody>
          <a:bodyPr wrap="square" lIns="0" tIns="0" rIns="0" bIns="0"/>
          <a:lstStyle/>
          <a:p>
            <a:pPr>
              <a:lnSpc>
                <a:spcPts val="1150"/>
              </a:lnSpc>
              <a:buNone/>
            </a:pPr>
            <a:r>
              <a:rPr lang="en-US" sz="1050">
                <a:solidFill>
                  <a:srgbClr val="4ADE80"/>
                </a:solidFill>
                <a:latin typeface="Consolas"/>
              </a:rPr>
              <a:t>200 OK</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"model": </a:t>
            </a:r>
            <a:r>
              <a:rPr lang="en-US" sz="1050">
                <a:solidFill>
                  <a:srgbClr val="FFD166"/>
                </a:solidFill>
                <a:latin typeface="Consolas"/>
              </a:rPr>
              <a:t>"microsoft-decision-1",</a:t>
            </a:r>
            <a:endParaRPr sz="1050"/>
          </a:p>
          <a:p>
            <a:pPr>
              <a:lnSpc>
                <a:spcPts val="1150"/>
              </a:lnSpc>
              <a:buNone/>
            </a:pPr>
            <a:r>
              <a:rPr lang="en-US" sz="1050">
                <a:solidFill>
                  <a:srgbClr val="ECE9F8"/>
                </a:solidFill>
                <a:latin typeface="Consolas"/>
              </a:rPr>
              <a:t>  "answers": {</a:t>
            </a:r>
            <a:endParaRPr sz="1050"/>
          </a:p>
          <a:p>
            <a:pPr>
              <a:lnSpc>
                <a:spcPts val="1150"/>
              </a:lnSpc>
              <a:buNone/>
            </a:pPr>
            <a:r>
              <a:rPr lang="en-US" sz="1050">
                <a:solidFill>
                  <a:srgbClr val="ECE9F8"/>
                </a:solidFill>
                <a:latin typeface="Consolas"/>
              </a:rPr>
              <a:t>    "maneuver": {</a:t>
            </a:r>
            <a:endParaRPr sz="1050"/>
          </a:p>
          <a:p>
            <a:pPr>
              <a:lnSpc>
                <a:spcPts val="1150"/>
              </a:lnSpc>
              <a:buNone/>
            </a:pPr>
            <a:r>
              <a:rPr lang="en-US" sz="1050">
                <a:solidFill>
                  <a:srgbClr val="ECE9F8"/>
                </a:solidFill>
                <a:latin typeface="Consolas"/>
              </a:rPr>
              <a:t>      "choice": </a:t>
            </a:r>
            <a:r>
              <a:rPr lang="en-US" sz="1050">
                <a:solidFill>
                  <a:srgbClr val="FFD166"/>
                </a:solidFill>
                <a:latin typeface="Consolas"/>
              </a:rPr>
              <a:t>"overtake_left",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ECE9F8"/>
                </a:solidFill>
                <a:latin typeface="Consolas"/>
              </a:rPr>
              <a:t>    "pace": { "score": </a:t>
            </a:r>
            <a:r>
              <a:rPr lang="en-US" sz="1050">
                <a:solidFill>
                  <a:srgbClr val="3DD6FF"/>
                </a:solidFill>
                <a:latin typeface="Consolas"/>
              </a:rPr>
              <a:t>2.4, … },</a:t>
            </a:r>
            <a:endParaRPr sz="1050"/>
          </a:p>
          <a:p>
            <a:pPr>
              <a:lnSpc>
                <a:spcPts val="1150"/>
              </a:lnSpc>
              <a:buNone/>
            </a:pPr>
            <a:r>
              <a:rPr lang="en-US" sz="1050">
                <a:solidFill>
                  <a:srgbClr val="ECE9F8"/>
                </a:solidFill>
                <a:latin typeface="Consolas"/>
              </a:rPr>
              <a:t>    "nitro": { "noul": </a:t>
            </a:r>
            <a:r>
              <a:rPr lang="en-US" sz="1050">
                <a:solidFill>
                  <a:srgbClr val="3DD6FF"/>
                </a:solidFill>
                <a:latin typeface="Consolas"/>
              </a:rPr>
              <a:t>0.78, …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ECE9F8"/>
                </a:solidFill>
                <a:latin typeface="Consolas"/>
              </a:rPr>
              <a:t>  "usage": { "output_tokens": </a:t>
            </a:r>
            <a:r>
              <a:rPr lang="en-US" sz="1050">
                <a:solidFill>
                  <a:srgbClr val="3DD6FF"/>
                </a:solidFill>
                <a:latin typeface="Consolas"/>
              </a:rPr>
              <a:t>3, … }</a:t>
            </a:r>
            <a:endParaRPr sz="1050"/>
          </a:p>
          <a:p>
            <a:pPr>
              <a:lnSpc>
                <a:spcPts val="1150"/>
              </a:lnSpc>
              <a:buNone/>
            </a:pPr>
            <a:r>
              <a:rPr lang="en-US" sz="1050">
                <a:solidFill>
                  <a:srgbClr val="ABA6C8"/>
                </a:solidFill>
                <a:latin typeface="Consolas"/>
              </a:rPr>
              <a:t>}</a:t>
            </a:r>
            <a:endParaRPr sz="1050"/>
          </a:p>
        </p:txBody>
      </p:sp>
      <p:sp>
        <p:nvSpPr>
          <p:cNvPr id="13" name="Omitted request fields"/>
          <p:cNvSpPr txBox="1"/>
          <p:nvPr/>
        </p:nvSpPr>
        <p:spPr>
          <a:xfrm>
            <a:off x="777240" y="4050792"/>
            <a:ext cx="3337560" cy="365760"/>
          </a:xfrm>
          <a:prstGeom prst="rect">
            <a:avLst/>
          </a:prstGeom>
          <a:noFill/>
          <a:ln/>
        </p:spPr>
        <p:txBody>
          <a:bodyPr wrap="square" lIns="0" tIns="0" rIns="0" bIns="0"/>
          <a:lstStyle/>
          <a:p>
            <a:pPr>
              <a:lnSpc>
                <a:spcPts val="1200"/>
              </a:lnSpc>
              <a:buNone/>
            </a:pPr>
            <a:r>
              <a:rPr lang="en-US" sz="1050">
                <a:solidFill>
                  <a:srgbClr val="ABA6C8"/>
                </a:solidFill>
                <a:latin typeface="Segoe UI"/>
              </a:rPr>
              <a:t>All three include instructions.</a:t>
            </a:r>
            <a:endParaRPr sz="1050"/>
          </a:p>
          <a:p>
            <a:pPr>
              <a:lnSpc>
                <a:spcPts val="1200"/>
              </a:lnSpc>
              <a:buNone/>
            </a:pPr>
            <a:r>
              <a:rPr lang="en-US" sz="1050">
                <a:solidFill>
                  <a:srgbClr val="ABA6C8"/>
                </a:solidFill>
                <a:latin typeface="Segoe UI"/>
              </a:rPr>
              <a:t>Choice and score add criteria (options).</a:t>
            </a:r>
            <a:endParaRPr sz="1050"/>
          </a:p>
        </p:txBody>
      </p:sp>
      <p:sp>
        <p:nvSpPr>
          <p:cNvPr id="14" name="Illustrative response caveat"/>
          <p:cNvSpPr txBox="1"/>
          <p:nvPr/>
        </p:nvSpPr>
        <p:spPr>
          <a:xfrm>
            <a:off x="4892040" y="4261104"/>
            <a:ext cx="3474720" cy="182880"/>
          </a:xfrm>
          <a:prstGeom prst="rect">
            <a:avLst/>
          </a:prstGeom>
          <a:noFill/>
          <a:ln/>
        </p:spPr>
        <p:txBody>
          <a:bodyPr wrap="square" lIns="0" tIns="0" rIns="0" bIns="0"/>
          <a:lstStyle/>
          <a:p>
            <a:pPr>
              <a:buNone/>
            </a:pPr>
            <a:r>
              <a:rPr lang="en-US" sz="1050">
                <a:solidFill>
                  <a:srgbClr val="ABA6C8"/>
                </a:solidFill>
                <a:latin typeface="Segoe UI"/>
              </a:rPr>
              <a:t>Illustrative reply; extra fields omitted.</a:t>
            </a:r>
            <a:endParaRPr lang="en-US" sz="105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How rivals follow the line">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a:noFill/>
          </a:ln>
        </p:spPr>
        <p:txBody>
          <a:bodyPr/>
          <a:lstStyle/>
          <a:p>
            <a:endParaRPr lang="en-ZA"/>
          </a:p>
        </p:txBody>
      </p:sp>
      <p:sp>
        <p:nvSpPr>
          <p:cNvPr id="3" name="Section label"/>
          <p:cNvSpPr txBox="1"/>
          <p:nvPr/>
        </p:nvSpPr>
        <p:spPr>
          <a:xfrm>
            <a:off x="749808" y="393192"/>
            <a:ext cx="5943600" cy="292608"/>
          </a:xfrm>
          <a:prstGeom prst="rect">
            <a:avLst/>
          </a:prstGeom>
          <a:noFill/>
          <a:ln>
            <a:noFill/>
          </a:ln>
        </p:spPr>
        <p:txBody>
          <a:bodyPr wrap="none" lIns="0" tIns="0" rIns="0" bIns="0" anchor="ctr"/>
          <a:lstStyle/>
          <a:p>
            <a:pPr>
              <a:buNone/>
            </a:pPr>
            <a:r>
              <a:rPr lang="en-US" sz="1100" b="1" spc="300">
                <a:solidFill>
                  <a:srgbClr val="ABA6C8"/>
                </a:solidFill>
                <a:latin typeface="Segoe UI Semibold"/>
              </a:rPr>
              <a:t>RACING LINE</a:t>
            </a:r>
          </a:p>
        </p:txBody>
      </p:sp>
      <p:sp>
        <p:nvSpPr>
          <p:cNvPr id="4" name="Slide counter"/>
          <p:cNvSpPr txBox="1"/>
          <p:nvPr/>
        </p:nvSpPr>
        <p:spPr>
          <a:xfrm>
            <a:off x="7223760" y="393192"/>
            <a:ext cx="1371600" cy="292608"/>
          </a:xfrm>
          <a:prstGeom prst="rect">
            <a:avLst/>
          </a:prstGeom>
          <a:noFill/>
          <a:ln>
            <a:noFill/>
          </a:ln>
        </p:spPr>
        <p:txBody>
          <a:bodyPr wrap="none" lIns="0" tIns="0" rIns="0" bIns="0" anchor="ctr"/>
          <a:lstStyle/>
          <a:p>
            <a:pPr algn="r">
              <a:buNone/>
            </a:pPr>
            <a:r>
              <a:rPr lang="en-US" sz="1100">
                <a:solidFill>
                  <a:srgbClr val="ABA6C8"/>
                </a:solidFill>
                <a:latin typeface="Segoe UI Semibold"/>
              </a:rPr>
              <a:t>09 / 14</a:t>
            </a:r>
          </a:p>
        </p:txBody>
      </p:sp>
      <p:sp>
        <p:nvSpPr>
          <p:cNvPr id="5" name="Slide title"/>
          <p:cNvSpPr txBox="1"/>
          <p:nvPr/>
        </p:nvSpPr>
        <p:spPr>
          <a:xfrm>
            <a:off x="548640" y="731520"/>
            <a:ext cx="8046720" cy="658368"/>
          </a:xfrm>
          <a:prstGeom prst="rect">
            <a:avLst/>
          </a:prstGeom>
          <a:noFill/>
          <a:ln>
            <a:noFill/>
          </a:ln>
        </p:spPr>
        <p:txBody>
          <a:bodyPr wrap="none" lIns="0" tIns="0" rIns="0" bIns="0"/>
          <a:lstStyle/>
          <a:p>
            <a:pPr>
              <a:buNone/>
            </a:pPr>
            <a:r>
              <a:rPr lang="en-US" sz="3400" b="1" i="1">
                <a:solidFill>
                  <a:srgbClr val="ECE9F8"/>
                </a:solidFill>
                <a:latin typeface="Segoe UI Black"/>
              </a:rPr>
              <a:t>How rivals follow the line</a:t>
            </a:r>
          </a:p>
        </p:txBody>
      </p:sp>
      <p:sp>
        <p:nvSpPr>
          <p:cNvPr id="6" name="Racing-line approximation"/>
          <p:cNvSpPr txBox="1"/>
          <p:nvPr/>
        </p:nvSpPr>
        <p:spPr>
          <a:xfrm>
            <a:off x="548640" y="1362456"/>
            <a:ext cx="8046720" cy="274320"/>
          </a:xfrm>
          <a:prstGeom prst="rect">
            <a:avLst/>
          </a:prstGeom>
          <a:noFill/>
          <a:ln>
            <a:noFill/>
          </a:ln>
        </p:spPr>
        <p:txBody>
          <a:bodyPr wrap="none" lIns="0" tIns="0" rIns="0" bIns="0"/>
          <a:lstStyle/>
          <a:p>
            <a:pPr>
              <a:buNone/>
            </a:pPr>
            <a:r>
              <a:rPr lang="en-US" sz="1370">
                <a:solidFill>
                  <a:srgbClr val="ABA6C8"/>
                </a:solidFill>
                <a:latin typeface="Segoe UI"/>
              </a:rPr>
              <a:t>The model selects racing_line; game code computes the target and steers at 60 Hz.</a:t>
            </a:r>
          </a:p>
        </p:txBody>
      </p:sp>
      <p:pic>
        <p:nvPicPr>
          <p:cNvPr id="7" name="Actual LUNA GP game capture" descr="Controlled scene captured in the actual game: the player is P3 and Lyra, the purple rival labelled LINE, is P2 on a right-hand bend. The matching live model request is for Lyra, not the player."/>
          <p:cNvPicPr>
            <a:picLocks noChangeAspect="1"/>
          </p:cNvPicPr>
          <p:nvPr/>
        </p:nvPicPr>
        <p:blipFill>
          <a:blip r:embed="rId3"/>
          <a:stretch>
            <a:fillRect/>
          </a:stretch>
        </p:blipFill>
        <p:spPr>
          <a:xfrm>
            <a:off x="548640" y="1737360"/>
            <a:ext cx="4480560" cy="2520315"/>
          </a:xfrm>
          <a:prstGeom prst="rect">
            <a:avLst/>
          </a:prstGeom>
          <a:ln>
            <a:noFill/>
          </a:ln>
        </p:spPr>
      </p:pic>
      <p:sp>
        <p:nvSpPr>
          <p:cNvPr id="8" name="Racing-line contrast underlay"/>
          <p:cNvSpPr/>
          <p:nvPr/>
        </p:nvSpPr>
        <p:spPr>
          <a:xfrm>
            <a:off x="548640" y="1737360"/>
            <a:ext cx="4480560" cy="2520315"/>
          </a:xfrm>
          <a:custGeom>
            <a:avLst/>
            <a:gdLst/>
            <a:ahLst/>
            <a:cxnLst/>
            <a:rect l="0" t="0" r="r" b="b"/>
            <a:pathLst>
              <a:path w="1280" h="720" fill="none">
                <a:moveTo>
                  <a:pt x="839" y="536"/>
                </a:moveTo>
                <a:lnTo>
                  <a:pt x="824" y="510"/>
                </a:lnTo>
                <a:lnTo>
                  <a:pt x="812" y="490"/>
                </a:lnTo>
                <a:lnTo>
                  <a:pt x="803" y="473"/>
                </a:lnTo>
                <a:lnTo>
                  <a:pt x="796" y="459"/>
                </a:lnTo>
                <a:lnTo>
                  <a:pt x="791" y="447"/>
                </a:lnTo>
                <a:lnTo>
                  <a:pt x="786" y="437"/>
                </a:lnTo>
                <a:lnTo>
                  <a:pt x="784" y="428"/>
                </a:lnTo>
                <a:lnTo>
                  <a:pt x="781" y="420"/>
                </a:lnTo>
                <a:lnTo>
                  <a:pt x="780" y="414"/>
                </a:lnTo>
                <a:lnTo>
                  <a:pt x="778" y="408"/>
                </a:lnTo>
                <a:lnTo>
                  <a:pt x="779" y="402"/>
                </a:lnTo>
                <a:lnTo>
                  <a:pt x="779" y="397"/>
                </a:lnTo>
                <a:lnTo>
                  <a:pt x="779" y="393"/>
                </a:lnTo>
                <a:moveTo>
                  <a:pt x="826" y="352"/>
                </a:moveTo>
                <a:lnTo>
                  <a:pt x="834" y="349"/>
                </a:lnTo>
                <a:lnTo>
                  <a:pt x="845" y="345"/>
                </a:lnTo>
                <a:lnTo>
                  <a:pt x="857" y="342"/>
                </a:lnTo>
                <a:lnTo>
                  <a:pt x="871" y="339"/>
                </a:lnTo>
                <a:lnTo>
                  <a:pt x="887" y="336"/>
                </a:lnTo>
                <a:lnTo>
                  <a:pt x="908" y="333"/>
                </a:lnTo>
                <a:lnTo>
                  <a:pt x="925" y="331"/>
                </a:lnTo>
              </a:path>
            </a:pathLst>
          </a:custGeom>
          <a:noFill/>
          <a:ln w="66040" cap="rnd">
            <a:solidFill>
              <a:srgbClr val="07071A">
                <a:alpha val="80000"/>
              </a:srgbClr>
            </a:solidFill>
            <a:round/>
          </a:ln>
        </p:spPr>
        <p:txBody>
          <a:bodyPr/>
          <a:lstStyle/>
          <a:p>
            <a:endParaRPr lang="en-ZA"/>
          </a:p>
        </p:txBody>
      </p:sp>
      <p:sp>
        <p:nvSpPr>
          <p:cNvPr id="9" name="Editable racing-line target - near" descr="Projected engine target: offset = clamp(0.12 * avgCurveAhead(position, 40), -0.55, 0.55). These points are sampled from the actual game's projection. Interrupted behind Lyra's car so the overlay does not paint over it."/>
          <p:cNvSpPr/>
          <p:nvPr/>
        </p:nvSpPr>
        <p:spPr>
          <a:xfrm>
            <a:off x="548640" y="1737360"/>
            <a:ext cx="4480560" cy="2520315"/>
          </a:xfrm>
          <a:custGeom>
            <a:avLst/>
            <a:gdLst/>
            <a:ahLst/>
            <a:cxnLst/>
            <a:rect l="0" t="0" r="r" b="b"/>
            <a:pathLst>
              <a:path w="1280" h="720" fill="none">
                <a:moveTo>
                  <a:pt x="839" y="536"/>
                </a:moveTo>
                <a:lnTo>
                  <a:pt x="824" y="510"/>
                </a:lnTo>
                <a:lnTo>
                  <a:pt x="812" y="490"/>
                </a:lnTo>
                <a:lnTo>
                  <a:pt x="803" y="473"/>
                </a:lnTo>
                <a:lnTo>
                  <a:pt x="796" y="459"/>
                </a:lnTo>
                <a:lnTo>
                  <a:pt x="791" y="447"/>
                </a:lnTo>
                <a:lnTo>
                  <a:pt x="786" y="437"/>
                </a:lnTo>
                <a:lnTo>
                  <a:pt x="784" y="428"/>
                </a:lnTo>
                <a:lnTo>
                  <a:pt x="781" y="420"/>
                </a:lnTo>
                <a:lnTo>
                  <a:pt x="780" y="414"/>
                </a:lnTo>
                <a:lnTo>
                  <a:pt x="778" y="408"/>
                </a:lnTo>
                <a:lnTo>
                  <a:pt x="779" y="402"/>
                </a:lnTo>
                <a:lnTo>
                  <a:pt x="779" y="397"/>
                </a:lnTo>
                <a:lnTo>
                  <a:pt x="779" y="393"/>
                </a:lnTo>
              </a:path>
            </a:pathLst>
          </a:custGeom>
          <a:noFill/>
          <a:ln w="33020" cap="rnd">
            <a:solidFill>
              <a:srgbClr val="FFD166"/>
            </a:solidFill>
            <a:round/>
          </a:ln>
        </p:spPr>
        <p:txBody>
          <a:bodyPr/>
          <a:lstStyle/>
          <a:p>
            <a:endParaRPr lang="en-ZA"/>
          </a:p>
        </p:txBody>
      </p:sp>
      <p:sp>
        <p:nvSpPr>
          <p:cNvPr id="10" name="Editable racing-line target - ahead" descr="The target line continues ahead of Lyra toward the inside of this right-hand bend. An explanatory annotation, not a path returned by the AI."/>
          <p:cNvSpPr/>
          <p:nvPr/>
        </p:nvSpPr>
        <p:spPr>
          <a:xfrm>
            <a:off x="548640" y="1737360"/>
            <a:ext cx="4480560" cy="2520315"/>
          </a:xfrm>
          <a:custGeom>
            <a:avLst/>
            <a:gdLst/>
            <a:ahLst/>
            <a:cxnLst/>
            <a:rect l="0" t="0" r="r" b="b"/>
            <a:pathLst>
              <a:path w="1280" h="720" fill="none">
                <a:moveTo>
                  <a:pt x="826" y="352"/>
                </a:moveTo>
                <a:lnTo>
                  <a:pt x="834" y="349"/>
                </a:lnTo>
                <a:lnTo>
                  <a:pt x="845" y="345"/>
                </a:lnTo>
                <a:lnTo>
                  <a:pt x="857" y="342"/>
                </a:lnTo>
                <a:lnTo>
                  <a:pt x="871" y="339"/>
                </a:lnTo>
                <a:lnTo>
                  <a:pt x="887" y="336"/>
                </a:lnTo>
                <a:lnTo>
                  <a:pt x="908" y="333"/>
                </a:lnTo>
                <a:lnTo>
                  <a:pt x="925" y="331"/>
                </a:lnTo>
              </a:path>
            </a:pathLst>
          </a:custGeom>
          <a:noFill/>
          <a:ln w="21590" cap="rnd">
            <a:solidFill>
              <a:srgbClr val="FFD166"/>
            </a:solidFill>
            <a:round/>
            <a:tailEnd type="triangle" w="sm" len="sm"/>
          </a:ln>
        </p:spPr>
        <p:txBody>
          <a:bodyPr/>
          <a:lstStyle/>
          <a:p>
            <a:endParaRPr lang="en-ZA"/>
          </a:p>
        </p:txBody>
      </p:sp>
      <p:sp>
        <p:nvSpPr>
          <p:cNvPr id="11" name="Lyra request-to-screenshot callout"/>
          <p:cNvSpPr txBox="1"/>
          <p:nvPr/>
        </p:nvSpPr>
        <p:spPr>
          <a:xfrm>
            <a:off x="786384" y="2468880"/>
            <a:ext cx="2651760" cy="274320"/>
          </a:xfrm>
          <a:prstGeom prst="roundRect">
            <a:avLst>
              <a:gd name="adj" fmla="val 18000"/>
            </a:avLst>
          </a:prstGeom>
          <a:solidFill>
            <a:srgbClr val="07071A">
              <a:alpha val="90000"/>
            </a:srgbClr>
          </a:solidFill>
          <a:ln>
            <a:noFill/>
          </a:ln>
        </p:spPr>
        <p:txBody>
          <a:bodyPr wrap="none" lIns="91440" tIns="0" rIns="91440" bIns="0" anchor="ctr"/>
          <a:lstStyle/>
          <a:p>
            <a:pPr>
              <a:buNone/>
            </a:pPr>
            <a:r>
              <a:rPr lang="en-US" sz="1100" b="1">
                <a:solidFill>
                  <a:srgbClr val="D7BCFF"/>
                </a:solidFill>
                <a:latin typeface="Segoe UI Semibold"/>
              </a:rPr>
              <a:t>LYRA #22 / P2 / 268 km/h</a:t>
            </a:r>
          </a:p>
        </p:txBody>
      </p:sp>
      <p:sp>
        <p:nvSpPr>
          <p:cNvPr id="12" name="Capture provenance"/>
          <p:cNvSpPr txBox="1"/>
          <p:nvPr/>
        </p:nvSpPr>
        <p:spPr>
          <a:xfrm>
            <a:off x="548640" y="4352544"/>
            <a:ext cx="4480560" cy="201168"/>
          </a:xfrm>
          <a:prstGeom prst="rect">
            <a:avLst/>
          </a:prstGeom>
          <a:noFill/>
          <a:ln>
            <a:noFill/>
          </a:ln>
        </p:spPr>
        <p:txBody>
          <a:bodyPr wrap="none" lIns="0" tIns="0" rIns="0" bIns="0"/>
          <a:lstStyle/>
          <a:p>
            <a:pPr>
              <a:buNone/>
            </a:pPr>
            <a:r>
              <a:rPr lang="en-US" sz="1100">
                <a:solidFill>
                  <a:srgbClr val="ABA6C8"/>
                </a:solidFill>
                <a:latin typeface="Segoe UI"/>
              </a:rPr>
              <a:t>Yellow: engine target. Controlled game capture; overlay added.</a:t>
            </a:r>
          </a:p>
        </p:txBody>
      </p:sp>
      <p:sp>
        <p:nvSpPr>
          <p:cNvPr id="13" name="How the engine follows the line"/>
          <p:cNvSpPr txBox="1"/>
          <p:nvPr/>
        </p:nvSpPr>
        <p:spPr>
          <a:xfrm>
            <a:off x="548640" y="4544568"/>
            <a:ext cx="4480560" cy="201168"/>
          </a:xfrm>
          <a:prstGeom prst="rect">
            <a:avLst/>
          </a:prstGeom>
          <a:noFill/>
          <a:ln>
            <a:noFill/>
          </a:ln>
        </p:spPr>
        <p:txBody>
          <a:bodyPr wrap="none" lIns="0" tIns="0" rIns="0" bIns="0"/>
          <a:lstStyle/>
          <a:p>
            <a:pPr>
              <a:buNone/>
            </a:pPr>
            <a:r>
              <a:rPr lang="en-US" sz="1140" b="1">
                <a:solidFill>
                  <a:srgbClr val="ECE9F8"/>
                </a:solidFill>
                <a:latin typeface="Segoe UI Semibold"/>
              </a:rPr>
              <a:t>40-segment lookahead; inside bias, not a full apex line.</a:t>
            </a:r>
          </a:p>
        </p:txBody>
      </p:sp>
      <p:sp>
        <p:nvSpPr>
          <p:cNvPr id="14" name="Request card"/>
          <p:cNvSpPr/>
          <p:nvPr/>
        </p:nvSpPr>
        <p:spPr>
          <a:xfrm>
            <a:off x="5349240" y="1737360"/>
            <a:ext cx="3246120" cy="1572768"/>
          </a:xfrm>
          <a:prstGeom prst="roundRect">
            <a:avLst>
              <a:gd name="adj" fmla="val 14000"/>
            </a:avLst>
          </a:prstGeom>
          <a:solidFill>
            <a:srgbClr val="110F26"/>
          </a:solidFill>
          <a:ln>
            <a:noFill/>
          </a:ln>
        </p:spPr>
        <p:txBody>
          <a:bodyPr/>
          <a:lstStyle/>
          <a:p>
            <a:endParaRPr lang="en-ZA"/>
          </a:p>
        </p:txBody>
      </p:sp>
      <p:sp>
        <p:nvSpPr>
          <p:cNvPr id="15" name="AI request label"/>
          <p:cNvSpPr txBox="1"/>
          <p:nvPr/>
        </p:nvSpPr>
        <p:spPr>
          <a:xfrm>
            <a:off x="5532120" y="1883664"/>
            <a:ext cx="2880360" cy="182880"/>
          </a:xfrm>
          <a:prstGeom prst="rect">
            <a:avLst/>
          </a:prstGeom>
          <a:noFill/>
          <a:ln>
            <a:noFill/>
          </a:ln>
        </p:spPr>
        <p:txBody>
          <a:bodyPr wrap="none" lIns="0" tIns="0" rIns="0" bIns="0"/>
          <a:lstStyle/>
          <a:p>
            <a:pPr>
              <a:buNone/>
            </a:pPr>
            <a:r>
              <a:rPr lang="en-US" sz="1050" b="1" spc="80">
                <a:solidFill>
                  <a:srgbClr val="3DD6FF"/>
                </a:solidFill>
                <a:latin typeface="Segoe UI Semibold"/>
              </a:rPr>
              <a:t>AI REQUEST / STATE SUMMARY</a:t>
            </a:r>
          </a:p>
        </p:txBody>
      </p:sp>
      <p:sp>
        <p:nvSpPr>
          <p:cNvPr id="16" name="Matching Lyra telemetry"/>
          <p:cNvSpPr txBox="1"/>
          <p:nvPr/>
        </p:nvSpPr>
        <p:spPr>
          <a:xfrm>
            <a:off x="5532120" y="2121408"/>
            <a:ext cx="2880360" cy="694944"/>
          </a:xfrm>
          <a:prstGeom prst="rect">
            <a:avLst/>
          </a:prstGeom>
          <a:noFill/>
          <a:ln>
            <a:noFill/>
          </a:ln>
        </p:spPr>
        <p:txBody>
          <a:bodyPr wrap="none" lIns="0" tIns="0" rIns="0" bIns="0"/>
          <a:lstStyle/>
          <a:p>
            <a:pPr>
              <a:lnSpc>
                <a:spcPts val="1600"/>
              </a:lnSpc>
              <a:buNone/>
            </a:pPr>
            <a:r>
              <a:rPr lang="en-US" sz="1300" b="1">
                <a:solidFill>
                  <a:srgbClr val="ECE9F8"/>
                </a:solidFill>
                <a:latin typeface="Segoe UI Semibold"/>
              </a:rPr>
              <a:t>Lyra #22 / smooth / lap 1/3 / P2</a:t>
            </a:r>
          </a:p>
          <a:p>
            <a:pPr>
              <a:lnSpc>
                <a:spcPts val="1600"/>
              </a:lnSpc>
              <a:buNone/>
            </a:pPr>
            <a:r>
              <a:rPr lang="en-US" sz="1300">
                <a:solidFill>
                  <a:srgbClr val="ECE9F8"/>
                </a:solidFill>
                <a:latin typeface="Segoe UI"/>
              </a:rPr>
              <a:t>268 km/h / medium right / uphill</a:t>
            </a:r>
          </a:p>
          <a:p>
            <a:pPr>
              <a:lnSpc>
                <a:spcPts val="1600"/>
              </a:lnSpc>
              <a:buNone/>
            </a:pPr>
            <a:r>
              <a:rPr lang="en-US" sz="1300">
                <a:solidFill>
                  <a:srgbClr val="ECE9F8"/>
                </a:solidFill>
                <a:latin typeface="Segoe UI"/>
              </a:rPr>
              <a:t>No car ahead within 150 m</a:t>
            </a:r>
          </a:p>
        </p:txBody>
      </p:sp>
      <p:sp>
        <p:nvSpPr>
          <p:cNvPr id="17" name="Three typed questions"/>
          <p:cNvSpPr txBox="1"/>
          <p:nvPr/>
        </p:nvSpPr>
        <p:spPr>
          <a:xfrm>
            <a:off x="5532120" y="2852928"/>
            <a:ext cx="2880360" cy="347472"/>
          </a:xfrm>
          <a:prstGeom prst="rect">
            <a:avLst/>
          </a:prstGeom>
          <a:noFill/>
          <a:ln>
            <a:noFill/>
          </a:ln>
        </p:spPr>
        <p:txBody>
          <a:bodyPr wrap="none" lIns="0" tIns="0" rIns="0" bIns="0"/>
          <a:lstStyle/>
          <a:p>
            <a:pPr>
              <a:lnSpc>
                <a:spcPts val="1300"/>
              </a:lnSpc>
              <a:buNone/>
            </a:pPr>
            <a:r>
              <a:rPr lang="en-US" sz="1130">
                <a:solidFill>
                  <a:srgbClr val="3DD6FF"/>
                </a:solidFill>
                <a:latin typeface="Consolas"/>
              </a:rPr>
              <a:t>maneuver: choice</a:t>
            </a:r>
          </a:p>
          <a:p>
            <a:pPr>
              <a:lnSpc>
                <a:spcPts val="1300"/>
              </a:lnSpc>
              <a:buNone/>
            </a:pPr>
            <a:r>
              <a:rPr lang="en-US" sz="1130">
                <a:solidFill>
                  <a:srgbClr val="3DD6FF"/>
                </a:solidFill>
                <a:latin typeface="Consolas"/>
              </a:rPr>
              <a:t>pace: score    nitro: noul</a:t>
            </a:r>
          </a:p>
        </p:txBody>
      </p:sp>
      <p:sp>
        <p:nvSpPr>
          <p:cNvPr id="18" name="Live result card"/>
          <p:cNvSpPr/>
          <p:nvPr/>
        </p:nvSpPr>
        <p:spPr>
          <a:xfrm>
            <a:off x="5349240" y="3493008"/>
            <a:ext cx="3246120" cy="1188720"/>
          </a:xfrm>
          <a:prstGeom prst="roundRect">
            <a:avLst>
              <a:gd name="adj" fmla="val 14000"/>
            </a:avLst>
          </a:prstGeom>
          <a:solidFill>
            <a:srgbClr val="110F26"/>
          </a:solidFill>
          <a:ln>
            <a:noFill/>
          </a:ln>
        </p:spPr>
        <p:txBody>
          <a:bodyPr/>
          <a:lstStyle/>
          <a:p>
            <a:endParaRPr lang="en-ZA"/>
          </a:p>
        </p:txBody>
      </p:sp>
      <p:sp>
        <p:nvSpPr>
          <p:cNvPr id="19" name="Live response label"/>
          <p:cNvSpPr txBox="1"/>
          <p:nvPr/>
        </p:nvSpPr>
        <p:spPr>
          <a:xfrm>
            <a:off x="5532120" y="3639312"/>
            <a:ext cx="2880360" cy="182880"/>
          </a:xfrm>
          <a:prstGeom prst="rect">
            <a:avLst/>
          </a:prstGeom>
          <a:noFill/>
          <a:ln>
            <a:noFill/>
          </a:ln>
        </p:spPr>
        <p:txBody>
          <a:bodyPr wrap="none" lIns="0" tIns="0" rIns="0" bIns="0"/>
          <a:lstStyle/>
          <a:p>
            <a:pPr>
              <a:buNone/>
            </a:pPr>
            <a:r>
              <a:rPr lang="en-US" sz="1050" b="1" spc="80">
                <a:solidFill>
                  <a:srgbClr val="45E89A"/>
                </a:solidFill>
                <a:latin typeface="Segoe UI Semibold"/>
              </a:rPr>
              <a:t>LIVE RESULT / 358 ms</a:t>
            </a:r>
          </a:p>
        </p:txBody>
      </p:sp>
      <p:sp>
        <p:nvSpPr>
          <p:cNvPr id="20" name="Chosen maneuver"/>
          <p:cNvSpPr txBox="1"/>
          <p:nvPr/>
        </p:nvSpPr>
        <p:spPr>
          <a:xfrm>
            <a:off x="5532120" y="3904488"/>
            <a:ext cx="1911096" cy="274320"/>
          </a:xfrm>
          <a:prstGeom prst="rect">
            <a:avLst/>
          </a:prstGeom>
          <a:noFill/>
          <a:ln>
            <a:noFill/>
          </a:ln>
        </p:spPr>
        <p:txBody>
          <a:bodyPr wrap="none" lIns="0" tIns="0" rIns="0" bIns="0"/>
          <a:lstStyle/>
          <a:p>
            <a:pPr>
              <a:buNone/>
            </a:pPr>
            <a:r>
              <a:rPr lang="en-US" sz="1800" b="1">
                <a:solidFill>
                  <a:srgbClr val="3DD6FF"/>
                </a:solidFill>
                <a:latin typeface="Consolas"/>
              </a:rPr>
              <a:t>racing_line</a:t>
            </a:r>
          </a:p>
        </p:txBody>
      </p:sp>
      <p:sp>
        <p:nvSpPr>
          <p:cNvPr id="21" name="Maneuver probability"/>
          <p:cNvSpPr txBox="1"/>
          <p:nvPr/>
        </p:nvSpPr>
        <p:spPr>
          <a:xfrm>
            <a:off x="7242048" y="3977640"/>
            <a:ext cx="1170432" cy="182880"/>
          </a:xfrm>
          <a:prstGeom prst="rect">
            <a:avLst/>
          </a:prstGeom>
          <a:noFill/>
          <a:ln>
            <a:noFill/>
          </a:ln>
        </p:spPr>
        <p:txBody>
          <a:bodyPr wrap="none" lIns="0" tIns="0" rIns="0" bIns="0"/>
          <a:lstStyle/>
          <a:p>
            <a:pPr algn="r">
              <a:buNone/>
            </a:pPr>
            <a:r>
              <a:rPr lang="en-US" sz="1050" b="1">
                <a:solidFill>
                  <a:srgbClr val="45E89A"/>
                </a:solidFill>
                <a:latin typeface="Segoe UI Semibold"/>
              </a:rPr>
              <a:t>choice: 99.24%</a:t>
            </a:r>
          </a:p>
        </p:txBody>
      </p:sp>
      <p:sp>
        <p:nvSpPr>
          <p:cNvPr id="22" name="Pace and nitro results"/>
          <p:cNvSpPr txBox="1"/>
          <p:nvPr/>
        </p:nvSpPr>
        <p:spPr>
          <a:xfrm>
            <a:off x="5532120" y="4187952"/>
            <a:ext cx="2880360" cy="228600"/>
          </a:xfrm>
          <a:prstGeom prst="rect">
            <a:avLst/>
          </a:prstGeom>
          <a:noFill/>
          <a:ln>
            <a:noFill/>
          </a:ln>
        </p:spPr>
        <p:txBody>
          <a:bodyPr wrap="none" lIns="0" tIns="0" rIns="0" bIns="0"/>
          <a:lstStyle/>
          <a:p>
            <a:pPr>
              <a:buNone/>
            </a:pPr>
            <a:r>
              <a:rPr lang="en-US" sz="1250">
                <a:solidFill>
                  <a:srgbClr val="ECE9F8"/>
                </a:solidFill>
                <a:latin typeface="Consolas"/>
              </a:rPr>
              <a:t>pace 1.46 / 3   nitro 0.095</a:t>
            </a:r>
          </a:p>
        </p:txBody>
      </p:sp>
      <p:sp>
        <p:nvSpPr>
          <p:cNvPr id="23" name="Nitro threshold policy"/>
          <p:cNvSpPr txBox="1"/>
          <p:nvPr/>
        </p:nvSpPr>
        <p:spPr>
          <a:xfrm>
            <a:off x="5532120" y="4425696"/>
            <a:ext cx="2880360" cy="201168"/>
          </a:xfrm>
          <a:prstGeom prst="rect">
            <a:avLst/>
          </a:prstGeom>
          <a:noFill/>
          <a:ln>
            <a:noFill/>
          </a:ln>
        </p:spPr>
        <p:txBody>
          <a:bodyPr wrap="none" lIns="0" tIns="0" rIns="0" bIns="0"/>
          <a:lstStyle/>
          <a:p>
            <a:pPr>
              <a:buNone/>
            </a:pPr>
            <a:r>
              <a:rPr lang="en-US" sz="1100">
                <a:solidFill>
                  <a:srgbClr val="ABA6C8"/>
                </a:solidFill>
                <a:latin typeface="Segoe UI"/>
              </a:rPr>
              <a:t>No boost: nitro 0.095 &lt; Lyra's 0.65.</a:t>
            </a:r>
          </a:p>
        </p:txBody>
      </p:sp>
      <p:sp>
        <p:nvSpPr>
          <p:cNvPr id="24" name="Leader identifying Lyra"/>
          <p:cNvSpPr/>
          <p:nvPr/>
        </p:nvSpPr>
        <p:spPr>
          <a:xfrm>
            <a:off x="2980944" y="2743200"/>
            <a:ext cx="192024" cy="283464"/>
          </a:xfrm>
          <a:custGeom>
            <a:avLst/>
            <a:gdLst/>
            <a:ahLst/>
            <a:cxnLst/>
            <a:rect l="0" t="0" r="r" b="b"/>
            <a:pathLst>
              <a:path w="1000" h="1000" fill="none">
                <a:moveTo>
                  <a:pt x="0" y="0"/>
                </a:moveTo>
                <a:lnTo>
                  <a:pt x="1000" y="1000"/>
                </a:lnTo>
              </a:path>
            </a:pathLst>
          </a:custGeom>
          <a:noFill/>
          <a:ln w="16510" cap="rnd">
            <a:solidFill>
              <a:srgbClr val="D7BCFF"/>
            </a:solidFill>
            <a:tailEnd type="triangle" w="sm" len="sm"/>
          </a:ln>
        </p:spPr>
        <p:txBody>
          <a:bodyPr/>
          <a:lstStyle/>
          <a:p>
            <a:endParaRPr lang="en-ZA"/>
          </a:p>
        </p:txBody>
      </p:sp>
      <p:sp>
        <p:nvSpPr>
          <p:cNvPr id="25" name="Identify the player HUD"/>
          <p:cNvSpPr txBox="1"/>
          <p:nvPr/>
        </p:nvSpPr>
        <p:spPr>
          <a:xfrm>
            <a:off x="1179576" y="1892808"/>
            <a:ext cx="594360" cy="182880"/>
          </a:xfrm>
          <a:prstGeom prst="rect">
            <a:avLst/>
          </a:prstGeom>
          <a:noFill/>
          <a:ln>
            <a:noFill/>
          </a:ln>
        </p:spPr>
        <p:txBody>
          <a:bodyPr wrap="none" lIns="0" tIns="0" rIns="0" bIns="0"/>
          <a:lstStyle/>
          <a:p>
            <a:pPr>
              <a:buNone/>
            </a:pPr>
            <a:r>
              <a:rPr lang="en-US" sz="950" b="1">
                <a:solidFill>
                  <a:srgbClr val="3DD6FF"/>
                </a:solidFill>
                <a:latin typeface="Segoe UI Semibold"/>
              </a:rPr>
              <a:t>YOU</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10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3"/>
          <a:stretch>
            <a:fillRect/>
          </a:stretch>
        </p:blipFill>
        <p:spPr>
          <a:xfrm>
            <a:off x="548640" y="1622464"/>
            <a:ext cx="8046720" cy="29038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FFD166"/>
          </a:solidFill>
          <a:ln/>
        </p:spPr>
        <p:txBody>
          <a:bodyPr/>
          <a:lstStyle/>
          <a:p>
            <a:endParaRPr lang="en-ZA"/>
          </a:p>
        </p:txBody>
      </p:sp>
      <p:sp>
        <p:nvSpPr>
          <p:cNvPr id="3" name="Text 3"/>
          <p:cNvSpPr txBox="1"/>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11 / 14</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web app, one Node process</a:t>
            </a:r>
            <a:endParaRPr lang="en-US" sz="3400" dirty="0"/>
          </a:p>
        </p:txBody>
      </p:sp>
      <p:sp>
        <p:nvSpPr>
          <p:cNvPr id="6" name="Text 6"/>
          <p:cNvSpPr txBox="1"/>
          <p:nvPr/>
        </p:nvSpPr>
        <p:spPr>
          <a:xfrm>
            <a:off x="548640" y="1508760"/>
            <a:ext cx="8046720" cy="320040"/>
          </a:xfrm>
          <a:prstGeom prst="rect">
            <a:avLst/>
          </a:prstGeom>
          <a:noFill/>
          <a:ln/>
        </p:spPr>
        <p:txBody>
          <a:bodyPr wrap="square" lIns="0" tIns="0" rIns="0" bIns="0" rtlCol="0" anchor="t"/>
          <a:lstStyle/>
          <a:p>
            <a:pPr marL="0" indent="0">
              <a:buNone/>
            </a:pPr>
            <a:r>
              <a:rPr lang="en-US" sz="1600" dirty="0">
                <a:solidFill>
                  <a:srgbClr val="ECE9F8"/>
                </a:solidFill>
                <a:latin typeface="Segoe UI" pitchFamily="34" charset="0"/>
                <a:ea typeface="Segoe UI" pitchFamily="34" charset="-122"/>
                <a:cs typeface="Segoe UI" pitchFamily="34" charset="-120"/>
              </a:rPr>
              <a:t>The game runs </a:t>
            </a:r>
            <a:r>
              <a:rPr lang="en-US" sz="1600" b="1" dirty="0">
                <a:solidFill>
                  <a:srgbClr val="FFD166"/>
                </a:solidFill>
                <a:latin typeface="Segoe UI" pitchFamily="34" charset="0"/>
                <a:ea typeface="Segoe UI" pitchFamily="34" charset="-122"/>
                <a:cs typeface="Segoe UI" pitchFamily="34" charset="-120"/>
              </a:rPr>
              <a:t>in the browser</a:t>
            </a:r>
            <a:r>
              <a:rPr lang="en-US" sz="1600" dirty="0">
                <a:solidFill>
                  <a:srgbClr val="ECE9F8"/>
                </a:solidFill>
                <a:latin typeface="Segoe UI" pitchFamily="34" charset="0"/>
                <a:ea typeface="Segoe UI" pitchFamily="34" charset="-122"/>
                <a:cs typeface="Segoe UI" pitchFamily="34" charset="-120"/>
              </a:rPr>
              <a:t>. The server only serves files and asks the model.</a:t>
            </a:r>
            <a:endParaRPr lang="en-US" sz="1600" dirty="0"/>
          </a:p>
        </p:txBody>
      </p:sp>
      <p:sp>
        <p:nvSpPr>
          <p:cNvPr id="7" name="Card 7"/>
          <p:cNvSpPr/>
          <p:nvPr/>
        </p:nvSpPr>
        <p:spPr>
          <a:xfrm>
            <a:off x="548640" y="2148840"/>
            <a:ext cx="2407920" cy="1874520"/>
          </a:xfrm>
          <a:prstGeom prst="roundRect">
            <a:avLst>
              <a:gd name="adj" fmla="val 9143"/>
            </a:avLst>
          </a:prstGeom>
          <a:solidFill>
            <a:srgbClr val="110F2B"/>
          </a:solidFill>
          <a:ln/>
        </p:spPr>
        <p:txBody>
          <a:bodyPr/>
          <a:lstStyle/>
          <a:p>
            <a:endParaRPr lang="en-ZA"/>
          </a:p>
        </p:txBody>
      </p:sp>
      <p:pic>
        <p:nvPicPr>
          <p:cNvPr id="8" name="Image 8" descr="Monitor icon"/>
          <p:cNvPicPr>
            <a:picLocks noChangeAspect="1"/>
          </p:cNvPicPr>
          <p:nvPr/>
        </p:nvPicPr>
        <p:blipFill>
          <a:blip r:embed="rId3"/>
          <a:stretch>
            <a:fillRect/>
          </a:stretch>
        </p:blipFill>
        <p:spPr>
          <a:xfrm>
            <a:off x="777240" y="2377440"/>
            <a:ext cx="384048" cy="384048"/>
          </a:xfrm>
          <a:prstGeom prst="rect">
            <a:avLst/>
          </a:prstGeom>
        </p:spPr>
      </p:pic>
      <p:sp>
        <p:nvSpPr>
          <p:cNvPr id="9" name="Text 9"/>
          <p:cNvSpPr txBox="1"/>
          <p:nvPr/>
        </p:nvSpPr>
        <p:spPr>
          <a:xfrm>
            <a:off x="12984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BROWSER</a:t>
            </a:r>
            <a:endParaRPr lang="en-US" sz="1050" dirty="0"/>
          </a:p>
        </p:txBody>
      </p:sp>
      <p:sp>
        <p:nvSpPr>
          <p:cNvPr id="10" name="Text 10"/>
          <p:cNvSpPr txBox="1"/>
          <p:nvPr/>
        </p:nvSpPr>
        <p:spPr>
          <a:xfrm>
            <a:off x="7772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The whole game</a:t>
            </a:r>
            <a:endParaRPr lang="en-US" sz="1400" dirty="0"/>
          </a:p>
        </p:txBody>
      </p:sp>
      <p:sp>
        <p:nvSpPr>
          <p:cNvPr id="11" name="Text 11"/>
          <p:cNvSpPr txBox="1"/>
          <p:nvPr/>
        </p:nvSpPr>
        <p:spPr>
          <a:xfrm>
            <a:off x="7772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Physics, rival driving, crashes, laps and drawing, 60 times a second.</a:t>
            </a:r>
            <a:endParaRPr lang="en-US" sz="1150" dirty="0"/>
          </a:p>
        </p:txBody>
      </p:sp>
      <p:cxnSp>
        <p:nvCxnSpPr>
          <p:cNvPr id="12" name="Arrow 12"/>
          <p:cNvCxnSpPr/>
          <p:nvPr/>
        </p:nvCxnSpPr>
        <p:spPr>
          <a:xfrm>
            <a:off x="3020568" y="3086100"/>
            <a:ext cx="283464"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txBody>
          <a:bodyPr/>
          <a:lstStyle/>
          <a:p>
            <a:endParaRPr lang="en-ZA"/>
          </a:p>
        </p:txBody>
      </p:sp>
      <p:pic>
        <p:nvPicPr>
          <p:cNvPr id="14" name="Image 14" descr="Server icon"/>
          <p:cNvPicPr>
            <a:picLocks noChangeAspect="1"/>
          </p:cNvPicPr>
          <p:nvPr/>
        </p:nvPicPr>
        <p:blipFill>
          <a:blip r:embed="rId4"/>
          <a:stretch>
            <a:fillRect/>
          </a:stretch>
        </p:blipFill>
        <p:spPr>
          <a:xfrm>
            <a:off x="3596640" y="2377440"/>
            <a:ext cx="384048" cy="384048"/>
          </a:xfrm>
          <a:prstGeom prst="rect">
            <a:avLst/>
          </a:prstGeom>
        </p:spPr>
      </p:pic>
      <p:sp>
        <p:nvSpPr>
          <p:cNvPr id="15" name="Text 15"/>
          <p:cNvSpPr txBox="1"/>
          <p:nvPr/>
        </p:nvSpPr>
        <p:spPr>
          <a:xfrm>
            <a:off x="41178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APP SERVICE</a:t>
            </a:r>
            <a:endParaRPr lang="en-US" sz="1050" dirty="0"/>
          </a:p>
        </p:txBody>
      </p:sp>
      <p:sp>
        <p:nvSpPr>
          <p:cNvPr id="16" name="Text 16"/>
          <p:cNvSpPr txBox="1"/>
          <p:nvPr/>
        </p:nvSpPr>
        <p:spPr>
          <a:xfrm>
            <a:off x="35966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Consolas" pitchFamily="34" charset="0"/>
                <a:ea typeface="Consolas" pitchFamily="34" charset="-122"/>
                <a:cs typeface="Consolas" pitchFamily="34" charset="-120"/>
              </a:rPr>
              <a:t>node server.js</a:t>
            </a:r>
            <a:endParaRPr lang="en-US" sz="1400" dirty="0"/>
          </a:p>
        </p:txBody>
      </p:sp>
      <p:sp>
        <p:nvSpPr>
          <p:cNvPr id="17" name="Text 17"/>
          <p:cNvSpPr txBox="1"/>
          <p:nvPr/>
        </p:nvSpPr>
        <p:spPr>
          <a:xfrm>
            <a:off x="35966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Serves the game files. Its /api endpoints build the questions and call the model.</a:t>
            </a:r>
            <a:endParaRPr lang="en-US" sz="1150" dirty="0"/>
          </a:p>
        </p:txBody>
      </p:sp>
      <p:cxnSp>
        <p:nvCxnSpPr>
          <p:cNvPr id="18" name="Arrow 18"/>
          <p:cNvCxnSpPr/>
          <p:nvPr/>
        </p:nvCxnSpPr>
        <p:spPr>
          <a:xfrm>
            <a:off x="5839968" y="3086100"/>
            <a:ext cx="283464"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txBody>
          <a:bodyPr/>
          <a:lstStyle/>
          <a:p>
            <a:endParaRPr lang="en-ZA"/>
          </a:p>
        </p:txBody>
      </p:sp>
      <p:pic>
        <p:nvPicPr>
          <p:cNvPr id="20" name="Image 20" descr="Brain circuit icon"/>
          <p:cNvPicPr>
            <a:picLocks noChangeAspect="1"/>
          </p:cNvPicPr>
          <p:nvPr/>
        </p:nvPicPr>
        <p:blipFill>
          <a:blip r:embed="rId5"/>
          <a:stretch>
            <a:fillRect/>
          </a:stretch>
        </p:blipFill>
        <p:spPr>
          <a:xfrm>
            <a:off x="6416040" y="2377440"/>
            <a:ext cx="384048" cy="384048"/>
          </a:xfrm>
          <a:prstGeom prst="rect">
            <a:avLst/>
          </a:prstGeom>
        </p:spPr>
      </p:pic>
      <p:sp>
        <p:nvSpPr>
          <p:cNvPr id="21" name="Text 21"/>
          <p:cNvSpPr txBox="1"/>
          <p:nvPr/>
        </p:nvSpPr>
        <p:spPr>
          <a:xfrm>
            <a:off x="69372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FOUNDRY</a:t>
            </a:r>
            <a:endParaRPr lang="en-US" sz="1050" dirty="0"/>
          </a:p>
        </p:txBody>
      </p:sp>
      <p:sp>
        <p:nvSpPr>
          <p:cNvPr id="22" name="Text 22"/>
          <p:cNvSpPr txBox="1"/>
          <p:nvPr/>
        </p:nvSpPr>
        <p:spPr>
          <a:xfrm>
            <a:off x="64160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Microsoft-Decision-1</a:t>
            </a:r>
            <a:endParaRPr lang="en-US" sz="1400" dirty="0"/>
          </a:p>
        </p:txBody>
      </p:sp>
      <p:sp>
        <p:nvSpPr>
          <p:cNvPr id="23" name="Text 23"/>
          <p:cNvSpPr txBox="1"/>
          <p:nvPr/>
        </p:nvSpPr>
        <p:spPr>
          <a:xfrm>
            <a:off x="64160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Answers rival, steward and debrief questions. Called with the app’s managed identity.</a:t>
            </a:r>
            <a:endParaRPr lang="en-US" sz="1150" dirty="0"/>
          </a:p>
        </p:txBody>
      </p:sp>
      <p:sp>
        <p:nvSpPr>
          <p:cNvPr id="24" name="Text 24"/>
          <p:cNvSpPr txBox="1"/>
          <p:nvPr/>
        </p:nvSpPr>
        <p:spPr>
          <a:xfrm>
            <a:off x="548640" y="4297680"/>
            <a:ext cx="8046720" cy="274320"/>
          </a:xfrm>
          <a:prstGeom prst="rect">
            <a:avLst/>
          </a:prstGeom>
          <a:noFill/>
          <a:ln/>
        </p:spPr>
        <p:txBody>
          <a:bodyPr wrap="square" lIns="0" tIns="0" rIns="0" bIns="0" rtlCol="0" anchor="ctr"/>
          <a:lstStyle/>
          <a:p>
            <a:pPr marL="0" indent="0">
              <a:buNone/>
            </a:pPr>
            <a:r>
              <a:rPr lang="en-US" sz="1200" b="1" dirty="0">
                <a:solidFill>
                  <a:srgbClr val="FFD166"/>
                </a:solidFill>
                <a:latin typeface="Segoe UI" pitchFamily="34" charset="0"/>
                <a:ea typeface="Segoe UI" pitchFamily="34" charset="-122"/>
                <a:cs typeface="Segoe UI" pitchFamily="34" charset="-120"/>
              </a:rPr>
              <a:t>Not a container app: </a:t>
            </a:r>
            <a:r>
              <a:rPr lang="en-US" sz="1200" dirty="0">
                <a:solidFill>
                  <a:srgbClr val="ABA6C8"/>
                </a:solidFill>
                <a:latin typeface="Segoe UI" pitchFamily="34" charset="0"/>
                <a:ea typeface="Segoe UI" pitchFamily="34" charset="-122"/>
                <a:cs typeface="Segoe UI" pitchFamily="34" charset="-120"/>
              </a:rPr>
              <a:t>no image, background workers, queues or database. Deploy is a zip pushed to the web app.</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12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txBody>
          <a:bodyPr/>
          <a:lstStyle/>
          <a:p>
            <a:endParaRPr lang="en-ZA"/>
          </a:p>
        </p:txBody>
      </p:sp>
      <p:pic>
        <p:nvPicPr>
          <p:cNvPr id="7" name="Image 0" descr="Key icon"/>
          <p:cNvPicPr>
            <a:picLocks noChangeAspect="1"/>
          </p:cNvPicPr>
          <p:nvPr/>
        </p:nvPicPr>
        <p:blipFill>
          <a:blip r:embed="rId3"/>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txBody>
          <a:bodyPr/>
          <a:lstStyle/>
          <a:p>
            <a:endParaRPr lang="en-ZA"/>
          </a:p>
        </p:txBody>
      </p:sp>
      <p:pic>
        <p:nvPicPr>
          <p:cNvPr id="11" name="Image 1" descr="Shield icon"/>
          <p:cNvPicPr>
            <a:picLocks noChangeAspect="1"/>
          </p:cNvPicPr>
          <p:nvPr/>
        </p:nvPicPr>
        <p:blipFill>
          <a:blip r:embed="rId4"/>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txBody>
          <a:bodyPr/>
          <a:lstStyle/>
          <a:p>
            <a:endParaRPr lang="en-ZA"/>
          </a:p>
        </p:txBody>
      </p:sp>
      <p:pic>
        <p:nvPicPr>
          <p:cNvPr id="15" name="Image 2" descr="Stopwatch icon"/>
          <p:cNvPicPr>
            <a:picLocks noChangeAspect="1"/>
          </p:cNvPicPr>
          <p:nvPr/>
        </p:nvPicPr>
        <p:blipFill>
          <a:blip r:embed="rId5"/>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txBody>
          <a:bodyPr/>
          <a:lstStyle/>
          <a:p>
            <a:endParaRPr lang="en-ZA"/>
          </a:p>
        </p:txBody>
      </p:sp>
      <p:pic>
        <p:nvPicPr>
          <p:cNvPr id="19" name="Image 3" descr="Unplugged cable icon"/>
          <p:cNvPicPr>
            <a:picLocks noChangeAspect="1"/>
          </p:cNvPicPr>
          <p:nvPr/>
        </p:nvPicPr>
        <p:blipFill>
          <a:blip r:embed="rId6"/>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13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marL="0" indent="0" algn="ctr">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txBody>
          <a:bodyPr/>
          <a:lstStyle/>
          <a:p>
            <a:endParaRPr lang="en-ZA"/>
          </a:p>
        </p:txBody>
      </p:sp>
      <p:pic>
        <p:nvPicPr>
          <p:cNvPr id="15" name="Image 0" descr="Coins icon"/>
          <p:cNvPicPr>
            <a:picLocks noChangeAspect="1"/>
          </p:cNvPicPr>
          <p:nvPr/>
        </p:nvPicPr>
        <p:blipFill>
          <a:blip r:embed="rId3"/>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txBody>
          <a:bodyPr/>
          <a:lstStyle/>
          <a:p>
            <a:endParaRPr lang="en-ZA"/>
          </a:p>
        </p:txBody>
      </p:sp>
      <p:sp>
        <p:nvSpPr>
          <p:cNvPr id="3" name="Shape 1"/>
          <p:cNvSpPr/>
          <p:nvPr/>
        </p:nvSpPr>
        <p:spPr>
          <a:xfrm>
            <a:off x="2834640" y="548640"/>
            <a:ext cx="36576" cy="36576"/>
          </a:xfrm>
          <a:prstGeom prst="ellipse">
            <a:avLst/>
          </a:prstGeom>
          <a:solidFill>
            <a:srgbClr val="FFFFFF">
              <a:alpha val="60000"/>
            </a:srgbClr>
          </a:solidFill>
          <a:ln/>
        </p:spPr>
        <p:txBody>
          <a:bodyPr/>
          <a:lstStyle/>
          <a:p>
            <a:endParaRPr lang="en-ZA"/>
          </a:p>
        </p:txBody>
      </p:sp>
      <p:sp>
        <p:nvSpPr>
          <p:cNvPr id="4" name="Shape 2"/>
          <p:cNvSpPr/>
          <p:nvPr/>
        </p:nvSpPr>
        <p:spPr>
          <a:xfrm>
            <a:off x="4754880" y="594360"/>
            <a:ext cx="27432" cy="27432"/>
          </a:xfrm>
          <a:prstGeom prst="ellipse">
            <a:avLst/>
          </a:prstGeom>
          <a:solidFill>
            <a:srgbClr val="FFFFFF">
              <a:alpha val="45000"/>
            </a:srgbClr>
          </a:solidFill>
          <a:ln/>
        </p:spPr>
        <p:txBody>
          <a:bodyPr/>
          <a:lstStyle/>
          <a:p>
            <a:endParaRPr lang="en-ZA"/>
          </a:p>
        </p:txBody>
      </p:sp>
      <p:sp>
        <p:nvSpPr>
          <p:cNvPr id="5" name="Shape 3"/>
          <p:cNvSpPr/>
          <p:nvPr/>
        </p:nvSpPr>
        <p:spPr>
          <a:xfrm>
            <a:off x="6035040" y="502920"/>
            <a:ext cx="32004" cy="32004"/>
          </a:xfrm>
          <a:prstGeom prst="ellipse">
            <a:avLst/>
          </a:prstGeom>
          <a:solidFill>
            <a:srgbClr val="FFFFFF">
              <a:alpha val="55000"/>
            </a:srgbClr>
          </a:solidFill>
          <a:ln/>
        </p:spPr>
        <p:txBody>
          <a:bodyPr/>
          <a:lstStyle/>
          <a:p>
            <a:endParaRPr lang="en-ZA"/>
          </a:p>
        </p:txBody>
      </p:sp>
      <p:sp>
        <p:nvSpPr>
          <p:cNvPr id="6" name="Shape 4"/>
          <p:cNvSpPr/>
          <p:nvPr/>
        </p:nvSpPr>
        <p:spPr>
          <a:xfrm>
            <a:off x="8595360" y="3017520"/>
            <a:ext cx="27432" cy="27432"/>
          </a:xfrm>
          <a:prstGeom prst="ellipse">
            <a:avLst/>
          </a:prstGeom>
          <a:solidFill>
            <a:srgbClr val="FFFFFF">
              <a:alpha val="50000"/>
            </a:srgbClr>
          </a:solidFill>
          <a:ln/>
        </p:spPr>
        <p:txBody>
          <a:bodyPr/>
          <a:lstStyle/>
          <a:p>
            <a:endParaRPr lang="en-ZA"/>
          </a:p>
        </p:txBody>
      </p:sp>
      <p:sp>
        <p:nvSpPr>
          <p:cNvPr id="7" name="Shape 5"/>
          <p:cNvSpPr/>
          <p:nvPr/>
        </p:nvSpPr>
        <p:spPr>
          <a:xfrm>
            <a:off x="4480560" y="4846320"/>
            <a:ext cx="27432" cy="27432"/>
          </a:xfrm>
          <a:prstGeom prst="ellipse">
            <a:avLst/>
          </a:prstGeom>
          <a:solidFill>
            <a:srgbClr val="FFFFFF">
              <a:alpha val="45000"/>
            </a:srgbClr>
          </a:solidFill>
          <a:ln/>
        </p:spPr>
        <p:txBody>
          <a:bodyPr/>
          <a:lstStyle/>
          <a:p>
            <a:endParaRPr lang="en-ZA"/>
          </a:p>
        </p:txBody>
      </p:sp>
      <p:sp>
        <p:nvSpPr>
          <p:cNvPr id="8" name="Shape 6"/>
          <p:cNvSpPr/>
          <p:nvPr/>
        </p:nvSpPr>
        <p:spPr>
          <a:xfrm>
            <a:off x="2651760" y="4864608"/>
            <a:ext cx="22860" cy="22860"/>
          </a:xfrm>
          <a:prstGeom prst="ellipse">
            <a:avLst/>
          </a:prstGeom>
          <a:solidFill>
            <a:srgbClr val="FFFFFF">
              <a:alpha val="40000"/>
            </a:srgbClr>
          </a:solidFill>
          <a:ln/>
        </p:spPr>
        <p:txBody>
          <a:bodyPr/>
          <a:lstStyle/>
          <a:p>
            <a:endParaRPr lang="en-ZA"/>
          </a:p>
        </p:txBody>
      </p:sp>
      <p:sp>
        <p:nvSpPr>
          <p:cNvPr id="9" name="Shape 7"/>
          <p:cNvSpPr/>
          <p:nvPr/>
        </p:nvSpPr>
        <p:spPr>
          <a:xfrm>
            <a:off x="7680960" y="4846320"/>
            <a:ext cx="27432" cy="27432"/>
          </a:xfrm>
          <a:prstGeom prst="ellipse">
            <a:avLst/>
          </a:prstGeom>
          <a:solidFill>
            <a:srgbClr val="FFFFFF">
              <a:alpha val="45000"/>
            </a:srgbClr>
          </a:solidFill>
          <a:ln/>
        </p:spPr>
        <p:txBody>
          <a:bodyPr/>
          <a:lstStyle/>
          <a:p>
            <a:endParaRPr lang="en-ZA"/>
          </a:p>
        </p:txBody>
      </p:sp>
      <p:pic>
        <p:nvPicPr>
          <p:cNvPr id="10" name="Image 0" descr="Moon"/>
          <p:cNvPicPr>
            <a:picLocks noChangeAspect="1"/>
          </p:cNvPicPr>
          <p:nvPr/>
        </p:nvPicPr>
        <p:blipFill>
          <a:blip r:embed="rId3"/>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marL="0" indent="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713232"/>
          </a:xfrm>
          <a:prstGeom prst="roundRect">
            <a:avLst>
              <a:gd name="adj" fmla="val 15385"/>
            </a:avLst>
          </a:prstGeom>
          <a:solidFill>
            <a:srgbClr val="110F2B"/>
          </a:solidFill>
          <a:ln/>
        </p:spPr>
        <p:txBody>
          <a:bodyPr/>
          <a:lstStyle/>
          <a:p>
            <a:endParaRPr lang="en-ZA"/>
          </a:p>
        </p:txBody>
      </p:sp>
      <p:sp>
        <p:nvSpPr>
          <p:cNvPr id="13" name="Text 10"/>
          <p:cNvSpPr/>
          <p:nvPr/>
        </p:nvSpPr>
        <p:spPr>
          <a:xfrm>
            <a:off x="777240" y="2112264"/>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359152"/>
            <a:ext cx="3383280" cy="274320"/>
          </a:xfrm>
          <a:prstGeom prst="rect">
            <a:avLst/>
          </a:prstGeom>
          <a:noFill/>
          <a:ln/>
        </p:spPr>
        <p:txBody>
          <a:bodyPr wrap="square" lIns="0" tIns="0" rIns="0" bIns="0" rtlCol="0" anchor="ctr"/>
          <a:lstStyle/>
          <a:p>
            <a:pPr marL="0" indent="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4" tooltip="Play LUNA GP"/>
          </p:cNvPr>
          <p:cNvSpPr/>
          <p:nvPr/>
        </p:nvSpPr>
        <p:spPr>
          <a:xfrm>
            <a:off x="548640" y="2011680"/>
            <a:ext cx="3840480" cy="713232"/>
          </a:xfrm>
          <a:prstGeom prst="rect">
            <a:avLst/>
          </a:prstGeom>
          <a:solidFill>
            <a:srgbClr val="07071A">
              <a:alpha val="0"/>
            </a:srgbClr>
          </a:solidFill>
          <a:ln/>
        </p:spPr>
        <p:txBody>
          <a:bodyPr/>
          <a:lstStyle/>
          <a:p>
            <a:endParaRPr lang="en-ZA"/>
          </a:p>
        </p:txBody>
      </p:sp>
      <p:sp>
        <p:nvSpPr>
          <p:cNvPr id="16" name="Shape 13"/>
          <p:cNvSpPr/>
          <p:nvPr/>
        </p:nvSpPr>
        <p:spPr>
          <a:xfrm>
            <a:off x="548640" y="2862072"/>
            <a:ext cx="3840480" cy="713232"/>
          </a:xfrm>
          <a:prstGeom prst="roundRect">
            <a:avLst>
              <a:gd name="adj" fmla="val 15385"/>
            </a:avLst>
          </a:prstGeom>
          <a:solidFill>
            <a:srgbClr val="110F2B"/>
          </a:solidFill>
          <a:ln/>
        </p:spPr>
        <p:txBody>
          <a:bodyPr/>
          <a:lstStyle/>
          <a:p>
            <a:endParaRPr lang="en-ZA"/>
          </a:p>
        </p:txBody>
      </p:sp>
      <p:sp>
        <p:nvSpPr>
          <p:cNvPr id="17" name="Text 14"/>
          <p:cNvSpPr/>
          <p:nvPr/>
        </p:nvSpPr>
        <p:spPr>
          <a:xfrm>
            <a:off x="777240" y="2962656"/>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209544"/>
            <a:ext cx="3383280" cy="274320"/>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npm start</a:t>
            </a:r>
            <a:r>
              <a:rPr lang="en-US" sz="1300" dirty="0">
                <a:solidFill>
                  <a:srgbClr val="ABA6C8"/>
                </a:solidFill>
                <a:latin typeface="Consolas" pitchFamily="34" charset="0"/>
                <a:ea typeface="Consolas" pitchFamily="34" charset="-122"/>
                <a:cs typeface="Consolas" pitchFamily="34" charset="-120"/>
              </a:rPr>
              <a:t>  →  </a:t>
            </a: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19" name="Text 16"/>
          <p:cNvSpPr/>
          <p:nvPr/>
        </p:nvSpPr>
        <p:spPr>
          <a:xfrm>
            <a:off x="548640" y="3712464"/>
            <a:ext cx="3840480" cy="41148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No </a:t>
            </a:r>
            <a:r>
              <a:rPr lang="en-US" sz="1150" dirty="0">
                <a:solidFill>
                  <a:srgbClr val="ECE9F8"/>
                </a:solidFill>
                <a:latin typeface="Consolas" pitchFamily="34" charset="0"/>
                <a:ea typeface="Consolas" pitchFamily="34" charset="-122"/>
                <a:cs typeface="Consolas" pitchFamily="34" charset="-120"/>
              </a:rPr>
              <a:t>FOUNDRY_ENDPOINT</a:t>
            </a: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0"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1" name="Image 1" descr="Left arrow key"/>
          <p:cNvPicPr>
            <a:picLocks noChangeAspect="1"/>
          </p:cNvPicPr>
          <p:nvPr/>
        </p:nvPicPr>
        <p:blipFill>
          <a:blip r:embed="rId5"/>
          <a:stretch>
            <a:fillRect/>
          </a:stretch>
        </p:blipFill>
        <p:spPr>
          <a:xfrm>
            <a:off x="5134356" y="2071116"/>
            <a:ext cx="155448" cy="155448"/>
          </a:xfrm>
          <a:prstGeom prst="rect">
            <a:avLst/>
          </a:prstGeom>
        </p:spPr>
      </p:pic>
      <p:pic>
        <p:nvPicPr>
          <p:cNvPr id="22" name="Image 2" descr="Right arrow key"/>
          <p:cNvPicPr>
            <a:picLocks noChangeAspect="1"/>
          </p:cNvPicPr>
          <p:nvPr/>
        </p:nvPicPr>
        <p:blipFill>
          <a:blip r:embed="rId6"/>
          <a:stretch>
            <a:fillRect/>
          </a:stretch>
        </p:blipFill>
        <p:spPr>
          <a:xfrm>
            <a:off x="5362956" y="2071116"/>
            <a:ext cx="155448" cy="155448"/>
          </a:xfrm>
          <a:prstGeom prst="rect">
            <a:avLst/>
          </a:prstGeom>
        </p:spPr>
      </p:pic>
      <p:sp>
        <p:nvSpPr>
          <p:cNvPr id="23" name="Text 18"/>
          <p:cNvSpPr/>
          <p:nvPr/>
        </p:nvSpPr>
        <p:spPr>
          <a:xfrm>
            <a:off x="5897880" y="20116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5" name="Image 3" descr="Up arrow key"/>
          <p:cNvPicPr>
            <a:picLocks noChangeAspect="1"/>
          </p:cNvPicPr>
          <p:nvPr/>
        </p:nvPicPr>
        <p:blipFill>
          <a:blip r:embed="rId7"/>
          <a:stretch>
            <a:fillRect/>
          </a:stretch>
        </p:blipFill>
        <p:spPr>
          <a:xfrm>
            <a:off x="5248656" y="2491740"/>
            <a:ext cx="155448" cy="155448"/>
          </a:xfrm>
          <a:prstGeom prst="rect">
            <a:avLst/>
          </a:prstGeom>
        </p:spPr>
      </p:pic>
      <p:sp>
        <p:nvSpPr>
          <p:cNvPr id="26" name="Text 20"/>
          <p:cNvSpPr/>
          <p:nvPr/>
        </p:nvSpPr>
        <p:spPr>
          <a:xfrm>
            <a:off x="5897880" y="2432304"/>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8" name="Image 4" descr="Down arrow key"/>
          <p:cNvPicPr>
            <a:picLocks noChangeAspect="1"/>
          </p:cNvPicPr>
          <p:nvPr/>
        </p:nvPicPr>
        <p:blipFill>
          <a:blip r:embed="rId8"/>
          <a:stretch>
            <a:fillRect/>
          </a:stretch>
        </p:blipFill>
        <p:spPr>
          <a:xfrm>
            <a:off x="5248656" y="2912364"/>
            <a:ext cx="155448" cy="155448"/>
          </a:xfrm>
          <a:prstGeom prst="rect">
            <a:avLst/>
          </a:prstGeom>
        </p:spPr>
      </p:pic>
      <p:sp>
        <p:nvSpPr>
          <p:cNvPr id="29" name="Text 22"/>
          <p:cNvSpPr/>
          <p:nvPr/>
        </p:nvSpPr>
        <p:spPr>
          <a:xfrm>
            <a:off x="5897880" y="2852928"/>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1" name="Text 24"/>
          <p:cNvSpPr/>
          <p:nvPr/>
        </p:nvSpPr>
        <p:spPr>
          <a:xfrm>
            <a:off x="4937760" y="3273552"/>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273552"/>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4" name="Text 27"/>
          <p:cNvSpPr/>
          <p:nvPr/>
        </p:nvSpPr>
        <p:spPr>
          <a:xfrm>
            <a:off x="4937760" y="3694176"/>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3694176"/>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9"/>
          <a:stretch>
            <a:fillRect/>
          </a:stretch>
        </p:blipFill>
        <p:spPr>
          <a:xfrm>
            <a:off x="548640" y="4233672"/>
            <a:ext cx="219456" cy="219456"/>
          </a:xfrm>
          <a:prstGeom prst="rect">
            <a:avLst/>
          </a:prstGeom>
        </p:spPr>
      </p:pic>
      <p:sp>
        <p:nvSpPr>
          <p:cNvPr id="37" name="Text 29"/>
          <p:cNvSpPr/>
          <p:nvPr/>
        </p:nvSpPr>
        <p:spPr>
          <a:xfrm>
            <a:off x="859536" y="4206240"/>
            <a:ext cx="3529584"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10" tooltip="Open the repository"/>
          </p:cNvPr>
          <p:cNvSpPr/>
          <p:nvPr/>
        </p:nvSpPr>
        <p:spPr>
          <a:xfrm>
            <a:off x="548640" y="4206240"/>
            <a:ext cx="2423160" cy="274320"/>
          </a:xfrm>
          <a:prstGeom prst="rect">
            <a:avLst/>
          </a:prstGeom>
          <a:solidFill>
            <a:srgbClr val="07071A">
              <a:alpha val="0"/>
            </a:srgbClr>
          </a:solidFill>
          <a:ln/>
        </p:spPr>
        <p:txBody>
          <a:bodyPr/>
          <a:lstStyle/>
          <a:p>
            <a:endParaRPr lang="en-ZA"/>
          </a:p>
        </p:txBody>
      </p:sp>
      <p:sp>
        <p:nvSpPr>
          <p:cNvPr id="39" name="Text 31"/>
          <p:cNvSpPr/>
          <p:nvPr/>
        </p:nvSpPr>
        <p:spPr>
          <a:xfrm>
            <a:off x="4937760" y="4206240"/>
            <a:ext cx="3657600" cy="274320"/>
          </a:xfrm>
          <a:prstGeom prst="rect">
            <a:avLst/>
          </a:prstGeom>
          <a:noFill/>
          <a:ln/>
        </p:spPr>
        <p:txBody>
          <a:bodyPr wrap="square" lIns="0" tIns="0" rIns="0" bIns="0" rtlCol="0" anchor="ctr"/>
          <a:lstStyle/>
          <a:p>
            <a:pPr marL="0" indent="0">
              <a:buNone/>
            </a:pPr>
            <a:r>
              <a:rPr lang="en-US" sz="1200" dirty="0">
                <a:solidFill>
                  <a:srgbClr val="ABA6C8"/>
                </a:solidFill>
                <a:latin typeface="Segoe UI" pitchFamily="34" charset="0"/>
                <a:ea typeface="Segoe UI" pitchFamily="34" charset="-122"/>
                <a:cs typeface="Segoe UI" pitchFamily="34" charset="-120"/>
              </a:rPr>
              <a:t>Phones and tablets get touch controls.</a:t>
            </a:r>
            <a:endParaRPr lang="en-US" sz="1200" dirty="0"/>
          </a:p>
        </p:txBody>
      </p:sp>
      <p:sp>
        <p:nvSpPr>
          <p:cNvPr id="40" name="Text 32"/>
          <p:cNvSpPr txBox="1"/>
          <p:nvPr/>
        </p:nvSpPr>
        <p:spPr>
          <a:xfrm>
            <a:off x="548640" y="1691640"/>
            <a:ext cx="5900000" cy="292608"/>
          </a:xfrm>
          <a:prstGeom prst="rect">
            <a:avLst/>
          </a:prstGeom>
          <a:noFill/>
          <a:ln/>
        </p:spPr>
        <p:txBody>
          <a:bodyPr wrap="none" lIns="0" tIns="0" rIns="0" bIns="0" rtlCol="0" anchor="ctr"/>
          <a:lstStyle/>
          <a:p>
            <a:pPr marL="0" indent="0">
              <a:buNone/>
            </a:pPr>
            <a:r>
              <a:rPr lang="en-US" sz="1000" b="1" dirty="0">
                <a:solidFill>
                  <a:srgbClr val="FFD166"/>
                </a:solidFill>
                <a:latin typeface="Segoe UI Semibold" pitchFamily="34" charset="0"/>
                <a:ea typeface="Segoe UI Semibold" pitchFamily="34" charset="-122"/>
                <a:cs typeface="Segoe UI Semibold" pitchFamily="34" charset="-120"/>
              </a:rPr>
              <a:t>FUTURE PROJECT</a:t>
            </a:r>
            <a:r>
              <a:rPr lang="en-US" sz="1200" dirty="0">
                <a:solidFill>
                  <a:srgbClr val="ABA6C8"/>
                </a:solidFill>
                <a:latin typeface="Segoe UI" pitchFamily="34" charset="0"/>
                <a:ea typeface="Segoe UI" pitchFamily="34" charset="-122"/>
                <a:cs typeface="Segoe UI" pitchFamily="34" charset="-120"/>
              </a:rPr>
              <a:t>  ·  </a:t>
            </a:r>
            <a:r>
              <a:rPr lang="en-US" sz="1500" b="1" dirty="0">
                <a:solidFill>
                  <a:srgbClr val="ECE9F8"/>
                </a:solidFill>
                <a:latin typeface="Segoe UI Semibold" pitchFamily="34" charset="0"/>
                <a:ea typeface="Segoe UI Semibold" pitchFamily="34" charset="-122"/>
                <a:cs typeface="Segoe UI Semibold" pitchFamily="34" charset="-120"/>
              </a:rPr>
              <a:t>Build a coordinated AI-driver swarm</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17</TotalTime>
  <Words>4377</Words>
  <Application>Microsoft Office PowerPoint</Application>
  <PresentationFormat>On-screen Show (16:9)</PresentationFormat>
  <Paragraphs>321</Paragraphs>
  <Slides>16</Slides>
  <Notes>14</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Consolas</vt:lpstr>
      <vt:lpstr>Segoe UI</vt:lpstr>
      <vt:lpstr>Segoe UI Black</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Rory Preddy</cp:lastModifiedBy>
  <cp:revision>3</cp:revision>
  <dcterms:created xsi:type="dcterms:W3CDTF">2026-10-27T19:13:30Z</dcterms:created>
  <dcterms:modified xsi:type="dcterms:W3CDTF">2026-10-28T18:40:38Z</dcterms:modified>
</cp:coreProperties>
</file>