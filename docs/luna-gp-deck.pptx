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LUNA GP is a pseudo-3D night-time arcade racer. You drive; every rival driver, the race stewards and the post-race debrief are powered by Microsoft-Decision-1 on Microsoft Foundry. This deck is about how the game uses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split of work: the player drives, the game engine handles rendering and physics at a fixed 60 Hz step, and the model only makes decisions: the five rivals' tactics, Race Control rulings and the post-race debrief. The screenshot is a crop of the race canvas a few seconds after the start, with the game talking to Microsoft-Decision-1: the tag above each rival is its latest answer, and a lightning bolt means its nitro is firing. Press L in the game to toggle the tags.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model card and Microsoft Learn: Microsoft-Decision-1 is a decision-scoring model built on the open-weight Qwen3.5-9B and post-trained by Microsoft. It takes a state (text or JSON, up to 32K tokens) and typed questions, and returns a calibrated probability per answer option in a single pass. It is text-only and gives no explanations. A rival call's response reports 3 output tokens (it asks three questions) against about 630 input tokens. LUNA GP uses a deployment named decision-1-dz (DataZoneStandard, 500 requests per minute). The request's model field is the deployment name; the response names the underlying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question types from the Microsoft Learn docs. noul asks 'is this true?' and returns one probability from 0 to 1; optional criteria can define what true and false mean. choice picks exactly one option from a fixed set and returns a probability for every option. score places the state on an ordered scale: the returned score is the probability-weighted average of the level indexes (here 0.15 + 1.0 + 0.75 = 1.90), so it can fall between levels.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noul is the yes/no type: the request has only instructions (criteria with true/false definitions are optional; LUNA GP doesn't send them) and the answer is one probability. The model never decides to fire: each rival compares p with its personality threshold (aggressive and wildcard 0.50, defensive 0.60, tactical and smooth 0.65), so the same answer of 0.62 fires three cars and holds two. A boost also needs at least 34% of the tank. The debrief's clean_racer question is a noul too. Internally the game builds OpenAI-style 'predicate' questions and lib/decisions.js maps them to noul.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model call the game makes. Five rivals ask maneuver/pace/nitro in one request, 0.65 to 1.05 s after their last answer in traffic and 1.4 to 1.8 s otherwise. The pace score sets the target speed: top speed × (0.92 + 0.03 × score), so Flat out (3) aims 1% past the car's nominal top speed; overtakes add 2%, nitro 22% and a slipstream 6%, and corners scale it down. Race Control asks two questions on each contact with the player (at most once every 4 s per rival) and penalizes the responsible driver when the model is at least 60% sure and severity is at least 0.8. The debrief's driver_of_the_day options are generated per race, one per driver. All policies (thresholds, penalties, the speed formula) live in game code, not in the 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rival request, as lib/decisions.js sends it, with instructions and criteria omitted. The request's model is the deployment name; the response's model names the underlying model. state is a few lines of plain text the server writes from validated telemetry (personality, lap, gaps, speed, nitro tank, track ahead, neighbours). Each answer also carries its type and a confidence and, for choice and score, a probability per option or level; a noul answer is just its type and the probability. A rival call measured about 630 input tokens and 3 output tokens.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rival decision. The browser posts validated telemetry to /api/rival. The server builds the state and three questions, attaches a cached Entra ID bearer token and calls the systemone endpoint. It maps the answers, adds latency and token counts, and returns maneuver, pace and nitro p; the browser steers, sets speed and gates nitro. Each rival asks again 0.65 to 1.8 s after its last answer. Measured model round trips (server to Foundry): from the Azure app, median 260 ms and p90 550 ms over 37 calls; from a dev machine, median 415 ms and p90 530 ms over 186 calls. On an error, a timeout or a 429, that rival uses a local heuristic with the same answer shape. Source: docs/images/decision-sequence.excalidraw.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web app is public, so the server protects the quota: it rejects cross-origin requests and unexpected Host headers, validates and clamps every field before writing the state text, and only ever sends its own fixed questions. It caps work at 16 decisions in flight and DAILY_CALL_LIMIT calls per UTC day (default 20,000). Auth order: FOUNDRY_API_KEY, then the App Service managed identity, then the local Azure CLI login; Entra ID tokens are cached, refreshed 5 minutes before expiry, and the first one is fetched at startup. The browser gives up on a rival decision after 4 s, but the server keeps waiting up to 8 s for Foundry, so an answer that lands in between is billed and then dropped. With a p90 round trip around 0.55 s that is rare. Race Control and the debrief get longer browser timeouts (9 s and 12 s). Answers are applied per question, so one refused or invalid answer only falls back for that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on the live game: a rival decision averaged about 630 input tokens and 3 output tokens over 186 calls. Azure's retail price list has a single meter for Microsoft-Decision-1, $0.04 per million tokens. Each rival asks again 0.65 to 1.8 s after its last answer, so the call rate depends on latency: with the Azure app's 260 ms median a race makes about 240 to 250 rival calls a minute, and about 210 from a dev machine (415 ms). That is about 0.6 cents per race minute. A 3-lap race takes about 2.5 minutes in the game's own simulation, so roughly 600 calls and 1.5 cents, plus one debrief call. The 20,000-call daily cap is about 80 minutes of racing, around 30 races, for about $0.50. A DataZoneStandard deployment with capacity 500 allows 500 requests a minute: two races at once. For more, add deployments in other quota pools or request more quota.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code is at github.com/roryp/racing. To run it: Node.js 20+ and, for AI rivals, FOUNDRY_ENDPOINT plus an Azure CLI login with access to the Foundry resource. Without it the game still runs with offline heuristics. The README also covers hosting it on App Service with a managed identity. P or Esc pauses, M mutes.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github.com/roryp/racing" TargetMode="External"/><Relationship Id="rId1" Type="http://schemas.openxmlformats.org/officeDocument/2006/relationships/image" Target="../media/image-11-1.png"/><Relationship Id="rId2" Type="http://schemas.openxmlformats.org/officeDocument/2006/relationships/image" Target="../media/image-11-2.png"/><Relationship Id="rId4" Type="http://schemas.openxmlformats.org/officeDocument/2006/relationships/image" Target="../media/image-11-3.png"/><Relationship Id="rId5" Type="http://schemas.openxmlformats.org/officeDocument/2006/relationships/image" Target="../media/image-11-4.png"/><Relationship Id="rId6" Type="http://schemas.openxmlformats.org/officeDocument/2006/relationships/image" Target="../media/image-11-5.png"/><Relationship Id="rId7" Type="http://schemas.openxmlformats.org/officeDocument/2006/relationships/image" Target="../media/image-11-6.png"/><Relationship Id="rId8" Type="http://schemas.openxmlformats.org/officeDocument/2006/relationships/slideLayout" Target="../slideLayouts/slideLayout1.xml"/><Relationship Id="rId9"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71A"/>
        </a:solidFill>
      </p:bgPr>
    </p:bg>
    <p:spTree>
      <p:nvGrpSpPr>
        <p:cNvPr id="1" name=""/>
        <p:cNvGrpSpPr/>
        <p:nvPr/>
      </p:nvGrpSpPr>
      <p:grpSpPr>
        <a:xfrm>
          <a:off x="0" y="0"/>
          <a:ext cx="0" cy="0"/>
          <a:chOff x="0" y="0"/>
          <a:chExt cx="0" cy="0"/>
        </a:xfrm>
      </p:grpSpPr>
      <p:sp>
        <p:nvSpPr>
          <p:cNvPr id="2" name="Shape 0"/>
          <p:cNvSpPr/>
          <p:nvPr/>
        </p:nvSpPr>
        <p:spPr>
          <a:xfrm>
            <a:off x="685800" y="548640"/>
            <a:ext cx="36576" cy="36576"/>
          </a:xfrm>
          <a:prstGeom prst="ellipse">
            <a:avLst/>
          </a:prstGeom>
          <a:solidFill>
            <a:srgbClr val="FFFFFF">
              <a:alpha val="60000"/>
            </a:srgbClr>
          </a:solidFill>
          <a:ln/>
        </p:spPr>
      </p:sp>
      <p:sp>
        <p:nvSpPr>
          <p:cNvPr id="3" name="Shape 1"/>
          <p:cNvSpPr/>
          <p:nvPr/>
        </p:nvSpPr>
        <p:spPr>
          <a:xfrm>
            <a:off x="1920240" y="868680"/>
            <a:ext cx="27432" cy="27432"/>
          </a:xfrm>
          <a:prstGeom prst="ellipse">
            <a:avLst/>
          </a:prstGeom>
          <a:solidFill>
            <a:srgbClr val="FFFFFF">
              <a:alpha val="45000"/>
            </a:srgbClr>
          </a:solidFill>
          <a:ln/>
        </p:spPr>
      </p:sp>
      <p:sp>
        <p:nvSpPr>
          <p:cNvPr id="4" name="Shape 2"/>
          <p:cNvSpPr/>
          <p:nvPr/>
        </p:nvSpPr>
        <p:spPr>
          <a:xfrm>
            <a:off x="3108960" y="566928"/>
            <a:ext cx="32004" cy="32004"/>
          </a:xfrm>
          <a:prstGeom prst="ellipse">
            <a:avLst/>
          </a:prstGeom>
          <a:solidFill>
            <a:srgbClr val="FFFFFF">
              <a:alpha val="50000"/>
            </a:srgbClr>
          </a:solidFill>
          <a:ln/>
        </p:spPr>
      </p:sp>
      <p:sp>
        <p:nvSpPr>
          <p:cNvPr id="5" name="Shape 3"/>
          <p:cNvSpPr/>
          <p:nvPr/>
        </p:nvSpPr>
        <p:spPr>
          <a:xfrm>
            <a:off x="4206240" y="777240"/>
            <a:ext cx="27432" cy="27432"/>
          </a:xfrm>
          <a:prstGeom prst="ellipse">
            <a:avLst/>
          </a:prstGeom>
          <a:solidFill>
            <a:srgbClr val="FFFFFF">
              <a:alpha val="40000"/>
            </a:srgbClr>
          </a:solidFill>
          <a:ln/>
        </p:spPr>
      </p:sp>
      <p:sp>
        <p:nvSpPr>
          <p:cNvPr id="6" name="Shape 4"/>
          <p:cNvSpPr/>
          <p:nvPr/>
        </p:nvSpPr>
        <p:spPr>
          <a:xfrm>
            <a:off x="5029200" y="548640"/>
            <a:ext cx="36576" cy="36576"/>
          </a:xfrm>
          <a:prstGeom prst="ellipse">
            <a:avLst/>
          </a:prstGeom>
          <a:solidFill>
            <a:srgbClr val="FFFFFF">
              <a:alpha val="55000"/>
            </a:srgbClr>
          </a:solidFill>
          <a:ln/>
        </p:spPr>
      </p:sp>
      <p:sp>
        <p:nvSpPr>
          <p:cNvPr id="7" name="Shape 5"/>
          <p:cNvSpPr/>
          <p:nvPr/>
        </p:nvSpPr>
        <p:spPr>
          <a:xfrm>
            <a:off x="8503920" y="594360"/>
            <a:ext cx="27432" cy="27432"/>
          </a:xfrm>
          <a:prstGeom prst="ellipse">
            <a:avLst/>
          </a:prstGeom>
          <a:solidFill>
            <a:srgbClr val="FFFFFF">
              <a:alpha val="50000"/>
            </a:srgbClr>
          </a:solidFill>
          <a:ln/>
        </p:spPr>
      </p:sp>
      <p:sp>
        <p:nvSpPr>
          <p:cNvPr id="8" name="Shape 6"/>
          <p:cNvSpPr/>
          <p:nvPr/>
        </p:nvSpPr>
        <p:spPr>
          <a:xfrm>
            <a:off x="8595360" y="3611880"/>
            <a:ext cx="32004" cy="32004"/>
          </a:xfrm>
          <a:prstGeom prst="ellipse">
            <a:avLst/>
          </a:prstGeom>
          <a:solidFill>
            <a:srgbClr val="FFFFFF">
              <a:alpha val="55000"/>
            </a:srgbClr>
          </a:solidFill>
          <a:ln/>
        </p:spPr>
      </p:sp>
      <p:sp>
        <p:nvSpPr>
          <p:cNvPr id="9" name="Shape 7"/>
          <p:cNvSpPr/>
          <p:nvPr/>
        </p:nvSpPr>
        <p:spPr>
          <a:xfrm>
            <a:off x="5577840" y="4160520"/>
            <a:ext cx="27432" cy="27432"/>
          </a:xfrm>
          <a:prstGeom prst="ellipse">
            <a:avLst/>
          </a:prstGeom>
          <a:solidFill>
            <a:srgbClr val="FFFFFF">
              <a:alpha val="40000"/>
            </a:srgbClr>
          </a:solidFill>
          <a:ln/>
        </p:spPr>
      </p:sp>
      <p:sp>
        <p:nvSpPr>
          <p:cNvPr id="10" name="Shape 8"/>
          <p:cNvSpPr/>
          <p:nvPr/>
        </p:nvSpPr>
        <p:spPr>
          <a:xfrm>
            <a:off x="7863840" y="4526280"/>
            <a:ext cx="32004" cy="32004"/>
          </a:xfrm>
          <a:prstGeom prst="ellipse">
            <a:avLst/>
          </a:prstGeom>
          <a:solidFill>
            <a:srgbClr val="FFFFFF">
              <a:alpha val="50000"/>
            </a:srgbClr>
          </a:solidFill>
          <a:ln/>
        </p:spPr>
      </p:sp>
      <p:sp>
        <p:nvSpPr>
          <p:cNvPr id="11" name="Shape 9"/>
          <p:cNvSpPr/>
          <p:nvPr/>
        </p:nvSpPr>
        <p:spPr>
          <a:xfrm>
            <a:off x="4480560" y="3977640"/>
            <a:ext cx="27432" cy="27432"/>
          </a:xfrm>
          <a:prstGeom prst="ellipse">
            <a:avLst/>
          </a:prstGeom>
          <a:solidFill>
            <a:srgbClr val="FFFFFF">
              <a:alpha val="45000"/>
            </a:srgbClr>
          </a:solidFill>
          <a:ln/>
        </p:spPr>
      </p:sp>
      <p:sp>
        <p:nvSpPr>
          <p:cNvPr id="12" name="Shape 10"/>
          <p:cNvSpPr/>
          <p:nvPr/>
        </p:nvSpPr>
        <p:spPr>
          <a:xfrm>
            <a:off x="2651760" y="3840480"/>
            <a:ext cx="22860" cy="22860"/>
          </a:xfrm>
          <a:prstGeom prst="ellipse">
            <a:avLst/>
          </a:prstGeom>
          <a:solidFill>
            <a:srgbClr val="FFFFFF">
              <a:alpha val="40000"/>
            </a:srgbClr>
          </a:solidFill>
          <a:ln/>
        </p:spPr>
      </p:sp>
      <p:sp>
        <p:nvSpPr>
          <p:cNvPr id="13" name="Shape 11"/>
          <p:cNvSpPr/>
          <p:nvPr/>
        </p:nvSpPr>
        <p:spPr>
          <a:xfrm>
            <a:off x="1097280" y="3794760"/>
            <a:ext cx="27432" cy="27432"/>
          </a:xfrm>
          <a:prstGeom prst="ellipse">
            <a:avLst/>
          </a:prstGeom>
          <a:solidFill>
            <a:srgbClr val="FFFFFF">
              <a:alpha val="50000"/>
            </a:srgbClr>
          </a:solidFill>
          <a:ln/>
        </p:spPr>
      </p:sp>
      <p:pic>
        <p:nvPicPr>
          <p:cNvPr id="14" name="Image 0" descr="Moon">    </p:cNvPr>
          <p:cNvPicPr>
            <a:picLocks noChangeAspect="1"/>
          </p:cNvPicPr>
          <p:nvPr/>
        </p:nvPicPr>
        <p:blipFill>
          <a:blip r:embed="rId1"/>
          <a:stretch>
            <a:fillRect/>
          </a:stretch>
        </p:blipFill>
        <p:spPr>
          <a:xfrm>
            <a:off x="4997196" y="379476"/>
            <a:ext cx="3995928" cy="3995928"/>
          </a:xfrm>
          <a:prstGeom prst="rect">
            <a:avLst/>
          </a:prstGeom>
        </p:spPr>
      </p:pic>
      <p:sp>
        <p:nvSpPr>
          <p:cNvPr id="15" name="Text 12"/>
          <p:cNvSpPr/>
          <p:nvPr/>
        </p:nvSpPr>
        <p:spPr>
          <a:xfrm>
            <a:off x="548640" y="1280160"/>
            <a:ext cx="4937760" cy="1188720"/>
          </a:xfrm>
          <a:prstGeom prst="rect">
            <a:avLst/>
          </a:prstGeom>
          <a:noFill/>
          <a:ln/>
        </p:spPr>
        <p:txBody>
          <a:bodyPr wrap="square" lIns="0" tIns="0" rIns="0" bIns="0" rtlCol="0" anchor="ctr"/>
          <a:lstStyle/>
          <a:p>
            <a:pPr indent="0" marL="0">
              <a:buNone/>
            </a:pPr>
            <a:r>
              <a:rPr lang="en-US" sz="7200" i="1" dirty="0">
                <a:solidFill>
                  <a:srgbClr val="FFD166"/>
                </a:solidFill>
                <a:latin typeface="Segoe UI Black" pitchFamily="34" charset="0"/>
                <a:ea typeface="Segoe UI Black" pitchFamily="34" charset="-122"/>
                <a:cs typeface="Segoe UI Black" pitchFamily="34" charset="-120"/>
              </a:rPr>
              <a:t>LUNA</a:t>
            </a:r>
            <a:pPr indent="0" marL="0">
              <a:buNone/>
            </a:pPr>
            <a:r>
              <a:rPr lang="en-US" sz="7200" i="1" dirty="0">
                <a:solidFill>
                  <a:srgbClr val="3DD6FF"/>
                </a:solidFill>
                <a:latin typeface="Segoe UI Black" pitchFamily="34" charset="0"/>
                <a:ea typeface="Segoe UI Black" pitchFamily="34" charset="-122"/>
                <a:cs typeface="Segoe UI Black" pitchFamily="34" charset="-120"/>
              </a:rPr>
              <a:t> GP</a:t>
            </a:r>
            <a:endParaRPr lang="en-US" sz="7200" dirty="0"/>
          </a:p>
        </p:txBody>
      </p:sp>
      <p:sp>
        <p:nvSpPr>
          <p:cNvPr id="16" name="Text 13"/>
          <p:cNvSpPr/>
          <p:nvPr/>
        </p:nvSpPr>
        <p:spPr>
          <a:xfrm>
            <a:off x="548640" y="2606040"/>
            <a:ext cx="4572000" cy="868680"/>
          </a:xfrm>
          <a:prstGeom prst="rect">
            <a:avLst/>
          </a:prstGeom>
          <a:noFill/>
          <a:ln/>
        </p:spPr>
        <p:txBody>
          <a:bodyPr wrap="square" lIns="0" tIns="0" rIns="0" bIns="0" rtlCol="0" anchor="t"/>
          <a:lstStyle/>
          <a:p>
            <a:pPr indent="0" marL="0">
              <a:buNone/>
            </a:pPr>
            <a:r>
              <a:rPr lang="en-US" sz="2000" dirty="0">
                <a:solidFill>
                  <a:srgbClr val="ECE9F8"/>
                </a:solidFill>
                <a:latin typeface="Segoe UI" pitchFamily="34" charset="0"/>
                <a:ea typeface="Segoe UI" pitchFamily="34" charset="-122"/>
                <a:cs typeface="Segoe UI" pitchFamily="34" charset="-120"/>
              </a:rPr>
              <a:t>A night-time arcade racer where every rival thinks with </a:t>
            </a:r>
            <a:pPr indent="0" marL="0">
              <a:buNone/>
            </a:pPr>
            <a:r>
              <a:rPr lang="en-US" sz="2000" b="1" dirty="0">
                <a:solidFill>
                  <a:srgbClr val="FFD166"/>
                </a:solidFill>
                <a:latin typeface="Segoe UI" pitchFamily="34" charset="0"/>
                <a:ea typeface="Segoe UI" pitchFamily="34" charset="-122"/>
                <a:cs typeface="Segoe UI" pitchFamily="34" charset="-120"/>
              </a:rPr>
              <a:t>Microsoft-Decision-1</a:t>
            </a:r>
            <a:pPr indent="0" marL="0">
              <a:buNone/>
            </a:pPr>
            <a:r>
              <a:rPr lang="en-US" sz="2000" dirty="0">
                <a:solidFill>
                  <a:srgbClr val="ECE9F8"/>
                </a:solidFill>
                <a:latin typeface="Segoe UI" pitchFamily="34" charset="0"/>
                <a:ea typeface="Segoe UI" pitchFamily="34" charset="-122"/>
                <a:cs typeface="Segoe UI" pitchFamily="34" charset="-120"/>
              </a:rPr>
              <a:t>.</a:t>
            </a:r>
            <a:endParaRPr lang="en-US" sz="2000" dirty="0"/>
          </a:p>
        </p:txBody>
      </p:sp>
      <p:sp>
        <p:nvSpPr>
          <p:cNvPr id="17" name="Text 14"/>
          <p:cNvSpPr/>
          <p:nvPr/>
        </p:nvSpPr>
        <p:spPr>
          <a:xfrm>
            <a:off x="548640" y="4251960"/>
            <a:ext cx="4937760" cy="274320"/>
          </a:xfrm>
          <a:prstGeom prst="rect">
            <a:avLst/>
          </a:prstGeom>
          <a:noFill/>
          <a:ln/>
        </p:spPr>
        <p:txBody>
          <a:bodyPr wrap="square" lIns="0" tIns="0" rIns="0" bIns="0" rtlCol="0" anchor="ctr"/>
          <a:lstStyle/>
          <a:p>
            <a:pPr indent="0" marL="0">
              <a:buNone/>
            </a:pPr>
            <a:r>
              <a:rPr lang="en-US" sz="1200" dirty="0">
                <a:solidFill>
                  <a:srgbClr val="ABA6C8"/>
                </a:solidFill>
                <a:latin typeface="Segoe UI" pitchFamily="34" charset="0"/>
                <a:ea typeface="Segoe UI" pitchFamily="34" charset="-122"/>
                <a:cs typeface="Segoe UI" pitchFamily="34" charset="-120"/>
              </a:rPr>
              <a:t>Microsoft Foundry  ·  Node.js  ·  HTML5 canvas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7071A"/>
        </a:solidFill>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sp>
      <p:sp>
        <p:nvSpPr>
          <p:cNvPr id="3" name="Text 1"/>
          <p:cNvSpPr/>
          <p:nvPr/>
        </p:nvSpPr>
        <p:spPr>
          <a:xfrm>
            <a:off x="749808" y="393192"/>
            <a:ext cx="5943600" cy="292608"/>
          </a:xfrm>
          <a:prstGeom prst="rect">
            <a:avLst/>
          </a:prstGeom>
          <a:noFill/>
          <a:ln/>
        </p:spPr>
        <p:txBody>
          <a:bodyPr wrap="square" lIns="0" tIns="0" rIns="0" bIns="0" rtlCol="0" anchor="ctr"/>
          <a:lstStyle/>
          <a:p>
            <a:pPr indent="0" marL="0">
              <a:buNone/>
            </a:pPr>
            <a:r>
              <a:rPr lang="en-US" sz="1100" spc="300" kern="0" dirty="0">
                <a:solidFill>
                  <a:srgbClr val="ABA6C8"/>
                </a:solidFill>
                <a:latin typeface="Segoe UI Semibold" pitchFamily="34" charset="0"/>
                <a:ea typeface="Segoe UI Semibold" pitchFamily="34" charset="-122"/>
                <a:cs typeface="Segoe UI Semibold" pitchFamily="34" charset="-120"/>
              </a:rPr>
              <a:t>THE IDEA</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algn="r" indent="0" marL="0">
              <a:buNone/>
            </a:pPr>
            <a:r>
              <a:rPr lang="en-US" sz="1100" dirty="0">
                <a:solidFill>
                  <a:srgbClr val="ABA6C8"/>
                </a:solidFill>
                <a:latin typeface="Segoe UI Semibold" pitchFamily="34" charset="0"/>
                <a:ea typeface="Segoe UI Semibold" pitchFamily="34" charset="-122"/>
                <a:cs typeface="Segoe UI Semibold" pitchFamily="34" charset="-120"/>
              </a:rPr>
              <a:t>02 / 11</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indent="0" marL="0">
              <a:buNone/>
            </a:pPr>
            <a:r>
              <a:rPr lang="en-US" sz="3400" i="1" dirty="0">
                <a:solidFill>
                  <a:srgbClr val="ECE9F8"/>
                </a:solidFill>
                <a:latin typeface="Segoe UI Black" pitchFamily="34" charset="0"/>
                <a:ea typeface="Segoe UI Black" pitchFamily="34" charset="-122"/>
                <a:cs typeface="Segoe UI Black" pitchFamily="34" charset="-120"/>
              </a:rPr>
              <a:t>You drive. The model decides.</a:t>
            </a:r>
            <a:endParaRPr lang="en-US" sz="3400" dirty="0"/>
          </a:p>
        </p:txBody>
      </p:sp>
      <p:sp>
        <p:nvSpPr>
          <p:cNvPr id="6" name="Text 4"/>
          <p:cNvSpPr/>
          <p:nvPr/>
        </p:nvSpPr>
        <p:spPr>
          <a:xfrm>
            <a:off x="548640" y="1325880"/>
            <a:ext cx="8046720" cy="320040"/>
          </a:xfrm>
          <a:prstGeom prst="rect">
            <a:avLst/>
          </a:prstGeom>
          <a:noFill/>
          <a:ln/>
        </p:spPr>
        <p:txBody>
          <a:bodyPr wrap="square" lIns="0" tIns="0" rIns="0" bIns="0" rtlCol="0" anchor="ctr"/>
          <a:lstStyle/>
          <a:p>
            <a:pPr indent="0" marL="0">
              <a:buNone/>
            </a:pPr>
            <a:r>
              <a:rPr lang="en-US" sz="1400" dirty="0">
                <a:solidFill>
                  <a:srgbClr val="ABA6C8"/>
                </a:solidFill>
                <a:latin typeface="Segoe UI" pitchFamily="34" charset="0"/>
                <a:ea typeface="Segoe UI" pitchFamily="34" charset="-122"/>
                <a:cs typeface="Segoe UI" pitchFamily="34" charset="-120"/>
              </a:rPr>
              <a:t>The model never moves a car. It answers typed questions; game code acts on the answers.</a:t>
            </a:r>
            <a:endParaRPr lang="en-US" sz="1400" dirty="0"/>
          </a:p>
        </p:txBody>
      </p:sp>
      <p:pic>
        <p:nvPicPr>
          <p:cNvPr id="7" name="Image 0" descr="LUNA GP race start: rival cars with live decision tags (Vega overtake left, Orion defend, Lyra racing line, Nova overtake right), nitro firing, the player's car in front">    </p:cNvPr>
          <p:cNvPicPr>
            <a:picLocks noChangeAspect="1"/>
          </p:cNvPicPr>
          <p:nvPr/>
        </p:nvPicPr>
        <p:blipFill>
          <a:blip r:embed="rId1"/>
          <a:stretch>
            <a:fillRect/>
          </a:stretch>
        </p:blipFill>
        <p:spPr>
          <a:xfrm>
            <a:off x="3881120" y="1874520"/>
            <a:ext cx="4714240" cy="2651760"/>
          </a:xfrm>
          <a:prstGeom prst="rect">
            <a:avLst/>
          </a:prstGeom>
        </p:spPr>
      </p:pic>
      <p:sp>
        <p:nvSpPr>
          <p:cNvPr id="8" name="Shape 5"/>
          <p:cNvSpPr/>
          <p:nvPr/>
        </p:nvSpPr>
        <p:spPr>
          <a:xfrm>
            <a:off x="548640" y="1984248"/>
            <a:ext cx="512064" cy="512064"/>
          </a:xfrm>
          <a:prstGeom prst="ellipse">
            <a:avLst/>
          </a:prstGeom>
          <a:solidFill>
            <a:srgbClr val="231E5A"/>
          </a:solidFill>
          <a:ln/>
        </p:spPr>
      </p:sp>
      <p:pic>
        <p:nvPicPr>
          <p:cNvPr id="9" name="Image 1" descr="Steering wheel icon">    </p:cNvPr>
          <p:cNvPicPr>
            <a:picLocks noChangeAspect="1"/>
          </p:cNvPicPr>
          <p:nvPr/>
        </p:nvPicPr>
        <p:blipFill>
          <a:blip r:embed="rId2"/>
          <a:stretch>
            <a:fillRect/>
          </a:stretch>
        </p:blipFill>
        <p:spPr>
          <a:xfrm>
            <a:off x="667512" y="2103120"/>
            <a:ext cx="274320" cy="274320"/>
          </a:xfrm>
          <a:prstGeom prst="rect">
            <a:avLst/>
          </a:prstGeom>
        </p:spPr>
      </p:pic>
      <p:sp>
        <p:nvSpPr>
          <p:cNvPr id="10" name="Text 6"/>
          <p:cNvSpPr/>
          <p:nvPr/>
        </p:nvSpPr>
        <p:spPr>
          <a:xfrm>
            <a:off x="1243584" y="1874520"/>
            <a:ext cx="2363216" cy="310896"/>
          </a:xfrm>
          <a:prstGeom prst="rect">
            <a:avLst/>
          </a:prstGeom>
          <a:noFill/>
          <a:ln/>
        </p:spPr>
        <p:txBody>
          <a:bodyPr wrap="square" lIns="0" tIns="0" rIns="0" bIns="0" rtlCol="0" anchor="ctr"/>
          <a:lstStyle/>
          <a:p>
            <a:pPr indent="0" marL="0">
              <a:buNone/>
            </a:pPr>
            <a:r>
              <a:rPr lang="en-US" sz="1600" dirty="0">
                <a:solidFill>
                  <a:srgbClr val="ECE9F8"/>
                </a:solidFill>
                <a:latin typeface="Segoe UI Black" pitchFamily="34" charset="0"/>
                <a:ea typeface="Segoe UI Black" pitchFamily="34" charset="-122"/>
                <a:cs typeface="Segoe UI Black" pitchFamily="34" charset="-120"/>
              </a:rPr>
              <a:t>You</a:t>
            </a:r>
            <a:endParaRPr lang="en-US" sz="1600" dirty="0"/>
          </a:p>
        </p:txBody>
      </p:sp>
      <p:sp>
        <p:nvSpPr>
          <p:cNvPr id="11" name="Text 7"/>
          <p:cNvSpPr/>
          <p:nvPr/>
        </p:nvSpPr>
        <p:spPr>
          <a:xfrm>
            <a:off x="1243584" y="2221992"/>
            <a:ext cx="2363216" cy="384048"/>
          </a:xfrm>
          <a:prstGeom prst="rect">
            <a:avLst/>
          </a:prstGeom>
          <a:noFill/>
          <a:ln/>
        </p:spPr>
        <p:txBody>
          <a:bodyPr wrap="square" lIns="0" tIns="0" rIns="0" bIns="0" rtlCol="0" anchor="t"/>
          <a:lstStyle/>
          <a:p>
            <a:pPr indent="0" marL="0">
              <a:buNone/>
            </a:pPr>
            <a:r>
              <a:rPr lang="en-US" sz="1200" dirty="0">
                <a:solidFill>
                  <a:srgbClr val="ABA6C8"/>
                </a:solidFill>
                <a:latin typeface="Segoe UI" pitchFamily="34" charset="0"/>
                <a:ea typeface="Segoe UI" pitchFamily="34" charset="-122"/>
                <a:cs typeface="Segoe UI" pitchFamily="34" charset="-120"/>
              </a:rPr>
              <a:t>Steer, brake and fire nitro,</a:t>
            </a:r>
            <a:endParaRPr lang="en-US" sz="1200" dirty="0"/>
          </a:p>
          <a:p>
            <a:pPr indent="0" marL="0">
              <a:buNone/>
            </a:pPr>
            <a:r>
              <a:rPr lang="en-US" sz="1200" dirty="0">
                <a:solidFill>
                  <a:srgbClr val="ABA6C8"/>
                </a:solidFill>
                <a:latin typeface="Segoe UI" pitchFamily="34" charset="0"/>
                <a:ea typeface="Segoe UI" pitchFamily="34" charset="-122"/>
                <a:cs typeface="Segoe UI" pitchFamily="34" charset="-120"/>
              </a:rPr>
              <a:t>on keyboard or touch.</a:t>
            </a:r>
            <a:endParaRPr lang="en-US" sz="1200" dirty="0"/>
          </a:p>
        </p:txBody>
      </p:sp>
      <p:sp>
        <p:nvSpPr>
          <p:cNvPr id="12" name="Shape 8"/>
          <p:cNvSpPr/>
          <p:nvPr/>
        </p:nvSpPr>
        <p:spPr>
          <a:xfrm>
            <a:off x="548640" y="2944368"/>
            <a:ext cx="512064" cy="512064"/>
          </a:xfrm>
          <a:prstGeom prst="ellipse">
            <a:avLst/>
          </a:prstGeom>
          <a:solidFill>
            <a:srgbClr val="231E5A"/>
          </a:solidFill>
          <a:ln/>
        </p:spPr>
      </p:sp>
      <p:pic>
        <p:nvPicPr>
          <p:cNvPr id="13" name="Image 2" descr="Gauge icon">    </p:cNvPr>
          <p:cNvPicPr>
            <a:picLocks noChangeAspect="1"/>
          </p:cNvPicPr>
          <p:nvPr/>
        </p:nvPicPr>
        <p:blipFill>
          <a:blip r:embed="rId3"/>
          <a:stretch>
            <a:fillRect/>
          </a:stretch>
        </p:blipFill>
        <p:spPr>
          <a:xfrm>
            <a:off x="667512" y="3063240"/>
            <a:ext cx="274320" cy="274320"/>
          </a:xfrm>
          <a:prstGeom prst="rect">
            <a:avLst/>
          </a:prstGeom>
        </p:spPr>
      </p:pic>
      <p:sp>
        <p:nvSpPr>
          <p:cNvPr id="14" name="Text 9"/>
          <p:cNvSpPr/>
          <p:nvPr/>
        </p:nvSpPr>
        <p:spPr>
          <a:xfrm>
            <a:off x="1243584" y="2834640"/>
            <a:ext cx="2363216" cy="310896"/>
          </a:xfrm>
          <a:prstGeom prst="rect">
            <a:avLst/>
          </a:prstGeom>
          <a:noFill/>
          <a:ln/>
        </p:spPr>
        <p:txBody>
          <a:bodyPr wrap="square" lIns="0" tIns="0" rIns="0" bIns="0" rtlCol="0" anchor="ctr"/>
          <a:lstStyle/>
          <a:p>
            <a:pPr indent="0" marL="0">
              <a:buNone/>
            </a:pPr>
            <a:r>
              <a:rPr lang="en-US" sz="1600" dirty="0">
                <a:solidFill>
                  <a:srgbClr val="ECE9F8"/>
                </a:solidFill>
                <a:latin typeface="Segoe UI Black" pitchFamily="34" charset="0"/>
                <a:ea typeface="Segoe UI Black" pitchFamily="34" charset="-122"/>
                <a:cs typeface="Segoe UI Black" pitchFamily="34" charset="-120"/>
              </a:rPr>
              <a:t>The engine</a:t>
            </a:r>
            <a:endParaRPr lang="en-US" sz="1600" dirty="0"/>
          </a:p>
        </p:txBody>
      </p:sp>
      <p:sp>
        <p:nvSpPr>
          <p:cNvPr id="15" name="Text 10"/>
          <p:cNvSpPr/>
          <p:nvPr/>
        </p:nvSpPr>
        <p:spPr>
          <a:xfrm>
            <a:off x="1243584" y="3182112"/>
            <a:ext cx="2363216" cy="384048"/>
          </a:xfrm>
          <a:prstGeom prst="rect">
            <a:avLst/>
          </a:prstGeom>
          <a:noFill/>
          <a:ln/>
        </p:spPr>
        <p:txBody>
          <a:bodyPr wrap="square" lIns="0" tIns="0" rIns="0" bIns="0" rtlCol="0" anchor="t"/>
          <a:lstStyle/>
          <a:p>
            <a:pPr indent="0" marL="0">
              <a:buNone/>
            </a:pPr>
            <a:r>
              <a:rPr lang="en-US" sz="1200" dirty="0">
                <a:solidFill>
                  <a:srgbClr val="ABA6C8"/>
                </a:solidFill>
                <a:latin typeface="Segoe UI" pitchFamily="34" charset="0"/>
                <a:ea typeface="Segoe UI" pitchFamily="34" charset="-122"/>
                <a:cs typeface="Segoe UI" pitchFamily="34" charset="-120"/>
              </a:rPr>
              <a:t>Draws the pseudo-3D road</a:t>
            </a:r>
            <a:endParaRPr lang="en-US" sz="1200" dirty="0"/>
          </a:p>
          <a:p>
            <a:pPr indent="0" marL="0">
              <a:buNone/>
            </a:pPr>
            <a:r>
              <a:rPr lang="en-US" sz="1200" dirty="0">
                <a:solidFill>
                  <a:srgbClr val="ABA6C8"/>
                </a:solidFill>
                <a:latin typeface="Segoe UI" pitchFamily="34" charset="0"/>
                <a:ea typeface="Segoe UI" pitchFamily="34" charset="-122"/>
                <a:cs typeface="Segoe UI" pitchFamily="34" charset="-120"/>
              </a:rPr>
              <a:t>and runs the physics.</a:t>
            </a:r>
            <a:endParaRPr lang="en-US" sz="1200" dirty="0"/>
          </a:p>
        </p:txBody>
      </p:sp>
      <p:sp>
        <p:nvSpPr>
          <p:cNvPr id="16" name="Shape 11"/>
          <p:cNvSpPr/>
          <p:nvPr/>
        </p:nvSpPr>
        <p:spPr>
          <a:xfrm>
            <a:off x="548640" y="3904488"/>
            <a:ext cx="512064" cy="512064"/>
          </a:xfrm>
          <a:prstGeom prst="ellipse">
            <a:avLst/>
          </a:prstGeom>
          <a:solidFill>
            <a:srgbClr val="231E5A"/>
          </a:solidFill>
          <a:ln/>
        </p:spPr>
      </p:sp>
      <p:pic>
        <p:nvPicPr>
          <p:cNvPr id="17" name="Image 3" descr="Brain circuit icon">    </p:cNvPr>
          <p:cNvPicPr>
            <a:picLocks noChangeAspect="1"/>
          </p:cNvPicPr>
          <p:nvPr/>
        </p:nvPicPr>
        <p:blipFill>
          <a:blip r:embed="rId4"/>
          <a:stretch>
            <a:fillRect/>
          </a:stretch>
        </p:blipFill>
        <p:spPr>
          <a:xfrm>
            <a:off x="667512" y="4023360"/>
            <a:ext cx="274320" cy="274320"/>
          </a:xfrm>
          <a:prstGeom prst="rect">
            <a:avLst/>
          </a:prstGeom>
        </p:spPr>
      </p:pic>
      <p:sp>
        <p:nvSpPr>
          <p:cNvPr id="18" name="Text 12"/>
          <p:cNvSpPr/>
          <p:nvPr/>
        </p:nvSpPr>
        <p:spPr>
          <a:xfrm>
            <a:off x="1243584" y="3794760"/>
            <a:ext cx="2363216" cy="310896"/>
          </a:xfrm>
          <a:prstGeom prst="rect">
            <a:avLst/>
          </a:prstGeom>
          <a:noFill/>
          <a:ln/>
        </p:spPr>
        <p:txBody>
          <a:bodyPr wrap="square" lIns="0" tIns="0" rIns="0" bIns="0" rtlCol="0" anchor="ctr"/>
          <a:lstStyle/>
          <a:p>
            <a:pPr indent="0" marL="0">
              <a:buNone/>
            </a:pPr>
            <a:r>
              <a:rPr lang="en-US" sz="1600" dirty="0">
                <a:solidFill>
                  <a:srgbClr val="ECE9F8"/>
                </a:solidFill>
                <a:latin typeface="Segoe UI Black" pitchFamily="34" charset="0"/>
                <a:ea typeface="Segoe UI Black" pitchFamily="34" charset="-122"/>
                <a:cs typeface="Segoe UI Black" pitchFamily="34" charset="-120"/>
              </a:rPr>
              <a:t>The model</a:t>
            </a:r>
            <a:endParaRPr lang="en-US" sz="1600" dirty="0"/>
          </a:p>
        </p:txBody>
      </p:sp>
      <p:sp>
        <p:nvSpPr>
          <p:cNvPr id="19" name="Text 13"/>
          <p:cNvSpPr/>
          <p:nvPr/>
        </p:nvSpPr>
        <p:spPr>
          <a:xfrm>
            <a:off x="1243584" y="4142232"/>
            <a:ext cx="2363216" cy="384048"/>
          </a:xfrm>
          <a:prstGeom prst="rect">
            <a:avLst/>
          </a:prstGeom>
          <a:noFill/>
          <a:ln/>
        </p:spPr>
        <p:txBody>
          <a:bodyPr wrap="square" lIns="0" tIns="0" rIns="0" bIns="0" rtlCol="0" anchor="t"/>
          <a:lstStyle/>
          <a:p>
            <a:pPr indent="0" marL="0">
              <a:buNone/>
            </a:pPr>
            <a:r>
              <a:rPr lang="en-US" sz="1200" dirty="0">
                <a:solidFill>
                  <a:srgbClr val="ABA6C8"/>
                </a:solidFill>
                <a:latin typeface="Segoe UI" pitchFamily="34" charset="0"/>
                <a:ea typeface="Segoe UI" pitchFamily="34" charset="-122"/>
                <a:cs typeface="Segoe UI" pitchFamily="34" charset="-120"/>
              </a:rPr>
              <a:t>Picks each rival's move;</a:t>
            </a:r>
            <a:endParaRPr lang="en-US" sz="1200" dirty="0"/>
          </a:p>
          <a:p>
            <a:pPr indent="0" marL="0">
              <a:buNone/>
            </a:pPr>
            <a:r>
              <a:rPr lang="en-US" sz="1200" dirty="0">
                <a:solidFill>
                  <a:srgbClr val="ABA6C8"/>
                </a:solidFill>
                <a:latin typeface="Segoe UI" pitchFamily="34" charset="0"/>
                <a:ea typeface="Segoe UI" pitchFamily="34" charset="-122"/>
                <a:cs typeface="Segoe UI" pitchFamily="34" charset="-120"/>
              </a:rPr>
              <a:t>the tags show it live.</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7071A"/>
        </a:solidFill>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sp>
      <p:sp>
        <p:nvSpPr>
          <p:cNvPr id="3" name="Text 1"/>
          <p:cNvSpPr/>
          <p:nvPr/>
        </p:nvSpPr>
        <p:spPr>
          <a:xfrm>
            <a:off x="749808" y="393192"/>
            <a:ext cx="5943600" cy="292608"/>
          </a:xfrm>
          <a:prstGeom prst="rect">
            <a:avLst/>
          </a:prstGeom>
          <a:noFill/>
          <a:ln/>
        </p:spPr>
        <p:txBody>
          <a:bodyPr wrap="square" lIns="0" tIns="0" rIns="0" bIns="0" rtlCol="0" anchor="ctr"/>
          <a:lstStyle/>
          <a:p>
            <a:pPr indent="0" marL="0">
              <a:buNone/>
            </a:pPr>
            <a:r>
              <a:rPr lang="en-US" sz="1100" spc="300" kern="0" dirty="0">
                <a:solidFill>
                  <a:srgbClr val="ABA6C8"/>
                </a:solidFill>
                <a:latin typeface="Segoe UI Semibold" pitchFamily="34" charset="0"/>
                <a:ea typeface="Segoe UI Semibold" pitchFamily="34" charset="-122"/>
                <a:cs typeface="Segoe UI Semibold" pitchFamily="34" charset="-120"/>
              </a:rPr>
              <a:t>THE MODEL</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algn="r" indent="0" marL="0">
              <a:buNone/>
            </a:pPr>
            <a:r>
              <a:rPr lang="en-US" sz="1100" dirty="0">
                <a:solidFill>
                  <a:srgbClr val="ABA6C8"/>
                </a:solidFill>
                <a:latin typeface="Segoe UI Semibold" pitchFamily="34" charset="0"/>
                <a:ea typeface="Segoe UI Semibold" pitchFamily="34" charset="-122"/>
                <a:cs typeface="Segoe UI Semibold" pitchFamily="34" charset="-120"/>
              </a:rPr>
              <a:t>03 / 11</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indent="0" marL="0">
              <a:buNone/>
            </a:pPr>
            <a:r>
              <a:rPr lang="en-US" sz="3400" i="1" dirty="0">
                <a:solidFill>
                  <a:srgbClr val="ECE9F8"/>
                </a:solidFill>
                <a:latin typeface="Segoe UI Black" pitchFamily="34" charset="0"/>
                <a:ea typeface="Segoe UI Black" pitchFamily="34" charset="-122"/>
                <a:cs typeface="Segoe UI Black" pitchFamily="34" charset="-120"/>
              </a:rPr>
              <a:t>A decision model, not a chatbot</a:t>
            </a:r>
            <a:endParaRPr lang="en-US" sz="3400" dirty="0"/>
          </a:p>
        </p:txBody>
      </p:sp>
      <p:sp>
        <p:nvSpPr>
          <p:cNvPr id="6" name="Text 4"/>
          <p:cNvSpPr/>
          <p:nvPr/>
        </p:nvSpPr>
        <p:spPr>
          <a:xfrm>
            <a:off x="548640" y="1691640"/>
            <a:ext cx="8046720" cy="685800"/>
          </a:xfrm>
          <a:prstGeom prst="rect">
            <a:avLst/>
          </a:prstGeom>
          <a:noFill/>
          <a:ln/>
        </p:spPr>
        <p:txBody>
          <a:bodyPr wrap="square" lIns="0" tIns="0" rIns="0" bIns="0" rtlCol="0" anchor="t"/>
          <a:lstStyle/>
          <a:p>
            <a:pPr indent="0" marL="0">
              <a:buNone/>
            </a:pPr>
            <a:r>
              <a:rPr lang="en-US" sz="1800" dirty="0">
                <a:solidFill>
                  <a:srgbClr val="ECE9F8"/>
                </a:solidFill>
                <a:latin typeface="Segoe UI" pitchFamily="34" charset="0"/>
                <a:ea typeface="Segoe UI" pitchFamily="34" charset="-122"/>
                <a:cs typeface="Segoe UI" pitchFamily="34" charset="-120"/>
              </a:rPr>
              <a:t>Give it a situation and closed questions; it returns a </a:t>
            </a:r>
            <a:pPr indent="0" marL="0">
              <a:buNone/>
            </a:pPr>
            <a:r>
              <a:rPr lang="en-US" sz="1800" b="1" dirty="0">
                <a:solidFill>
                  <a:srgbClr val="FFD166"/>
                </a:solidFill>
                <a:latin typeface="Segoe UI" pitchFamily="34" charset="0"/>
                <a:ea typeface="Segoe UI" pitchFamily="34" charset="-122"/>
                <a:cs typeface="Segoe UI" pitchFamily="34" charset="-120"/>
              </a:rPr>
              <a:t>calibrated probability</a:t>
            </a:r>
            <a:pPr indent="0" marL="0">
              <a:buNone/>
            </a:pPr>
            <a:r>
              <a:rPr lang="en-US" sz="1800" dirty="0">
                <a:solidFill>
                  <a:srgbClr val="ECE9F8"/>
                </a:solidFill>
                <a:latin typeface="Segoe UI" pitchFamily="34" charset="0"/>
                <a:ea typeface="Segoe UI" pitchFamily="34" charset="-122"/>
                <a:cs typeface="Segoe UI" pitchFamily="34" charset="-120"/>
              </a:rPr>
              <a:t> for every answer option. No prose, no rationale.</a:t>
            </a:r>
            <a:endParaRPr lang="en-US" sz="1800" dirty="0"/>
          </a:p>
        </p:txBody>
      </p:sp>
      <p:sp>
        <p:nvSpPr>
          <p:cNvPr id="7" name="Shape 5"/>
          <p:cNvSpPr/>
          <p:nvPr/>
        </p:nvSpPr>
        <p:spPr>
          <a:xfrm>
            <a:off x="548640" y="2651760"/>
            <a:ext cx="2499360" cy="800100"/>
          </a:xfrm>
          <a:prstGeom prst="roundRect">
            <a:avLst>
              <a:gd name="adj" fmla="val 9143"/>
            </a:avLst>
          </a:prstGeom>
          <a:solidFill>
            <a:srgbClr val="110F2B"/>
          </a:solidFill>
          <a:ln/>
        </p:spPr>
      </p:sp>
      <p:sp>
        <p:nvSpPr>
          <p:cNvPr id="8" name="Text 6"/>
          <p:cNvSpPr/>
          <p:nvPr/>
        </p:nvSpPr>
        <p:spPr>
          <a:xfrm>
            <a:off x="777240" y="2798064"/>
            <a:ext cx="2042160" cy="237744"/>
          </a:xfrm>
          <a:prstGeom prst="rect">
            <a:avLst/>
          </a:prstGeom>
          <a:noFill/>
          <a:ln/>
        </p:spPr>
        <p:txBody>
          <a:bodyPr wrap="square" lIns="0" tIns="0" rIns="0" bIns="0" rtlCol="0" anchor="ctr"/>
          <a:lstStyle/>
          <a:p>
            <a:pPr indent="0" marL="0">
              <a:buNone/>
            </a:pPr>
            <a:r>
              <a:rPr lang="en-US" sz="1050" spc="200" kern="0" dirty="0">
                <a:solidFill>
                  <a:srgbClr val="ABA6C8"/>
                </a:solidFill>
                <a:latin typeface="Segoe UI Semibold" pitchFamily="34" charset="0"/>
                <a:ea typeface="Segoe UI Semibold" pitchFamily="34" charset="-122"/>
                <a:cs typeface="Segoe UI Semibold" pitchFamily="34" charset="-120"/>
              </a:rPr>
              <a:t>BASE MODEL</a:t>
            </a:r>
            <a:endParaRPr lang="en-US" sz="1050" dirty="0"/>
          </a:p>
        </p:txBody>
      </p:sp>
      <p:sp>
        <p:nvSpPr>
          <p:cNvPr id="9" name="Text 7"/>
          <p:cNvSpPr/>
          <p:nvPr/>
        </p:nvSpPr>
        <p:spPr>
          <a:xfrm>
            <a:off x="777240" y="3072384"/>
            <a:ext cx="2087880" cy="274320"/>
          </a:xfrm>
          <a:prstGeom prst="rect">
            <a:avLst/>
          </a:prstGeom>
          <a:noFill/>
          <a:ln/>
        </p:spPr>
        <p:txBody>
          <a:bodyPr wrap="square" lIns="0" tIns="0" rIns="0" bIns="0" rtlCol="0" anchor="ctr"/>
          <a:lstStyle/>
          <a:p>
            <a:pPr indent="0" marL="0">
              <a:buNone/>
            </a:pPr>
            <a:r>
              <a:rPr lang="en-US" sz="1300" dirty="0">
                <a:solidFill>
                  <a:srgbClr val="ECE9F8"/>
                </a:solidFill>
                <a:latin typeface="Segoe UI" pitchFamily="34" charset="0"/>
                <a:ea typeface="Segoe UI" pitchFamily="34" charset="-122"/>
                <a:cs typeface="Segoe UI" pitchFamily="34" charset="-120"/>
              </a:rPr>
              <a:t>Qwen3.5-9B, post-trained</a:t>
            </a:r>
            <a:endParaRPr lang="en-US" sz="1300" dirty="0"/>
          </a:p>
        </p:txBody>
      </p:sp>
      <p:sp>
        <p:nvSpPr>
          <p:cNvPr id="10" name="Shape 8"/>
          <p:cNvSpPr/>
          <p:nvPr/>
        </p:nvSpPr>
        <p:spPr>
          <a:xfrm>
            <a:off x="3322320" y="2651760"/>
            <a:ext cx="2499360" cy="800100"/>
          </a:xfrm>
          <a:prstGeom prst="roundRect">
            <a:avLst>
              <a:gd name="adj" fmla="val 9143"/>
            </a:avLst>
          </a:prstGeom>
          <a:solidFill>
            <a:srgbClr val="110F2B"/>
          </a:solidFill>
          <a:ln/>
        </p:spPr>
      </p:sp>
      <p:sp>
        <p:nvSpPr>
          <p:cNvPr id="11" name="Text 9"/>
          <p:cNvSpPr/>
          <p:nvPr/>
        </p:nvSpPr>
        <p:spPr>
          <a:xfrm>
            <a:off x="3550920" y="2798064"/>
            <a:ext cx="2042160" cy="237744"/>
          </a:xfrm>
          <a:prstGeom prst="rect">
            <a:avLst/>
          </a:prstGeom>
          <a:noFill/>
          <a:ln/>
        </p:spPr>
        <p:txBody>
          <a:bodyPr wrap="square" lIns="0" tIns="0" rIns="0" bIns="0" rtlCol="0" anchor="ctr"/>
          <a:lstStyle/>
          <a:p>
            <a:pPr indent="0" marL="0">
              <a:buNone/>
            </a:pPr>
            <a:r>
              <a:rPr lang="en-US" sz="1050" spc="200" kern="0" dirty="0">
                <a:solidFill>
                  <a:srgbClr val="ABA6C8"/>
                </a:solidFill>
                <a:latin typeface="Segoe UI Semibold" pitchFamily="34" charset="0"/>
                <a:ea typeface="Segoe UI Semibold" pitchFamily="34" charset="-122"/>
                <a:cs typeface="Segoe UI Semibold" pitchFamily="34" charset="-120"/>
              </a:rPr>
              <a:t>INPUT · TEXT OR JSON</a:t>
            </a:r>
            <a:endParaRPr lang="en-US" sz="1050" dirty="0"/>
          </a:p>
        </p:txBody>
      </p:sp>
      <p:sp>
        <p:nvSpPr>
          <p:cNvPr id="12" name="Text 10"/>
          <p:cNvSpPr/>
          <p:nvPr/>
        </p:nvSpPr>
        <p:spPr>
          <a:xfrm>
            <a:off x="3550920" y="3072384"/>
            <a:ext cx="2087880" cy="274320"/>
          </a:xfrm>
          <a:prstGeom prst="rect">
            <a:avLst/>
          </a:prstGeom>
          <a:noFill/>
          <a:ln/>
        </p:spPr>
        <p:txBody>
          <a:bodyPr wrap="square" lIns="0" tIns="0" rIns="0" bIns="0" rtlCol="0" anchor="ctr"/>
          <a:lstStyle/>
          <a:p>
            <a:pPr indent="0" marL="0">
              <a:buNone/>
            </a:pPr>
            <a:r>
              <a:rPr lang="en-US" sz="1300" dirty="0">
                <a:solidFill>
                  <a:srgbClr val="ECE9F8"/>
                </a:solidFill>
                <a:latin typeface="Segoe UI" pitchFamily="34" charset="0"/>
                <a:ea typeface="Segoe UI" pitchFamily="34" charset="-122"/>
                <a:cs typeface="Segoe UI" pitchFamily="34" charset="-120"/>
              </a:rPr>
              <a:t>Up to 32K tokens</a:t>
            </a:r>
            <a:endParaRPr lang="en-US" sz="1300" dirty="0"/>
          </a:p>
        </p:txBody>
      </p:sp>
      <p:sp>
        <p:nvSpPr>
          <p:cNvPr id="13" name="Shape 11"/>
          <p:cNvSpPr/>
          <p:nvPr/>
        </p:nvSpPr>
        <p:spPr>
          <a:xfrm>
            <a:off x="6096000" y="2651760"/>
            <a:ext cx="2499360" cy="800100"/>
          </a:xfrm>
          <a:prstGeom prst="roundRect">
            <a:avLst>
              <a:gd name="adj" fmla="val 9143"/>
            </a:avLst>
          </a:prstGeom>
          <a:solidFill>
            <a:srgbClr val="110F2B"/>
          </a:solidFill>
          <a:ln/>
        </p:spPr>
      </p:sp>
      <p:sp>
        <p:nvSpPr>
          <p:cNvPr id="14" name="Text 12"/>
          <p:cNvSpPr/>
          <p:nvPr/>
        </p:nvSpPr>
        <p:spPr>
          <a:xfrm>
            <a:off x="6324600" y="2798064"/>
            <a:ext cx="2042160" cy="237744"/>
          </a:xfrm>
          <a:prstGeom prst="rect">
            <a:avLst/>
          </a:prstGeom>
          <a:noFill/>
          <a:ln/>
        </p:spPr>
        <p:txBody>
          <a:bodyPr wrap="square" lIns="0" tIns="0" rIns="0" bIns="0" rtlCol="0" anchor="ctr"/>
          <a:lstStyle/>
          <a:p>
            <a:pPr indent="0" marL="0">
              <a:buNone/>
            </a:pPr>
            <a:r>
              <a:rPr lang="en-US" sz="1050" spc="200" kern="0" dirty="0">
                <a:solidFill>
                  <a:srgbClr val="ABA6C8"/>
                </a:solidFill>
                <a:latin typeface="Segoe UI Semibold" pitchFamily="34" charset="0"/>
                <a:ea typeface="Segoe UI Semibold" pitchFamily="34" charset="-122"/>
                <a:cs typeface="Segoe UI Semibold" pitchFamily="34" charset="-120"/>
              </a:rPr>
              <a:t>OUTPUT</a:t>
            </a:r>
            <a:endParaRPr lang="en-US" sz="1050" dirty="0"/>
          </a:p>
        </p:txBody>
      </p:sp>
      <p:sp>
        <p:nvSpPr>
          <p:cNvPr id="15" name="Text 13"/>
          <p:cNvSpPr/>
          <p:nvPr/>
        </p:nvSpPr>
        <p:spPr>
          <a:xfrm>
            <a:off x="6324600" y="3072384"/>
            <a:ext cx="2087880" cy="274320"/>
          </a:xfrm>
          <a:prstGeom prst="rect">
            <a:avLst/>
          </a:prstGeom>
          <a:noFill/>
          <a:ln/>
        </p:spPr>
        <p:txBody>
          <a:bodyPr wrap="square" lIns="0" tIns="0" rIns="0" bIns="0" rtlCol="0" anchor="ctr"/>
          <a:lstStyle/>
          <a:p>
            <a:pPr indent="0" marL="0">
              <a:buNone/>
            </a:pPr>
            <a:r>
              <a:rPr lang="en-US" sz="1300" dirty="0">
                <a:solidFill>
                  <a:srgbClr val="ECE9F8"/>
                </a:solidFill>
                <a:latin typeface="Segoe UI" pitchFamily="34" charset="0"/>
                <a:ea typeface="Segoe UI" pitchFamily="34" charset="-122"/>
                <a:cs typeface="Segoe UI" pitchFamily="34" charset="-120"/>
              </a:rPr>
              <a:t>3 tokens per rival call</a:t>
            </a:r>
            <a:endParaRPr lang="en-US" sz="1300" dirty="0"/>
          </a:p>
        </p:txBody>
      </p:sp>
      <p:sp>
        <p:nvSpPr>
          <p:cNvPr id="16" name="Shape 14"/>
          <p:cNvSpPr/>
          <p:nvPr/>
        </p:nvSpPr>
        <p:spPr>
          <a:xfrm>
            <a:off x="548640" y="3726180"/>
            <a:ext cx="2499360" cy="800100"/>
          </a:xfrm>
          <a:prstGeom prst="roundRect">
            <a:avLst>
              <a:gd name="adj" fmla="val 9143"/>
            </a:avLst>
          </a:prstGeom>
          <a:solidFill>
            <a:srgbClr val="110F2B"/>
          </a:solidFill>
          <a:ln/>
        </p:spPr>
      </p:sp>
      <p:sp>
        <p:nvSpPr>
          <p:cNvPr id="17" name="Text 15"/>
          <p:cNvSpPr/>
          <p:nvPr/>
        </p:nvSpPr>
        <p:spPr>
          <a:xfrm>
            <a:off x="777240" y="3872484"/>
            <a:ext cx="2042160" cy="237744"/>
          </a:xfrm>
          <a:prstGeom prst="rect">
            <a:avLst/>
          </a:prstGeom>
          <a:noFill/>
          <a:ln/>
        </p:spPr>
        <p:txBody>
          <a:bodyPr wrap="square" lIns="0" tIns="0" rIns="0" bIns="0" rtlCol="0" anchor="ctr"/>
          <a:lstStyle/>
          <a:p>
            <a:pPr indent="0" marL="0">
              <a:buNone/>
            </a:pPr>
            <a:r>
              <a:rPr lang="en-US" sz="1050" spc="200" kern="0" dirty="0">
                <a:solidFill>
                  <a:srgbClr val="ABA6C8"/>
                </a:solidFill>
                <a:latin typeface="Segoe UI Semibold" pitchFamily="34" charset="0"/>
                <a:ea typeface="Segoe UI Semibold" pitchFamily="34" charset="-122"/>
                <a:cs typeface="Segoe UI Semibold" pitchFamily="34" charset="-120"/>
              </a:rPr>
              <a:t>QUESTION TYPES</a:t>
            </a:r>
            <a:endParaRPr lang="en-US" sz="1050" dirty="0"/>
          </a:p>
        </p:txBody>
      </p:sp>
      <p:sp>
        <p:nvSpPr>
          <p:cNvPr id="18" name="Text 16"/>
          <p:cNvSpPr/>
          <p:nvPr/>
        </p:nvSpPr>
        <p:spPr>
          <a:xfrm>
            <a:off x="777240" y="4146804"/>
            <a:ext cx="2087880" cy="274320"/>
          </a:xfrm>
          <a:prstGeom prst="rect">
            <a:avLst/>
          </a:prstGeom>
          <a:noFill/>
          <a:ln/>
        </p:spPr>
        <p:txBody>
          <a:bodyPr wrap="square" lIns="0" tIns="0" rIns="0" bIns="0" rtlCol="0" anchor="ctr"/>
          <a:lstStyle/>
          <a:p>
            <a:pPr indent="0" marL="0">
              <a:buNone/>
            </a:pPr>
            <a:r>
              <a:rPr lang="en-US" sz="1200" dirty="0">
                <a:solidFill>
                  <a:srgbClr val="FFD166"/>
                </a:solidFill>
                <a:latin typeface="Consolas" pitchFamily="34" charset="0"/>
                <a:ea typeface="Consolas" pitchFamily="34" charset="-122"/>
                <a:cs typeface="Consolas" pitchFamily="34" charset="-120"/>
              </a:rPr>
              <a:t>noul</a:t>
            </a:r>
            <a:pPr indent="0" marL="0">
              <a:buNone/>
            </a:pPr>
            <a:r>
              <a:rPr lang="en-US" sz="1200" dirty="0">
                <a:solidFill>
                  <a:srgbClr val="ABA6C8"/>
                </a:solidFill>
                <a:latin typeface="Consolas" pitchFamily="34" charset="0"/>
                <a:ea typeface="Consolas" pitchFamily="34" charset="-122"/>
                <a:cs typeface="Consolas" pitchFamily="34" charset="-120"/>
              </a:rPr>
              <a:t> · </a:t>
            </a:r>
            <a:pPr indent="0" marL="0">
              <a:buNone/>
            </a:pPr>
            <a:r>
              <a:rPr lang="en-US" sz="1200" dirty="0">
                <a:solidFill>
                  <a:srgbClr val="FFD166"/>
                </a:solidFill>
                <a:latin typeface="Consolas" pitchFamily="34" charset="0"/>
                <a:ea typeface="Consolas" pitchFamily="34" charset="-122"/>
                <a:cs typeface="Consolas" pitchFamily="34" charset="-120"/>
              </a:rPr>
              <a:t>choice</a:t>
            </a:r>
            <a:pPr indent="0" marL="0">
              <a:buNone/>
            </a:pPr>
            <a:r>
              <a:rPr lang="en-US" sz="1200" dirty="0">
                <a:solidFill>
                  <a:srgbClr val="ABA6C8"/>
                </a:solidFill>
                <a:latin typeface="Consolas" pitchFamily="34" charset="0"/>
                <a:ea typeface="Consolas" pitchFamily="34" charset="-122"/>
                <a:cs typeface="Consolas" pitchFamily="34" charset="-120"/>
              </a:rPr>
              <a:t> · </a:t>
            </a:r>
            <a:pPr indent="0" marL="0">
              <a:buNone/>
            </a:pPr>
            <a:r>
              <a:rPr lang="en-US" sz="1200" dirty="0">
                <a:solidFill>
                  <a:srgbClr val="FFD166"/>
                </a:solidFill>
                <a:latin typeface="Consolas" pitchFamily="34" charset="0"/>
                <a:ea typeface="Consolas" pitchFamily="34" charset="-122"/>
                <a:cs typeface="Consolas" pitchFamily="34" charset="-120"/>
              </a:rPr>
              <a:t>score</a:t>
            </a:r>
            <a:endParaRPr lang="en-US" sz="1200" dirty="0"/>
          </a:p>
        </p:txBody>
      </p:sp>
      <p:sp>
        <p:nvSpPr>
          <p:cNvPr id="19" name="Shape 17"/>
          <p:cNvSpPr/>
          <p:nvPr/>
        </p:nvSpPr>
        <p:spPr>
          <a:xfrm>
            <a:off x="3322320" y="3726180"/>
            <a:ext cx="5273040" cy="800100"/>
          </a:xfrm>
          <a:prstGeom prst="roundRect">
            <a:avLst>
              <a:gd name="adj" fmla="val 9143"/>
            </a:avLst>
          </a:prstGeom>
          <a:solidFill>
            <a:srgbClr val="110F2B"/>
          </a:solidFill>
          <a:ln/>
        </p:spPr>
      </p:sp>
      <p:sp>
        <p:nvSpPr>
          <p:cNvPr id="20" name="Text 18"/>
          <p:cNvSpPr/>
          <p:nvPr/>
        </p:nvSpPr>
        <p:spPr>
          <a:xfrm>
            <a:off x="3550920" y="3872484"/>
            <a:ext cx="4815840" cy="237744"/>
          </a:xfrm>
          <a:prstGeom prst="rect">
            <a:avLst/>
          </a:prstGeom>
          <a:noFill/>
          <a:ln/>
        </p:spPr>
        <p:txBody>
          <a:bodyPr wrap="square" lIns="0" tIns="0" rIns="0" bIns="0" rtlCol="0" anchor="ctr"/>
          <a:lstStyle/>
          <a:p>
            <a:pPr indent="0" marL="0">
              <a:buNone/>
            </a:pPr>
            <a:r>
              <a:rPr lang="en-US" sz="1050" spc="200" kern="0" dirty="0">
                <a:solidFill>
                  <a:srgbClr val="ABA6C8"/>
                </a:solidFill>
                <a:latin typeface="Segoe UI Semibold" pitchFamily="34" charset="0"/>
                <a:ea typeface="Segoe UI Semibold" pitchFamily="34" charset="-122"/>
                <a:cs typeface="Segoe UI Semibold" pitchFamily="34" charset="-120"/>
              </a:rPr>
              <a:t>ENDPOINT</a:t>
            </a:r>
            <a:endParaRPr lang="en-US" sz="1050" dirty="0"/>
          </a:p>
        </p:txBody>
      </p:sp>
      <p:sp>
        <p:nvSpPr>
          <p:cNvPr id="21" name="Text 19"/>
          <p:cNvSpPr/>
          <p:nvPr/>
        </p:nvSpPr>
        <p:spPr>
          <a:xfrm>
            <a:off x="3550920" y="4146804"/>
            <a:ext cx="4861560" cy="274320"/>
          </a:xfrm>
          <a:prstGeom prst="rect">
            <a:avLst/>
          </a:prstGeom>
          <a:noFill/>
          <a:ln/>
        </p:spPr>
        <p:txBody>
          <a:bodyPr wrap="square" lIns="0" tIns="0" rIns="0" bIns="0" rtlCol="0" anchor="ctr"/>
          <a:lstStyle/>
          <a:p>
            <a:pPr indent="0" marL="0">
              <a:buNone/>
            </a:pPr>
            <a:r>
              <a:rPr lang="en-US" sz="1200" dirty="0">
                <a:solidFill>
                  <a:srgbClr val="3DD6FF"/>
                </a:solidFill>
                <a:latin typeface="Consolas" pitchFamily="34" charset="0"/>
                <a:ea typeface="Consolas" pitchFamily="34" charset="-122"/>
                <a:cs typeface="Consolas" pitchFamily="34" charset="-120"/>
              </a:rPr>
              <a:t>POST {endpoint}/providers/microsoft/v1/systemone</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7071A"/>
        </a:solidFill>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sp>
      <p:sp>
        <p:nvSpPr>
          <p:cNvPr id="3" name="Text 1"/>
          <p:cNvSpPr/>
          <p:nvPr/>
        </p:nvSpPr>
        <p:spPr>
          <a:xfrm>
            <a:off x="749808" y="393192"/>
            <a:ext cx="5943600" cy="292608"/>
          </a:xfrm>
          <a:prstGeom prst="rect">
            <a:avLst/>
          </a:prstGeom>
          <a:noFill/>
          <a:ln/>
        </p:spPr>
        <p:txBody>
          <a:bodyPr wrap="square" lIns="0" tIns="0" rIns="0" bIns="0" rtlCol="0" anchor="ctr"/>
          <a:lstStyle/>
          <a:p>
            <a:pPr indent="0" marL="0">
              <a:buNone/>
            </a:pPr>
            <a:r>
              <a:rPr lang="en-US" sz="1100" spc="300" kern="0" dirty="0">
                <a:solidFill>
                  <a:srgbClr val="ABA6C8"/>
                </a:solidFill>
                <a:latin typeface="Segoe UI Semibold" pitchFamily="34" charset="0"/>
                <a:ea typeface="Segoe UI Semibold" pitchFamily="34" charset="-122"/>
                <a:cs typeface="Segoe UI Semibold" pitchFamily="34" charset="-120"/>
              </a:rPr>
              <a:t>QUESTION TYPES</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algn="r" indent="0" marL="0">
              <a:buNone/>
            </a:pPr>
            <a:r>
              <a:rPr lang="en-US" sz="1100" dirty="0">
                <a:solidFill>
                  <a:srgbClr val="ABA6C8"/>
                </a:solidFill>
                <a:latin typeface="Segoe UI Semibold" pitchFamily="34" charset="0"/>
                <a:ea typeface="Segoe UI Semibold" pitchFamily="34" charset="-122"/>
                <a:cs typeface="Segoe UI Semibold" pitchFamily="34" charset="-120"/>
              </a:rPr>
              <a:t>04 / 11</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indent="0" marL="0">
              <a:buNone/>
            </a:pPr>
            <a:r>
              <a:rPr lang="en-US" sz="3400" i="1" dirty="0">
                <a:solidFill>
                  <a:srgbClr val="ECE9F8"/>
                </a:solidFill>
                <a:latin typeface="Segoe UI Black" pitchFamily="34" charset="0"/>
                <a:ea typeface="Segoe UI Black" pitchFamily="34" charset="-122"/>
                <a:cs typeface="Segoe UI Black" pitchFamily="34" charset="-120"/>
              </a:rPr>
              <a:t>Three ways to ask</a:t>
            </a:r>
            <a:endParaRPr lang="en-US" sz="3400" dirty="0"/>
          </a:p>
        </p:txBody>
      </p:sp>
      <p:sp>
        <p:nvSpPr>
          <p:cNvPr id="6" name="Text 4"/>
          <p:cNvSpPr/>
          <p:nvPr/>
        </p:nvSpPr>
        <p:spPr>
          <a:xfrm>
            <a:off x="548640" y="1325880"/>
            <a:ext cx="8046720" cy="320040"/>
          </a:xfrm>
          <a:prstGeom prst="rect">
            <a:avLst/>
          </a:prstGeom>
          <a:noFill/>
          <a:ln/>
        </p:spPr>
        <p:txBody>
          <a:bodyPr wrap="square" lIns="0" tIns="0" rIns="0" bIns="0" rtlCol="0" anchor="ctr"/>
          <a:lstStyle/>
          <a:p>
            <a:pPr indent="0" marL="0">
              <a:buNone/>
            </a:pPr>
            <a:r>
              <a:rPr lang="en-US" sz="1400" dirty="0">
                <a:solidFill>
                  <a:srgbClr val="ABA6C8"/>
                </a:solidFill>
                <a:latin typeface="Segoe UI" pitchFamily="34" charset="0"/>
                <a:ea typeface="Segoe UI" pitchFamily="34" charset="-122"/>
                <a:cs typeface="Segoe UI" pitchFamily="34" charset="-120"/>
              </a:rPr>
              <a:t>One request carries one state and any mix of typed questions; a single pass answers them all.</a:t>
            </a:r>
            <a:endParaRPr lang="en-US" sz="1400" dirty="0"/>
          </a:p>
        </p:txBody>
      </p:sp>
      <p:sp>
        <p:nvSpPr>
          <p:cNvPr id="7" name="Shape 5"/>
          <p:cNvSpPr/>
          <p:nvPr/>
        </p:nvSpPr>
        <p:spPr>
          <a:xfrm>
            <a:off x="548640" y="1874520"/>
            <a:ext cx="2499360" cy="2651760"/>
          </a:xfrm>
          <a:prstGeom prst="roundRect">
            <a:avLst>
              <a:gd name="adj" fmla="val 4390"/>
            </a:avLst>
          </a:prstGeom>
          <a:solidFill>
            <a:srgbClr val="110F2B"/>
          </a:solidFill>
          <a:ln/>
        </p:spPr>
      </p:sp>
      <p:sp>
        <p:nvSpPr>
          <p:cNvPr id="8" name="Text 6"/>
          <p:cNvSpPr/>
          <p:nvPr/>
        </p:nvSpPr>
        <p:spPr>
          <a:xfrm>
            <a:off x="777240" y="2075688"/>
            <a:ext cx="2042160" cy="256032"/>
          </a:xfrm>
          <a:prstGeom prst="rect">
            <a:avLst/>
          </a:prstGeom>
          <a:noFill/>
          <a:ln/>
        </p:spPr>
        <p:txBody>
          <a:bodyPr wrap="square" lIns="0" tIns="0" rIns="0" bIns="0" rtlCol="0" anchor="ctr"/>
          <a:lstStyle/>
          <a:p>
            <a:pPr indent="0" marL="0">
              <a:buNone/>
            </a:pPr>
            <a:r>
              <a:rPr lang="en-US" sz="1300" dirty="0">
                <a:solidFill>
                  <a:srgbClr val="FFD166"/>
                </a:solidFill>
                <a:latin typeface="Consolas" pitchFamily="34" charset="0"/>
                <a:ea typeface="Consolas" pitchFamily="34" charset="-122"/>
                <a:cs typeface="Consolas" pitchFamily="34" charset="-120"/>
              </a:rPr>
              <a:t>noul</a:t>
            </a:r>
            <a:endParaRPr lang="en-US" sz="1300" dirty="0"/>
          </a:p>
        </p:txBody>
      </p:sp>
      <p:sp>
        <p:nvSpPr>
          <p:cNvPr id="9" name="Text 7"/>
          <p:cNvSpPr/>
          <p:nvPr/>
        </p:nvSpPr>
        <p:spPr>
          <a:xfrm>
            <a:off x="777240" y="2350008"/>
            <a:ext cx="2042160" cy="365760"/>
          </a:xfrm>
          <a:prstGeom prst="rect">
            <a:avLst/>
          </a:prstGeom>
          <a:noFill/>
          <a:ln/>
        </p:spPr>
        <p:txBody>
          <a:bodyPr wrap="square" lIns="0" tIns="0" rIns="0" bIns="0" rtlCol="0" anchor="ctr"/>
          <a:lstStyle/>
          <a:p>
            <a:pPr indent="0" marL="0">
              <a:buNone/>
            </a:pPr>
            <a:r>
              <a:rPr lang="en-US" sz="1700" dirty="0">
                <a:solidFill>
                  <a:srgbClr val="ECE9F8"/>
                </a:solidFill>
                <a:latin typeface="Segoe UI Black" pitchFamily="34" charset="0"/>
                <a:ea typeface="Segoe UI Black" pitchFamily="34" charset="-122"/>
                <a:cs typeface="Segoe UI Black" pitchFamily="34" charset="-120"/>
              </a:rPr>
              <a:t>Is this true?</a:t>
            </a:r>
            <a:endParaRPr lang="en-US" sz="1700" dirty="0"/>
          </a:p>
        </p:txBody>
      </p:sp>
      <p:sp>
        <p:nvSpPr>
          <p:cNvPr id="10" name="Text 8"/>
          <p:cNvSpPr/>
          <p:nvPr/>
        </p:nvSpPr>
        <p:spPr>
          <a:xfrm>
            <a:off x="777240" y="3776472"/>
            <a:ext cx="2042160" cy="237744"/>
          </a:xfrm>
          <a:prstGeom prst="rect">
            <a:avLst/>
          </a:prstGeom>
          <a:noFill/>
          <a:ln/>
        </p:spPr>
        <p:txBody>
          <a:bodyPr wrap="square" lIns="0" tIns="0" rIns="0" bIns="0" rtlCol="0" anchor="ctr"/>
          <a:lstStyle/>
          <a:p>
            <a:pPr indent="0" marL="0">
              <a:buNone/>
            </a:pPr>
            <a:r>
              <a:rPr lang="en-US" sz="1100" dirty="0">
                <a:solidFill>
                  <a:srgbClr val="ECE9F8"/>
                </a:solidFill>
                <a:latin typeface="Consolas" pitchFamily="34" charset="0"/>
                <a:ea typeface="Consolas" pitchFamily="34" charset="-122"/>
                <a:cs typeface="Consolas" pitchFamily="34" charset="-120"/>
              </a:rPr>
              <a:t>"noul": p(true)</a:t>
            </a:r>
            <a:endParaRPr lang="en-US" sz="1100" dirty="0"/>
          </a:p>
        </p:txBody>
      </p:sp>
      <p:sp>
        <p:nvSpPr>
          <p:cNvPr id="11" name="Text 9"/>
          <p:cNvSpPr/>
          <p:nvPr/>
        </p:nvSpPr>
        <p:spPr>
          <a:xfrm>
            <a:off x="777240" y="4050792"/>
            <a:ext cx="2042160" cy="256032"/>
          </a:xfrm>
          <a:prstGeom prst="rect">
            <a:avLst/>
          </a:prstGeom>
          <a:noFill/>
          <a:ln/>
        </p:spPr>
        <p:txBody>
          <a:bodyPr wrap="square" lIns="0" tIns="0" rIns="0" bIns="0" rtlCol="0" anchor="ctr"/>
          <a:lstStyle/>
          <a:p>
            <a:pPr indent="0" marL="0">
              <a:buNone/>
            </a:pPr>
            <a:r>
              <a:rPr lang="en-US" sz="1150" dirty="0">
                <a:solidFill>
                  <a:srgbClr val="ABA6C8"/>
                </a:solidFill>
                <a:latin typeface="Segoe UI" pitchFamily="34" charset="0"/>
                <a:ea typeface="Segoe UI" pitchFamily="34" charset="-122"/>
                <a:cs typeface="Segoe UI" pitchFamily="34" charset="-120"/>
              </a:rPr>
              <a:t>Gates and filters</a:t>
            </a:r>
            <a:endParaRPr lang="en-US" sz="1150" dirty="0"/>
          </a:p>
        </p:txBody>
      </p:sp>
      <p:sp>
        <p:nvSpPr>
          <p:cNvPr id="12" name="Shape 10"/>
          <p:cNvSpPr/>
          <p:nvPr/>
        </p:nvSpPr>
        <p:spPr>
          <a:xfrm>
            <a:off x="3322320" y="1874520"/>
            <a:ext cx="2499360" cy="2651760"/>
          </a:xfrm>
          <a:prstGeom prst="roundRect">
            <a:avLst>
              <a:gd name="adj" fmla="val 4390"/>
            </a:avLst>
          </a:prstGeom>
          <a:solidFill>
            <a:srgbClr val="110F2B"/>
          </a:solidFill>
          <a:ln/>
        </p:spPr>
      </p:sp>
      <p:sp>
        <p:nvSpPr>
          <p:cNvPr id="13" name="Text 11"/>
          <p:cNvSpPr/>
          <p:nvPr/>
        </p:nvSpPr>
        <p:spPr>
          <a:xfrm>
            <a:off x="3550920" y="2075688"/>
            <a:ext cx="2042160" cy="256032"/>
          </a:xfrm>
          <a:prstGeom prst="rect">
            <a:avLst/>
          </a:prstGeom>
          <a:noFill/>
          <a:ln/>
        </p:spPr>
        <p:txBody>
          <a:bodyPr wrap="square" lIns="0" tIns="0" rIns="0" bIns="0" rtlCol="0" anchor="ctr"/>
          <a:lstStyle/>
          <a:p>
            <a:pPr indent="0" marL="0">
              <a:buNone/>
            </a:pPr>
            <a:r>
              <a:rPr lang="en-US" sz="1300" dirty="0">
                <a:solidFill>
                  <a:srgbClr val="FFD166"/>
                </a:solidFill>
                <a:latin typeface="Consolas" pitchFamily="34" charset="0"/>
                <a:ea typeface="Consolas" pitchFamily="34" charset="-122"/>
                <a:cs typeface="Consolas" pitchFamily="34" charset="-120"/>
              </a:rPr>
              <a:t>choice</a:t>
            </a:r>
            <a:endParaRPr lang="en-US" sz="1300" dirty="0"/>
          </a:p>
        </p:txBody>
      </p:sp>
      <p:sp>
        <p:nvSpPr>
          <p:cNvPr id="14" name="Text 12"/>
          <p:cNvSpPr/>
          <p:nvPr/>
        </p:nvSpPr>
        <p:spPr>
          <a:xfrm>
            <a:off x="3550920" y="2350008"/>
            <a:ext cx="2042160" cy="365760"/>
          </a:xfrm>
          <a:prstGeom prst="rect">
            <a:avLst/>
          </a:prstGeom>
          <a:noFill/>
          <a:ln/>
        </p:spPr>
        <p:txBody>
          <a:bodyPr wrap="square" lIns="0" tIns="0" rIns="0" bIns="0" rtlCol="0" anchor="ctr"/>
          <a:lstStyle/>
          <a:p>
            <a:pPr indent="0" marL="0">
              <a:buNone/>
            </a:pPr>
            <a:r>
              <a:rPr lang="en-US" sz="1700" dirty="0">
                <a:solidFill>
                  <a:srgbClr val="ECE9F8"/>
                </a:solidFill>
                <a:latin typeface="Segoe UI Black" pitchFamily="34" charset="0"/>
                <a:ea typeface="Segoe UI Black" pitchFamily="34" charset="-122"/>
                <a:cs typeface="Segoe UI Black" pitchFamily="34" charset="-120"/>
              </a:rPr>
              <a:t>Which option?</a:t>
            </a:r>
            <a:endParaRPr lang="en-US" sz="1700" dirty="0"/>
          </a:p>
        </p:txBody>
      </p:sp>
      <p:sp>
        <p:nvSpPr>
          <p:cNvPr id="15" name="Text 13"/>
          <p:cNvSpPr/>
          <p:nvPr/>
        </p:nvSpPr>
        <p:spPr>
          <a:xfrm>
            <a:off x="3550920" y="3776472"/>
            <a:ext cx="2042160" cy="237744"/>
          </a:xfrm>
          <a:prstGeom prst="rect">
            <a:avLst/>
          </a:prstGeom>
          <a:noFill/>
          <a:ln/>
        </p:spPr>
        <p:txBody>
          <a:bodyPr wrap="square" lIns="0" tIns="0" rIns="0" bIns="0" rtlCol="0" anchor="ctr"/>
          <a:lstStyle/>
          <a:p>
            <a:pPr indent="0" marL="0">
              <a:buNone/>
            </a:pPr>
            <a:r>
              <a:rPr lang="en-US" sz="1100" dirty="0">
                <a:solidFill>
                  <a:srgbClr val="ECE9F8"/>
                </a:solidFill>
                <a:latin typeface="Consolas" pitchFamily="34" charset="0"/>
                <a:ea typeface="Consolas" pitchFamily="34" charset="-122"/>
                <a:cs typeface="Consolas" pitchFamily="34" charset="-120"/>
              </a:rPr>
              <a:t>"choice" + p per option</a:t>
            </a:r>
            <a:endParaRPr lang="en-US" sz="1100" dirty="0"/>
          </a:p>
        </p:txBody>
      </p:sp>
      <p:sp>
        <p:nvSpPr>
          <p:cNvPr id="16" name="Text 14"/>
          <p:cNvSpPr/>
          <p:nvPr/>
        </p:nvSpPr>
        <p:spPr>
          <a:xfrm>
            <a:off x="3550920" y="4050792"/>
            <a:ext cx="2042160" cy="256032"/>
          </a:xfrm>
          <a:prstGeom prst="rect">
            <a:avLst/>
          </a:prstGeom>
          <a:noFill/>
          <a:ln/>
        </p:spPr>
        <p:txBody>
          <a:bodyPr wrap="square" lIns="0" tIns="0" rIns="0" bIns="0" rtlCol="0" anchor="ctr"/>
          <a:lstStyle/>
          <a:p>
            <a:pPr indent="0" marL="0">
              <a:buNone/>
            </a:pPr>
            <a:r>
              <a:rPr lang="en-US" sz="1150" dirty="0">
                <a:solidFill>
                  <a:srgbClr val="ABA6C8"/>
                </a:solidFill>
                <a:latin typeface="Segoe UI" pitchFamily="34" charset="0"/>
                <a:ea typeface="Segoe UI" pitchFamily="34" charset="-122"/>
                <a:cs typeface="Segoe UI" pitchFamily="34" charset="-120"/>
              </a:rPr>
              <a:t>Classify and route</a:t>
            </a:r>
            <a:endParaRPr lang="en-US" sz="1150" dirty="0"/>
          </a:p>
        </p:txBody>
      </p:sp>
      <p:sp>
        <p:nvSpPr>
          <p:cNvPr id="17" name="Shape 15"/>
          <p:cNvSpPr/>
          <p:nvPr/>
        </p:nvSpPr>
        <p:spPr>
          <a:xfrm>
            <a:off x="6096000" y="1874520"/>
            <a:ext cx="2499360" cy="2651760"/>
          </a:xfrm>
          <a:prstGeom prst="roundRect">
            <a:avLst>
              <a:gd name="adj" fmla="val 4390"/>
            </a:avLst>
          </a:prstGeom>
          <a:solidFill>
            <a:srgbClr val="110F2B"/>
          </a:solidFill>
          <a:ln/>
        </p:spPr>
      </p:sp>
      <p:sp>
        <p:nvSpPr>
          <p:cNvPr id="18" name="Text 16"/>
          <p:cNvSpPr/>
          <p:nvPr/>
        </p:nvSpPr>
        <p:spPr>
          <a:xfrm>
            <a:off x="6324600" y="2075688"/>
            <a:ext cx="2042160" cy="256032"/>
          </a:xfrm>
          <a:prstGeom prst="rect">
            <a:avLst/>
          </a:prstGeom>
          <a:noFill/>
          <a:ln/>
        </p:spPr>
        <p:txBody>
          <a:bodyPr wrap="square" lIns="0" tIns="0" rIns="0" bIns="0" rtlCol="0" anchor="ctr"/>
          <a:lstStyle/>
          <a:p>
            <a:pPr indent="0" marL="0">
              <a:buNone/>
            </a:pPr>
            <a:r>
              <a:rPr lang="en-US" sz="1300" dirty="0">
                <a:solidFill>
                  <a:srgbClr val="FFD166"/>
                </a:solidFill>
                <a:latin typeface="Consolas" pitchFamily="34" charset="0"/>
                <a:ea typeface="Consolas" pitchFamily="34" charset="-122"/>
                <a:cs typeface="Consolas" pitchFamily="34" charset="-120"/>
              </a:rPr>
              <a:t>score</a:t>
            </a:r>
            <a:endParaRPr lang="en-US" sz="1300" dirty="0"/>
          </a:p>
        </p:txBody>
      </p:sp>
      <p:sp>
        <p:nvSpPr>
          <p:cNvPr id="19" name="Text 17"/>
          <p:cNvSpPr/>
          <p:nvPr/>
        </p:nvSpPr>
        <p:spPr>
          <a:xfrm>
            <a:off x="6324600" y="2350008"/>
            <a:ext cx="2042160" cy="365760"/>
          </a:xfrm>
          <a:prstGeom prst="rect">
            <a:avLst/>
          </a:prstGeom>
          <a:noFill/>
          <a:ln/>
        </p:spPr>
        <p:txBody>
          <a:bodyPr wrap="square" lIns="0" tIns="0" rIns="0" bIns="0" rtlCol="0" anchor="ctr"/>
          <a:lstStyle/>
          <a:p>
            <a:pPr indent="0" marL="0">
              <a:buNone/>
            </a:pPr>
            <a:r>
              <a:rPr lang="en-US" sz="1700" dirty="0">
                <a:solidFill>
                  <a:srgbClr val="ECE9F8"/>
                </a:solidFill>
                <a:latin typeface="Segoe UI Black" pitchFamily="34" charset="0"/>
                <a:ea typeface="Segoe UI Black" pitchFamily="34" charset="-122"/>
                <a:cs typeface="Segoe UI Black" pitchFamily="34" charset="-120"/>
              </a:rPr>
              <a:t>How much?</a:t>
            </a:r>
            <a:endParaRPr lang="en-US" sz="1700" dirty="0"/>
          </a:p>
        </p:txBody>
      </p:sp>
      <p:sp>
        <p:nvSpPr>
          <p:cNvPr id="20" name="Text 18"/>
          <p:cNvSpPr/>
          <p:nvPr/>
        </p:nvSpPr>
        <p:spPr>
          <a:xfrm>
            <a:off x="6324600" y="3776472"/>
            <a:ext cx="2042160" cy="237744"/>
          </a:xfrm>
          <a:prstGeom prst="rect">
            <a:avLst/>
          </a:prstGeom>
          <a:noFill/>
          <a:ln/>
        </p:spPr>
        <p:txBody>
          <a:bodyPr wrap="square" lIns="0" tIns="0" rIns="0" bIns="0" rtlCol="0" anchor="ctr"/>
          <a:lstStyle/>
          <a:p>
            <a:pPr indent="0" marL="0">
              <a:buNone/>
            </a:pPr>
            <a:r>
              <a:rPr lang="en-US" sz="1100" dirty="0">
                <a:solidFill>
                  <a:srgbClr val="ECE9F8"/>
                </a:solidFill>
                <a:latin typeface="Consolas" pitchFamily="34" charset="0"/>
                <a:ea typeface="Consolas" pitchFamily="34" charset="-122"/>
                <a:cs typeface="Consolas" pitchFamily="34" charset="-120"/>
              </a:rPr>
              <a:t>"score" = Σ i · p(i)</a:t>
            </a:r>
            <a:endParaRPr lang="en-US" sz="1100" dirty="0"/>
          </a:p>
        </p:txBody>
      </p:sp>
      <p:sp>
        <p:nvSpPr>
          <p:cNvPr id="21" name="Text 19"/>
          <p:cNvSpPr/>
          <p:nvPr/>
        </p:nvSpPr>
        <p:spPr>
          <a:xfrm>
            <a:off x="6324600" y="4050792"/>
            <a:ext cx="2042160" cy="256032"/>
          </a:xfrm>
          <a:prstGeom prst="rect">
            <a:avLst/>
          </a:prstGeom>
          <a:noFill/>
          <a:ln/>
        </p:spPr>
        <p:txBody>
          <a:bodyPr wrap="square" lIns="0" tIns="0" rIns="0" bIns="0" rtlCol="0" anchor="ctr"/>
          <a:lstStyle/>
          <a:p>
            <a:pPr indent="0" marL="0">
              <a:buNone/>
            </a:pPr>
            <a:r>
              <a:rPr lang="en-US" sz="1150" dirty="0">
                <a:solidFill>
                  <a:srgbClr val="ABA6C8"/>
                </a:solidFill>
                <a:latin typeface="Segoe UI" pitchFamily="34" charset="0"/>
                <a:ea typeface="Segoe UI" pitchFamily="34" charset="-122"/>
                <a:cs typeface="Segoe UI" pitchFamily="34" charset="-120"/>
              </a:rPr>
              <a:t>Rank and grade</a:t>
            </a:r>
            <a:endParaRPr lang="en-US" sz="1150" dirty="0"/>
          </a:p>
        </p:txBody>
      </p:sp>
      <p:sp>
        <p:nvSpPr>
          <p:cNvPr id="22" name="Text 20"/>
          <p:cNvSpPr/>
          <p:nvPr/>
        </p:nvSpPr>
        <p:spPr>
          <a:xfrm>
            <a:off x="777240" y="2770632"/>
            <a:ext cx="2042160" cy="457200"/>
          </a:xfrm>
          <a:prstGeom prst="rect">
            <a:avLst/>
          </a:prstGeom>
          <a:noFill/>
          <a:ln/>
        </p:spPr>
        <p:txBody>
          <a:bodyPr wrap="square" lIns="0" tIns="0" rIns="0" bIns="0" rtlCol="0" anchor="ctr"/>
          <a:lstStyle/>
          <a:p>
            <a:pPr indent="0" marL="0">
              <a:buNone/>
            </a:pPr>
            <a:r>
              <a:rPr lang="en-US" sz="2800" dirty="0">
                <a:solidFill>
                  <a:srgbClr val="3DD6FF"/>
                </a:solidFill>
                <a:latin typeface="Segoe UI Black" pitchFamily="34" charset="0"/>
                <a:ea typeface="Segoe UI Black" pitchFamily="34" charset="-122"/>
                <a:cs typeface="Segoe UI Black" pitchFamily="34" charset="-120"/>
              </a:rPr>
              <a:t>0.73</a:t>
            </a:r>
            <a:endParaRPr lang="en-US" sz="2800" dirty="0"/>
          </a:p>
        </p:txBody>
      </p:sp>
      <p:sp>
        <p:nvSpPr>
          <p:cNvPr id="23" name="Shape 21"/>
          <p:cNvSpPr/>
          <p:nvPr/>
        </p:nvSpPr>
        <p:spPr>
          <a:xfrm>
            <a:off x="777240" y="3337560"/>
            <a:ext cx="2042160" cy="91440"/>
          </a:xfrm>
          <a:prstGeom prst="rect">
            <a:avLst/>
          </a:prstGeom>
          <a:solidFill>
            <a:srgbClr val="36316A"/>
          </a:solidFill>
          <a:ln/>
        </p:spPr>
      </p:sp>
      <p:sp>
        <p:nvSpPr>
          <p:cNvPr id="24" name="Shape 22"/>
          <p:cNvSpPr/>
          <p:nvPr/>
        </p:nvSpPr>
        <p:spPr>
          <a:xfrm>
            <a:off x="777240" y="3337560"/>
            <a:ext cx="1490777" cy="91440"/>
          </a:xfrm>
          <a:prstGeom prst="rect">
            <a:avLst/>
          </a:prstGeom>
          <a:solidFill>
            <a:srgbClr val="3DD6FF"/>
          </a:solidFill>
          <a:ln/>
        </p:spPr>
      </p:sp>
      <p:sp>
        <p:nvSpPr>
          <p:cNvPr id="25" name="Text 23"/>
          <p:cNvSpPr/>
          <p:nvPr/>
        </p:nvSpPr>
        <p:spPr>
          <a:xfrm>
            <a:off x="777240" y="3511296"/>
            <a:ext cx="914400" cy="182880"/>
          </a:xfrm>
          <a:prstGeom prst="rect">
            <a:avLst/>
          </a:prstGeom>
          <a:noFill/>
          <a:ln/>
        </p:spPr>
        <p:txBody>
          <a:bodyPr wrap="square" lIns="0" tIns="0" rIns="0" bIns="0" rtlCol="0" anchor="ctr"/>
          <a:lstStyle/>
          <a:p>
            <a:pPr indent="0" marL="0">
              <a:buNone/>
            </a:pPr>
            <a:r>
              <a:rPr lang="en-US" sz="1050" dirty="0">
                <a:solidFill>
                  <a:srgbClr val="ABA6C8"/>
                </a:solidFill>
                <a:latin typeface="Segoe UI" pitchFamily="34" charset="0"/>
                <a:ea typeface="Segoe UI" pitchFamily="34" charset="-122"/>
                <a:cs typeface="Segoe UI" pitchFamily="34" charset="-120"/>
              </a:rPr>
              <a:t>0  false</a:t>
            </a:r>
            <a:endParaRPr lang="en-US" sz="1050" dirty="0"/>
          </a:p>
        </p:txBody>
      </p:sp>
      <p:sp>
        <p:nvSpPr>
          <p:cNvPr id="26" name="Text 24"/>
          <p:cNvSpPr/>
          <p:nvPr/>
        </p:nvSpPr>
        <p:spPr>
          <a:xfrm>
            <a:off x="1905000" y="3511296"/>
            <a:ext cx="914400" cy="182880"/>
          </a:xfrm>
          <a:prstGeom prst="rect">
            <a:avLst/>
          </a:prstGeom>
          <a:noFill/>
          <a:ln/>
        </p:spPr>
        <p:txBody>
          <a:bodyPr wrap="square" lIns="0" tIns="0" rIns="0" bIns="0" rtlCol="0" anchor="ctr"/>
          <a:lstStyle/>
          <a:p>
            <a:pPr algn="r" indent="0" marL="0">
              <a:buNone/>
            </a:pPr>
            <a:r>
              <a:rPr lang="en-US" sz="1050" dirty="0">
                <a:solidFill>
                  <a:srgbClr val="ABA6C8"/>
                </a:solidFill>
                <a:latin typeface="Segoe UI" pitchFamily="34" charset="0"/>
                <a:ea typeface="Segoe UI" pitchFamily="34" charset="-122"/>
                <a:cs typeface="Segoe UI" pitchFamily="34" charset="-120"/>
              </a:rPr>
              <a:t>true  1</a:t>
            </a:r>
            <a:endParaRPr lang="en-US" sz="1050" dirty="0"/>
          </a:p>
        </p:txBody>
      </p:sp>
      <p:sp>
        <p:nvSpPr>
          <p:cNvPr id="27" name="Text 25"/>
          <p:cNvSpPr/>
          <p:nvPr/>
        </p:nvSpPr>
        <p:spPr>
          <a:xfrm>
            <a:off x="3550920" y="2798064"/>
            <a:ext cx="182880" cy="182880"/>
          </a:xfrm>
          <a:prstGeom prst="rect">
            <a:avLst/>
          </a:prstGeom>
          <a:noFill/>
          <a:ln/>
        </p:spPr>
        <p:txBody>
          <a:bodyPr wrap="square" lIns="0" tIns="0" rIns="0" bIns="0" rtlCol="0" anchor="ctr"/>
          <a:lstStyle/>
          <a:p>
            <a:pPr indent="0" marL="0">
              <a:buNone/>
            </a:pPr>
            <a:r>
              <a:rPr lang="en-US" sz="1050" dirty="0">
                <a:solidFill>
                  <a:srgbClr val="ECE9F8"/>
                </a:solidFill>
                <a:latin typeface="Consolas" pitchFamily="34" charset="0"/>
                <a:ea typeface="Consolas" pitchFamily="34" charset="-122"/>
                <a:cs typeface="Consolas" pitchFamily="34" charset="-120"/>
              </a:rPr>
              <a:t>a</a:t>
            </a:r>
            <a:endParaRPr lang="en-US" sz="1050" dirty="0"/>
          </a:p>
        </p:txBody>
      </p:sp>
      <p:sp>
        <p:nvSpPr>
          <p:cNvPr id="28" name="Shape 26"/>
          <p:cNvSpPr/>
          <p:nvPr/>
        </p:nvSpPr>
        <p:spPr>
          <a:xfrm>
            <a:off x="3779520" y="2843784"/>
            <a:ext cx="1356360" cy="91440"/>
          </a:xfrm>
          <a:prstGeom prst="rect">
            <a:avLst/>
          </a:prstGeom>
          <a:solidFill>
            <a:srgbClr val="36316A"/>
          </a:solidFill>
          <a:ln/>
        </p:spPr>
      </p:sp>
      <p:sp>
        <p:nvSpPr>
          <p:cNvPr id="29" name="Shape 27"/>
          <p:cNvSpPr/>
          <p:nvPr/>
        </p:nvSpPr>
        <p:spPr>
          <a:xfrm>
            <a:off x="3779520" y="2843784"/>
            <a:ext cx="840943" cy="91440"/>
          </a:xfrm>
          <a:prstGeom prst="rect">
            <a:avLst/>
          </a:prstGeom>
          <a:solidFill>
            <a:srgbClr val="FFD166"/>
          </a:solidFill>
          <a:ln/>
        </p:spPr>
      </p:sp>
      <p:sp>
        <p:nvSpPr>
          <p:cNvPr id="30" name="Text 28"/>
          <p:cNvSpPr/>
          <p:nvPr/>
        </p:nvSpPr>
        <p:spPr>
          <a:xfrm>
            <a:off x="5209032" y="2798064"/>
            <a:ext cx="384048" cy="182880"/>
          </a:xfrm>
          <a:prstGeom prst="rect">
            <a:avLst/>
          </a:prstGeom>
          <a:noFill/>
          <a:ln/>
        </p:spPr>
        <p:txBody>
          <a:bodyPr wrap="square" lIns="0" tIns="0" rIns="0" bIns="0" rtlCol="0" anchor="ctr"/>
          <a:lstStyle/>
          <a:p>
            <a:pPr algn="r" indent="0" marL="0">
              <a:buNone/>
            </a:pPr>
            <a:r>
              <a:rPr lang="en-US" sz="1050" dirty="0">
                <a:solidFill>
                  <a:srgbClr val="ABA6C8"/>
                </a:solidFill>
                <a:latin typeface="Segoe UI" pitchFamily="34" charset="0"/>
                <a:ea typeface="Segoe UI" pitchFamily="34" charset="-122"/>
                <a:cs typeface="Segoe UI" pitchFamily="34" charset="-120"/>
              </a:rPr>
              <a:t>0.62</a:t>
            </a:r>
            <a:endParaRPr lang="en-US" sz="1050" dirty="0"/>
          </a:p>
        </p:txBody>
      </p:sp>
      <p:sp>
        <p:nvSpPr>
          <p:cNvPr id="31" name="Text 29"/>
          <p:cNvSpPr/>
          <p:nvPr/>
        </p:nvSpPr>
        <p:spPr>
          <a:xfrm>
            <a:off x="3550920" y="3035808"/>
            <a:ext cx="182880" cy="182880"/>
          </a:xfrm>
          <a:prstGeom prst="rect">
            <a:avLst/>
          </a:prstGeom>
          <a:noFill/>
          <a:ln/>
        </p:spPr>
        <p:txBody>
          <a:bodyPr wrap="square" lIns="0" tIns="0" rIns="0" bIns="0" rtlCol="0" anchor="ctr"/>
          <a:lstStyle/>
          <a:p>
            <a:pPr indent="0" marL="0">
              <a:buNone/>
            </a:pPr>
            <a:r>
              <a:rPr lang="en-US" sz="1050" dirty="0">
                <a:solidFill>
                  <a:srgbClr val="ECE9F8"/>
                </a:solidFill>
                <a:latin typeface="Consolas" pitchFamily="34" charset="0"/>
                <a:ea typeface="Consolas" pitchFamily="34" charset="-122"/>
                <a:cs typeface="Consolas" pitchFamily="34" charset="-120"/>
              </a:rPr>
              <a:t>b</a:t>
            </a:r>
            <a:endParaRPr lang="en-US" sz="1050" dirty="0"/>
          </a:p>
        </p:txBody>
      </p:sp>
      <p:sp>
        <p:nvSpPr>
          <p:cNvPr id="32" name="Shape 30"/>
          <p:cNvSpPr/>
          <p:nvPr/>
        </p:nvSpPr>
        <p:spPr>
          <a:xfrm>
            <a:off x="3779520" y="3081528"/>
            <a:ext cx="1356360" cy="91440"/>
          </a:xfrm>
          <a:prstGeom prst="rect">
            <a:avLst/>
          </a:prstGeom>
          <a:solidFill>
            <a:srgbClr val="36316A"/>
          </a:solidFill>
          <a:ln/>
        </p:spPr>
      </p:sp>
      <p:sp>
        <p:nvSpPr>
          <p:cNvPr id="33" name="Shape 31"/>
          <p:cNvSpPr/>
          <p:nvPr/>
        </p:nvSpPr>
        <p:spPr>
          <a:xfrm>
            <a:off x="3779520" y="3081528"/>
            <a:ext cx="284836" cy="91440"/>
          </a:xfrm>
          <a:prstGeom prst="rect">
            <a:avLst/>
          </a:prstGeom>
          <a:solidFill>
            <a:srgbClr val="6C6790"/>
          </a:solidFill>
          <a:ln/>
        </p:spPr>
      </p:sp>
      <p:sp>
        <p:nvSpPr>
          <p:cNvPr id="34" name="Text 32"/>
          <p:cNvSpPr/>
          <p:nvPr/>
        </p:nvSpPr>
        <p:spPr>
          <a:xfrm>
            <a:off x="5209032" y="3035808"/>
            <a:ext cx="384048" cy="182880"/>
          </a:xfrm>
          <a:prstGeom prst="rect">
            <a:avLst/>
          </a:prstGeom>
          <a:noFill/>
          <a:ln/>
        </p:spPr>
        <p:txBody>
          <a:bodyPr wrap="square" lIns="0" tIns="0" rIns="0" bIns="0" rtlCol="0" anchor="ctr"/>
          <a:lstStyle/>
          <a:p>
            <a:pPr algn="r" indent="0" marL="0">
              <a:buNone/>
            </a:pPr>
            <a:r>
              <a:rPr lang="en-US" sz="1050" dirty="0">
                <a:solidFill>
                  <a:srgbClr val="ABA6C8"/>
                </a:solidFill>
                <a:latin typeface="Segoe UI" pitchFamily="34" charset="0"/>
                <a:ea typeface="Segoe UI" pitchFamily="34" charset="-122"/>
                <a:cs typeface="Segoe UI" pitchFamily="34" charset="-120"/>
              </a:rPr>
              <a:t>0.21</a:t>
            </a:r>
            <a:endParaRPr lang="en-US" sz="1050" dirty="0"/>
          </a:p>
        </p:txBody>
      </p:sp>
      <p:sp>
        <p:nvSpPr>
          <p:cNvPr id="35" name="Text 33"/>
          <p:cNvSpPr/>
          <p:nvPr/>
        </p:nvSpPr>
        <p:spPr>
          <a:xfrm>
            <a:off x="3550920" y="3273552"/>
            <a:ext cx="182880" cy="182880"/>
          </a:xfrm>
          <a:prstGeom prst="rect">
            <a:avLst/>
          </a:prstGeom>
          <a:noFill/>
          <a:ln/>
        </p:spPr>
        <p:txBody>
          <a:bodyPr wrap="square" lIns="0" tIns="0" rIns="0" bIns="0" rtlCol="0" anchor="ctr"/>
          <a:lstStyle/>
          <a:p>
            <a:pPr indent="0" marL="0">
              <a:buNone/>
            </a:pPr>
            <a:r>
              <a:rPr lang="en-US" sz="1050" dirty="0">
                <a:solidFill>
                  <a:srgbClr val="ECE9F8"/>
                </a:solidFill>
                <a:latin typeface="Consolas" pitchFamily="34" charset="0"/>
                <a:ea typeface="Consolas" pitchFamily="34" charset="-122"/>
                <a:cs typeface="Consolas" pitchFamily="34" charset="-120"/>
              </a:rPr>
              <a:t>c</a:t>
            </a:r>
            <a:endParaRPr lang="en-US" sz="1050" dirty="0"/>
          </a:p>
        </p:txBody>
      </p:sp>
      <p:sp>
        <p:nvSpPr>
          <p:cNvPr id="36" name="Shape 34"/>
          <p:cNvSpPr/>
          <p:nvPr/>
        </p:nvSpPr>
        <p:spPr>
          <a:xfrm>
            <a:off x="3779520" y="3319272"/>
            <a:ext cx="1356360" cy="91440"/>
          </a:xfrm>
          <a:prstGeom prst="rect">
            <a:avLst/>
          </a:prstGeom>
          <a:solidFill>
            <a:srgbClr val="36316A"/>
          </a:solidFill>
          <a:ln/>
        </p:spPr>
      </p:sp>
      <p:sp>
        <p:nvSpPr>
          <p:cNvPr id="37" name="Shape 35"/>
          <p:cNvSpPr/>
          <p:nvPr/>
        </p:nvSpPr>
        <p:spPr>
          <a:xfrm>
            <a:off x="3779520" y="3319272"/>
            <a:ext cx="162763" cy="91440"/>
          </a:xfrm>
          <a:prstGeom prst="rect">
            <a:avLst/>
          </a:prstGeom>
          <a:solidFill>
            <a:srgbClr val="6C6790"/>
          </a:solidFill>
          <a:ln/>
        </p:spPr>
      </p:sp>
      <p:sp>
        <p:nvSpPr>
          <p:cNvPr id="38" name="Text 36"/>
          <p:cNvSpPr/>
          <p:nvPr/>
        </p:nvSpPr>
        <p:spPr>
          <a:xfrm>
            <a:off x="5209032" y="3273552"/>
            <a:ext cx="384048" cy="182880"/>
          </a:xfrm>
          <a:prstGeom prst="rect">
            <a:avLst/>
          </a:prstGeom>
          <a:noFill/>
          <a:ln/>
        </p:spPr>
        <p:txBody>
          <a:bodyPr wrap="square" lIns="0" tIns="0" rIns="0" bIns="0" rtlCol="0" anchor="ctr"/>
          <a:lstStyle/>
          <a:p>
            <a:pPr algn="r" indent="0" marL="0">
              <a:buNone/>
            </a:pPr>
            <a:r>
              <a:rPr lang="en-US" sz="1050" dirty="0">
                <a:solidFill>
                  <a:srgbClr val="ABA6C8"/>
                </a:solidFill>
                <a:latin typeface="Segoe UI" pitchFamily="34" charset="0"/>
                <a:ea typeface="Segoe UI" pitchFamily="34" charset="-122"/>
                <a:cs typeface="Segoe UI" pitchFamily="34" charset="-120"/>
              </a:rPr>
              <a:t>0.12</a:t>
            </a:r>
            <a:endParaRPr lang="en-US" sz="1050" dirty="0"/>
          </a:p>
        </p:txBody>
      </p:sp>
      <p:sp>
        <p:nvSpPr>
          <p:cNvPr id="39" name="Text 37"/>
          <p:cNvSpPr/>
          <p:nvPr/>
        </p:nvSpPr>
        <p:spPr>
          <a:xfrm>
            <a:off x="3550920" y="3511296"/>
            <a:ext cx="182880" cy="182880"/>
          </a:xfrm>
          <a:prstGeom prst="rect">
            <a:avLst/>
          </a:prstGeom>
          <a:noFill/>
          <a:ln/>
        </p:spPr>
        <p:txBody>
          <a:bodyPr wrap="square" lIns="0" tIns="0" rIns="0" bIns="0" rtlCol="0" anchor="ctr"/>
          <a:lstStyle/>
          <a:p>
            <a:pPr indent="0" marL="0">
              <a:buNone/>
            </a:pPr>
            <a:r>
              <a:rPr lang="en-US" sz="1050" dirty="0">
                <a:solidFill>
                  <a:srgbClr val="ECE9F8"/>
                </a:solidFill>
                <a:latin typeface="Consolas" pitchFamily="34" charset="0"/>
                <a:ea typeface="Consolas" pitchFamily="34" charset="-122"/>
                <a:cs typeface="Consolas" pitchFamily="34" charset="-120"/>
              </a:rPr>
              <a:t>d</a:t>
            </a:r>
            <a:endParaRPr lang="en-US" sz="1050" dirty="0"/>
          </a:p>
        </p:txBody>
      </p:sp>
      <p:sp>
        <p:nvSpPr>
          <p:cNvPr id="40" name="Shape 38"/>
          <p:cNvSpPr/>
          <p:nvPr/>
        </p:nvSpPr>
        <p:spPr>
          <a:xfrm>
            <a:off x="3779520" y="3557016"/>
            <a:ext cx="1356360" cy="91440"/>
          </a:xfrm>
          <a:prstGeom prst="rect">
            <a:avLst/>
          </a:prstGeom>
          <a:solidFill>
            <a:srgbClr val="36316A"/>
          </a:solidFill>
          <a:ln/>
        </p:spPr>
      </p:sp>
      <p:sp>
        <p:nvSpPr>
          <p:cNvPr id="41" name="Shape 39"/>
          <p:cNvSpPr/>
          <p:nvPr/>
        </p:nvSpPr>
        <p:spPr>
          <a:xfrm>
            <a:off x="3779520" y="3557016"/>
            <a:ext cx="67818" cy="91440"/>
          </a:xfrm>
          <a:prstGeom prst="rect">
            <a:avLst/>
          </a:prstGeom>
          <a:solidFill>
            <a:srgbClr val="6C6790"/>
          </a:solidFill>
          <a:ln/>
        </p:spPr>
      </p:sp>
      <p:sp>
        <p:nvSpPr>
          <p:cNvPr id="42" name="Text 40"/>
          <p:cNvSpPr/>
          <p:nvPr/>
        </p:nvSpPr>
        <p:spPr>
          <a:xfrm>
            <a:off x="5209032" y="3511296"/>
            <a:ext cx="384048" cy="182880"/>
          </a:xfrm>
          <a:prstGeom prst="rect">
            <a:avLst/>
          </a:prstGeom>
          <a:noFill/>
          <a:ln/>
        </p:spPr>
        <p:txBody>
          <a:bodyPr wrap="square" lIns="0" tIns="0" rIns="0" bIns="0" rtlCol="0" anchor="ctr"/>
          <a:lstStyle/>
          <a:p>
            <a:pPr algn="r" indent="0" marL="0">
              <a:buNone/>
            </a:pPr>
            <a:r>
              <a:rPr lang="en-US" sz="1050" dirty="0">
                <a:solidFill>
                  <a:srgbClr val="ABA6C8"/>
                </a:solidFill>
                <a:latin typeface="Segoe UI" pitchFamily="34" charset="0"/>
                <a:ea typeface="Segoe UI" pitchFamily="34" charset="-122"/>
                <a:cs typeface="Segoe UI" pitchFamily="34" charset="-120"/>
              </a:rPr>
              <a:t>0.05</a:t>
            </a:r>
            <a:endParaRPr lang="en-US" sz="1050" dirty="0"/>
          </a:p>
        </p:txBody>
      </p:sp>
      <p:sp>
        <p:nvSpPr>
          <p:cNvPr id="43" name="Shape 41"/>
          <p:cNvSpPr/>
          <p:nvPr/>
        </p:nvSpPr>
        <p:spPr>
          <a:xfrm>
            <a:off x="6324600" y="3407054"/>
            <a:ext cx="329184" cy="76810"/>
          </a:xfrm>
          <a:prstGeom prst="rect">
            <a:avLst/>
          </a:prstGeom>
          <a:solidFill>
            <a:srgbClr val="6C6790"/>
          </a:solidFill>
          <a:ln/>
        </p:spPr>
      </p:sp>
      <p:sp>
        <p:nvSpPr>
          <p:cNvPr id="44" name="Text 42"/>
          <p:cNvSpPr/>
          <p:nvPr/>
        </p:nvSpPr>
        <p:spPr>
          <a:xfrm>
            <a:off x="6324600" y="3511296"/>
            <a:ext cx="329184" cy="182880"/>
          </a:xfrm>
          <a:prstGeom prst="rect">
            <a:avLst/>
          </a:prstGeom>
          <a:noFill/>
          <a:ln/>
        </p:spPr>
        <p:txBody>
          <a:bodyPr wrap="square" lIns="0" tIns="0" rIns="0" bIns="0" rtlCol="0" anchor="ctr"/>
          <a:lstStyle/>
          <a:p>
            <a:pPr algn="ctr" indent="0" marL="0">
              <a:buNone/>
            </a:pPr>
            <a:r>
              <a:rPr lang="en-US" sz="1050" dirty="0">
                <a:solidFill>
                  <a:srgbClr val="ABA6C8"/>
                </a:solidFill>
                <a:latin typeface="Segoe UI" pitchFamily="34" charset="0"/>
                <a:ea typeface="Segoe UI" pitchFamily="34" charset="-122"/>
                <a:cs typeface="Segoe UI" pitchFamily="34" charset="-120"/>
              </a:rPr>
              <a:t>0</a:t>
            </a:r>
            <a:endParaRPr lang="en-US" sz="1050" dirty="0"/>
          </a:p>
        </p:txBody>
      </p:sp>
      <p:sp>
        <p:nvSpPr>
          <p:cNvPr id="45" name="Shape 43"/>
          <p:cNvSpPr/>
          <p:nvPr/>
        </p:nvSpPr>
        <p:spPr>
          <a:xfrm>
            <a:off x="6895592" y="3368650"/>
            <a:ext cx="329184" cy="115214"/>
          </a:xfrm>
          <a:prstGeom prst="rect">
            <a:avLst/>
          </a:prstGeom>
          <a:solidFill>
            <a:srgbClr val="6C6790"/>
          </a:solidFill>
          <a:ln/>
        </p:spPr>
      </p:sp>
      <p:sp>
        <p:nvSpPr>
          <p:cNvPr id="46" name="Text 44"/>
          <p:cNvSpPr/>
          <p:nvPr/>
        </p:nvSpPr>
        <p:spPr>
          <a:xfrm>
            <a:off x="6895592" y="3511296"/>
            <a:ext cx="329184" cy="182880"/>
          </a:xfrm>
          <a:prstGeom prst="rect">
            <a:avLst/>
          </a:prstGeom>
          <a:noFill/>
          <a:ln/>
        </p:spPr>
        <p:txBody>
          <a:bodyPr wrap="square" lIns="0" tIns="0" rIns="0" bIns="0" rtlCol="0" anchor="ctr"/>
          <a:lstStyle/>
          <a:p>
            <a:pPr algn="ctr" indent="0" marL="0">
              <a:buNone/>
            </a:pPr>
            <a:r>
              <a:rPr lang="en-US" sz="1050" dirty="0">
                <a:solidFill>
                  <a:srgbClr val="ABA6C8"/>
                </a:solidFill>
                <a:latin typeface="Segoe UI" pitchFamily="34" charset="0"/>
                <a:ea typeface="Segoe UI" pitchFamily="34" charset="-122"/>
                <a:cs typeface="Segoe UI" pitchFamily="34" charset="-120"/>
              </a:rPr>
              <a:t>1</a:t>
            </a:r>
            <a:endParaRPr lang="en-US" sz="1050" dirty="0"/>
          </a:p>
        </p:txBody>
      </p:sp>
      <p:sp>
        <p:nvSpPr>
          <p:cNvPr id="47" name="Shape 45"/>
          <p:cNvSpPr/>
          <p:nvPr/>
        </p:nvSpPr>
        <p:spPr>
          <a:xfrm>
            <a:off x="7466584" y="3099816"/>
            <a:ext cx="329184" cy="384048"/>
          </a:xfrm>
          <a:prstGeom prst="rect">
            <a:avLst/>
          </a:prstGeom>
          <a:solidFill>
            <a:srgbClr val="FFD166"/>
          </a:solidFill>
          <a:ln/>
        </p:spPr>
      </p:sp>
      <p:sp>
        <p:nvSpPr>
          <p:cNvPr id="48" name="Text 46"/>
          <p:cNvSpPr/>
          <p:nvPr/>
        </p:nvSpPr>
        <p:spPr>
          <a:xfrm>
            <a:off x="7466584" y="3511296"/>
            <a:ext cx="329184" cy="182880"/>
          </a:xfrm>
          <a:prstGeom prst="rect">
            <a:avLst/>
          </a:prstGeom>
          <a:noFill/>
          <a:ln/>
        </p:spPr>
        <p:txBody>
          <a:bodyPr wrap="square" lIns="0" tIns="0" rIns="0" bIns="0" rtlCol="0" anchor="ctr"/>
          <a:lstStyle/>
          <a:p>
            <a:pPr algn="ctr" indent="0" marL="0">
              <a:buNone/>
            </a:pPr>
            <a:r>
              <a:rPr lang="en-US" sz="1050" dirty="0">
                <a:solidFill>
                  <a:srgbClr val="ABA6C8"/>
                </a:solidFill>
                <a:latin typeface="Segoe UI" pitchFamily="34" charset="0"/>
                <a:ea typeface="Segoe UI" pitchFamily="34" charset="-122"/>
                <a:cs typeface="Segoe UI" pitchFamily="34" charset="-120"/>
              </a:rPr>
              <a:t>2</a:t>
            </a:r>
            <a:endParaRPr lang="en-US" sz="1050" dirty="0"/>
          </a:p>
        </p:txBody>
      </p:sp>
      <p:sp>
        <p:nvSpPr>
          <p:cNvPr id="49" name="Shape 47"/>
          <p:cNvSpPr/>
          <p:nvPr/>
        </p:nvSpPr>
        <p:spPr>
          <a:xfrm>
            <a:off x="8037576" y="3291840"/>
            <a:ext cx="329184" cy="192024"/>
          </a:xfrm>
          <a:prstGeom prst="rect">
            <a:avLst/>
          </a:prstGeom>
          <a:solidFill>
            <a:srgbClr val="6C6790"/>
          </a:solidFill>
          <a:ln/>
        </p:spPr>
      </p:sp>
      <p:sp>
        <p:nvSpPr>
          <p:cNvPr id="50" name="Text 48"/>
          <p:cNvSpPr/>
          <p:nvPr/>
        </p:nvSpPr>
        <p:spPr>
          <a:xfrm>
            <a:off x="8037576" y="3511296"/>
            <a:ext cx="329184" cy="182880"/>
          </a:xfrm>
          <a:prstGeom prst="rect">
            <a:avLst/>
          </a:prstGeom>
          <a:noFill/>
          <a:ln/>
        </p:spPr>
        <p:txBody>
          <a:bodyPr wrap="square" lIns="0" tIns="0" rIns="0" bIns="0" rtlCol="0" anchor="ctr"/>
          <a:lstStyle/>
          <a:p>
            <a:pPr algn="ctr" indent="0" marL="0">
              <a:buNone/>
            </a:pPr>
            <a:r>
              <a:rPr lang="en-US" sz="1050" dirty="0">
                <a:solidFill>
                  <a:srgbClr val="ABA6C8"/>
                </a:solidFill>
                <a:latin typeface="Segoe UI" pitchFamily="34" charset="0"/>
                <a:ea typeface="Segoe UI" pitchFamily="34" charset="-122"/>
                <a:cs typeface="Segoe UI" pitchFamily="34" charset="-120"/>
              </a:rPr>
              <a:t>3</a:t>
            </a:r>
            <a:endParaRPr lang="en-US" sz="1050" dirty="0"/>
          </a:p>
        </p:txBody>
      </p:sp>
      <p:sp>
        <p:nvSpPr>
          <p:cNvPr id="51" name="Text 49"/>
          <p:cNvSpPr/>
          <p:nvPr/>
        </p:nvSpPr>
        <p:spPr>
          <a:xfrm>
            <a:off x="7025437" y="2752344"/>
            <a:ext cx="1097280" cy="201168"/>
          </a:xfrm>
          <a:prstGeom prst="rect">
            <a:avLst/>
          </a:prstGeom>
          <a:noFill/>
          <a:ln/>
        </p:spPr>
        <p:txBody>
          <a:bodyPr wrap="square" lIns="0" tIns="0" rIns="0" bIns="0" rtlCol="0" anchor="ctr"/>
          <a:lstStyle/>
          <a:p>
            <a:pPr algn="ctr" indent="0" marL="0">
              <a:buNone/>
            </a:pPr>
            <a:r>
              <a:rPr lang="en-US" sz="1050" dirty="0">
                <a:solidFill>
                  <a:srgbClr val="3DD6FF"/>
                </a:solidFill>
                <a:latin typeface="Segoe UI Semibold" pitchFamily="34" charset="0"/>
                <a:ea typeface="Segoe UI Semibold" pitchFamily="34" charset="-122"/>
                <a:cs typeface="Segoe UI Semibold" pitchFamily="34" charset="-120"/>
              </a:rPr>
              <a:t>score = 1.90</a:t>
            </a:r>
            <a:endParaRPr lang="en-US" sz="1050" dirty="0"/>
          </a:p>
        </p:txBody>
      </p:sp>
      <p:sp>
        <p:nvSpPr>
          <p:cNvPr id="52" name="Shape 50"/>
          <p:cNvSpPr/>
          <p:nvPr/>
        </p:nvSpPr>
        <p:spPr>
          <a:xfrm rot="10800000">
            <a:off x="7505497" y="2971800"/>
            <a:ext cx="137160" cy="91440"/>
          </a:xfrm>
          <a:prstGeom prst="triangle">
            <a:avLst/>
          </a:prstGeom>
          <a:solidFill>
            <a:srgbClr val="3DD6FF"/>
          </a:solidFill>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7071A"/>
        </a:solidFill>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sp>
      <p:sp>
        <p:nvSpPr>
          <p:cNvPr id="3" name="Text 1"/>
          <p:cNvSpPr/>
          <p:nvPr/>
        </p:nvSpPr>
        <p:spPr>
          <a:xfrm>
            <a:off x="749808" y="393192"/>
            <a:ext cx="5943600" cy="292608"/>
          </a:xfrm>
          <a:prstGeom prst="rect">
            <a:avLst/>
          </a:prstGeom>
          <a:noFill/>
          <a:ln/>
        </p:spPr>
        <p:txBody>
          <a:bodyPr wrap="square" lIns="0" tIns="0" rIns="0" bIns="0" rtlCol="0" anchor="ctr"/>
          <a:lstStyle/>
          <a:p>
            <a:pPr indent="0" marL="0">
              <a:buNone/>
            </a:pPr>
            <a:r>
              <a:rPr lang="en-US" sz="1100" spc="300" kern="0" dirty="0">
                <a:solidFill>
                  <a:srgbClr val="ABA6C8"/>
                </a:solidFill>
                <a:latin typeface="Segoe UI Semibold" pitchFamily="34" charset="0"/>
                <a:ea typeface="Segoe UI Semibold" pitchFamily="34" charset="-122"/>
                <a:cs typeface="Segoe UI Semibold" pitchFamily="34" charset="-120"/>
              </a:rPr>
              <a:t>NOUL</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algn="r" indent="0" marL="0">
              <a:buNone/>
            </a:pPr>
            <a:r>
              <a:rPr lang="en-US" sz="1100" dirty="0">
                <a:solidFill>
                  <a:srgbClr val="ABA6C8"/>
                </a:solidFill>
                <a:latin typeface="Segoe UI Semibold" pitchFamily="34" charset="0"/>
                <a:ea typeface="Segoe UI Semibold" pitchFamily="34" charset="-122"/>
                <a:cs typeface="Segoe UI Semibold" pitchFamily="34" charset="-120"/>
              </a:rPr>
              <a:t>05 / 11</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indent="0" marL="0">
              <a:buNone/>
            </a:pPr>
            <a:r>
              <a:rPr lang="en-US" sz="3400" i="1" dirty="0">
                <a:solidFill>
                  <a:srgbClr val="ECE9F8"/>
                </a:solidFill>
                <a:latin typeface="Segoe UI Black" pitchFamily="34" charset="0"/>
                <a:ea typeface="Segoe UI Black" pitchFamily="34" charset="-122"/>
                <a:cs typeface="Segoe UI Black" pitchFamily="34" charset="-120"/>
              </a:rPr>
              <a:t>One probability, many policies</a:t>
            </a:r>
            <a:endParaRPr lang="en-US" sz="3400" dirty="0"/>
          </a:p>
        </p:txBody>
      </p:sp>
      <p:sp>
        <p:nvSpPr>
          <p:cNvPr id="6" name="Shape 4"/>
          <p:cNvSpPr/>
          <p:nvPr/>
        </p:nvSpPr>
        <p:spPr>
          <a:xfrm>
            <a:off x="548640" y="1691640"/>
            <a:ext cx="4023360" cy="2834640"/>
          </a:xfrm>
          <a:prstGeom prst="roundRect">
            <a:avLst>
              <a:gd name="adj" fmla="val 3871"/>
            </a:avLst>
          </a:prstGeom>
          <a:solidFill>
            <a:srgbClr val="110F2B"/>
          </a:solidFill>
          <a:ln/>
        </p:spPr>
      </p:sp>
      <p:sp>
        <p:nvSpPr>
          <p:cNvPr id="7" name="Text 5"/>
          <p:cNvSpPr/>
          <p:nvPr/>
        </p:nvSpPr>
        <p:spPr>
          <a:xfrm>
            <a:off x="777240" y="1874520"/>
            <a:ext cx="1828800" cy="237744"/>
          </a:xfrm>
          <a:prstGeom prst="rect">
            <a:avLst/>
          </a:prstGeom>
          <a:noFill/>
          <a:ln/>
        </p:spPr>
        <p:txBody>
          <a:bodyPr wrap="square" lIns="0" tIns="0" rIns="0" bIns="0" rtlCol="0" anchor="ctr"/>
          <a:lstStyle/>
          <a:p>
            <a:pPr indent="0" marL="0">
              <a:buNone/>
            </a:pPr>
            <a:r>
              <a:rPr lang="en-US" sz="1050" spc="200" kern="0" dirty="0">
                <a:solidFill>
                  <a:srgbClr val="ABA6C8"/>
                </a:solidFill>
                <a:latin typeface="Segoe UI Semibold" pitchFamily="34" charset="0"/>
                <a:ea typeface="Segoe UI Semibold" pitchFamily="34" charset="-122"/>
                <a:cs typeface="Segoe UI Semibold" pitchFamily="34" charset="-120"/>
              </a:rPr>
              <a:t>REQUEST</a:t>
            </a:r>
            <a:endParaRPr lang="en-US" sz="1050" dirty="0"/>
          </a:p>
        </p:txBody>
      </p:sp>
      <p:sp>
        <p:nvSpPr>
          <p:cNvPr id="8" name="Text 6"/>
          <p:cNvSpPr/>
          <p:nvPr/>
        </p:nvSpPr>
        <p:spPr>
          <a:xfrm>
            <a:off x="777240" y="2167128"/>
            <a:ext cx="3611880" cy="868680"/>
          </a:xfrm>
          <a:prstGeom prst="rect">
            <a:avLst/>
          </a:prstGeom>
          <a:noFill/>
          <a:ln/>
        </p:spPr>
        <p:txBody>
          <a:bodyPr wrap="square" lIns="0" tIns="0" rIns="0" bIns="0" rtlCol="0" anchor="t"/>
          <a:lstStyle/>
          <a:p>
            <a:pPr indent="0" marL="0">
              <a:lnSpc>
                <a:spcPct val="100000"/>
              </a:lnSpc>
              <a:buNone/>
            </a:pPr>
            <a:r>
              <a:rPr lang="en-US" sz="1100" dirty="0">
                <a:solidFill>
                  <a:srgbClr val="ECE9F8"/>
                </a:solidFill>
                <a:latin typeface="Consolas" pitchFamily="34" charset="0"/>
                <a:ea typeface="Consolas" pitchFamily="34" charset="-122"/>
                <a:cs typeface="Consolas" pitchFamily="34" charset="-120"/>
              </a:rPr>
              <a:t>"nitro"</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a:t>
            </a:r>
            <a:endParaRPr lang="en-US" sz="1100" dirty="0"/>
          </a:p>
          <a:p>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100" dirty="0">
                <a:solidFill>
                  <a:srgbClr val="ECE9F8"/>
                </a:solidFill>
                <a:latin typeface="Consolas" pitchFamily="34" charset="0"/>
                <a:ea typeface="Consolas" pitchFamily="34" charset="-122"/>
                <a:cs typeface="Consolas" pitchFamily="34" charset="-120"/>
              </a:rPr>
              <a:t>"type"</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100" dirty="0">
                <a:solidFill>
                  <a:srgbClr val="FFD166"/>
                </a:solidFill>
                <a:latin typeface="Consolas" pitchFamily="34" charset="0"/>
                <a:ea typeface="Consolas" pitchFamily="34" charset="-122"/>
                <a:cs typeface="Consolas" pitchFamily="34" charset="-120"/>
              </a:rPr>
              <a:t>"noul"</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a:t>
            </a:r>
            <a:endParaRPr lang="en-US" sz="1100" dirty="0"/>
          </a:p>
          <a:p>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100" dirty="0">
                <a:solidFill>
                  <a:srgbClr val="ECE9F8"/>
                </a:solidFill>
                <a:latin typeface="Consolas" pitchFamily="34" charset="0"/>
                <a:ea typeface="Consolas" pitchFamily="34" charset="-122"/>
                <a:cs typeface="Consolas" pitchFamily="34" charset="-120"/>
              </a:rPr>
              <a:t>"instructions"</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a:t>
            </a:r>
            <a:endParaRPr lang="en-US" sz="1100" dirty="0"/>
          </a:p>
          <a:p>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100" dirty="0">
                <a:solidFill>
                  <a:srgbClr val="FFD166"/>
                </a:solidFill>
                <a:latin typeface="Consolas" pitchFamily="34" charset="0"/>
                <a:ea typeface="Consolas" pitchFamily="34" charset="-122"/>
                <a:cs typeface="Consolas" pitchFamily="34" charset="-120"/>
              </a:rPr>
              <a:t>"Should the driver fire the nitro …"</a:t>
            </a:r>
            <a:endParaRPr lang="en-US" sz="1100" dirty="0"/>
          </a:p>
          <a:p>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a:t>
            </a:r>
            <a:endParaRPr lang="en-US" sz="1100" dirty="0"/>
          </a:p>
        </p:txBody>
      </p:sp>
      <p:sp>
        <p:nvSpPr>
          <p:cNvPr id="9" name="Text 7"/>
          <p:cNvSpPr/>
          <p:nvPr/>
        </p:nvSpPr>
        <p:spPr>
          <a:xfrm>
            <a:off x="777240" y="3209544"/>
            <a:ext cx="1828800" cy="237744"/>
          </a:xfrm>
          <a:prstGeom prst="rect">
            <a:avLst/>
          </a:prstGeom>
          <a:noFill/>
          <a:ln/>
        </p:spPr>
        <p:txBody>
          <a:bodyPr wrap="square" lIns="0" tIns="0" rIns="0" bIns="0" rtlCol="0" anchor="ctr"/>
          <a:lstStyle/>
          <a:p>
            <a:pPr indent="0" marL="0">
              <a:buNone/>
            </a:pPr>
            <a:r>
              <a:rPr lang="en-US" sz="1050" spc="200" kern="0" dirty="0">
                <a:solidFill>
                  <a:srgbClr val="ABA6C8"/>
                </a:solidFill>
                <a:latin typeface="Segoe UI Semibold" pitchFamily="34" charset="0"/>
                <a:ea typeface="Segoe UI Semibold" pitchFamily="34" charset="-122"/>
                <a:cs typeface="Segoe UI Semibold" pitchFamily="34" charset="-120"/>
              </a:rPr>
              <a:t>RESPONSE</a:t>
            </a:r>
            <a:endParaRPr lang="en-US" sz="1050" dirty="0"/>
          </a:p>
        </p:txBody>
      </p:sp>
      <p:sp>
        <p:nvSpPr>
          <p:cNvPr id="10" name="Text 8"/>
          <p:cNvSpPr/>
          <p:nvPr/>
        </p:nvSpPr>
        <p:spPr>
          <a:xfrm>
            <a:off x="777240" y="3502152"/>
            <a:ext cx="3611880" cy="201168"/>
          </a:xfrm>
          <a:prstGeom prst="rect">
            <a:avLst/>
          </a:prstGeom>
          <a:noFill/>
          <a:ln/>
        </p:spPr>
        <p:txBody>
          <a:bodyPr wrap="square" lIns="0" tIns="0" rIns="0" bIns="0" rtlCol="0" anchor="t"/>
          <a:lstStyle/>
          <a:p>
            <a:pPr indent="0" marL="0">
              <a:lnSpc>
                <a:spcPct val="100000"/>
              </a:lnSpc>
              <a:buNone/>
            </a:pPr>
            <a:r>
              <a:rPr lang="en-US" sz="1100" dirty="0">
                <a:solidFill>
                  <a:srgbClr val="ECE9F8"/>
                </a:solidFill>
                <a:latin typeface="Consolas" pitchFamily="34" charset="0"/>
                <a:ea typeface="Consolas" pitchFamily="34" charset="-122"/>
                <a:cs typeface="Consolas" pitchFamily="34" charset="-120"/>
              </a:rPr>
              <a:t>"nitro"</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100" dirty="0">
                <a:solidFill>
                  <a:srgbClr val="ECE9F8"/>
                </a:solidFill>
                <a:latin typeface="Consolas" pitchFamily="34" charset="0"/>
                <a:ea typeface="Consolas" pitchFamily="34" charset="-122"/>
                <a:cs typeface="Consolas" pitchFamily="34" charset="-120"/>
              </a:rPr>
              <a:t>"type"</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100" dirty="0">
                <a:solidFill>
                  <a:srgbClr val="FFD166"/>
                </a:solidFill>
                <a:latin typeface="Consolas" pitchFamily="34" charset="0"/>
                <a:ea typeface="Consolas" pitchFamily="34" charset="-122"/>
                <a:cs typeface="Consolas" pitchFamily="34" charset="-120"/>
              </a:rPr>
              <a:t>"noul"</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100" dirty="0">
                <a:solidFill>
                  <a:srgbClr val="ECE9F8"/>
                </a:solidFill>
                <a:latin typeface="Consolas" pitchFamily="34" charset="0"/>
                <a:ea typeface="Consolas" pitchFamily="34" charset="-122"/>
                <a:cs typeface="Consolas" pitchFamily="34" charset="-120"/>
              </a:rPr>
              <a:t>"noul"</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100" dirty="0">
                <a:solidFill>
                  <a:srgbClr val="3DD6FF"/>
                </a:solidFill>
                <a:latin typeface="Consolas" pitchFamily="34" charset="0"/>
                <a:ea typeface="Consolas" pitchFamily="34" charset="-122"/>
                <a:cs typeface="Consolas" pitchFamily="34" charset="-120"/>
              </a:rPr>
              <a:t>0.62</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a:t>
            </a:r>
            <a:endParaRPr lang="en-US" sz="1100" dirty="0"/>
          </a:p>
        </p:txBody>
      </p:sp>
      <p:sp>
        <p:nvSpPr>
          <p:cNvPr id="11" name="Text 9"/>
          <p:cNvSpPr/>
          <p:nvPr/>
        </p:nvSpPr>
        <p:spPr>
          <a:xfrm>
            <a:off x="777240" y="3941064"/>
            <a:ext cx="3566160" cy="411480"/>
          </a:xfrm>
          <a:prstGeom prst="rect">
            <a:avLst/>
          </a:prstGeom>
          <a:noFill/>
          <a:ln/>
        </p:spPr>
        <p:txBody>
          <a:bodyPr wrap="square" lIns="0" tIns="0" rIns="0" bIns="0" rtlCol="0" anchor="t"/>
          <a:lstStyle/>
          <a:p>
            <a:pPr indent="0" marL="0">
              <a:buNone/>
            </a:pPr>
            <a:r>
              <a:rPr lang="en-US" sz="1050" dirty="0">
                <a:solidFill>
                  <a:srgbClr val="ABA6C8"/>
                </a:solidFill>
                <a:latin typeface="Segoe UI" pitchFamily="34" charset="0"/>
                <a:ea typeface="Segoe UI" pitchFamily="34" charset="-122"/>
                <a:cs typeface="Segoe UI" pitchFamily="34" charset="-120"/>
              </a:rPr>
              <a:t>Game code calls it a </a:t>
            </a:r>
            <a:pPr indent="0" marL="0">
              <a:buNone/>
            </a:pPr>
            <a:r>
              <a:rPr lang="en-US" sz="1050" dirty="0">
                <a:solidFill>
                  <a:srgbClr val="ECE9F8"/>
                </a:solidFill>
                <a:latin typeface="Consolas" pitchFamily="34" charset="0"/>
                <a:ea typeface="Consolas" pitchFamily="34" charset="-122"/>
                <a:cs typeface="Consolas" pitchFamily="34" charset="-120"/>
              </a:rPr>
              <a:t>predicate</a:t>
            </a:r>
            <a:pPr indent="0" marL="0">
              <a:buNone/>
            </a:pPr>
            <a:r>
              <a:rPr lang="en-US" sz="1050" dirty="0">
                <a:solidFill>
                  <a:srgbClr val="ABA6C8"/>
                </a:solidFill>
                <a:latin typeface="Segoe UI" pitchFamily="34" charset="0"/>
                <a:ea typeface="Segoe UI" pitchFamily="34" charset="-122"/>
                <a:cs typeface="Segoe UI" pitchFamily="34" charset="-120"/>
              </a:rPr>
              <a:t>; </a:t>
            </a:r>
            <a:pPr indent="0" marL="0">
              <a:buNone/>
            </a:pPr>
            <a:r>
              <a:rPr lang="en-US" sz="1050" dirty="0">
                <a:solidFill>
                  <a:srgbClr val="ECE9F8"/>
                </a:solidFill>
                <a:latin typeface="Consolas" pitchFamily="34" charset="0"/>
                <a:ea typeface="Consolas" pitchFamily="34" charset="-122"/>
                <a:cs typeface="Consolas" pitchFamily="34" charset="-120"/>
              </a:rPr>
              <a:t>lib/decisions.js</a:t>
            </a:r>
            <a:pPr indent="0" marL="0">
              <a:buNone/>
            </a:pPr>
            <a:r>
              <a:rPr lang="en-US" sz="1050" dirty="0">
                <a:solidFill>
                  <a:srgbClr val="ABA6C8"/>
                </a:solidFill>
                <a:latin typeface="Segoe UI" pitchFamily="34" charset="0"/>
                <a:ea typeface="Segoe UI" pitchFamily="34" charset="-122"/>
                <a:cs typeface="Segoe UI" pitchFamily="34" charset="-120"/>
              </a:rPr>
              <a:t> maps it to </a:t>
            </a:r>
            <a:pPr indent="0" marL="0">
              <a:buNone/>
            </a:pPr>
            <a:r>
              <a:rPr lang="en-US" sz="1050" dirty="0">
                <a:solidFill>
                  <a:srgbClr val="ECE9F8"/>
                </a:solidFill>
                <a:latin typeface="Consolas" pitchFamily="34" charset="0"/>
                <a:ea typeface="Consolas" pitchFamily="34" charset="-122"/>
                <a:cs typeface="Consolas" pitchFamily="34" charset="-120"/>
              </a:rPr>
              <a:t>noul</a:t>
            </a:r>
            <a:pPr indent="0" marL="0">
              <a:buNone/>
            </a:pPr>
            <a:r>
              <a:rPr lang="en-US" sz="1050" dirty="0">
                <a:solidFill>
                  <a:srgbClr val="ABA6C8"/>
                </a:solidFill>
                <a:latin typeface="Segoe UI" pitchFamily="34" charset="0"/>
                <a:ea typeface="Segoe UI" pitchFamily="34" charset="-122"/>
                <a:cs typeface="Segoe UI" pitchFamily="34" charset="-120"/>
              </a:rPr>
              <a:t> on the wire.</a:t>
            </a:r>
            <a:endParaRPr lang="en-US" sz="1050" dirty="0"/>
          </a:p>
        </p:txBody>
      </p:sp>
      <p:sp>
        <p:nvSpPr>
          <p:cNvPr id="12" name="Text 10"/>
          <p:cNvSpPr/>
          <p:nvPr/>
        </p:nvSpPr>
        <p:spPr>
          <a:xfrm>
            <a:off x="4846320" y="1874520"/>
            <a:ext cx="3749040" cy="237744"/>
          </a:xfrm>
          <a:prstGeom prst="rect">
            <a:avLst/>
          </a:prstGeom>
          <a:noFill/>
          <a:ln/>
        </p:spPr>
        <p:txBody>
          <a:bodyPr wrap="square" lIns="0" tIns="0" rIns="0" bIns="0" rtlCol="0" anchor="ctr"/>
          <a:lstStyle/>
          <a:p>
            <a:pPr indent="0" marL="0">
              <a:buNone/>
            </a:pPr>
            <a:r>
              <a:rPr lang="en-US" sz="1050" spc="200" kern="0" dirty="0">
                <a:solidFill>
                  <a:srgbClr val="ABA6C8"/>
                </a:solidFill>
                <a:latin typeface="Segoe UI Semibold" pitchFamily="34" charset="0"/>
                <a:ea typeface="Segoe UI Semibold" pitchFamily="34" charset="-122"/>
                <a:cs typeface="Segoe UI Semibold" pitchFamily="34" charset="-120"/>
              </a:rPr>
              <a:t>SAME ANSWER, FIVE DRIVERS</a:t>
            </a:r>
            <a:endParaRPr lang="en-US" sz="1050" dirty="0"/>
          </a:p>
        </p:txBody>
      </p:sp>
      <p:sp>
        <p:nvSpPr>
          <p:cNvPr id="13" name="Shape 11"/>
          <p:cNvSpPr/>
          <p:nvPr/>
        </p:nvSpPr>
        <p:spPr>
          <a:xfrm>
            <a:off x="4846320" y="2788920"/>
            <a:ext cx="3749040" cy="73152"/>
          </a:xfrm>
          <a:prstGeom prst="rect">
            <a:avLst/>
          </a:prstGeom>
          <a:solidFill>
            <a:srgbClr val="36316A"/>
          </a:solidFill>
          <a:ln/>
        </p:spPr>
      </p:sp>
      <p:sp>
        <p:nvSpPr>
          <p:cNvPr id="14" name="Text 12"/>
          <p:cNvSpPr/>
          <p:nvPr/>
        </p:nvSpPr>
        <p:spPr>
          <a:xfrm>
            <a:off x="6330696" y="2258568"/>
            <a:ext cx="1280160" cy="219456"/>
          </a:xfrm>
          <a:prstGeom prst="rect">
            <a:avLst/>
          </a:prstGeom>
          <a:noFill/>
          <a:ln/>
        </p:spPr>
        <p:txBody>
          <a:bodyPr wrap="square" lIns="0" tIns="0" rIns="0" bIns="0" rtlCol="0" anchor="ctr"/>
          <a:lstStyle/>
          <a:p>
            <a:pPr algn="ctr" indent="0" marL="0">
              <a:buNone/>
            </a:pPr>
            <a:r>
              <a:rPr lang="en-US" sz="1100" dirty="0">
                <a:solidFill>
                  <a:srgbClr val="3DD6FF"/>
                </a:solidFill>
                <a:latin typeface="Segoe UI Semibold" pitchFamily="34" charset="0"/>
                <a:ea typeface="Segoe UI Semibold" pitchFamily="34" charset="-122"/>
                <a:cs typeface="Segoe UI Semibold" pitchFamily="34" charset="-120"/>
              </a:rPr>
              <a:t>noul = 0.62</a:t>
            </a:r>
            <a:endParaRPr lang="en-US" sz="1100" dirty="0"/>
          </a:p>
        </p:txBody>
      </p:sp>
      <p:sp>
        <p:nvSpPr>
          <p:cNvPr id="15" name="Shape 13"/>
          <p:cNvSpPr/>
          <p:nvPr/>
        </p:nvSpPr>
        <p:spPr>
          <a:xfrm>
            <a:off x="6959803" y="2514600"/>
            <a:ext cx="21946" cy="384048"/>
          </a:xfrm>
          <a:prstGeom prst="rect">
            <a:avLst/>
          </a:prstGeom>
          <a:solidFill>
            <a:srgbClr val="3DD6FF"/>
          </a:solidFill>
          <a:ln/>
        </p:spPr>
      </p:sp>
      <p:sp>
        <p:nvSpPr>
          <p:cNvPr id="16" name="Shape 14"/>
          <p:cNvSpPr/>
          <p:nvPr/>
        </p:nvSpPr>
        <p:spPr>
          <a:xfrm>
            <a:off x="5407152" y="2761488"/>
            <a:ext cx="128016" cy="128016"/>
          </a:xfrm>
          <a:prstGeom prst="ellipse">
            <a:avLst/>
          </a:prstGeom>
          <a:solidFill>
            <a:srgbClr val="ECE9F8"/>
          </a:solidFill>
          <a:ln/>
        </p:spPr>
      </p:sp>
      <p:sp>
        <p:nvSpPr>
          <p:cNvPr id="17" name="Text 15"/>
          <p:cNvSpPr/>
          <p:nvPr/>
        </p:nvSpPr>
        <p:spPr>
          <a:xfrm>
            <a:off x="5196840" y="2944368"/>
            <a:ext cx="548640" cy="182880"/>
          </a:xfrm>
          <a:prstGeom prst="rect">
            <a:avLst/>
          </a:prstGeom>
          <a:noFill/>
          <a:ln/>
        </p:spPr>
        <p:txBody>
          <a:bodyPr wrap="square" lIns="0" tIns="0" rIns="0" bIns="0" rtlCol="0" anchor="ctr"/>
          <a:lstStyle/>
          <a:p>
            <a:pPr algn="ctr" indent="0" marL="0">
              <a:buNone/>
            </a:pPr>
            <a:r>
              <a:rPr lang="en-US" sz="1100" dirty="0">
                <a:solidFill>
                  <a:srgbClr val="ABA6C8"/>
                </a:solidFill>
                <a:latin typeface="Segoe UI" pitchFamily="34" charset="0"/>
                <a:ea typeface="Segoe UI" pitchFamily="34" charset="-122"/>
                <a:cs typeface="Segoe UI" pitchFamily="34" charset="-120"/>
              </a:rPr>
              <a:t>0.50</a:t>
            </a:r>
            <a:endParaRPr lang="en-US" sz="1100" dirty="0"/>
          </a:p>
        </p:txBody>
      </p:sp>
      <p:sp>
        <p:nvSpPr>
          <p:cNvPr id="18" name="Shape 16"/>
          <p:cNvSpPr/>
          <p:nvPr/>
        </p:nvSpPr>
        <p:spPr>
          <a:xfrm>
            <a:off x="6656832" y="2761488"/>
            <a:ext cx="128016" cy="128016"/>
          </a:xfrm>
          <a:prstGeom prst="ellipse">
            <a:avLst/>
          </a:prstGeom>
          <a:solidFill>
            <a:srgbClr val="ECE9F8"/>
          </a:solidFill>
          <a:ln/>
        </p:spPr>
      </p:sp>
      <p:sp>
        <p:nvSpPr>
          <p:cNvPr id="19" name="Text 17"/>
          <p:cNvSpPr/>
          <p:nvPr/>
        </p:nvSpPr>
        <p:spPr>
          <a:xfrm>
            <a:off x="6446520" y="2944368"/>
            <a:ext cx="548640" cy="182880"/>
          </a:xfrm>
          <a:prstGeom prst="rect">
            <a:avLst/>
          </a:prstGeom>
          <a:noFill/>
          <a:ln/>
        </p:spPr>
        <p:txBody>
          <a:bodyPr wrap="square" lIns="0" tIns="0" rIns="0" bIns="0" rtlCol="0" anchor="ctr"/>
          <a:lstStyle/>
          <a:p>
            <a:pPr algn="ctr" indent="0" marL="0">
              <a:buNone/>
            </a:pPr>
            <a:r>
              <a:rPr lang="en-US" sz="1100" dirty="0">
                <a:solidFill>
                  <a:srgbClr val="ABA6C8"/>
                </a:solidFill>
                <a:latin typeface="Segoe UI" pitchFamily="34" charset="0"/>
                <a:ea typeface="Segoe UI" pitchFamily="34" charset="-122"/>
                <a:cs typeface="Segoe UI" pitchFamily="34" charset="-120"/>
              </a:rPr>
              <a:t>0.60</a:t>
            </a:r>
            <a:endParaRPr lang="en-US" sz="1100" dirty="0"/>
          </a:p>
        </p:txBody>
      </p:sp>
      <p:sp>
        <p:nvSpPr>
          <p:cNvPr id="20" name="Shape 18"/>
          <p:cNvSpPr/>
          <p:nvPr/>
        </p:nvSpPr>
        <p:spPr>
          <a:xfrm>
            <a:off x="7281672" y="2761488"/>
            <a:ext cx="128016" cy="128016"/>
          </a:xfrm>
          <a:prstGeom prst="ellipse">
            <a:avLst/>
          </a:prstGeom>
          <a:solidFill>
            <a:srgbClr val="ECE9F8"/>
          </a:solidFill>
          <a:ln/>
        </p:spPr>
      </p:sp>
      <p:sp>
        <p:nvSpPr>
          <p:cNvPr id="21" name="Text 19"/>
          <p:cNvSpPr/>
          <p:nvPr/>
        </p:nvSpPr>
        <p:spPr>
          <a:xfrm>
            <a:off x="7071360" y="2944368"/>
            <a:ext cx="548640" cy="182880"/>
          </a:xfrm>
          <a:prstGeom prst="rect">
            <a:avLst/>
          </a:prstGeom>
          <a:noFill/>
          <a:ln/>
        </p:spPr>
        <p:txBody>
          <a:bodyPr wrap="square" lIns="0" tIns="0" rIns="0" bIns="0" rtlCol="0" anchor="ctr"/>
          <a:lstStyle/>
          <a:p>
            <a:pPr algn="ctr" indent="0" marL="0">
              <a:buNone/>
            </a:pPr>
            <a:r>
              <a:rPr lang="en-US" sz="1100" dirty="0">
                <a:solidFill>
                  <a:srgbClr val="ABA6C8"/>
                </a:solidFill>
                <a:latin typeface="Segoe UI" pitchFamily="34" charset="0"/>
                <a:ea typeface="Segoe UI" pitchFamily="34" charset="-122"/>
                <a:cs typeface="Segoe UI" pitchFamily="34" charset="-120"/>
              </a:rPr>
              <a:t>0.65</a:t>
            </a:r>
            <a:endParaRPr lang="en-US" sz="1100" dirty="0"/>
          </a:p>
        </p:txBody>
      </p:sp>
      <p:sp>
        <p:nvSpPr>
          <p:cNvPr id="22" name="Text 20"/>
          <p:cNvSpPr/>
          <p:nvPr/>
        </p:nvSpPr>
        <p:spPr>
          <a:xfrm>
            <a:off x="4846320" y="3383280"/>
            <a:ext cx="640080" cy="310896"/>
          </a:xfrm>
          <a:prstGeom prst="rect">
            <a:avLst/>
          </a:prstGeom>
          <a:noFill/>
          <a:ln/>
        </p:spPr>
        <p:txBody>
          <a:bodyPr wrap="square" lIns="0" tIns="0" rIns="0" bIns="0" rtlCol="0" anchor="ctr"/>
          <a:lstStyle/>
          <a:p>
            <a:pPr indent="0" marL="0">
              <a:buNone/>
            </a:pPr>
            <a:r>
              <a:rPr lang="en-US" sz="1200" dirty="0">
                <a:solidFill>
                  <a:srgbClr val="ECE9F8"/>
                </a:solidFill>
                <a:latin typeface="Segoe UI Semibold" pitchFamily="34" charset="0"/>
                <a:ea typeface="Segoe UI Semibold" pitchFamily="34" charset="-122"/>
                <a:cs typeface="Segoe UI Semibold" pitchFamily="34" charset="-120"/>
              </a:rPr>
              <a:t>≥ 0.50</a:t>
            </a:r>
            <a:endParaRPr lang="en-US" sz="1200" dirty="0"/>
          </a:p>
        </p:txBody>
      </p:sp>
      <p:sp>
        <p:nvSpPr>
          <p:cNvPr id="23" name="Text 21"/>
          <p:cNvSpPr/>
          <p:nvPr/>
        </p:nvSpPr>
        <p:spPr>
          <a:xfrm>
            <a:off x="5577840" y="3383280"/>
            <a:ext cx="2377440" cy="310896"/>
          </a:xfrm>
          <a:prstGeom prst="rect">
            <a:avLst/>
          </a:prstGeom>
          <a:noFill/>
          <a:ln/>
        </p:spPr>
        <p:txBody>
          <a:bodyPr wrap="square" lIns="0" tIns="0" rIns="0" bIns="0" rtlCol="0" anchor="ctr"/>
          <a:lstStyle/>
          <a:p>
            <a:pPr indent="0" marL="0">
              <a:buNone/>
            </a:pPr>
            <a:r>
              <a:rPr lang="en-US" sz="1150" dirty="0">
                <a:solidFill>
                  <a:srgbClr val="ECE9F8"/>
                </a:solidFill>
                <a:latin typeface="Segoe UI" pitchFamily="34" charset="0"/>
                <a:ea typeface="Segoe UI" pitchFamily="34" charset="-122"/>
                <a:cs typeface="Segoe UI" pitchFamily="34" charset="-120"/>
              </a:rPr>
              <a:t>Vega, Rigel</a:t>
            </a:r>
            <a:pPr indent="0" marL="0">
              <a:buNone/>
            </a:pPr>
            <a:r>
              <a:rPr lang="en-US" sz="1150" dirty="0">
                <a:solidFill>
                  <a:srgbClr val="ABA6C8"/>
                </a:solidFill>
                <a:latin typeface="Segoe UI" pitchFamily="34" charset="0"/>
                <a:ea typeface="Segoe UI" pitchFamily="34" charset="-122"/>
                <a:cs typeface="Segoe UI" pitchFamily="34" charset="-120"/>
              </a:rPr>
              <a:t>  aggressive · wildcard</a:t>
            </a:r>
            <a:endParaRPr lang="en-US" sz="1150" dirty="0"/>
          </a:p>
        </p:txBody>
      </p:sp>
      <p:sp>
        <p:nvSpPr>
          <p:cNvPr id="24" name="Text 22"/>
          <p:cNvSpPr/>
          <p:nvPr/>
        </p:nvSpPr>
        <p:spPr>
          <a:xfrm>
            <a:off x="7955280" y="3383280"/>
            <a:ext cx="640080" cy="310896"/>
          </a:xfrm>
          <a:prstGeom prst="rect">
            <a:avLst/>
          </a:prstGeom>
          <a:noFill/>
          <a:ln/>
        </p:spPr>
        <p:txBody>
          <a:bodyPr wrap="square" lIns="0" tIns="0" rIns="0" bIns="0" rtlCol="0" anchor="ctr"/>
          <a:lstStyle/>
          <a:p>
            <a:pPr algn="r" indent="0" marL="0">
              <a:buNone/>
            </a:pPr>
            <a:r>
              <a:rPr lang="en-US" sz="1100" b="1" spc="200" kern="0" dirty="0">
                <a:solidFill>
                  <a:srgbClr val="4ADE80"/>
                </a:solidFill>
                <a:latin typeface="Segoe UI Semibold" pitchFamily="34" charset="0"/>
                <a:ea typeface="Segoe UI Semibold" pitchFamily="34" charset="-122"/>
                <a:cs typeface="Segoe UI Semibold" pitchFamily="34" charset="-120"/>
              </a:rPr>
              <a:t>FIRE</a:t>
            </a:r>
            <a:endParaRPr lang="en-US" sz="1100" dirty="0"/>
          </a:p>
        </p:txBody>
      </p:sp>
      <p:sp>
        <p:nvSpPr>
          <p:cNvPr id="25" name="Text 23"/>
          <p:cNvSpPr/>
          <p:nvPr/>
        </p:nvSpPr>
        <p:spPr>
          <a:xfrm>
            <a:off x="4846320" y="3767328"/>
            <a:ext cx="640080" cy="310896"/>
          </a:xfrm>
          <a:prstGeom prst="rect">
            <a:avLst/>
          </a:prstGeom>
          <a:noFill/>
          <a:ln/>
        </p:spPr>
        <p:txBody>
          <a:bodyPr wrap="square" lIns="0" tIns="0" rIns="0" bIns="0" rtlCol="0" anchor="ctr"/>
          <a:lstStyle/>
          <a:p>
            <a:pPr indent="0" marL="0">
              <a:buNone/>
            </a:pPr>
            <a:r>
              <a:rPr lang="en-US" sz="1200" dirty="0">
                <a:solidFill>
                  <a:srgbClr val="ECE9F8"/>
                </a:solidFill>
                <a:latin typeface="Segoe UI Semibold" pitchFamily="34" charset="0"/>
                <a:ea typeface="Segoe UI Semibold" pitchFamily="34" charset="-122"/>
                <a:cs typeface="Segoe UI Semibold" pitchFamily="34" charset="-120"/>
              </a:rPr>
              <a:t>≥ 0.60</a:t>
            </a:r>
            <a:endParaRPr lang="en-US" sz="1200" dirty="0"/>
          </a:p>
        </p:txBody>
      </p:sp>
      <p:sp>
        <p:nvSpPr>
          <p:cNvPr id="26" name="Text 24"/>
          <p:cNvSpPr/>
          <p:nvPr/>
        </p:nvSpPr>
        <p:spPr>
          <a:xfrm>
            <a:off x="5577840" y="3767328"/>
            <a:ext cx="2377440" cy="310896"/>
          </a:xfrm>
          <a:prstGeom prst="rect">
            <a:avLst/>
          </a:prstGeom>
          <a:noFill/>
          <a:ln/>
        </p:spPr>
        <p:txBody>
          <a:bodyPr wrap="square" lIns="0" tIns="0" rIns="0" bIns="0" rtlCol="0" anchor="ctr"/>
          <a:lstStyle/>
          <a:p>
            <a:pPr indent="0" marL="0">
              <a:buNone/>
            </a:pPr>
            <a:r>
              <a:rPr lang="en-US" sz="1150" dirty="0">
                <a:solidFill>
                  <a:srgbClr val="ECE9F8"/>
                </a:solidFill>
                <a:latin typeface="Segoe UI" pitchFamily="34" charset="0"/>
                <a:ea typeface="Segoe UI" pitchFamily="34" charset="-122"/>
                <a:cs typeface="Segoe UI" pitchFamily="34" charset="-120"/>
              </a:rPr>
              <a:t>Orion</a:t>
            </a:r>
            <a:pPr indent="0" marL="0">
              <a:buNone/>
            </a:pPr>
            <a:r>
              <a:rPr lang="en-US" sz="1150" dirty="0">
                <a:solidFill>
                  <a:srgbClr val="ABA6C8"/>
                </a:solidFill>
                <a:latin typeface="Segoe UI" pitchFamily="34" charset="0"/>
                <a:ea typeface="Segoe UI" pitchFamily="34" charset="-122"/>
                <a:cs typeface="Segoe UI" pitchFamily="34" charset="-120"/>
              </a:rPr>
              <a:t>  defensive</a:t>
            </a:r>
            <a:endParaRPr lang="en-US" sz="1150" dirty="0"/>
          </a:p>
        </p:txBody>
      </p:sp>
      <p:sp>
        <p:nvSpPr>
          <p:cNvPr id="27" name="Text 25"/>
          <p:cNvSpPr/>
          <p:nvPr/>
        </p:nvSpPr>
        <p:spPr>
          <a:xfrm>
            <a:off x="7955280" y="3767328"/>
            <a:ext cx="640080" cy="310896"/>
          </a:xfrm>
          <a:prstGeom prst="rect">
            <a:avLst/>
          </a:prstGeom>
          <a:noFill/>
          <a:ln/>
        </p:spPr>
        <p:txBody>
          <a:bodyPr wrap="square" lIns="0" tIns="0" rIns="0" bIns="0" rtlCol="0" anchor="ctr"/>
          <a:lstStyle/>
          <a:p>
            <a:pPr algn="r" indent="0" marL="0">
              <a:buNone/>
            </a:pPr>
            <a:r>
              <a:rPr lang="en-US" sz="1100" b="1" spc="200" kern="0" dirty="0">
                <a:solidFill>
                  <a:srgbClr val="4ADE80"/>
                </a:solidFill>
                <a:latin typeface="Segoe UI Semibold" pitchFamily="34" charset="0"/>
                <a:ea typeface="Segoe UI Semibold" pitchFamily="34" charset="-122"/>
                <a:cs typeface="Segoe UI Semibold" pitchFamily="34" charset="-120"/>
              </a:rPr>
              <a:t>FIRE</a:t>
            </a:r>
            <a:endParaRPr lang="en-US" sz="1100" dirty="0"/>
          </a:p>
        </p:txBody>
      </p:sp>
      <p:sp>
        <p:nvSpPr>
          <p:cNvPr id="28" name="Text 26"/>
          <p:cNvSpPr/>
          <p:nvPr/>
        </p:nvSpPr>
        <p:spPr>
          <a:xfrm>
            <a:off x="4846320" y="4151376"/>
            <a:ext cx="640080" cy="310896"/>
          </a:xfrm>
          <a:prstGeom prst="rect">
            <a:avLst/>
          </a:prstGeom>
          <a:noFill/>
          <a:ln/>
        </p:spPr>
        <p:txBody>
          <a:bodyPr wrap="square" lIns="0" tIns="0" rIns="0" bIns="0" rtlCol="0" anchor="ctr"/>
          <a:lstStyle/>
          <a:p>
            <a:pPr indent="0" marL="0">
              <a:buNone/>
            </a:pPr>
            <a:r>
              <a:rPr lang="en-US" sz="1200" dirty="0">
                <a:solidFill>
                  <a:srgbClr val="ECE9F8"/>
                </a:solidFill>
                <a:latin typeface="Segoe UI Semibold" pitchFamily="34" charset="0"/>
                <a:ea typeface="Segoe UI Semibold" pitchFamily="34" charset="-122"/>
                <a:cs typeface="Segoe UI Semibold" pitchFamily="34" charset="-120"/>
              </a:rPr>
              <a:t>≥ 0.65</a:t>
            </a:r>
            <a:endParaRPr lang="en-US" sz="1200" dirty="0"/>
          </a:p>
        </p:txBody>
      </p:sp>
      <p:sp>
        <p:nvSpPr>
          <p:cNvPr id="29" name="Text 27"/>
          <p:cNvSpPr/>
          <p:nvPr/>
        </p:nvSpPr>
        <p:spPr>
          <a:xfrm>
            <a:off x="5577840" y="4151376"/>
            <a:ext cx="2377440" cy="310896"/>
          </a:xfrm>
          <a:prstGeom prst="rect">
            <a:avLst/>
          </a:prstGeom>
          <a:noFill/>
          <a:ln/>
        </p:spPr>
        <p:txBody>
          <a:bodyPr wrap="square" lIns="0" tIns="0" rIns="0" bIns="0" rtlCol="0" anchor="ctr"/>
          <a:lstStyle/>
          <a:p>
            <a:pPr indent="0" marL="0">
              <a:buNone/>
            </a:pPr>
            <a:r>
              <a:rPr lang="en-US" sz="1150" dirty="0">
                <a:solidFill>
                  <a:srgbClr val="ECE9F8"/>
                </a:solidFill>
                <a:latin typeface="Segoe UI" pitchFamily="34" charset="0"/>
                <a:ea typeface="Segoe UI" pitchFamily="34" charset="-122"/>
                <a:cs typeface="Segoe UI" pitchFamily="34" charset="-120"/>
              </a:rPr>
              <a:t>Nova, Lyra</a:t>
            </a:r>
            <a:pPr indent="0" marL="0">
              <a:buNone/>
            </a:pPr>
            <a:r>
              <a:rPr lang="en-US" sz="1150" dirty="0">
                <a:solidFill>
                  <a:srgbClr val="ABA6C8"/>
                </a:solidFill>
                <a:latin typeface="Segoe UI" pitchFamily="34" charset="0"/>
                <a:ea typeface="Segoe UI" pitchFamily="34" charset="-122"/>
                <a:cs typeface="Segoe UI" pitchFamily="34" charset="-120"/>
              </a:rPr>
              <a:t>  tactical · smooth</a:t>
            </a:r>
            <a:endParaRPr lang="en-US" sz="1150" dirty="0"/>
          </a:p>
        </p:txBody>
      </p:sp>
      <p:sp>
        <p:nvSpPr>
          <p:cNvPr id="30" name="Text 28"/>
          <p:cNvSpPr/>
          <p:nvPr/>
        </p:nvSpPr>
        <p:spPr>
          <a:xfrm>
            <a:off x="7955280" y="4151376"/>
            <a:ext cx="640080" cy="310896"/>
          </a:xfrm>
          <a:prstGeom prst="rect">
            <a:avLst/>
          </a:prstGeom>
          <a:noFill/>
          <a:ln/>
        </p:spPr>
        <p:txBody>
          <a:bodyPr wrap="square" lIns="0" tIns="0" rIns="0" bIns="0" rtlCol="0" anchor="ctr"/>
          <a:lstStyle/>
          <a:p>
            <a:pPr algn="r" indent="0" marL="0">
              <a:buNone/>
            </a:pPr>
            <a:r>
              <a:rPr lang="en-US" sz="1100" b="1" spc="200" kern="0" dirty="0">
                <a:solidFill>
                  <a:srgbClr val="FF5FA2"/>
                </a:solidFill>
                <a:latin typeface="Segoe UI Semibold" pitchFamily="34" charset="0"/>
                <a:ea typeface="Segoe UI Semibold" pitchFamily="34" charset="-122"/>
                <a:cs typeface="Segoe UI Semibold" pitchFamily="34" charset="-120"/>
              </a:rPr>
              <a:t>HOLD</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7071A"/>
        </a:solidFill>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sp>
      <p:sp>
        <p:nvSpPr>
          <p:cNvPr id="3" name="Text 1"/>
          <p:cNvSpPr/>
          <p:nvPr/>
        </p:nvSpPr>
        <p:spPr>
          <a:xfrm>
            <a:off x="749808" y="393192"/>
            <a:ext cx="5943600" cy="292608"/>
          </a:xfrm>
          <a:prstGeom prst="rect">
            <a:avLst/>
          </a:prstGeom>
          <a:noFill/>
          <a:ln/>
        </p:spPr>
        <p:txBody>
          <a:bodyPr wrap="square" lIns="0" tIns="0" rIns="0" bIns="0" rtlCol="0" anchor="ctr"/>
          <a:lstStyle/>
          <a:p>
            <a:pPr indent="0" marL="0">
              <a:buNone/>
            </a:pPr>
            <a:r>
              <a:rPr lang="en-US" sz="1100" spc="300" kern="0" dirty="0">
                <a:solidFill>
                  <a:srgbClr val="ABA6C8"/>
                </a:solidFill>
                <a:latin typeface="Segoe UI Semibold" pitchFamily="34" charset="0"/>
                <a:ea typeface="Segoe UI Semibold" pitchFamily="34" charset="-122"/>
                <a:cs typeface="Segoe UI Semibold" pitchFamily="34" charset="-120"/>
              </a:rPr>
              <a:t>THE QUESTIONS</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algn="r" indent="0" marL="0">
              <a:buNone/>
            </a:pPr>
            <a:r>
              <a:rPr lang="en-US" sz="1100" dirty="0">
                <a:solidFill>
                  <a:srgbClr val="ABA6C8"/>
                </a:solidFill>
                <a:latin typeface="Segoe UI Semibold" pitchFamily="34" charset="0"/>
                <a:ea typeface="Segoe UI Semibold" pitchFamily="34" charset="-122"/>
                <a:cs typeface="Segoe UI Semibold" pitchFamily="34" charset="-120"/>
              </a:rPr>
              <a:t>06 / 11</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indent="0" marL="0">
              <a:buNone/>
            </a:pPr>
            <a:r>
              <a:rPr lang="en-US" sz="3400" i="1" dirty="0">
                <a:solidFill>
                  <a:srgbClr val="ECE9F8"/>
                </a:solidFill>
                <a:latin typeface="Segoe UI Black" pitchFamily="34" charset="0"/>
                <a:ea typeface="Segoe UI Black" pitchFamily="34" charset="-122"/>
                <a:cs typeface="Segoe UI Black" pitchFamily="34" charset="-120"/>
              </a:rPr>
              <a:t>Eight questions, three callers</a:t>
            </a:r>
            <a:endParaRPr lang="en-US" sz="34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8046720" cy="914400"/>
        </p:xfrm>
        <a:graphic>
          <a:graphicData uri="http://schemas.openxmlformats.org/drawingml/2006/table">
            <a:tbl>
              <a:tblPr/>
              <a:tblGrid>
                <a:gridCol w="1325880"/>
                <a:gridCol w="1463040"/>
                <a:gridCol w="685800"/>
                <a:gridCol w="2148840"/>
                <a:gridCol w="2423160"/>
              </a:tblGrid>
              <a:tr h="274320">
                <a:tc>
                  <a:txBody>
                    <a:bodyPr/>
                    <a:lstStyle/>
                    <a:p>
                      <a:pPr indent="0" marL="0">
                        <a:buNone/>
                      </a:pPr>
                      <a:r>
                        <a:rPr lang="en-US" sz="1000" spc="200" kern="0" dirty="0">
                          <a:solidFill>
                            <a:srgbClr val="ABA6C8"/>
                          </a:solidFill>
                          <a:latin typeface="Segoe UI Semibold" pitchFamily="34" charset="0"/>
                          <a:ea typeface="Segoe UI Semibold" pitchFamily="34" charset="-122"/>
                          <a:cs typeface="Segoe UI Semibold" pitchFamily="34" charset="-120"/>
                        </a:rPr>
                        <a:t>CALLER</a:t>
                      </a:r>
                      <a:endParaRPr lang="en-US" sz="1000" dirty="0">
                        <a:latin typeface="Segoe UI Semibold" charset="0"/>
                        <a:ea typeface="Segoe UI Semibold" charset="0"/>
                        <a:cs typeface="Segoe UI Semibold" charset="0"/>
                      </a:endParaRPr>
                    </a:p>
                  </a:txBody>
                  <a:tcPr marL="0" marR="54864" marT="0" marB="0" anchor="ctr">
                    <a:lnL w="0" cap="flat" cmpd="sng" algn="ctr">
                      <a:noFill/>
                    </a:lnL>
                    <a:lnR w="0" cap="flat" cmpd="sng" algn="ctr">
                      <a:noFill/>
                    </a:lnR>
                    <a:lnT w="0" cap="flat" cmpd="sng" algn="ctr">
                      <a:noFill/>
                    </a:lnT>
                    <a:lnB w="15875" cap="flat" cmpd="sng" algn="ctr">
                      <a:solidFill>
                        <a:srgbClr val="6C6790"/>
                      </a:solidFill>
                      <a:prstDash val="solid"/>
                      <a:round/>
                      <a:headEnd type="none" w="med" len="med"/>
                      <a:tailEnd type="none" w="med" len="med"/>
                    </a:lnB>
                    <a:solidFill>
                      <a:srgbClr val="07071A"/>
                    </a:solidFill>
                  </a:tcPr>
                </a:tc>
                <a:tc>
                  <a:txBody>
                    <a:bodyPr/>
                    <a:lstStyle/>
                    <a:p>
                      <a:pPr indent="0" marL="0">
                        <a:buNone/>
                      </a:pPr>
                      <a:r>
                        <a:rPr lang="en-US" sz="1000" spc="200" kern="0" dirty="0">
                          <a:solidFill>
                            <a:srgbClr val="ABA6C8"/>
                          </a:solidFill>
                          <a:latin typeface="Segoe UI Semibold" pitchFamily="34" charset="0"/>
                          <a:ea typeface="Segoe UI Semibold" pitchFamily="34" charset="-122"/>
                          <a:cs typeface="Segoe UI Semibold" pitchFamily="34" charset="-120"/>
                        </a:rPr>
                        <a:t>QUESTION</a:t>
                      </a:r>
                      <a:endParaRPr lang="en-US" sz="1000" dirty="0">
                        <a:latin typeface="Segoe UI Semibold" charset="0"/>
                        <a:ea typeface="Segoe UI Semibold" charset="0"/>
                        <a:cs typeface="Segoe UI Semibold" charset="0"/>
                      </a:endParaRPr>
                    </a:p>
                  </a:txBody>
                  <a:tcPr marL="54864" marR="54864" marT="0" marB="0" anchor="ctr">
                    <a:lnL w="0" cap="flat" cmpd="sng" algn="ctr">
                      <a:noFill/>
                    </a:lnL>
                    <a:lnR w="0" cap="flat" cmpd="sng" algn="ctr">
                      <a:noFill/>
                    </a:lnR>
                    <a:lnT w="0" cap="flat" cmpd="sng" algn="ctr">
                      <a:noFill/>
                    </a:lnT>
                    <a:lnB w="15875" cap="flat" cmpd="sng" algn="ctr">
                      <a:solidFill>
                        <a:srgbClr val="6C6790"/>
                      </a:solidFill>
                      <a:prstDash val="solid"/>
                      <a:round/>
                      <a:headEnd type="none" w="med" len="med"/>
                      <a:tailEnd type="none" w="med" len="med"/>
                    </a:lnB>
                    <a:solidFill>
                      <a:srgbClr val="07071A"/>
                    </a:solidFill>
                  </a:tcPr>
                </a:tc>
                <a:tc>
                  <a:txBody>
                    <a:bodyPr/>
                    <a:lstStyle/>
                    <a:p>
                      <a:pPr indent="0" marL="0">
                        <a:buNone/>
                      </a:pPr>
                      <a:r>
                        <a:rPr lang="en-US" sz="1000" spc="200" kern="0" dirty="0">
                          <a:solidFill>
                            <a:srgbClr val="ABA6C8"/>
                          </a:solidFill>
                          <a:latin typeface="Segoe UI Semibold" pitchFamily="34" charset="0"/>
                          <a:ea typeface="Segoe UI Semibold" pitchFamily="34" charset="-122"/>
                          <a:cs typeface="Segoe UI Semibold" pitchFamily="34" charset="-120"/>
                        </a:rPr>
                        <a:t>TYPE</a:t>
                      </a:r>
                      <a:endParaRPr lang="en-US" sz="1000" dirty="0">
                        <a:latin typeface="Segoe UI Semibold" charset="0"/>
                        <a:ea typeface="Segoe UI Semibold" charset="0"/>
                        <a:cs typeface="Segoe UI Semibold" charset="0"/>
                      </a:endParaRPr>
                    </a:p>
                  </a:txBody>
                  <a:tcPr marL="54864" marR="54864" marT="0" marB="0" anchor="ctr">
                    <a:lnL w="0" cap="flat" cmpd="sng" algn="ctr">
                      <a:noFill/>
                    </a:lnL>
                    <a:lnR w="0" cap="flat" cmpd="sng" algn="ctr">
                      <a:noFill/>
                    </a:lnR>
                    <a:lnT w="0" cap="flat" cmpd="sng" algn="ctr">
                      <a:noFill/>
                    </a:lnT>
                    <a:lnB w="15875" cap="flat" cmpd="sng" algn="ctr">
                      <a:solidFill>
                        <a:srgbClr val="6C6790"/>
                      </a:solidFill>
                      <a:prstDash val="solid"/>
                      <a:round/>
                      <a:headEnd type="none" w="med" len="med"/>
                      <a:tailEnd type="none" w="med" len="med"/>
                    </a:lnB>
                    <a:solidFill>
                      <a:srgbClr val="07071A"/>
                    </a:solidFill>
                  </a:tcPr>
                </a:tc>
                <a:tc>
                  <a:txBody>
                    <a:bodyPr/>
                    <a:lstStyle/>
                    <a:p>
                      <a:pPr indent="0" marL="0">
                        <a:buNone/>
                      </a:pPr>
                      <a:r>
                        <a:rPr lang="en-US" sz="1000" spc="200" kern="0" dirty="0">
                          <a:solidFill>
                            <a:srgbClr val="ABA6C8"/>
                          </a:solidFill>
                          <a:latin typeface="Segoe UI Semibold" pitchFamily="34" charset="0"/>
                          <a:ea typeface="Segoe UI Semibold" pitchFamily="34" charset="-122"/>
                          <a:cs typeface="Segoe UI Semibold" pitchFamily="34" charset="-120"/>
                        </a:rPr>
                        <a:t>ANSWER SPACE</a:t>
                      </a:r>
                      <a:endParaRPr lang="en-US" sz="1000" dirty="0">
                        <a:latin typeface="Segoe UI Semibold" charset="0"/>
                        <a:ea typeface="Segoe UI Semibold" charset="0"/>
                        <a:cs typeface="Segoe UI Semibold" charset="0"/>
                      </a:endParaRPr>
                    </a:p>
                  </a:txBody>
                  <a:tcPr marL="54864" marR="54864" marT="0" marB="0" anchor="ctr">
                    <a:lnL w="0" cap="flat" cmpd="sng" algn="ctr">
                      <a:noFill/>
                    </a:lnL>
                    <a:lnR w="0" cap="flat" cmpd="sng" algn="ctr">
                      <a:noFill/>
                    </a:lnR>
                    <a:lnT w="0" cap="flat" cmpd="sng" algn="ctr">
                      <a:noFill/>
                    </a:lnT>
                    <a:lnB w="15875" cap="flat" cmpd="sng" algn="ctr">
                      <a:solidFill>
                        <a:srgbClr val="6C6790"/>
                      </a:solidFill>
                      <a:prstDash val="solid"/>
                      <a:round/>
                      <a:headEnd type="none" w="med" len="med"/>
                      <a:tailEnd type="none" w="med" len="med"/>
                    </a:lnB>
                    <a:solidFill>
                      <a:srgbClr val="07071A"/>
                    </a:solidFill>
                  </a:tcPr>
                </a:tc>
                <a:tc>
                  <a:txBody>
                    <a:bodyPr/>
                    <a:lstStyle/>
                    <a:p>
                      <a:pPr indent="0" marL="0">
                        <a:buNone/>
                      </a:pPr>
                      <a:r>
                        <a:rPr lang="en-US" sz="1000" spc="200" kern="0" dirty="0">
                          <a:solidFill>
                            <a:srgbClr val="ABA6C8"/>
                          </a:solidFill>
                          <a:latin typeface="Segoe UI Semibold" pitchFamily="34" charset="0"/>
                          <a:ea typeface="Segoe UI Semibold" pitchFamily="34" charset="-122"/>
                          <a:cs typeface="Segoe UI Semibold" pitchFamily="34" charset="-120"/>
                        </a:rPr>
                        <a:t>GAME POLICY</a:t>
                      </a:r>
                      <a:endParaRPr lang="en-US" sz="1000" dirty="0">
                        <a:latin typeface="Segoe UI Semibold" charset="0"/>
                        <a:ea typeface="Segoe UI Semibold" charset="0"/>
                        <a:cs typeface="Segoe UI Semibold" charset="0"/>
                      </a:endParaRPr>
                    </a:p>
                  </a:txBody>
                  <a:tcPr marL="54864" marR="54864" marT="0" marB="0" anchor="ctr">
                    <a:lnL w="0" cap="flat" cmpd="sng" algn="ctr">
                      <a:noFill/>
                    </a:lnL>
                    <a:lnR w="0" cap="flat" cmpd="sng" algn="ctr">
                      <a:noFill/>
                    </a:lnR>
                    <a:lnT w="0" cap="flat" cmpd="sng" algn="ctr">
                      <a:noFill/>
                    </a:lnT>
                    <a:lnB w="15875" cap="flat" cmpd="sng" algn="ctr">
                      <a:solidFill>
                        <a:srgbClr val="6C6790"/>
                      </a:solidFill>
                      <a:prstDash val="solid"/>
                      <a:round/>
                      <a:headEnd type="none" w="med" len="med"/>
                      <a:tailEnd type="none" w="med" len="med"/>
                    </a:lnB>
                    <a:solidFill>
                      <a:srgbClr val="07071A"/>
                    </a:solidFill>
                  </a:tcPr>
                </a:tc>
              </a:tr>
              <a:tr h="310896">
                <a:tc rowSpan="3">
                  <a:txBody>
                    <a:bodyPr/>
                    <a:lstStyle/>
                    <a:p>
                      <a:pPr indent="0" marL="0">
                        <a:buNone/>
                      </a:pPr>
                      <a:r>
                        <a:rPr lang="en-US" sz="1100" dirty="0">
                          <a:solidFill>
                            <a:srgbClr val="ECE9F8"/>
                          </a:solidFill>
                          <a:latin typeface="Segoe UI Semibold" pitchFamily="34" charset="0"/>
                          <a:ea typeface="Segoe UI Semibold" pitchFamily="34" charset="-122"/>
                          <a:cs typeface="Segoe UI Semibold" pitchFamily="34" charset="-120"/>
                        </a:rPr>
                        <a:t>Rivals ×5</a:t>
                      </a:r>
                      <a:endParaRPr lang="en-US" sz="1200" dirty="0"/>
                    </a:p>
                    <a:p>
                      <a:pPr indent="0" marL="0">
                        <a:buNone/>
                      </a:pPr>
                      <a:r>
                        <a:rPr lang="en-US" sz="1050" dirty="0">
                          <a:solidFill>
                            <a:srgbClr val="ABA6C8"/>
                          </a:solidFill>
                          <a:latin typeface="Segoe UI" pitchFamily="34" charset="0"/>
                          <a:ea typeface="Segoe UI" pitchFamily="34" charset="-122"/>
                          <a:cs typeface="Segoe UI" pitchFamily="34" charset="-120"/>
                        </a:rPr>
                        <a:t>every 0.65–1.8 s</a:t>
                      </a:r>
                      <a:endParaRPr lang="en-US" sz="1200" dirty="0"/>
                    </a:p>
                  </a:txBody>
                  <a:tcPr marL="0"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00" dirty="0">
                          <a:solidFill>
                            <a:srgbClr val="ECE9F8"/>
                          </a:solidFill>
                          <a:latin typeface="Consolas" pitchFamily="34" charset="0"/>
                          <a:ea typeface="Consolas" pitchFamily="34" charset="-122"/>
                          <a:cs typeface="Consolas" pitchFamily="34" charset="-120"/>
                        </a:rPr>
                        <a:t>maneuver</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00" dirty="0">
                          <a:solidFill>
                            <a:srgbClr val="FFD166"/>
                          </a:solidFill>
                          <a:latin typeface="Consolas" pitchFamily="34" charset="0"/>
                          <a:ea typeface="Consolas" pitchFamily="34" charset="-122"/>
                          <a:cs typeface="Consolas" pitchFamily="34" charset="-120"/>
                        </a:rPr>
                        <a:t>choice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ABA6C8"/>
                          </a:solidFill>
                          <a:latin typeface="Segoe UI" pitchFamily="34" charset="0"/>
                          <a:ea typeface="Segoe UI" pitchFamily="34" charset="-122"/>
                          <a:cs typeface="Segoe UI" pitchFamily="34" charset="-120"/>
                        </a:rPr>
                        <a:t>6 maneuvers</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ECE9F8"/>
                          </a:solidFill>
                          <a:latin typeface="Segoe UI" pitchFamily="34" charset="0"/>
                          <a:ea typeface="Segoe UI" pitchFamily="34" charset="-122"/>
                          <a:cs typeface="Segoe UI" pitchFamily="34" charset="-120"/>
                        </a:rPr>
                        <a:t>steer to the chosen line</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r>
              <a:tr h="310896">
                <a:tc vMerge="1">
                  <a:tcPr/>
                </a:tc>
                <a:tc>
                  <a:txBody>
                    <a:bodyPr/>
                    <a:lstStyle/>
                    <a:p>
                      <a:pPr indent="0" marL="0">
                        <a:buNone/>
                      </a:pPr>
                      <a:r>
                        <a:rPr lang="en-US" sz="1000" dirty="0">
                          <a:solidFill>
                            <a:srgbClr val="ECE9F8"/>
                          </a:solidFill>
                          <a:latin typeface="Consolas" pitchFamily="34" charset="0"/>
                          <a:ea typeface="Consolas" pitchFamily="34" charset="-122"/>
                          <a:cs typeface="Consolas" pitchFamily="34" charset="-120"/>
                        </a:rPr>
                        <a:t>pace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00" dirty="0">
                          <a:solidFill>
                            <a:srgbClr val="FFD166"/>
                          </a:solidFill>
                          <a:latin typeface="Consolas" pitchFamily="34" charset="0"/>
                          <a:ea typeface="Consolas" pitchFamily="34" charset="-122"/>
                          <a:cs typeface="Consolas" pitchFamily="34" charset="-120"/>
                        </a:rPr>
                        <a:t>score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ABA6C8"/>
                          </a:solidFill>
                          <a:latin typeface="Segoe UI" pitchFamily="34" charset="0"/>
                          <a:ea typeface="Segoe UI" pitchFamily="34" charset="-122"/>
                          <a:cs typeface="Segoe UI" pitchFamily="34" charset="-120"/>
                        </a:rPr>
                        <a:t>0–3, Conserve → Flat out</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ECE9F8"/>
                          </a:solidFill>
                          <a:latin typeface="Segoe UI" pitchFamily="34" charset="0"/>
                          <a:ea typeface="Segoe UI" pitchFamily="34" charset="-122"/>
                          <a:cs typeface="Segoe UI" pitchFamily="34" charset="-120"/>
                        </a:rPr>
                        <a:t>target = 92–101% of top speed</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r>
              <a:tr h="310896">
                <a:tc vMerge="1">
                  <a:tcPr/>
                </a:tc>
                <a:tc>
                  <a:txBody>
                    <a:bodyPr/>
                    <a:lstStyle/>
                    <a:p>
                      <a:pPr indent="0" marL="0">
                        <a:buNone/>
                      </a:pPr>
                      <a:r>
                        <a:rPr lang="en-US" sz="1000" dirty="0">
                          <a:solidFill>
                            <a:srgbClr val="ECE9F8"/>
                          </a:solidFill>
                          <a:latin typeface="Consolas" pitchFamily="34" charset="0"/>
                          <a:ea typeface="Consolas" pitchFamily="34" charset="-122"/>
                          <a:cs typeface="Consolas" pitchFamily="34" charset="-120"/>
                        </a:rPr>
                        <a:t>nitro</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00" dirty="0">
                          <a:solidFill>
                            <a:srgbClr val="FFD166"/>
                          </a:solidFill>
                          <a:latin typeface="Consolas" pitchFamily="34" charset="0"/>
                          <a:ea typeface="Consolas" pitchFamily="34" charset="-122"/>
                          <a:cs typeface="Consolas" pitchFamily="34" charset="-120"/>
                        </a:rPr>
                        <a:t>noul</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ABA6C8"/>
                          </a:solidFill>
                          <a:latin typeface="Segoe UI" pitchFamily="34" charset="0"/>
                          <a:ea typeface="Segoe UI" pitchFamily="34" charset="-122"/>
                          <a:cs typeface="Segoe UI" pitchFamily="34" charset="-120"/>
                        </a:rPr>
                        <a:t>p(true)</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ECE9F8"/>
                          </a:solidFill>
                          <a:latin typeface="Segoe UI" pitchFamily="34" charset="0"/>
                          <a:ea typeface="Segoe UI" pitchFamily="34" charset="-122"/>
                          <a:cs typeface="Segoe UI" pitchFamily="34" charset="-120"/>
                        </a:rPr>
                        <a:t>fire if p ≥ 0.50–0.65</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r>
              <a:tr h="310896">
                <a:tc rowSpan="2">
                  <a:txBody>
                    <a:bodyPr/>
                    <a:lstStyle/>
                    <a:p>
                      <a:pPr indent="0" marL="0">
                        <a:buNone/>
                      </a:pPr>
                      <a:r>
                        <a:rPr lang="en-US" sz="1100" dirty="0">
                          <a:solidFill>
                            <a:srgbClr val="ECE9F8"/>
                          </a:solidFill>
                          <a:latin typeface="Segoe UI Semibold" pitchFamily="34" charset="0"/>
                          <a:ea typeface="Segoe UI Semibold" pitchFamily="34" charset="-122"/>
                          <a:cs typeface="Segoe UI Semibold" pitchFamily="34" charset="-120"/>
                        </a:rPr>
                        <a:t>Race Control</a:t>
                      </a:r>
                      <a:endParaRPr lang="en-US" sz="1200" dirty="0"/>
                    </a:p>
                    <a:p>
                      <a:pPr indent="0" marL="0">
                        <a:buNone/>
                      </a:pPr>
                      <a:r>
                        <a:rPr lang="en-US" sz="1050" dirty="0">
                          <a:solidFill>
                            <a:srgbClr val="ABA6C8"/>
                          </a:solidFill>
                          <a:latin typeface="Segoe UI" pitchFamily="34" charset="0"/>
                          <a:ea typeface="Segoe UI" pitchFamily="34" charset="-122"/>
                          <a:cs typeface="Segoe UI" pitchFamily="34" charset="-120"/>
                        </a:rPr>
                        <a:t>on contact</a:t>
                      </a:r>
                      <a:endParaRPr lang="en-US" sz="1200" dirty="0"/>
                    </a:p>
                  </a:txBody>
                  <a:tcPr marL="0"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00" dirty="0">
                          <a:solidFill>
                            <a:srgbClr val="ECE9F8"/>
                          </a:solidFill>
                          <a:latin typeface="Consolas" pitchFamily="34" charset="0"/>
                          <a:ea typeface="Consolas" pitchFamily="34" charset="-122"/>
                          <a:cs typeface="Consolas" pitchFamily="34" charset="-120"/>
                        </a:rPr>
                        <a:t>responsible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00" dirty="0">
                          <a:solidFill>
                            <a:srgbClr val="FFD166"/>
                          </a:solidFill>
                          <a:latin typeface="Consolas" pitchFamily="34" charset="0"/>
                          <a:ea typeface="Consolas" pitchFamily="34" charset="-122"/>
                          <a:cs typeface="Consolas" pitchFamily="34" charset="-120"/>
                        </a:rPr>
                        <a:t>choice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ABA6C8"/>
                          </a:solidFill>
                          <a:latin typeface="Segoe UI" pitchFamily="34" charset="0"/>
                          <a:ea typeface="Segoe UI" pitchFamily="34" charset="-122"/>
                          <a:cs typeface="Segoe UI" pitchFamily="34" charset="-120"/>
                        </a:rPr>
                        <a:t>player · rival · incident</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ECE9F8"/>
                          </a:solidFill>
                          <a:latin typeface="Segoe UI" pitchFamily="34" charset="0"/>
                          <a:ea typeface="Segoe UI" pitchFamily="34" charset="-122"/>
                          <a:cs typeface="Segoe UI" pitchFamily="34" charset="-120"/>
                        </a:rPr>
                        <a:t>blame needs p ≥ 0.60</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r>
              <a:tr h="310896">
                <a:tc vMerge="1">
                  <a:tcPr/>
                </a:tc>
                <a:tc>
                  <a:txBody>
                    <a:bodyPr/>
                    <a:lstStyle/>
                    <a:p>
                      <a:pPr indent="0" marL="0">
                        <a:buNone/>
                      </a:pPr>
                      <a:r>
                        <a:rPr lang="en-US" sz="1000" dirty="0">
                          <a:solidFill>
                            <a:srgbClr val="ECE9F8"/>
                          </a:solidFill>
                          <a:latin typeface="Consolas" pitchFamily="34" charset="0"/>
                          <a:ea typeface="Consolas" pitchFamily="34" charset="-122"/>
                          <a:cs typeface="Consolas" pitchFamily="34" charset="-120"/>
                        </a:rPr>
                        <a:t>severity</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00" dirty="0">
                          <a:solidFill>
                            <a:srgbClr val="FFD166"/>
                          </a:solidFill>
                          <a:latin typeface="Consolas" pitchFamily="34" charset="0"/>
                          <a:ea typeface="Consolas" pitchFamily="34" charset="-122"/>
                          <a:cs typeface="Consolas" pitchFamily="34" charset="-120"/>
                        </a:rPr>
                        <a:t>score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ABA6C8"/>
                          </a:solidFill>
                          <a:latin typeface="Segoe UI" pitchFamily="34" charset="0"/>
                          <a:ea typeface="Segoe UI" pitchFamily="34" charset="-122"/>
                          <a:cs typeface="Segoe UI" pitchFamily="34" charset="-120"/>
                        </a:rPr>
                        <a:t>0–2, Light touch → Dangerous</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ECE9F8"/>
                          </a:solidFill>
                          <a:latin typeface="Segoe UI" pitchFamily="34" charset="0"/>
                          <a:ea typeface="Segoe UI" pitchFamily="34" charset="-122"/>
                          <a:cs typeface="Segoe UI" pitchFamily="34" charset="-120"/>
                        </a:rPr>
                        <a:t>≥ 0.8 → +2 s  ·  ≥ 1.5 → +5 s</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r>
              <a:tr h="310896">
                <a:tc rowSpan="3">
                  <a:txBody>
                    <a:bodyPr/>
                    <a:lstStyle/>
                    <a:p>
                      <a:pPr indent="0" marL="0">
                        <a:buNone/>
                      </a:pPr>
                      <a:r>
                        <a:rPr lang="en-US" sz="1100" dirty="0">
                          <a:solidFill>
                            <a:srgbClr val="ECE9F8"/>
                          </a:solidFill>
                          <a:latin typeface="Segoe UI Semibold" pitchFamily="34" charset="0"/>
                          <a:ea typeface="Segoe UI Semibold" pitchFamily="34" charset="-122"/>
                          <a:cs typeface="Segoe UI Semibold" pitchFamily="34" charset="-120"/>
                        </a:rPr>
                        <a:t>Debrief</a:t>
                      </a:r>
                      <a:endParaRPr lang="en-US" sz="1200" dirty="0"/>
                    </a:p>
                    <a:p>
                      <a:pPr indent="0" marL="0">
                        <a:buNone/>
                      </a:pPr>
                      <a:r>
                        <a:rPr lang="en-US" sz="1050" dirty="0">
                          <a:solidFill>
                            <a:srgbClr val="ABA6C8"/>
                          </a:solidFill>
                          <a:latin typeface="Segoe UI" pitchFamily="34" charset="0"/>
                          <a:ea typeface="Segoe UI" pitchFamily="34" charset="-122"/>
                          <a:cs typeface="Segoe UI" pitchFamily="34" charset="-120"/>
                        </a:rPr>
                        <a:t>after the flag</a:t>
                      </a:r>
                      <a:endParaRPr lang="en-US" sz="1200" dirty="0"/>
                    </a:p>
                  </a:txBody>
                  <a:tcPr marL="0"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00" dirty="0">
                          <a:solidFill>
                            <a:srgbClr val="ECE9F8"/>
                          </a:solidFill>
                          <a:latin typeface="Consolas" pitchFamily="34" charset="0"/>
                          <a:ea typeface="Consolas" pitchFamily="34" charset="-122"/>
                          <a:cs typeface="Consolas" pitchFamily="34" charset="-120"/>
                        </a:rPr>
                        <a:t>rating</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00" dirty="0">
                          <a:solidFill>
                            <a:srgbClr val="FFD166"/>
                          </a:solidFill>
                          <a:latin typeface="Consolas" pitchFamily="34" charset="0"/>
                          <a:ea typeface="Consolas" pitchFamily="34" charset="-122"/>
                          <a:cs typeface="Consolas" pitchFamily="34" charset="-120"/>
                        </a:rPr>
                        <a:t>score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ABA6C8"/>
                          </a:solidFill>
                          <a:latin typeface="Segoe UI" pitchFamily="34" charset="0"/>
                          <a:ea typeface="Segoe UI" pitchFamily="34" charset="-122"/>
                          <a:cs typeface="Segoe UI" pitchFamily="34" charset="-120"/>
                        </a:rPr>
                        <a:t>0–3, Rookie → Champion</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ECE9F8"/>
                          </a:solidFill>
                          <a:latin typeface="Segoe UI" pitchFamily="34" charset="0"/>
                          <a:ea typeface="Segoe UI" pitchFamily="34" charset="-122"/>
                          <a:cs typeface="Segoe UI" pitchFamily="34" charset="-120"/>
                        </a:rPr>
                        <a:t>results screen</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r>
              <a:tr h="310896">
                <a:tc vMerge="1">
                  <a:tcPr/>
                </a:tc>
                <a:tc>
                  <a:txBody>
                    <a:bodyPr/>
                    <a:lstStyle/>
                    <a:p>
                      <a:pPr indent="0" marL="0">
                        <a:buNone/>
                      </a:pPr>
                      <a:r>
                        <a:rPr lang="en-US" sz="1000" dirty="0">
                          <a:solidFill>
                            <a:srgbClr val="ECE9F8"/>
                          </a:solidFill>
                          <a:latin typeface="Consolas" pitchFamily="34" charset="0"/>
                          <a:ea typeface="Consolas" pitchFamily="34" charset="-122"/>
                          <a:cs typeface="Consolas" pitchFamily="34" charset="-120"/>
                        </a:rPr>
                        <a:t>driver_of_the_day</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00" dirty="0">
                          <a:solidFill>
                            <a:srgbClr val="FFD166"/>
                          </a:solidFill>
                          <a:latin typeface="Consolas" pitchFamily="34" charset="0"/>
                          <a:ea typeface="Consolas" pitchFamily="34" charset="-122"/>
                          <a:cs typeface="Consolas" pitchFamily="34" charset="-120"/>
                        </a:rPr>
                        <a:t>choice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ABA6C8"/>
                          </a:solidFill>
                          <a:latin typeface="Segoe UI" pitchFamily="34" charset="0"/>
                          <a:ea typeface="Segoe UI" pitchFamily="34" charset="-122"/>
                          <a:cs typeface="Segoe UI" pitchFamily="34" charset="-120"/>
                        </a:rPr>
                        <a:t>one per driver, built at runtime</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ECE9F8"/>
                          </a:solidFill>
                          <a:latin typeface="Segoe UI" pitchFamily="34" charset="0"/>
                          <a:ea typeface="Segoe UI" pitchFamily="34" charset="-122"/>
                          <a:cs typeface="Segoe UI" pitchFamily="34" charset="-120"/>
                        </a:rPr>
                        <a:t>results screen</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r>
              <a:tr h="310896">
                <a:tc vMerge="1">
                  <a:tcPr/>
                </a:tc>
                <a:tc>
                  <a:txBody>
                    <a:bodyPr/>
                    <a:lstStyle/>
                    <a:p>
                      <a:pPr indent="0" marL="0">
                        <a:buNone/>
                      </a:pPr>
                      <a:r>
                        <a:rPr lang="en-US" sz="1000" dirty="0">
                          <a:solidFill>
                            <a:srgbClr val="ECE9F8"/>
                          </a:solidFill>
                          <a:latin typeface="Consolas" pitchFamily="34" charset="0"/>
                          <a:ea typeface="Consolas" pitchFamily="34" charset="-122"/>
                          <a:cs typeface="Consolas" pitchFamily="34" charset="-120"/>
                        </a:rPr>
                        <a:t>clean_racer</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00" dirty="0">
                          <a:solidFill>
                            <a:srgbClr val="FFD166"/>
                          </a:solidFill>
                          <a:latin typeface="Consolas" pitchFamily="34" charset="0"/>
                          <a:ea typeface="Consolas" pitchFamily="34" charset="-122"/>
                          <a:cs typeface="Consolas" pitchFamily="34" charset="-120"/>
                        </a:rPr>
                        <a:t>noul</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ABA6C8"/>
                          </a:solidFill>
                          <a:latin typeface="Segoe UI" pitchFamily="34" charset="0"/>
                          <a:ea typeface="Segoe UI" pitchFamily="34" charset="-122"/>
                          <a:cs typeface="Segoe UI" pitchFamily="34" charset="-120"/>
                        </a:rPr>
                        <a:t>p(true)</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ECE9F8"/>
                          </a:solidFill>
                          <a:latin typeface="Segoe UI" pitchFamily="34" charset="0"/>
                          <a:ea typeface="Segoe UI" pitchFamily="34" charset="-122"/>
                          <a:cs typeface="Segoe UI" pitchFamily="34" charset="-120"/>
                        </a:rPr>
                        <a:t>results screen</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7071A"/>
        </a:solidFill>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sp>
      <p:sp>
        <p:nvSpPr>
          <p:cNvPr id="3" name="Text 1"/>
          <p:cNvSpPr/>
          <p:nvPr/>
        </p:nvSpPr>
        <p:spPr>
          <a:xfrm>
            <a:off x="749808" y="393192"/>
            <a:ext cx="5943600" cy="292608"/>
          </a:xfrm>
          <a:prstGeom prst="rect">
            <a:avLst/>
          </a:prstGeom>
          <a:noFill/>
          <a:ln/>
        </p:spPr>
        <p:txBody>
          <a:bodyPr wrap="square" lIns="0" tIns="0" rIns="0" bIns="0" rtlCol="0" anchor="ctr"/>
          <a:lstStyle/>
          <a:p>
            <a:pPr indent="0" marL="0">
              <a:buNone/>
            </a:pPr>
            <a:r>
              <a:rPr lang="en-US" sz="1100" spc="300" kern="0" dirty="0">
                <a:solidFill>
                  <a:srgbClr val="ABA6C8"/>
                </a:solidFill>
                <a:latin typeface="Segoe UI Semibold" pitchFamily="34" charset="0"/>
                <a:ea typeface="Segoe UI Semibold" pitchFamily="34" charset="-122"/>
                <a:cs typeface="Segoe UI Semibold" pitchFamily="34" charset="-120"/>
              </a:rPr>
              <a:t>ON THE WIRE</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algn="r" indent="0" marL="0">
              <a:buNone/>
            </a:pPr>
            <a:r>
              <a:rPr lang="en-US" sz="1100" dirty="0">
                <a:solidFill>
                  <a:srgbClr val="ABA6C8"/>
                </a:solidFill>
                <a:latin typeface="Segoe UI Semibold" pitchFamily="34" charset="0"/>
                <a:ea typeface="Segoe UI Semibold" pitchFamily="34" charset="-122"/>
                <a:cs typeface="Segoe UI Semibold" pitchFamily="34" charset="-120"/>
              </a:rPr>
              <a:t>07 / 11</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indent="0" marL="0">
              <a:buNone/>
            </a:pPr>
            <a:r>
              <a:rPr lang="en-US" sz="3400" i="1" dirty="0">
                <a:solidFill>
                  <a:srgbClr val="ECE9F8"/>
                </a:solidFill>
                <a:latin typeface="Segoe UI Black" pitchFamily="34" charset="0"/>
                <a:ea typeface="Segoe UI Black" pitchFamily="34" charset="-122"/>
                <a:cs typeface="Segoe UI Black" pitchFamily="34" charset="-120"/>
              </a:rPr>
              <a:t>One request, three answers</a:t>
            </a:r>
            <a:endParaRPr lang="en-US" sz="3400" dirty="0"/>
          </a:p>
        </p:txBody>
      </p:sp>
      <p:sp>
        <p:nvSpPr>
          <p:cNvPr id="6" name="Text 4"/>
          <p:cNvSpPr/>
          <p:nvPr/>
        </p:nvSpPr>
        <p:spPr>
          <a:xfrm>
            <a:off x="548640" y="1325880"/>
            <a:ext cx="8046720" cy="320040"/>
          </a:xfrm>
          <a:prstGeom prst="rect">
            <a:avLst/>
          </a:prstGeom>
          <a:noFill/>
          <a:ln/>
        </p:spPr>
        <p:txBody>
          <a:bodyPr wrap="square" lIns="0" tIns="0" rIns="0" bIns="0" rtlCol="0" anchor="ctr"/>
          <a:lstStyle/>
          <a:p>
            <a:pPr indent="0" marL="0">
              <a:buNone/>
            </a:pPr>
            <a:r>
              <a:rPr lang="en-US" sz="1400" dirty="0">
                <a:solidFill>
                  <a:srgbClr val="ABA6C8"/>
                </a:solidFill>
                <a:latin typeface="Segoe UI" pitchFamily="34" charset="0"/>
                <a:ea typeface="Segoe UI" pitchFamily="34" charset="-122"/>
                <a:cs typeface="Segoe UI" pitchFamily="34" charset="-120"/>
              </a:rPr>
              <a:t>Questions are keyed by name, and the answers come back under the same names.</a:t>
            </a:r>
            <a:endParaRPr lang="en-US" sz="1400" dirty="0"/>
          </a:p>
        </p:txBody>
      </p:sp>
      <p:sp>
        <p:nvSpPr>
          <p:cNvPr id="7" name="Shape 5"/>
          <p:cNvSpPr/>
          <p:nvPr/>
        </p:nvSpPr>
        <p:spPr>
          <a:xfrm>
            <a:off x="548640" y="1874520"/>
            <a:ext cx="3474720" cy="2651760"/>
          </a:xfrm>
          <a:prstGeom prst="roundRect">
            <a:avLst>
              <a:gd name="adj" fmla="val 4138"/>
            </a:avLst>
          </a:prstGeom>
          <a:solidFill>
            <a:srgbClr val="110F2B"/>
          </a:solidFill>
          <a:ln/>
        </p:spPr>
      </p:sp>
      <p:sp>
        <p:nvSpPr>
          <p:cNvPr id="8" name="Shape 6"/>
          <p:cNvSpPr/>
          <p:nvPr/>
        </p:nvSpPr>
        <p:spPr>
          <a:xfrm>
            <a:off x="4297680" y="1874520"/>
            <a:ext cx="4297680" cy="2651760"/>
          </a:xfrm>
          <a:prstGeom prst="roundRect">
            <a:avLst>
              <a:gd name="adj" fmla="val 4138"/>
            </a:avLst>
          </a:prstGeom>
          <a:solidFill>
            <a:srgbClr val="110F2B"/>
          </a:solidFill>
          <a:ln/>
        </p:spPr>
      </p:sp>
      <p:sp>
        <p:nvSpPr>
          <p:cNvPr id="9" name="Text 7"/>
          <p:cNvSpPr/>
          <p:nvPr/>
        </p:nvSpPr>
        <p:spPr>
          <a:xfrm>
            <a:off x="777240" y="2039112"/>
            <a:ext cx="1828800" cy="237744"/>
          </a:xfrm>
          <a:prstGeom prst="rect">
            <a:avLst/>
          </a:prstGeom>
          <a:noFill/>
          <a:ln/>
        </p:spPr>
        <p:txBody>
          <a:bodyPr wrap="square" lIns="0" tIns="0" rIns="0" bIns="0" rtlCol="0" anchor="ctr"/>
          <a:lstStyle/>
          <a:p>
            <a:pPr indent="0" marL="0">
              <a:buNone/>
            </a:pPr>
            <a:r>
              <a:rPr lang="en-US" sz="1050" spc="200" kern="0" dirty="0">
                <a:solidFill>
                  <a:srgbClr val="ABA6C8"/>
                </a:solidFill>
                <a:latin typeface="Segoe UI Semibold" pitchFamily="34" charset="0"/>
                <a:ea typeface="Segoe UI Semibold" pitchFamily="34" charset="-122"/>
                <a:cs typeface="Segoe UI Semibold" pitchFamily="34" charset="-120"/>
              </a:rPr>
              <a:t>REQUEST</a:t>
            </a:r>
            <a:endParaRPr lang="en-US" sz="1050" dirty="0"/>
          </a:p>
        </p:txBody>
      </p:sp>
      <p:sp>
        <p:nvSpPr>
          <p:cNvPr id="10" name="Text 8"/>
          <p:cNvSpPr/>
          <p:nvPr/>
        </p:nvSpPr>
        <p:spPr>
          <a:xfrm>
            <a:off x="4526280" y="2039112"/>
            <a:ext cx="1828800" cy="237744"/>
          </a:xfrm>
          <a:prstGeom prst="rect">
            <a:avLst/>
          </a:prstGeom>
          <a:noFill/>
          <a:ln/>
        </p:spPr>
        <p:txBody>
          <a:bodyPr wrap="square" lIns="0" tIns="0" rIns="0" bIns="0" rtlCol="0" anchor="ctr"/>
          <a:lstStyle/>
          <a:p>
            <a:pPr indent="0" marL="0">
              <a:buNone/>
            </a:pPr>
            <a:r>
              <a:rPr lang="en-US" sz="1050" spc="200" kern="0" dirty="0">
                <a:solidFill>
                  <a:srgbClr val="ABA6C8"/>
                </a:solidFill>
                <a:latin typeface="Segoe UI Semibold" pitchFamily="34" charset="0"/>
                <a:ea typeface="Segoe UI Semibold" pitchFamily="34" charset="-122"/>
                <a:cs typeface="Segoe UI Semibold" pitchFamily="34" charset="-120"/>
              </a:rPr>
              <a:t>RESPONSE</a:t>
            </a:r>
            <a:endParaRPr lang="en-US" sz="1050" dirty="0"/>
          </a:p>
        </p:txBody>
      </p:sp>
      <p:sp>
        <p:nvSpPr>
          <p:cNvPr id="11" name="Text 9"/>
          <p:cNvSpPr/>
          <p:nvPr/>
        </p:nvSpPr>
        <p:spPr>
          <a:xfrm>
            <a:off x="777240" y="2350008"/>
            <a:ext cx="3063240" cy="1691640"/>
          </a:xfrm>
          <a:prstGeom prst="rect">
            <a:avLst/>
          </a:prstGeom>
          <a:noFill/>
          <a:ln/>
        </p:spPr>
        <p:txBody>
          <a:bodyPr wrap="square" lIns="0" tIns="0" rIns="0" bIns="0" rtlCol="0" anchor="t"/>
          <a:lstStyle/>
          <a:p>
            <a:pPr indent="0" marL="0">
              <a:lnSpc>
                <a:spcPct val="100000"/>
              </a:lnSpc>
              <a:buNone/>
            </a:pPr>
            <a:r>
              <a:rPr lang="en-US" sz="1050" dirty="0">
                <a:solidFill>
                  <a:srgbClr val="3DD6FF"/>
                </a:solidFill>
                <a:latin typeface="Consolas" pitchFamily="34" charset="0"/>
                <a:ea typeface="Consolas" pitchFamily="34" charset="-122"/>
                <a:cs typeface="Consolas" pitchFamily="34" charset="-120"/>
              </a:rPr>
              <a:t>POST …/providers/microsoft/v1/systemone</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"model"</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FFD166"/>
                </a:solidFill>
                <a:latin typeface="Consolas" pitchFamily="34" charset="0"/>
                <a:ea typeface="Consolas" pitchFamily="34" charset="-122"/>
                <a:cs typeface="Consolas" pitchFamily="34" charset="-120"/>
              </a:rPr>
              <a:t>"decision-1-dz"</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"state"</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FFD166"/>
                </a:solidFill>
                <a:latin typeface="Consolas" pitchFamily="34" charset="0"/>
                <a:ea typeface="Consolas" pitchFamily="34" charset="-122"/>
                <a:cs typeface="Consolas" pitchFamily="34" charset="-120"/>
              </a:rPr>
              <a:t>"&lt;race situation text&gt;"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"questions"</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"maneuver"</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"type"</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FFD166"/>
                </a:solidFill>
                <a:latin typeface="Consolas" pitchFamily="34" charset="0"/>
                <a:ea typeface="Consolas" pitchFamily="34" charset="-122"/>
                <a:cs typeface="Consolas" pitchFamily="34" charset="-120"/>
              </a:rPr>
              <a:t>"choice"</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6C6790"/>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"pace"</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"type"</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FFD166"/>
                </a:solidFill>
                <a:latin typeface="Consolas" pitchFamily="34" charset="0"/>
                <a:ea typeface="Consolas" pitchFamily="34" charset="-122"/>
                <a:cs typeface="Consolas" pitchFamily="34" charset="-120"/>
              </a:rPr>
              <a:t>"score"</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6C6790"/>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"nitro"</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"type"</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FFD166"/>
                </a:solidFill>
                <a:latin typeface="Consolas" pitchFamily="34" charset="0"/>
                <a:ea typeface="Consolas" pitchFamily="34" charset="-122"/>
                <a:cs typeface="Consolas" pitchFamily="34" charset="-120"/>
              </a:rPr>
              <a:t>"noul"</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6C6790"/>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p:txBody>
      </p:sp>
      <p:sp>
        <p:nvSpPr>
          <p:cNvPr id="12" name="Text 10"/>
          <p:cNvSpPr/>
          <p:nvPr/>
        </p:nvSpPr>
        <p:spPr>
          <a:xfrm>
            <a:off x="4526280" y="2350008"/>
            <a:ext cx="3886200" cy="1691640"/>
          </a:xfrm>
          <a:prstGeom prst="rect">
            <a:avLst/>
          </a:prstGeom>
          <a:noFill/>
          <a:ln/>
        </p:spPr>
        <p:txBody>
          <a:bodyPr wrap="square" lIns="0" tIns="0" rIns="0" bIns="0" rtlCol="0" anchor="t"/>
          <a:lstStyle/>
          <a:p>
            <a:pPr indent="0" marL="0">
              <a:lnSpc>
                <a:spcPct val="100000"/>
              </a:lnSpc>
              <a:buNone/>
            </a:pPr>
            <a:r>
              <a:rPr lang="en-US" sz="1050" dirty="0">
                <a:solidFill>
                  <a:srgbClr val="4ADE80"/>
                </a:solidFill>
                <a:latin typeface="Consolas" pitchFamily="34" charset="0"/>
                <a:ea typeface="Consolas" pitchFamily="34" charset="-122"/>
                <a:cs typeface="Consolas" pitchFamily="34" charset="-120"/>
              </a:rPr>
              <a:t>200 OK</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"model"</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FFD166"/>
                </a:solidFill>
                <a:latin typeface="Consolas" pitchFamily="34" charset="0"/>
                <a:ea typeface="Consolas" pitchFamily="34" charset="-122"/>
                <a:cs typeface="Consolas" pitchFamily="34" charset="-120"/>
              </a:rPr>
              <a:t>"microsoft-decision-1"</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"answers"</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"maneuver"</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"choice"</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FFD166"/>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6C6790"/>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"pace"</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"score"</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6C6790"/>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6C6790"/>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"nitro"</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"noul"</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6C6790"/>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6C6790"/>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"usage"</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"input_tokens"</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6C6790"/>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"output_tokens"</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3DD6FF"/>
                </a:solidFill>
                <a:latin typeface="Consolas" pitchFamily="34" charset="0"/>
                <a:ea typeface="Consolas" pitchFamily="34" charset="-122"/>
                <a:cs typeface="Consolas" pitchFamily="34" charset="-120"/>
              </a:rPr>
              <a:t>3</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p:txBody>
      </p:sp>
      <p:sp>
        <p:nvSpPr>
          <p:cNvPr id="13" name="Text 11"/>
          <p:cNvSpPr/>
          <p:nvPr/>
        </p:nvSpPr>
        <p:spPr>
          <a:xfrm>
            <a:off x="777240" y="4142232"/>
            <a:ext cx="3017520" cy="237744"/>
          </a:xfrm>
          <a:prstGeom prst="rect">
            <a:avLst/>
          </a:prstGeom>
          <a:noFill/>
          <a:ln/>
        </p:spPr>
        <p:txBody>
          <a:bodyPr wrap="square" lIns="0" tIns="0" rIns="0" bIns="0" rtlCol="0" anchor="ctr"/>
          <a:lstStyle/>
          <a:p>
            <a:pPr indent="0" marL="0">
              <a:buNone/>
            </a:pPr>
            <a:r>
              <a:rPr lang="en-US" sz="1100" dirty="0">
                <a:solidFill>
                  <a:srgbClr val="ECE9F8"/>
                </a:solidFill>
                <a:latin typeface="Consolas" pitchFamily="34" charset="0"/>
                <a:ea typeface="Consolas" pitchFamily="34" charset="-122"/>
                <a:cs typeface="Consolas" pitchFamily="34" charset="-120"/>
              </a:rPr>
              <a:t>model</a:t>
            </a:r>
            <a:pPr indent="0" marL="0">
              <a:buNone/>
            </a:pPr>
            <a:r>
              <a:rPr lang="en-US" sz="1100" dirty="0">
                <a:solidFill>
                  <a:srgbClr val="ABA6C8"/>
                </a:solidFill>
                <a:latin typeface="Segoe UI" pitchFamily="34" charset="0"/>
                <a:ea typeface="Segoe UI" pitchFamily="34" charset="-122"/>
                <a:cs typeface="Segoe UI" pitchFamily="34" charset="-120"/>
              </a:rPr>
              <a:t> is the deployment name.</a:t>
            </a:r>
            <a:endParaRPr lang="en-US" sz="1100" dirty="0"/>
          </a:p>
        </p:txBody>
      </p:sp>
      <p:sp>
        <p:nvSpPr>
          <p:cNvPr id="14" name="Text 12"/>
          <p:cNvSpPr/>
          <p:nvPr/>
        </p:nvSpPr>
        <p:spPr>
          <a:xfrm>
            <a:off x="4526280" y="4142232"/>
            <a:ext cx="3840480" cy="237744"/>
          </a:xfrm>
          <a:prstGeom prst="rect">
            <a:avLst/>
          </a:prstGeom>
          <a:noFill/>
          <a:ln/>
        </p:spPr>
        <p:txBody>
          <a:bodyPr wrap="square" lIns="0" tIns="0" rIns="0" bIns="0" rtlCol="0" anchor="ctr"/>
          <a:lstStyle/>
          <a:p>
            <a:pPr indent="0" marL="0">
              <a:buNone/>
            </a:pPr>
            <a:r>
              <a:rPr lang="en-US" sz="1100" dirty="0">
                <a:solidFill>
                  <a:srgbClr val="ECE9F8"/>
                </a:solidFill>
                <a:latin typeface="Consolas" pitchFamily="34" charset="0"/>
                <a:ea typeface="Consolas" pitchFamily="34" charset="-122"/>
                <a:cs typeface="Consolas" pitchFamily="34" charset="-120"/>
              </a:rPr>
              <a:t>model</a:t>
            </a:r>
            <a:pPr indent="0" marL="0">
              <a:buNone/>
            </a:pPr>
            <a:r>
              <a:rPr lang="en-US" sz="1100" dirty="0">
                <a:solidFill>
                  <a:srgbClr val="ABA6C8"/>
                </a:solidFill>
                <a:latin typeface="Segoe UI" pitchFamily="34" charset="0"/>
                <a:ea typeface="Segoe UI" pitchFamily="34" charset="-122"/>
                <a:cs typeface="Segoe UI" pitchFamily="34" charset="-120"/>
              </a:rPr>
              <a:t> is the underlying model.</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7071A"/>
        </a:solidFill>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sp>
      <p:sp>
        <p:nvSpPr>
          <p:cNvPr id="3" name="Text 1"/>
          <p:cNvSpPr/>
          <p:nvPr/>
        </p:nvSpPr>
        <p:spPr>
          <a:xfrm>
            <a:off x="749808" y="393192"/>
            <a:ext cx="5943600" cy="292608"/>
          </a:xfrm>
          <a:prstGeom prst="rect">
            <a:avLst/>
          </a:prstGeom>
          <a:noFill/>
          <a:ln/>
        </p:spPr>
        <p:txBody>
          <a:bodyPr wrap="square" lIns="0" tIns="0" rIns="0" bIns="0" rtlCol="0" anchor="ctr"/>
          <a:lstStyle/>
          <a:p>
            <a:pPr indent="0" marL="0">
              <a:buNone/>
            </a:pPr>
            <a:r>
              <a:rPr lang="en-US" sz="1100" spc="300" kern="0" dirty="0">
                <a:solidFill>
                  <a:srgbClr val="ABA6C8"/>
                </a:solidFill>
                <a:latin typeface="Segoe UI Semibold" pitchFamily="34" charset="0"/>
                <a:ea typeface="Segoe UI Semibold" pitchFamily="34" charset="-122"/>
                <a:cs typeface="Segoe UI Semibold" pitchFamily="34" charset="-120"/>
              </a:rPr>
              <a:t>SEQUENCE</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algn="r" indent="0" marL="0">
              <a:buNone/>
            </a:pPr>
            <a:r>
              <a:rPr lang="en-US" sz="1100" dirty="0">
                <a:solidFill>
                  <a:srgbClr val="ABA6C8"/>
                </a:solidFill>
                <a:latin typeface="Segoe UI Semibold" pitchFamily="34" charset="0"/>
                <a:ea typeface="Segoe UI Semibold" pitchFamily="34" charset="-122"/>
                <a:cs typeface="Segoe UI Semibold" pitchFamily="34" charset="-120"/>
              </a:rPr>
              <a:t>08 / 11</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indent="0" marL="0">
              <a:buNone/>
            </a:pPr>
            <a:r>
              <a:rPr lang="en-US" sz="3400" i="1" dirty="0">
                <a:solidFill>
                  <a:srgbClr val="ECE9F8"/>
                </a:solidFill>
                <a:latin typeface="Segoe UI Black" pitchFamily="34" charset="0"/>
                <a:ea typeface="Segoe UI Black" pitchFamily="34" charset="-122"/>
                <a:cs typeface="Segoe UI Black" pitchFamily="34" charset="-120"/>
              </a:rPr>
              <a:t>One rival decision, end to end</a:t>
            </a:r>
            <a:endParaRPr lang="en-US" sz="3400" dirty="0"/>
          </a:p>
        </p:txBody>
      </p:sp>
      <p:pic>
        <p:nvPicPr>
          <p:cNvPr id="6" name="Image 0" descr="Sequence diagram: the browser posts telemetry to the game server, which calls Microsoft-Decision-1 and returns maneuver, pace and nitro probability; on failure the browser uses a local heuristic. Model round trip median 0.26 to 0.42 s, p90 about 0.55 s; timeouts 4 s in the browser and 8 s to Foundry">    </p:cNvPr>
          <p:cNvPicPr>
            <a:picLocks noChangeAspect="1"/>
          </p:cNvPicPr>
          <p:nvPr/>
        </p:nvPicPr>
        <p:blipFill>
          <a:blip r:embed="rId1"/>
          <a:stretch>
            <a:fillRect/>
          </a:stretch>
        </p:blipFill>
        <p:spPr>
          <a:xfrm>
            <a:off x="548640" y="1622464"/>
            <a:ext cx="8046720" cy="2903816"/>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7071A"/>
        </a:solidFill>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sp>
      <p:sp>
        <p:nvSpPr>
          <p:cNvPr id="3" name="Text 1"/>
          <p:cNvSpPr/>
          <p:nvPr/>
        </p:nvSpPr>
        <p:spPr>
          <a:xfrm>
            <a:off x="749808" y="393192"/>
            <a:ext cx="5943600" cy="292608"/>
          </a:xfrm>
          <a:prstGeom prst="rect">
            <a:avLst/>
          </a:prstGeom>
          <a:noFill/>
          <a:ln/>
        </p:spPr>
        <p:txBody>
          <a:bodyPr wrap="square" lIns="0" tIns="0" rIns="0" bIns="0" rtlCol="0" anchor="ctr"/>
          <a:lstStyle/>
          <a:p>
            <a:pPr indent="0" marL="0">
              <a:buNone/>
            </a:pPr>
            <a:r>
              <a:rPr lang="en-US" sz="1100" spc="300" kern="0" dirty="0">
                <a:solidFill>
                  <a:srgbClr val="ABA6C8"/>
                </a:solidFill>
                <a:latin typeface="Segoe UI Semibold" pitchFamily="34" charset="0"/>
                <a:ea typeface="Segoe UI Semibold" pitchFamily="34" charset="-122"/>
                <a:cs typeface="Segoe UI Semibold" pitchFamily="34" charset="-120"/>
              </a:rPr>
              <a:t>GUARD RAILS</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algn="r" indent="0" marL="0">
              <a:buNone/>
            </a:pPr>
            <a:r>
              <a:rPr lang="en-US" sz="1100" dirty="0">
                <a:solidFill>
                  <a:srgbClr val="ABA6C8"/>
                </a:solidFill>
                <a:latin typeface="Segoe UI Semibold" pitchFamily="34" charset="0"/>
                <a:ea typeface="Segoe UI Semibold" pitchFamily="34" charset="-122"/>
                <a:cs typeface="Segoe UI Semibold" pitchFamily="34" charset="-120"/>
              </a:rPr>
              <a:t>09 / 11</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indent="0" marL="0">
              <a:buNone/>
            </a:pPr>
            <a:r>
              <a:rPr lang="en-US" sz="3400" i="1" dirty="0">
                <a:solidFill>
                  <a:srgbClr val="ECE9F8"/>
                </a:solidFill>
                <a:latin typeface="Segoe UI Black" pitchFamily="34" charset="0"/>
                <a:ea typeface="Segoe UI Black" pitchFamily="34" charset="-122"/>
                <a:cs typeface="Segoe UI Black" pitchFamily="34" charset="-120"/>
              </a:rPr>
              <a:t>Safe to put on the internet</a:t>
            </a:r>
            <a:endParaRPr lang="en-US" sz="3400" dirty="0"/>
          </a:p>
        </p:txBody>
      </p:sp>
      <p:sp>
        <p:nvSpPr>
          <p:cNvPr id="6" name="Shape 4"/>
          <p:cNvSpPr/>
          <p:nvPr/>
        </p:nvSpPr>
        <p:spPr>
          <a:xfrm>
            <a:off x="548640" y="1691640"/>
            <a:ext cx="3886200" cy="1280160"/>
          </a:xfrm>
          <a:prstGeom prst="roundRect">
            <a:avLst>
              <a:gd name="adj" fmla="val 8571"/>
            </a:avLst>
          </a:prstGeom>
          <a:solidFill>
            <a:srgbClr val="110F2B"/>
          </a:solidFill>
          <a:ln/>
        </p:spPr>
      </p:sp>
      <p:pic>
        <p:nvPicPr>
          <p:cNvPr id="7" name="Image 0" descr="Key icon">    </p:cNvPr>
          <p:cNvPicPr>
            <a:picLocks noChangeAspect="1"/>
          </p:cNvPicPr>
          <p:nvPr/>
        </p:nvPicPr>
        <p:blipFill>
          <a:blip r:embed="rId1"/>
          <a:stretch>
            <a:fillRect/>
          </a:stretch>
        </p:blipFill>
        <p:spPr>
          <a:xfrm>
            <a:off x="795528" y="1911096"/>
            <a:ext cx="292608" cy="292608"/>
          </a:xfrm>
          <a:prstGeom prst="rect">
            <a:avLst/>
          </a:prstGeom>
        </p:spPr>
      </p:pic>
      <p:sp>
        <p:nvSpPr>
          <p:cNvPr id="8" name="Text 5"/>
          <p:cNvSpPr/>
          <p:nvPr/>
        </p:nvSpPr>
        <p:spPr>
          <a:xfrm>
            <a:off x="1234440" y="1856232"/>
            <a:ext cx="2971800" cy="402336"/>
          </a:xfrm>
          <a:prstGeom prst="rect">
            <a:avLst/>
          </a:prstGeom>
          <a:noFill/>
          <a:ln/>
        </p:spPr>
        <p:txBody>
          <a:bodyPr wrap="square" lIns="0" tIns="0" rIns="0" bIns="0" rtlCol="0" anchor="ctr"/>
          <a:lstStyle/>
          <a:p>
            <a:pPr indent="0" marL="0">
              <a:buNone/>
            </a:pPr>
            <a:r>
              <a:rPr lang="en-US" sz="1500" dirty="0">
                <a:solidFill>
                  <a:srgbClr val="ECE9F8"/>
                </a:solidFill>
                <a:latin typeface="Segoe UI Black" pitchFamily="34" charset="0"/>
                <a:ea typeface="Segoe UI Black" pitchFamily="34" charset="-122"/>
                <a:cs typeface="Segoe UI Black" pitchFamily="34" charset="-120"/>
              </a:rPr>
              <a:t>Auth</a:t>
            </a:r>
            <a:endParaRPr lang="en-US" sz="1500" dirty="0"/>
          </a:p>
        </p:txBody>
      </p:sp>
      <p:sp>
        <p:nvSpPr>
          <p:cNvPr id="9" name="Text 6"/>
          <p:cNvSpPr/>
          <p:nvPr/>
        </p:nvSpPr>
        <p:spPr>
          <a:xfrm>
            <a:off x="777240" y="2295144"/>
            <a:ext cx="3429000" cy="548640"/>
          </a:xfrm>
          <a:prstGeom prst="rect">
            <a:avLst/>
          </a:prstGeom>
          <a:noFill/>
          <a:ln/>
        </p:spPr>
        <p:txBody>
          <a:bodyPr wrap="square" lIns="0" tIns="0" rIns="0" bIns="0" rtlCol="0" anchor="t"/>
          <a:lstStyle/>
          <a:p>
            <a:pPr indent="0" marL="0">
              <a:buNone/>
            </a:pPr>
            <a:r>
              <a:rPr lang="en-US" sz="1150" dirty="0">
                <a:solidFill>
                  <a:srgbClr val="ABA6C8"/>
                </a:solidFill>
                <a:latin typeface="Segoe UI" pitchFamily="34" charset="0"/>
                <a:ea typeface="Segoe UI" pitchFamily="34" charset="-122"/>
                <a:cs typeface="Segoe UI" pitchFamily="34" charset="-120"/>
              </a:rPr>
              <a:t>API key → managed identity → Azure CLI login.</a:t>
            </a:r>
            <a:endParaRPr lang="en-US" sz="1150" dirty="0"/>
          </a:p>
          <a:p>
            <a:pPr indent="0" marL="0">
              <a:buNone/>
            </a:pPr>
            <a:r>
              <a:rPr lang="en-US" sz="1150" dirty="0">
                <a:solidFill>
                  <a:srgbClr val="ABA6C8"/>
                </a:solidFill>
                <a:latin typeface="Segoe UI" pitchFamily="34" charset="0"/>
                <a:ea typeface="Segoe UI" pitchFamily="34" charset="-122"/>
                <a:cs typeface="Segoe UI" pitchFamily="34" charset="-120"/>
              </a:rPr>
              <a:t>Tokens are cached and refreshed 5 min early;</a:t>
            </a:r>
            <a:endParaRPr lang="en-US" sz="1150" dirty="0"/>
          </a:p>
          <a:p>
            <a:pPr indent="0" marL="0">
              <a:buNone/>
            </a:pPr>
            <a:r>
              <a:rPr lang="en-US" sz="1150" dirty="0">
                <a:solidFill>
                  <a:srgbClr val="ABA6C8"/>
                </a:solidFill>
                <a:latin typeface="Segoe UI" pitchFamily="34" charset="0"/>
                <a:ea typeface="Segoe UI" pitchFamily="34" charset="-122"/>
                <a:cs typeface="Segoe UI" pitchFamily="34" charset="-120"/>
              </a:rPr>
              <a:t>the first one is fetched at startup.</a:t>
            </a:r>
            <a:endParaRPr lang="en-US" sz="1150" dirty="0"/>
          </a:p>
        </p:txBody>
      </p:sp>
      <p:sp>
        <p:nvSpPr>
          <p:cNvPr id="10" name="Shape 7"/>
          <p:cNvSpPr/>
          <p:nvPr/>
        </p:nvSpPr>
        <p:spPr>
          <a:xfrm>
            <a:off x="4709160" y="1691640"/>
            <a:ext cx="3886200" cy="1280160"/>
          </a:xfrm>
          <a:prstGeom prst="roundRect">
            <a:avLst>
              <a:gd name="adj" fmla="val 8571"/>
            </a:avLst>
          </a:prstGeom>
          <a:solidFill>
            <a:srgbClr val="110F2B"/>
          </a:solidFill>
          <a:ln/>
        </p:spPr>
      </p:sp>
      <p:pic>
        <p:nvPicPr>
          <p:cNvPr id="11" name="Image 1" descr="Shield icon">    </p:cNvPr>
          <p:cNvPicPr>
            <a:picLocks noChangeAspect="1"/>
          </p:cNvPicPr>
          <p:nvPr/>
        </p:nvPicPr>
        <p:blipFill>
          <a:blip r:embed="rId2"/>
          <a:stretch>
            <a:fillRect/>
          </a:stretch>
        </p:blipFill>
        <p:spPr>
          <a:xfrm>
            <a:off x="4937760" y="1892808"/>
            <a:ext cx="329184" cy="329184"/>
          </a:xfrm>
          <a:prstGeom prst="rect">
            <a:avLst/>
          </a:prstGeom>
        </p:spPr>
      </p:pic>
      <p:sp>
        <p:nvSpPr>
          <p:cNvPr id="12" name="Text 8"/>
          <p:cNvSpPr/>
          <p:nvPr/>
        </p:nvSpPr>
        <p:spPr>
          <a:xfrm>
            <a:off x="5394960" y="1856232"/>
            <a:ext cx="2971800" cy="402336"/>
          </a:xfrm>
          <a:prstGeom prst="rect">
            <a:avLst/>
          </a:prstGeom>
          <a:noFill/>
          <a:ln/>
        </p:spPr>
        <p:txBody>
          <a:bodyPr wrap="square" lIns="0" tIns="0" rIns="0" bIns="0" rtlCol="0" anchor="ctr"/>
          <a:lstStyle/>
          <a:p>
            <a:pPr indent="0" marL="0">
              <a:buNone/>
            </a:pPr>
            <a:r>
              <a:rPr lang="en-US" sz="1500" dirty="0">
                <a:solidFill>
                  <a:srgbClr val="ECE9F8"/>
                </a:solidFill>
                <a:latin typeface="Segoe UI Black" pitchFamily="34" charset="0"/>
                <a:ea typeface="Segoe UI Black" pitchFamily="34" charset="-122"/>
                <a:cs typeface="Segoe UI Black" pitchFamily="34" charset="-120"/>
              </a:rPr>
              <a:t>Input</a:t>
            </a:r>
            <a:endParaRPr lang="en-US" sz="1500" dirty="0"/>
          </a:p>
        </p:txBody>
      </p:sp>
      <p:sp>
        <p:nvSpPr>
          <p:cNvPr id="13" name="Text 9"/>
          <p:cNvSpPr/>
          <p:nvPr/>
        </p:nvSpPr>
        <p:spPr>
          <a:xfrm>
            <a:off x="4937760" y="2295144"/>
            <a:ext cx="3429000" cy="548640"/>
          </a:xfrm>
          <a:prstGeom prst="rect">
            <a:avLst/>
          </a:prstGeom>
          <a:noFill/>
          <a:ln/>
        </p:spPr>
        <p:txBody>
          <a:bodyPr wrap="square" lIns="0" tIns="0" rIns="0" bIns="0" rtlCol="0" anchor="t"/>
          <a:lstStyle/>
          <a:p>
            <a:pPr indent="0" marL="0">
              <a:buNone/>
            </a:pPr>
            <a:r>
              <a:rPr lang="en-US" sz="1150" dirty="0">
                <a:solidFill>
                  <a:srgbClr val="ABA6C8"/>
                </a:solidFill>
                <a:latin typeface="Segoe UI" pitchFamily="34" charset="0"/>
                <a:ea typeface="Segoe UI" pitchFamily="34" charset="-122"/>
                <a:cs typeface="Segoe UI" pitchFamily="34" charset="-120"/>
              </a:rPr>
              <a:t>Same-origin only. The browser sends telemetry,</a:t>
            </a:r>
            <a:endParaRPr lang="en-US" sz="1150" dirty="0"/>
          </a:p>
          <a:p>
            <a:pPr indent="0" marL="0">
              <a:buNone/>
            </a:pPr>
            <a:r>
              <a:rPr lang="en-US" sz="1150" dirty="0">
                <a:solidFill>
                  <a:srgbClr val="ABA6C8"/>
                </a:solidFill>
                <a:latin typeface="Segoe UI" pitchFamily="34" charset="0"/>
                <a:ea typeface="Segoe UI" pitchFamily="34" charset="-122"/>
                <a:cs typeface="Segoe UI" pitchFamily="34" charset="-120"/>
              </a:rPr>
              <a:t>never questions; every field is clamped.</a:t>
            </a:r>
            <a:endParaRPr lang="en-US" sz="1150" dirty="0"/>
          </a:p>
          <a:p>
            <a:pPr indent="0" marL="0">
              <a:buNone/>
            </a:pPr>
            <a:r>
              <a:rPr lang="en-US" sz="1150" dirty="0">
                <a:solidFill>
                  <a:srgbClr val="ABA6C8"/>
                </a:solidFill>
                <a:latin typeface="Segoe UI" pitchFamily="34" charset="0"/>
                <a:ea typeface="Segoe UI" pitchFamily="34" charset="-122"/>
                <a:cs typeface="Segoe UI" pitchFamily="34" charset="-120"/>
              </a:rPr>
              <a:t>Request bodies are capped at 16–32 KB.</a:t>
            </a:r>
            <a:endParaRPr lang="en-US" sz="1150" dirty="0"/>
          </a:p>
        </p:txBody>
      </p:sp>
      <p:sp>
        <p:nvSpPr>
          <p:cNvPr id="14" name="Shape 10"/>
          <p:cNvSpPr/>
          <p:nvPr/>
        </p:nvSpPr>
        <p:spPr>
          <a:xfrm>
            <a:off x="548640" y="3246120"/>
            <a:ext cx="3886200" cy="1280160"/>
          </a:xfrm>
          <a:prstGeom prst="roundRect">
            <a:avLst>
              <a:gd name="adj" fmla="val 8571"/>
            </a:avLst>
          </a:prstGeom>
          <a:solidFill>
            <a:srgbClr val="110F2B"/>
          </a:solidFill>
          <a:ln/>
        </p:spPr>
      </p:sp>
      <p:pic>
        <p:nvPicPr>
          <p:cNvPr id="15" name="Image 2" descr="Stopwatch icon">    </p:cNvPr>
          <p:cNvPicPr>
            <a:picLocks noChangeAspect="1"/>
          </p:cNvPicPr>
          <p:nvPr/>
        </p:nvPicPr>
        <p:blipFill>
          <a:blip r:embed="rId3"/>
          <a:stretch>
            <a:fillRect/>
          </a:stretch>
        </p:blipFill>
        <p:spPr>
          <a:xfrm>
            <a:off x="777240" y="3447288"/>
            <a:ext cx="329184" cy="329184"/>
          </a:xfrm>
          <a:prstGeom prst="rect">
            <a:avLst/>
          </a:prstGeom>
        </p:spPr>
      </p:pic>
      <p:sp>
        <p:nvSpPr>
          <p:cNvPr id="16" name="Text 11"/>
          <p:cNvSpPr/>
          <p:nvPr/>
        </p:nvSpPr>
        <p:spPr>
          <a:xfrm>
            <a:off x="1234440" y="3410712"/>
            <a:ext cx="2971800" cy="402336"/>
          </a:xfrm>
          <a:prstGeom prst="rect">
            <a:avLst/>
          </a:prstGeom>
          <a:noFill/>
          <a:ln/>
        </p:spPr>
        <p:txBody>
          <a:bodyPr wrap="square" lIns="0" tIns="0" rIns="0" bIns="0" rtlCol="0" anchor="ctr"/>
          <a:lstStyle/>
          <a:p>
            <a:pPr indent="0" marL="0">
              <a:buNone/>
            </a:pPr>
            <a:r>
              <a:rPr lang="en-US" sz="1500" dirty="0">
                <a:solidFill>
                  <a:srgbClr val="ECE9F8"/>
                </a:solidFill>
                <a:latin typeface="Segoe UI Black" pitchFamily="34" charset="0"/>
                <a:ea typeface="Segoe UI Black" pitchFamily="34" charset="-122"/>
                <a:cs typeface="Segoe UI Black" pitchFamily="34" charset="-120"/>
              </a:rPr>
              <a:t>Limits</a:t>
            </a:r>
            <a:endParaRPr lang="en-US" sz="1500" dirty="0"/>
          </a:p>
        </p:txBody>
      </p:sp>
      <p:sp>
        <p:nvSpPr>
          <p:cNvPr id="17" name="Text 12"/>
          <p:cNvSpPr/>
          <p:nvPr/>
        </p:nvSpPr>
        <p:spPr>
          <a:xfrm>
            <a:off x="777240" y="3849624"/>
            <a:ext cx="3429000" cy="548640"/>
          </a:xfrm>
          <a:prstGeom prst="rect">
            <a:avLst/>
          </a:prstGeom>
          <a:noFill/>
          <a:ln/>
        </p:spPr>
        <p:txBody>
          <a:bodyPr wrap="square" lIns="0" tIns="0" rIns="0" bIns="0" rtlCol="0" anchor="t"/>
          <a:lstStyle/>
          <a:p>
            <a:pPr indent="0" marL="0">
              <a:buNone/>
            </a:pPr>
            <a:r>
              <a:rPr lang="en-US" sz="1150" dirty="0">
                <a:solidFill>
                  <a:srgbClr val="ABA6C8"/>
                </a:solidFill>
                <a:latin typeface="Segoe UI" pitchFamily="34" charset="0"/>
                <a:ea typeface="Segoe UI" pitchFamily="34" charset="-122"/>
                <a:cs typeface="Segoe UI" pitchFamily="34" charset="-120"/>
              </a:rPr>
              <a:t>16 calls in flight, 20,000 a day, then 429.</a:t>
            </a:r>
            <a:endParaRPr lang="en-US" sz="1150" dirty="0"/>
          </a:p>
          <a:p>
            <a:pPr indent="0" marL="0">
              <a:buNone/>
            </a:pPr>
            <a:r>
              <a:rPr lang="en-US" sz="1150" dirty="0">
                <a:solidFill>
                  <a:srgbClr val="ABA6C8"/>
                </a:solidFill>
                <a:latin typeface="Segoe UI" pitchFamily="34" charset="0"/>
                <a:ea typeface="Segoe UI" pitchFamily="34" charset="-122"/>
                <a:cs typeface="Segoe UI" pitchFamily="34" charset="-120"/>
              </a:rPr>
              <a:t>Rival timeouts: 4 s in the browser, 8 s to Foundry.</a:t>
            </a:r>
            <a:endParaRPr lang="en-US" sz="1150" dirty="0"/>
          </a:p>
          <a:p>
            <a:pPr indent="0" marL="0">
              <a:buNone/>
            </a:pPr>
            <a:r>
              <a:rPr lang="en-US" sz="1150" dirty="0">
                <a:solidFill>
                  <a:srgbClr val="ABA6C8"/>
                </a:solidFill>
                <a:latin typeface="Segoe UI" pitchFamily="34" charset="0"/>
                <a:ea typeface="Segoe UI" pitchFamily="34" charset="-122"/>
                <a:cs typeface="Segoe UI" pitchFamily="34" charset="-120"/>
              </a:rPr>
              <a:t>Answers after 4 s are billed but go unused.</a:t>
            </a:r>
            <a:endParaRPr lang="en-US" sz="1150" dirty="0"/>
          </a:p>
        </p:txBody>
      </p:sp>
      <p:sp>
        <p:nvSpPr>
          <p:cNvPr id="18" name="Shape 13"/>
          <p:cNvSpPr/>
          <p:nvPr/>
        </p:nvSpPr>
        <p:spPr>
          <a:xfrm>
            <a:off x="4709160" y="3246120"/>
            <a:ext cx="3886200" cy="1280160"/>
          </a:xfrm>
          <a:prstGeom prst="roundRect">
            <a:avLst>
              <a:gd name="adj" fmla="val 8571"/>
            </a:avLst>
          </a:prstGeom>
          <a:solidFill>
            <a:srgbClr val="110F2B"/>
          </a:solidFill>
          <a:ln/>
        </p:spPr>
      </p:sp>
      <p:pic>
        <p:nvPicPr>
          <p:cNvPr id="19" name="Image 3" descr="Unplugged cable icon">    </p:cNvPr>
          <p:cNvPicPr>
            <a:picLocks noChangeAspect="1"/>
          </p:cNvPicPr>
          <p:nvPr/>
        </p:nvPicPr>
        <p:blipFill>
          <a:blip r:embed="rId4"/>
          <a:stretch>
            <a:fillRect/>
          </a:stretch>
        </p:blipFill>
        <p:spPr>
          <a:xfrm>
            <a:off x="4956048" y="3465576"/>
            <a:ext cx="292608" cy="292608"/>
          </a:xfrm>
          <a:prstGeom prst="rect">
            <a:avLst/>
          </a:prstGeom>
        </p:spPr>
      </p:pic>
      <p:sp>
        <p:nvSpPr>
          <p:cNvPr id="20" name="Text 14"/>
          <p:cNvSpPr/>
          <p:nvPr/>
        </p:nvSpPr>
        <p:spPr>
          <a:xfrm>
            <a:off x="5394960" y="3410712"/>
            <a:ext cx="2971800" cy="402336"/>
          </a:xfrm>
          <a:prstGeom prst="rect">
            <a:avLst/>
          </a:prstGeom>
          <a:noFill/>
          <a:ln/>
        </p:spPr>
        <p:txBody>
          <a:bodyPr wrap="square" lIns="0" tIns="0" rIns="0" bIns="0" rtlCol="0" anchor="ctr"/>
          <a:lstStyle/>
          <a:p>
            <a:pPr indent="0" marL="0">
              <a:buNone/>
            </a:pPr>
            <a:r>
              <a:rPr lang="en-US" sz="1500" dirty="0">
                <a:solidFill>
                  <a:srgbClr val="ECE9F8"/>
                </a:solidFill>
                <a:latin typeface="Segoe UI Black" pitchFamily="34" charset="0"/>
                <a:ea typeface="Segoe UI Black" pitchFamily="34" charset="-122"/>
                <a:cs typeface="Segoe UI Black" pitchFamily="34" charset="-120"/>
              </a:rPr>
              <a:t>Fallback</a:t>
            </a:r>
            <a:endParaRPr lang="en-US" sz="1500" dirty="0"/>
          </a:p>
        </p:txBody>
      </p:sp>
      <p:sp>
        <p:nvSpPr>
          <p:cNvPr id="21" name="Text 15"/>
          <p:cNvSpPr/>
          <p:nvPr/>
        </p:nvSpPr>
        <p:spPr>
          <a:xfrm>
            <a:off x="4937760" y="3849624"/>
            <a:ext cx="3429000" cy="548640"/>
          </a:xfrm>
          <a:prstGeom prst="rect">
            <a:avLst/>
          </a:prstGeom>
          <a:noFill/>
          <a:ln/>
        </p:spPr>
        <p:txBody>
          <a:bodyPr wrap="square" lIns="0" tIns="0" rIns="0" bIns="0" rtlCol="0" anchor="t"/>
          <a:lstStyle/>
          <a:p>
            <a:pPr indent="0" marL="0">
              <a:buNone/>
            </a:pPr>
            <a:r>
              <a:rPr lang="en-US" sz="1150" dirty="0">
                <a:solidFill>
                  <a:srgbClr val="ABA6C8"/>
                </a:solidFill>
                <a:latin typeface="Segoe UI" pitchFamily="34" charset="0"/>
                <a:ea typeface="Segoe UI" pitchFamily="34" charset="-122"/>
                <a:cs typeface="Segoe UI" pitchFamily="34" charset="-120"/>
              </a:rPr>
              <a:t>Errors fall back to a local heuristic.</a:t>
            </a:r>
            <a:endParaRPr lang="en-US" sz="1150" dirty="0"/>
          </a:p>
          <a:p>
            <a:pPr indent="0" marL="0">
              <a:buNone/>
            </a:pPr>
            <a:r>
              <a:rPr lang="en-US" sz="1150" dirty="0">
                <a:solidFill>
                  <a:srgbClr val="ABA6C8"/>
                </a:solidFill>
                <a:latin typeface="Segoe UI" pitchFamily="34" charset="0"/>
                <a:ea typeface="Segoe UI" pitchFamily="34" charset="-122"/>
                <a:cs typeface="Segoe UI" pitchFamily="34" charset="-120"/>
              </a:rPr>
              <a:t>A 503 or four failures in a row pause calls for 8 s;</a:t>
            </a:r>
            <a:endParaRPr lang="en-US" sz="1150" dirty="0"/>
          </a:p>
          <a:p>
            <a:pPr indent="0" marL="0">
              <a:buNone/>
            </a:pPr>
            <a:r>
              <a:rPr lang="en-US" sz="1150" dirty="0">
                <a:solidFill>
                  <a:srgbClr val="ABA6C8"/>
                </a:solidFill>
                <a:latin typeface="Segoe UI" pitchFamily="34" charset="0"/>
                <a:ea typeface="Segoe UI" pitchFamily="34" charset="-122"/>
                <a:cs typeface="Segoe UI" pitchFamily="34" charset="-120"/>
              </a:rPr>
              <a:t>then the next decision tries the model again.</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7071A"/>
        </a:solidFill>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sp>
      <p:sp>
        <p:nvSpPr>
          <p:cNvPr id="3" name="Text 1"/>
          <p:cNvSpPr/>
          <p:nvPr/>
        </p:nvSpPr>
        <p:spPr>
          <a:xfrm>
            <a:off x="749808" y="393192"/>
            <a:ext cx="5943600" cy="292608"/>
          </a:xfrm>
          <a:prstGeom prst="rect">
            <a:avLst/>
          </a:prstGeom>
          <a:noFill/>
          <a:ln/>
        </p:spPr>
        <p:txBody>
          <a:bodyPr wrap="square" lIns="0" tIns="0" rIns="0" bIns="0" rtlCol="0" anchor="ctr"/>
          <a:lstStyle/>
          <a:p>
            <a:pPr indent="0" marL="0">
              <a:buNone/>
            </a:pPr>
            <a:r>
              <a:rPr lang="en-US" sz="1100" spc="300" kern="0" dirty="0">
                <a:solidFill>
                  <a:srgbClr val="ABA6C8"/>
                </a:solidFill>
                <a:latin typeface="Segoe UI Semibold" pitchFamily="34" charset="0"/>
                <a:ea typeface="Segoe UI Semibold" pitchFamily="34" charset="-122"/>
                <a:cs typeface="Segoe UI Semibold" pitchFamily="34" charset="-120"/>
              </a:rPr>
              <a:t>THROUGHPUT AND COST</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algn="r" indent="0" marL="0">
              <a:buNone/>
            </a:pPr>
            <a:r>
              <a:rPr lang="en-US" sz="1100" dirty="0">
                <a:solidFill>
                  <a:srgbClr val="ABA6C8"/>
                </a:solidFill>
                <a:latin typeface="Segoe UI Semibold" pitchFamily="34" charset="0"/>
                <a:ea typeface="Segoe UI Semibold" pitchFamily="34" charset="-122"/>
                <a:cs typeface="Segoe UI Semibold" pitchFamily="34" charset="-120"/>
              </a:rPr>
              <a:t>10 / 11</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indent="0" marL="0">
              <a:buNone/>
            </a:pPr>
            <a:r>
              <a:rPr lang="en-US" sz="3400" i="1" dirty="0">
                <a:solidFill>
                  <a:srgbClr val="ECE9F8"/>
                </a:solidFill>
                <a:latin typeface="Segoe UI Black" pitchFamily="34" charset="0"/>
                <a:ea typeface="Segoe UI Black" pitchFamily="34" charset="-122"/>
                <a:cs typeface="Segoe UI Black" pitchFamily="34" charset="-120"/>
              </a:rPr>
              <a:t>About 1.5¢ a race</a:t>
            </a:r>
            <a:endParaRPr lang="en-US" sz="3400" dirty="0"/>
          </a:p>
        </p:txBody>
      </p:sp>
      <p:sp>
        <p:nvSpPr>
          <p:cNvPr id="6" name="Text 4"/>
          <p:cNvSpPr/>
          <p:nvPr/>
        </p:nvSpPr>
        <p:spPr>
          <a:xfrm>
            <a:off x="548640" y="1920240"/>
            <a:ext cx="2011680" cy="777240"/>
          </a:xfrm>
          <a:prstGeom prst="rect">
            <a:avLst/>
          </a:prstGeom>
          <a:noFill/>
          <a:ln/>
        </p:spPr>
        <p:txBody>
          <a:bodyPr wrap="square" lIns="0" tIns="0" rIns="0" bIns="0" rtlCol="0" anchor="ctr"/>
          <a:lstStyle/>
          <a:p>
            <a:pPr algn="ctr" indent="0" marL="0">
              <a:buNone/>
            </a:pPr>
            <a:r>
              <a:rPr lang="en-US" sz="3600" i="1" dirty="0">
                <a:solidFill>
                  <a:srgbClr val="ECE9F8"/>
                </a:solidFill>
                <a:latin typeface="Segoe UI Black" pitchFamily="34" charset="0"/>
                <a:ea typeface="Segoe UI Black" pitchFamily="34" charset="-122"/>
                <a:cs typeface="Segoe UI Black" pitchFamily="34" charset="-120"/>
              </a:rPr>
              <a:t>≈630</a:t>
            </a:r>
            <a:endParaRPr lang="en-US" sz="3600" dirty="0"/>
          </a:p>
        </p:txBody>
      </p:sp>
      <p:sp>
        <p:nvSpPr>
          <p:cNvPr id="7" name="Text 5"/>
          <p:cNvSpPr/>
          <p:nvPr/>
        </p:nvSpPr>
        <p:spPr>
          <a:xfrm>
            <a:off x="640080" y="2788920"/>
            <a:ext cx="1828800" cy="457200"/>
          </a:xfrm>
          <a:prstGeom prst="rect">
            <a:avLst/>
          </a:prstGeom>
          <a:noFill/>
          <a:ln/>
        </p:spPr>
        <p:txBody>
          <a:bodyPr wrap="square" lIns="0" tIns="0" rIns="0" bIns="0" rtlCol="0" anchor="t"/>
          <a:lstStyle/>
          <a:p>
            <a:pPr algn="ctr" indent="0" marL="0">
              <a:buNone/>
            </a:pPr>
            <a:r>
              <a:rPr lang="en-US" sz="1200" dirty="0">
                <a:solidFill>
                  <a:srgbClr val="ABA6C8"/>
                </a:solidFill>
                <a:latin typeface="Segoe UI" pitchFamily="34" charset="0"/>
                <a:ea typeface="Segoe UI" pitchFamily="34" charset="-122"/>
                <a:cs typeface="Segoe UI" pitchFamily="34" charset="-120"/>
              </a:rPr>
              <a:t>input tokens</a:t>
            </a:r>
            <a:endParaRPr lang="en-US" sz="1200" dirty="0"/>
          </a:p>
          <a:p>
            <a:pPr algn="ctr" indent="0" marL="0">
              <a:buNone/>
            </a:pPr>
            <a:r>
              <a:rPr lang="en-US" sz="1200" dirty="0">
                <a:solidFill>
                  <a:srgbClr val="ABA6C8"/>
                </a:solidFill>
                <a:latin typeface="Segoe UI" pitchFamily="34" charset="0"/>
                <a:ea typeface="Segoe UI" pitchFamily="34" charset="-122"/>
                <a:cs typeface="Segoe UI" pitchFamily="34" charset="-120"/>
              </a:rPr>
              <a:t>per rival decision</a:t>
            </a:r>
            <a:endParaRPr lang="en-US" sz="1200" dirty="0"/>
          </a:p>
        </p:txBody>
      </p:sp>
      <p:sp>
        <p:nvSpPr>
          <p:cNvPr id="8" name="Text 6"/>
          <p:cNvSpPr/>
          <p:nvPr/>
        </p:nvSpPr>
        <p:spPr>
          <a:xfrm>
            <a:off x="2560320" y="1920240"/>
            <a:ext cx="2011680" cy="777240"/>
          </a:xfrm>
          <a:prstGeom prst="rect">
            <a:avLst/>
          </a:prstGeom>
          <a:noFill/>
          <a:ln/>
        </p:spPr>
        <p:txBody>
          <a:bodyPr wrap="square" lIns="0" tIns="0" rIns="0" bIns="0" rtlCol="0" anchor="ctr"/>
          <a:lstStyle/>
          <a:p>
            <a:pPr algn="ctr" indent="0" marL="0">
              <a:buNone/>
            </a:pPr>
            <a:r>
              <a:rPr lang="en-US" sz="3600" i="1" dirty="0">
                <a:solidFill>
                  <a:srgbClr val="ECE9F8"/>
                </a:solidFill>
                <a:latin typeface="Segoe UI Black" pitchFamily="34" charset="0"/>
                <a:ea typeface="Segoe UI Black" pitchFamily="34" charset="-122"/>
                <a:cs typeface="Segoe UI Black" pitchFamily="34" charset="-120"/>
              </a:rPr>
              <a:t>≈250</a:t>
            </a:r>
            <a:endParaRPr lang="en-US" sz="3600" dirty="0"/>
          </a:p>
        </p:txBody>
      </p:sp>
      <p:sp>
        <p:nvSpPr>
          <p:cNvPr id="9" name="Text 7"/>
          <p:cNvSpPr/>
          <p:nvPr/>
        </p:nvSpPr>
        <p:spPr>
          <a:xfrm>
            <a:off x="2651760" y="2788920"/>
            <a:ext cx="1828800" cy="457200"/>
          </a:xfrm>
          <a:prstGeom prst="rect">
            <a:avLst/>
          </a:prstGeom>
          <a:noFill/>
          <a:ln/>
        </p:spPr>
        <p:txBody>
          <a:bodyPr wrap="square" lIns="0" tIns="0" rIns="0" bIns="0" rtlCol="0" anchor="t"/>
          <a:lstStyle/>
          <a:p>
            <a:pPr algn="ctr" indent="0" marL="0">
              <a:buNone/>
            </a:pPr>
            <a:r>
              <a:rPr lang="en-US" sz="1200" dirty="0">
                <a:solidFill>
                  <a:srgbClr val="ABA6C8"/>
                </a:solidFill>
                <a:latin typeface="Segoe UI" pitchFamily="34" charset="0"/>
                <a:ea typeface="Segoe UI" pitchFamily="34" charset="-122"/>
                <a:cs typeface="Segoe UI" pitchFamily="34" charset="-120"/>
              </a:rPr>
              <a:t>rival calls</a:t>
            </a:r>
            <a:endParaRPr lang="en-US" sz="1200" dirty="0"/>
          </a:p>
          <a:p>
            <a:pPr algn="ctr" indent="0" marL="0">
              <a:buNone/>
            </a:pPr>
            <a:r>
              <a:rPr lang="en-US" sz="1200" dirty="0">
                <a:solidFill>
                  <a:srgbClr val="ABA6C8"/>
                </a:solidFill>
                <a:latin typeface="Segoe UI" pitchFamily="34" charset="0"/>
                <a:ea typeface="Segoe UI" pitchFamily="34" charset="-122"/>
                <a:cs typeface="Segoe UI" pitchFamily="34" charset="-120"/>
              </a:rPr>
              <a:t>per race minute</a:t>
            </a:r>
            <a:endParaRPr lang="en-US" sz="1200" dirty="0"/>
          </a:p>
        </p:txBody>
      </p:sp>
      <p:sp>
        <p:nvSpPr>
          <p:cNvPr id="10" name="Text 8"/>
          <p:cNvSpPr/>
          <p:nvPr/>
        </p:nvSpPr>
        <p:spPr>
          <a:xfrm>
            <a:off x="4572000" y="1920240"/>
            <a:ext cx="2011680" cy="777240"/>
          </a:xfrm>
          <a:prstGeom prst="rect">
            <a:avLst/>
          </a:prstGeom>
          <a:noFill/>
          <a:ln/>
        </p:spPr>
        <p:txBody>
          <a:bodyPr wrap="square" lIns="0" tIns="0" rIns="0" bIns="0" rtlCol="0" anchor="ctr"/>
          <a:lstStyle/>
          <a:p>
            <a:pPr algn="ctr" indent="0" marL="0">
              <a:buNone/>
            </a:pPr>
            <a:r>
              <a:rPr lang="en-US" sz="3600" i="1" dirty="0">
                <a:solidFill>
                  <a:srgbClr val="ECE9F8"/>
                </a:solidFill>
                <a:latin typeface="Segoe UI Black" pitchFamily="34" charset="0"/>
                <a:ea typeface="Segoe UI Black" pitchFamily="34" charset="-122"/>
                <a:cs typeface="Segoe UI Black" pitchFamily="34" charset="-120"/>
              </a:rPr>
              <a:t>≈0.6¢</a:t>
            </a:r>
            <a:endParaRPr lang="en-US" sz="3600" dirty="0"/>
          </a:p>
        </p:txBody>
      </p:sp>
      <p:sp>
        <p:nvSpPr>
          <p:cNvPr id="11" name="Text 9"/>
          <p:cNvSpPr/>
          <p:nvPr/>
        </p:nvSpPr>
        <p:spPr>
          <a:xfrm>
            <a:off x="4663440" y="2788920"/>
            <a:ext cx="1828800" cy="457200"/>
          </a:xfrm>
          <a:prstGeom prst="rect">
            <a:avLst/>
          </a:prstGeom>
          <a:noFill/>
          <a:ln/>
        </p:spPr>
        <p:txBody>
          <a:bodyPr wrap="square" lIns="0" tIns="0" rIns="0" bIns="0" rtlCol="0" anchor="t"/>
          <a:lstStyle/>
          <a:p>
            <a:pPr algn="ctr" indent="0" marL="0">
              <a:buNone/>
            </a:pPr>
            <a:r>
              <a:rPr lang="en-US" sz="1200" dirty="0">
                <a:solidFill>
                  <a:srgbClr val="ABA6C8"/>
                </a:solidFill>
                <a:latin typeface="Segoe UI" pitchFamily="34" charset="0"/>
                <a:ea typeface="Segoe UI" pitchFamily="34" charset="-122"/>
                <a:cs typeface="Segoe UI" pitchFamily="34" charset="-120"/>
              </a:rPr>
              <a:t>model cost</a:t>
            </a:r>
            <a:endParaRPr lang="en-US" sz="1200" dirty="0"/>
          </a:p>
          <a:p>
            <a:pPr algn="ctr" indent="0" marL="0">
              <a:buNone/>
            </a:pPr>
            <a:r>
              <a:rPr lang="en-US" sz="1200" dirty="0">
                <a:solidFill>
                  <a:srgbClr val="ABA6C8"/>
                </a:solidFill>
                <a:latin typeface="Segoe UI" pitchFamily="34" charset="0"/>
                <a:ea typeface="Segoe UI" pitchFamily="34" charset="-122"/>
                <a:cs typeface="Segoe UI" pitchFamily="34" charset="-120"/>
              </a:rPr>
              <a:t>per race minute</a:t>
            </a:r>
            <a:endParaRPr lang="en-US" sz="1200" dirty="0"/>
          </a:p>
        </p:txBody>
      </p:sp>
      <p:sp>
        <p:nvSpPr>
          <p:cNvPr id="12" name="Text 10"/>
          <p:cNvSpPr/>
          <p:nvPr/>
        </p:nvSpPr>
        <p:spPr>
          <a:xfrm>
            <a:off x="6583680" y="1920240"/>
            <a:ext cx="2011680" cy="777240"/>
          </a:xfrm>
          <a:prstGeom prst="rect">
            <a:avLst/>
          </a:prstGeom>
          <a:noFill/>
          <a:ln/>
        </p:spPr>
        <p:txBody>
          <a:bodyPr wrap="square" lIns="0" tIns="0" rIns="0" bIns="0" rtlCol="0" anchor="ctr"/>
          <a:lstStyle/>
          <a:p>
            <a:pPr algn="ctr" indent="0" marL="0">
              <a:buNone/>
            </a:pPr>
            <a:r>
              <a:rPr lang="en-US" sz="3600" i="1" dirty="0">
                <a:solidFill>
                  <a:srgbClr val="FFD166"/>
                </a:solidFill>
                <a:latin typeface="Segoe UI Black" pitchFamily="34" charset="0"/>
                <a:ea typeface="Segoe UI Black" pitchFamily="34" charset="-122"/>
                <a:cs typeface="Segoe UI Black" pitchFamily="34" charset="-120"/>
              </a:rPr>
              <a:t>≈1.5¢</a:t>
            </a:r>
            <a:endParaRPr lang="en-US" sz="3600" dirty="0"/>
          </a:p>
        </p:txBody>
      </p:sp>
      <p:sp>
        <p:nvSpPr>
          <p:cNvPr id="13" name="Text 11"/>
          <p:cNvSpPr/>
          <p:nvPr/>
        </p:nvSpPr>
        <p:spPr>
          <a:xfrm>
            <a:off x="6675120" y="2788920"/>
            <a:ext cx="1828800" cy="457200"/>
          </a:xfrm>
          <a:prstGeom prst="rect">
            <a:avLst/>
          </a:prstGeom>
          <a:noFill/>
          <a:ln/>
        </p:spPr>
        <p:txBody>
          <a:bodyPr wrap="square" lIns="0" tIns="0" rIns="0" bIns="0" rtlCol="0" anchor="t"/>
          <a:lstStyle/>
          <a:p>
            <a:pPr algn="ctr" indent="0" marL="0">
              <a:buNone/>
            </a:pPr>
            <a:r>
              <a:rPr lang="en-US" sz="1200" dirty="0">
                <a:solidFill>
                  <a:srgbClr val="ABA6C8"/>
                </a:solidFill>
                <a:latin typeface="Segoe UI" pitchFamily="34" charset="0"/>
                <a:ea typeface="Segoe UI" pitchFamily="34" charset="-122"/>
                <a:cs typeface="Segoe UI" pitchFamily="34" charset="-120"/>
              </a:rPr>
              <a:t>per 3-lap race</a:t>
            </a:r>
            <a:endParaRPr lang="en-US" sz="1200" dirty="0"/>
          </a:p>
          <a:p>
            <a:pPr algn="ctr" indent="0" marL="0">
              <a:buNone/>
            </a:pPr>
            <a:r>
              <a:rPr lang="en-US" sz="1200" dirty="0">
                <a:solidFill>
                  <a:srgbClr val="ABA6C8"/>
                </a:solidFill>
                <a:latin typeface="Segoe UI" pitchFamily="34" charset="0"/>
                <a:ea typeface="Segoe UI" pitchFamily="34" charset="-122"/>
                <a:cs typeface="Segoe UI" pitchFamily="34" charset="-120"/>
              </a:rPr>
              <a:t>(about 2.5 minutes)</a:t>
            </a:r>
            <a:endParaRPr lang="en-US" sz="1200" dirty="0"/>
          </a:p>
        </p:txBody>
      </p:sp>
      <p:sp>
        <p:nvSpPr>
          <p:cNvPr id="14" name="Shape 12"/>
          <p:cNvSpPr/>
          <p:nvPr/>
        </p:nvSpPr>
        <p:spPr>
          <a:xfrm>
            <a:off x="548640" y="3794760"/>
            <a:ext cx="8046720" cy="731520"/>
          </a:xfrm>
          <a:prstGeom prst="roundRect">
            <a:avLst>
              <a:gd name="adj" fmla="val 15000"/>
            </a:avLst>
          </a:prstGeom>
          <a:solidFill>
            <a:srgbClr val="110F2B"/>
          </a:solidFill>
          <a:ln/>
        </p:spPr>
      </p:sp>
      <p:pic>
        <p:nvPicPr>
          <p:cNvPr id="15" name="Image 0" descr="Coins icon">    </p:cNvPr>
          <p:cNvPicPr>
            <a:picLocks noChangeAspect="1"/>
          </p:cNvPicPr>
          <p:nvPr/>
        </p:nvPicPr>
        <p:blipFill>
          <a:blip r:embed="rId1"/>
          <a:stretch>
            <a:fillRect/>
          </a:stretch>
        </p:blipFill>
        <p:spPr>
          <a:xfrm>
            <a:off x="777240" y="3986784"/>
            <a:ext cx="347472" cy="347472"/>
          </a:xfrm>
          <a:prstGeom prst="rect">
            <a:avLst/>
          </a:prstGeom>
        </p:spPr>
      </p:pic>
      <p:sp>
        <p:nvSpPr>
          <p:cNvPr id="16" name="Text 13"/>
          <p:cNvSpPr/>
          <p:nvPr/>
        </p:nvSpPr>
        <p:spPr>
          <a:xfrm>
            <a:off x="1325880" y="3794760"/>
            <a:ext cx="7086600" cy="731520"/>
          </a:xfrm>
          <a:prstGeom prst="rect">
            <a:avLst/>
          </a:prstGeom>
          <a:noFill/>
          <a:ln/>
        </p:spPr>
        <p:txBody>
          <a:bodyPr wrap="square" lIns="0" tIns="0" rIns="0" bIns="0" rtlCol="0" anchor="ctr"/>
          <a:lstStyle/>
          <a:p>
            <a:pPr indent="0" marL="0">
              <a:spcAft>
                <a:spcPts val="300"/>
              </a:spcAft>
              <a:buNone/>
            </a:pPr>
            <a:r>
              <a:rPr lang="en-US" sz="1200" dirty="0">
                <a:solidFill>
                  <a:srgbClr val="ECE9F8"/>
                </a:solidFill>
                <a:latin typeface="Segoe UI" pitchFamily="34" charset="0"/>
                <a:ea typeface="Segoe UI" pitchFamily="34" charset="-122"/>
                <a:cs typeface="Segoe UI" pitchFamily="34" charset="-120"/>
              </a:rPr>
              <a:t>$0.04 per 1M tokens, one rate for input and output; a rival call returns 3 tokens.</a:t>
            </a:r>
            <a:endParaRPr lang="en-US" sz="1200" dirty="0"/>
          </a:p>
          <a:p>
            <a:pPr indent="0" marL="0">
              <a:spcAft>
                <a:spcPts val="300"/>
              </a:spcAft>
              <a:buNone/>
            </a:pPr>
            <a:r>
              <a:rPr lang="en-US" sz="1200" dirty="0">
                <a:solidFill>
                  <a:srgbClr val="ECE9F8"/>
                </a:solidFill>
                <a:latin typeface="Segoe UI" pitchFamily="34" charset="0"/>
                <a:ea typeface="Segoe UI" pitchFamily="34" charset="-122"/>
                <a:cs typeface="Segoe UI" pitchFamily="34" charset="-120"/>
              </a:rPr>
              <a:t>Daily cap: 20,000 calls ≈ 80 minutes of racing ≈ $0.50. 500 RPM covers two races at once.</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7071A"/>
        </a:solidFill>
      </p:bgPr>
    </p:bg>
    <p:spTree>
      <p:nvGrpSpPr>
        <p:cNvPr id="1" name=""/>
        <p:cNvGrpSpPr/>
        <p:nvPr/>
      </p:nvGrpSpPr>
      <p:grpSpPr>
        <a:xfrm>
          <a:off x="0" y="0"/>
          <a:ext cx="0" cy="0"/>
          <a:chOff x="0" y="0"/>
          <a:chExt cx="0" cy="0"/>
        </a:xfrm>
      </p:grpSpPr>
      <p:sp>
        <p:nvSpPr>
          <p:cNvPr id="2" name="Shape 0"/>
          <p:cNvSpPr/>
          <p:nvPr/>
        </p:nvSpPr>
        <p:spPr>
          <a:xfrm>
            <a:off x="640080" y="548640"/>
            <a:ext cx="27432" cy="27432"/>
          </a:xfrm>
          <a:prstGeom prst="ellipse">
            <a:avLst/>
          </a:prstGeom>
          <a:solidFill>
            <a:srgbClr val="FFFFFF">
              <a:alpha val="50000"/>
            </a:srgbClr>
          </a:solidFill>
          <a:ln/>
        </p:spPr>
      </p:sp>
      <p:sp>
        <p:nvSpPr>
          <p:cNvPr id="3" name="Shape 1"/>
          <p:cNvSpPr/>
          <p:nvPr/>
        </p:nvSpPr>
        <p:spPr>
          <a:xfrm>
            <a:off x="2834640" y="548640"/>
            <a:ext cx="36576" cy="36576"/>
          </a:xfrm>
          <a:prstGeom prst="ellipse">
            <a:avLst/>
          </a:prstGeom>
          <a:solidFill>
            <a:srgbClr val="FFFFFF">
              <a:alpha val="60000"/>
            </a:srgbClr>
          </a:solidFill>
          <a:ln/>
        </p:spPr>
      </p:sp>
      <p:sp>
        <p:nvSpPr>
          <p:cNvPr id="4" name="Shape 2"/>
          <p:cNvSpPr/>
          <p:nvPr/>
        </p:nvSpPr>
        <p:spPr>
          <a:xfrm>
            <a:off x="4754880" y="594360"/>
            <a:ext cx="27432" cy="27432"/>
          </a:xfrm>
          <a:prstGeom prst="ellipse">
            <a:avLst/>
          </a:prstGeom>
          <a:solidFill>
            <a:srgbClr val="FFFFFF">
              <a:alpha val="45000"/>
            </a:srgbClr>
          </a:solidFill>
          <a:ln/>
        </p:spPr>
      </p:sp>
      <p:sp>
        <p:nvSpPr>
          <p:cNvPr id="5" name="Shape 3"/>
          <p:cNvSpPr/>
          <p:nvPr/>
        </p:nvSpPr>
        <p:spPr>
          <a:xfrm>
            <a:off x="6035040" y="502920"/>
            <a:ext cx="32004" cy="32004"/>
          </a:xfrm>
          <a:prstGeom prst="ellipse">
            <a:avLst/>
          </a:prstGeom>
          <a:solidFill>
            <a:srgbClr val="FFFFFF">
              <a:alpha val="55000"/>
            </a:srgbClr>
          </a:solidFill>
          <a:ln/>
        </p:spPr>
      </p:sp>
      <p:sp>
        <p:nvSpPr>
          <p:cNvPr id="6" name="Shape 4"/>
          <p:cNvSpPr/>
          <p:nvPr/>
        </p:nvSpPr>
        <p:spPr>
          <a:xfrm>
            <a:off x="8595360" y="3017520"/>
            <a:ext cx="27432" cy="27432"/>
          </a:xfrm>
          <a:prstGeom prst="ellipse">
            <a:avLst/>
          </a:prstGeom>
          <a:solidFill>
            <a:srgbClr val="FFFFFF">
              <a:alpha val="50000"/>
            </a:srgbClr>
          </a:solidFill>
          <a:ln/>
        </p:spPr>
      </p:sp>
      <p:sp>
        <p:nvSpPr>
          <p:cNvPr id="7" name="Shape 5"/>
          <p:cNvSpPr/>
          <p:nvPr/>
        </p:nvSpPr>
        <p:spPr>
          <a:xfrm>
            <a:off x="4480560" y="4846320"/>
            <a:ext cx="27432" cy="27432"/>
          </a:xfrm>
          <a:prstGeom prst="ellipse">
            <a:avLst/>
          </a:prstGeom>
          <a:solidFill>
            <a:srgbClr val="FFFFFF">
              <a:alpha val="45000"/>
            </a:srgbClr>
          </a:solidFill>
          <a:ln/>
        </p:spPr>
      </p:sp>
      <p:sp>
        <p:nvSpPr>
          <p:cNvPr id="8" name="Shape 6"/>
          <p:cNvSpPr/>
          <p:nvPr/>
        </p:nvSpPr>
        <p:spPr>
          <a:xfrm>
            <a:off x="2651760" y="4864608"/>
            <a:ext cx="22860" cy="22860"/>
          </a:xfrm>
          <a:prstGeom prst="ellipse">
            <a:avLst/>
          </a:prstGeom>
          <a:solidFill>
            <a:srgbClr val="FFFFFF">
              <a:alpha val="40000"/>
            </a:srgbClr>
          </a:solidFill>
          <a:ln/>
        </p:spPr>
      </p:sp>
      <p:sp>
        <p:nvSpPr>
          <p:cNvPr id="9" name="Shape 7"/>
          <p:cNvSpPr/>
          <p:nvPr/>
        </p:nvSpPr>
        <p:spPr>
          <a:xfrm>
            <a:off x="7680960" y="4846320"/>
            <a:ext cx="27432" cy="27432"/>
          </a:xfrm>
          <a:prstGeom prst="ellipse">
            <a:avLst/>
          </a:prstGeom>
          <a:solidFill>
            <a:srgbClr val="FFFFFF">
              <a:alpha val="45000"/>
            </a:srgbClr>
          </a:solidFill>
          <a:ln/>
        </p:spPr>
      </p:sp>
      <p:pic>
        <p:nvPicPr>
          <p:cNvPr id="10" name="Image 0" descr="Moon">    </p:cNvPr>
          <p:cNvPicPr>
            <a:picLocks noChangeAspect="1"/>
          </p:cNvPicPr>
          <p:nvPr/>
        </p:nvPicPr>
        <p:blipFill>
          <a:blip r:embed="rId1"/>
          <a:stretch>
            <a:fillRect/>
          </a:stretch>
        </p:blipFill>
        <p:spPr>
          <a:xfrm>
            <a:off x="6720840" y="137160"/>
            <a:ext cx="2103120" cy="2103120"/>
          </a:xfrm>
          <a:prstGeom prst="rect">
            <a:avLst/>
          </a:prstGeom>
        </p:spPr>
      </p:pic>
      <p:sp>
        <p:nvSpPr>
          <p:cNvPr id="11" name="Text 8"/>
          <p:cNvSpPr/>
          <p:nvPr/>
        </p:nvSpPr>
        <p:spPr>
          <a:xfrm>
            <a:off x="548640" y="777240"/>
            <a:ext cx="6035040" cy="822960"/>
          </a:xfrm>
          <a:prstGeom prst="rect">
            <a:avLst/>
          </a:prstGeom>
          <a:noFill/>
          <a:ln/>
        </p:spPr>
        <p:txBody>
          <a:bodyPr wrap="square" lIns="0" tIns="0" rIns="0" bIns="0" rtlCol="0" anchor="ctr"/>
          <a:lstStyle/>
          <a:p>
            <a:pPr indent="0" marL="0">
              <a:buNone/>
            </a:pPr>
            <a:r>
              <a:rPr lang="en-US" sz="4400" i="1" dirty="0">
                <a:solidFill>
                  <a:srgbClr val="ECE9F8"/>
                </a:solidFill>
                <a:latin typeface="Segoe UI Black" pitchFamily="34" charset="0"/>
                <a:ea typeface="Segoe UI Black" pitchFamily="34" charset="-122"/>
                <a:cs typeface="Segoe UI Black" pitchFamily="34" charset="-120"/>
              </a:rPr>
              <a:t>Start your engines</a:t>
            </a:r>
            <a:endParaRPr lang="en-US" sz="4400" dirty="0"/>
          </a:p>
        </p:txBody>
      </p:sp>
      <p:sp>
        <p:nvSpPr>
          <p:cNvPr id="12" name="Shape 9"/>
          <p:cNvSpPr/>
          <p:nvPr/>
        </p:nvSpPr>
        <p:spPr>
          <a:xfrm>
            <a:off x="548640" y="2011680"/>
            <a:ext cx="3840480" cy="905256"/>
          </a:xfrm>
          <a:prstGeom prst="roundRect">
            <a:avLst>
              <a:gd name="adj" fmla="val 12121"/>
            </a:avLst>
          </a:prstGeom>
          <a:solidFill>
            <a:srgbClr val="110F2B"/>
          </a:solidFill>
          <a:ln/>
        </p:spPr>
      </p:sp>
      <p:sp>
        <p:nvSpPr>
          <p:cNvPr id="13" name="Text 10"/>
          <p:cNvSpPr/>
          <p:nvPr/>
        </p:nvSpPr>
        <p:spPr>
          <a:xfrm>
            <a:off x="777240" y="2203704"/>
            <a:ext cx="3383280" cy="237744"/>
          </a:xfrm>
          <a:prstGeom prst="rect">
            <a:avLst/>
          </a:prstGeom>
          <a:noFill/>
          <a:ln/>
        </p:spPr>
        <p:txBody>
          <a:bodyPr wrap="square" lIns="0" tIns="0" rIns="0" bIns="0" rtlCol="0" anchor="ctr"/>
          <a:lstStyle/>
          <a:p>
            <a:pPr indent="0" marL="0">
              <a:buNone/>
            </a:pPr>
            <a:r>
              <a:rPr lang="en-US" sz="1050" spc="200" kern="0" dirty="0">
                <a:solidFill>
                  <a:srgbClr val="ABA6C8"/>
                </a:solidFill>
                <a:latin typeface="Segoe UI Semibold" pitchFamily="34" charset="0"/>
                <a:ea typeface="Segoe UI Semibold" pitchFamily="34" charset="-122"/>
                <a:cs typeface="Segoe UI Semibold" pitchFamily="34" charset="-120"/>
              </a:rPr>
              <a:t>GET THE CODE</a:t>
            </a:r>
            <a:endParaRPr lang="en-US" sz="1050" dirty="0"/>
          </a:p>
        </p:txBody>
      </p:sp>
      <p:pic>
        <p:nvPicPr>
          <p:cNvPr id="14" name="Image 1" descr="GitHub icon">    </p:cNvPr>
          <p:cNvPicPr>
            <a:picLocks noChangeAspect="1"/>
          </p:cNvPicPr>
          <p:nvPr/>
        </p:nvPicPr>
        <p:blipFill>
          <a:blip r:embed="rId2"/>
          <a:stretch>
            <a:fillRect/>
          </a:stretch>
        </p:blipFill>
        <p:spPr>
          <a:xfrm>
            <a:off x="777240" y="2478024"/>
            <a:ext cx="219456" cy="219456"/>
          </a:xfrm>
          <a:prstGeom prst="rect">
            <a:avLst/>
          </a:prstGeom>
        </p:spPr>
      </p:pic>
      <p:sp>
        <p:nvSpPr>
          <p:cNvPr id="15" name="Text 11"/>
          <p:cNvSpPr/>
          <p:nvPr/>
        </p:nvSpPr>
        <p:spPr>
          <a:xfrm>
            <a:off x="1088136" y="2450592"/>
            <a:ext cx="3072384" cy="274320"/>
          </a:xfrm>
          <a:prstGeom prst="rect">
            <a:avLst/>
          </a:prstGeom>
          <a:noFill/>
          <a:ln/>
        </p:spPr>
        <p:txBody>
          <a:bodyPr wrap="square" lIns="0" tIns="0" rIns="0" bIns="0" rtlCol="0" anchor="ctr"/>
          <a:lstStyle/>
          <a:p>
            <a:pPr indent="0" marL="0">
              <a:buNone/>
            </a:pPr>
            <a:r>
              <a:rPr lang="en-US" sz="1600" dirty="0">
                <a:solidFill>
                  <a:srgbClr val="3DD6FF"/>
                </a:solidFill>
                <a:latin typeface="Segoe UI Semibold" pitchFamily="34" charset="0"/>
                <a:ea typeface="Segoe UI Semibold" pitchFamily="34" charset="-122"/>
                <a:cs typeface="Segoe UI Semibold" pitchFamily="34" charset="-120"/>
              </a:rPr>
              <a:t>github.com/roryp/racing</a:t>
            </a:r>
            <a:endParaRPr lang="en-US" sz="1600" dirty="0"/>
          </a:p>
        </p:txBody>
      </p:sp>
      <p:sp>
        <p:nvSpPr>
          <p:cNvPr id="16" name="Shape 12">
            <a:hlinkClick r:id="rId3" tooltip="Open the repository"/>
          </p:cNvPr>
          <p:cNvSpPr/>
          <p:nvPr/>
        </p:nvSpPr>
        <p:spPr>
          <a:xfrm>
            <a:off x="548640" y="2011680"/>
            <a:ext cx="3840480" cy="905256"/>
          </a:xfrm>
          <a:prstGeom prst="rect">
            <a:avLst/>
          </a:prstGeom>
          <a:solidFill>
            <a:srgbClr val="07071A">
              <a:alpha val="0"/>
            </a:srgbClr>
          </a:solidFill>
          <a:ln/>
        </p:spPr>
      </p:sp>
      <p:sp>
        <p:nvSpPr>
          <p:cNvPr id="17" name="Shape 13"/>
          <p:cNvSpPr/>
          <p:nvPr/>
        </p:nvSpPr>
        <p:spPr>
          <a:xfrm>
            <a:off x="548640" y="3063240"/>
            <a:ext cx="3840480" cy="905256"/>
          </a:xfrm>
          <a:prstGeom prst="roundRect">
            <a:avLst>
              <a:gd name="adj" fmla="val 12121"/>
            </a:avLst>
          </a:prstGeom>
          <a:solidFill>
            <a:srgbClr val="110F2B"/>
          </a:solidFill>
          <a:ln/>
        </p:spPr>
      </p:sp>
      <p:sp>
        <p:nvSpPr>
          <p:cNvPr id="18" name="Text 14"/>
          <p:cNvSpPr/>
          <p:nvPr/>
        </p:nvSpPr>
        <p:spPr>
          <a:xfrm>
            <a:off x="777240" y="3255264"/>
            <a:ext cx="3383280" cy="237744"/>
          </a:xfrm>
          <a:prstGeom prst="rect">
            <a:avLst/>
          </a:prstGeom>
          <a:noFill/>
          <a:ln/>
        </p:spPr>
        <p:txBody>
          <a:bodyPr wrap="square" lIns="0" tIns="0" rIns="0" bIns="0" rtlCol="0" anchor="ctr"/>
          <a:lstStyle/>
          <a:p>
            <a:pPr indent="0" marL="0">
              <a:buNone/>
            </a:pPr>
            <a:r>
              <a:rPr lang="en-US" sz="1050" spc="200" kern="0" dirty="0">
                <a:solidFill>
                  <a:srgbClr val="ABA6C8"/>
                </a:solidFill>
                <a:latin typeface="Segoe UI Semibold" pitchFamily="34" charset="0"/>
                <a:ea typeface="Segoe UI Semibold" pitchFamily="34" charset="-122"/>
                <a:cs typeface="Segoe UI Semibold" pitchFamily="34" charset="-120"/>
              </a:rPr>
              <a:t>RUN IT</a:t>
            </a:r>
            <a:endParaRPr lang="en-US" sz="1050" dirty="0"/>
          </a:p>
        </p:txBody>
      </p:sp>
      <p:sp>
        <p:nvSpPr>
          <p:cNvPr id="19" name="Text 15"/>
          <p:cNvSpPr/>
          <p:nvPr/>
        </p:nvSpPr>
        <p:spPr>
          <a:xfrm>
            <a:off x="777240" y="3502152"/>
            <a:ext cx="3383280" cy="274320"/>
          </a:xfrm>
          <a:prstGeom prst="rect">
            <a:avLst/>
          </a:prstGeom>
          <a:noFill/>
          <a:ln/>
        </p:spPr>
        <p:txBody>
          <a:bodyPr wrap="square" lIns="0" tIns="0" rIns="0" bIns="0" rtlCol="0" anchor="ctr"/>
          <a:lstStyle/>
          <a:p>
            <a:pPr indent="0" marL="0">
              <a:buNone/>
            </a:pPr>
            <a:r>
              <a:rPr lang="en-US" sz="1300" dirty="0">
                <a:solidFill>
                  <a:srgbClr val="FFD166"/>
                </a:solidFill>
                <a:latin typeface="Consolas" pitchFamily="34" charset="0"/>
                <a:ea typeface="Consolas" pitchFamily="34" charset="-122"/>
                <a:cs typeface="Consolas" pitchFamily="34" charset="-120"/>
              </a:rPr>
              <a:t>npm start</a:t>
            </a:r>
            <a:pPr indent="0" marL="0">
              <a:buNone/>
            </a:pPr>
            <a:r>
              <a:rPr lang="en-US" sz="1300" dirty="0">
                <a:solidFill>
                  <a:srgbClr val="ABA6C8"/>
                </a:solidFill>
                <a:latin typeface="Consolas" pitchFamily="34" charset="0"/>
                <a:ea typeface="Consolas" pitchFamily="34" charset="-122"/>
                <a:cs typeface="Consolas" pitchFamily="34" charset="-120"/>
              </a:rPr>
              <a:t>  →  </a:t>
            </a:r>
            <a:pPr indent="0" marL="0">
              <a:buNone/>
            </a:pPr>
            <a:r>
              <a:rPr lang="en-US" sz="1300" dirty="0">
                <a:solidFill>
                  <a:srgbClr val="3DD6FF"/>
                </a:solidFill>
                <a:latin typeface="Consolas" pitchFamily="34" charset="0"/>
                <a:ea typeface="Consolas" pitchFamily="34" charset="-122"/>
                <a:cs typeface="Consolas" pitchFamily="34" charset="-120"/>
              </a:rPr>
              <a:t>http://127.0.0.1:3000</a:t>
            </a:r>
            <a:endParaRPr lang="en-US" sz="1300" dirty="0"/>
          </a:p>
        </p:txBody>
      </p:sp>
      <p:sp>
        <p:nvSpPr>
          <p:cNvPr id="20" name="Text 16"/>
          <p:cNvSpPr/>
          <p:nvPr/>
        </p:nvSpPr>
        <p:spPr>
          <a:xfrm>
            <a:off x="548640" y="4114800"/>
            <a:ext cx="3840480" cy="384048"/>
          </a:xfrm>
          <a:prstGeom prst="rect">
            <a:avLst/>
          </a:prstGeom>
          <a:noFill/>
          <a:ln/>
        </p:spPr>
        <p:txBody>
          <a:bodyPr wrap="square" lIns="0" tIns="0" rIns="0" bIns="0" rtlCol="0" anchor="t"/>
          <a:lstStyle/>
          <a:p>
            <a:pPr indent="0" marL="0">
              <a:buNone/>
            </a:pPr>
            <a:r>
              <a:rPr lang="en-US" sz="1150" dirty="0">
                <a:solidFill>
                  <a:srgbClr val="ABA6C8"/>
                </a:solidFill>
                <a:latin typeface="Segoe UI" pitchFamily="34" charset="0"/>
                <a:ea typeface="Segoe UI" pitchFamily="34" charset="-122"/>
                <a:cs typeface="Segoe UI" pitchFamily="34" charset="-120"/>
              </a:rPr>
              <a:t>Node.js 20+, no install step.</a:t>
            </a:r>
            <a:endParaRPr lang="en-US" sz="1150" dirty="0"/>
          </a:p>
          <a:p>
            <a:pPr indent="0" marL="0">
              <a:buNone/>
            </a:pPr>
            <a:r>
              <a:rPr lang="en-US" sz="1150" dirty="0">
                <a:solidFill>
                  <a:srgbClr val="ABA6C8"/>
                </a:solidFill>
                <a:latin typeface="Segoe UI" pitchFamily="34" charset="0"/>
                <a:ea typeface="Segoe UI" pitchFamily="34" charset="-122"/>
                <a:cs typeface="Segoe UI" pitchFamily="34" charset="-120"/>
              </a:rPr>
              <a:t>No </a:t>
            </a:r>
            <a:pPr indent="0" marL="0">
              <a:buNone/>
            </a:pPr>
            <a:r>
              <a:rPr lang="en-US" sz="1150" dirty="0">
                <a:solidFill>
                  <a:srgbClr val="ECE9F8"/>
                </a:solidFill>
                <a:latin typeface="Consolas" pitchFamily="34" charset="0"/>
                <a:ea typeface="Consolas" pitchFamily="34" charset="-122"/>
                <a:cs typeface="Consolas" pitchFamily="34" charset="-120"/>
              </a:rPr>
              <a:t>FOUNDRY_ENDPOINT</a:t>
            </a:r>
            <a:pPr indent="0" marL="0">
              <a:buNone/>
            </a:pPr>
            <a:r>
              <a:rPr lang="en-US" sz="1150" dirty="0">
                <a:solidFill>
                  <a:srgbClr val="ABA6C8"/>
                </a:solidFill>
                <a:latin typeface="Segoe UI" pitchFamily="34" charset="0"/>
                <a:ea typeface="Segoe UI" pitchFamily="34" charset="-122"/>
                <a:cs typeface="Segoe UI" pitchFamily="34" charset="-120"/>
              </a:rPr>
              <a:t>? Rivals use offline heuristics.</a:t>
            </a:r>
            <a:endParaRPr lang="en-US" sz="1150" dirty="0"/>
          </a:p>
        </p:txBody>
      </p:sp>
      <p:sp>
        <p:nvSpPr>
          <p:cNvPr id="21" name="Shape 17"/>
          <p:cNvSpPr/>
          <p:nvPr/>
        </p:nvSpPr>
        <p:spPr>
          <a:xfrm>
            <a:off x="4937760" y="2011680"/>
            <a:ext cx="777240" cy="274320"/>
          </a:xfrm>
          <a:prstGeom prst="roundRect">
            <a:avLst>
              <a:gd name="adj" fmla="val 20000"/>
            </a:avLst>
          </a:prstGeom>
          <a:solidFill>
            <a:srgbClr val="1A1740"/>
          </a:solidFill>
          <a:ln w="12700">
            <a:solidFill>
              <a:srgbClr val="36316A"/>
            </a:solidFill>
            <a:prstDash val="solid"/>
          </a:ln>
        </p:spPr>
      </p:sp>
      <p:pic>
        <p:nvPicPr>
          <p:cNvPr id="22" name="Image 2" descr="Left arrow key">    </p:cNvPr>
          <p:cNvPicPr>
            <a:picLocks noChangeAspect="1"/>
          </p:cNvPicPr>
          <p:nvPr/>
        </p:nvPicPr>
        <p:blipFill>
          <a:blip r:embed="rId4"/>
          <a:stretch>
            <a:fillRect/>
          </a:stretch>
        </p:blipFill>
        <p:spPr>
          <a:xfrm>
            <a:off x="5134356" y="2071116"/>
            <a:ext cx="155448" cy="155448"/>
          </a:xfrm>
          <a:prstGeom prst="rect">
            <a:avLst/>
          </a:prstGeom>
        </p:spPr>
      </p:pic>
      <p:pic>
        <p:nvPicPr>
          <p:cNvPr id="23" name="Image 3" descr="Right arrow key">    </p:cNvPr>
          <p:cNvPicPr>
            <a:picLocks noChangeAspect="1"/>
          </p:cNvPicPr>
          <p:nvPr/>
        </p:nvPicPr>
        <p:blipFill>
          <a:blip r:embed="rId5"/>
          <a:stretch>
            <a:fillRect/>
          </a:stretch>
        </p:blipFill>
        <p:spPr>
          <a:xfrm>
            <a:off x="5362956" y="2071116"/>
            <a:ext cx="155448" cy="155448"/>
          </a:xfrm>
          <a:prstGeom prst="rect">
            <a:avLst/>
          </a:prstGeom>
        </p:spPr>
      </p:pic>
      <p:sp>
        <p:nvSpPr>
          <p:cNvPr id="24" name="Text 18"/>
          <p:cNvSpPr/>
          <p:nvPr/>
        </p:nvSpPr>
        <p:spPr>
          <a:xfrm>
            <a:off x="5897880" y="2011680"/>
            <a:ext cx="2651760" cy="274320"/>
          </a:xfrm>
          <a:prstGeom prst="rect">
            <a:avLst/>
          </a:prstGeom>
          <a:noFill/>
          <a:ln/>
        </p:spPr>
        <p:txBody>
          <a:bodyPr wrap="square" lIns="0" tIns="0" rIns="0" bIns="0" rtlCol="0" anchor="ctr"/>
          <a:lstStyle/>
          <a:p>
            <a:pPr indent="0" marL="0">
              <a:buNone/>
            </a:pPr>
            <a:r>
              <a:rPr lang="en-US" sz="1400" dirty="0">
                <a:solidFill>
                  <a:srgbClr val="ECE9F8"/>
                </a:solidFill>
                <a:latin typeface="Segoe UI" pitchFamily="34" charset="0"/>
                <a:ea typeface="Segoe UI" pitchFamily="34" charset="-122"/>
                <a:cs typeface="Segoe UI" pitchFamily="34" charset="-120"/>
              </a:rPr>
              <a:t>Steer</a:t>
            </a:r>
            <a:endParaRPr lang="en-US" sz="1400" dirty="0"/>
          </a:p>
        </p:txBody>
      </p:sp>
      <p:sp>
        <p:nvSpPr>
          <p:cNvPr id="25" name="Shape 19"/>
          <p:cNvSpPr/>
          <p:nvPr/>
        </p:nvSpPr>
        <p:spPr>
          <a:xfrm>
            <a:off x="4937760" y="2432304"/>
            <a:ext cx="777240" cy="274320"/>
          </a:xfrm>
          <a:prstGeom prst="roundRect">
            <a:avLst>
              <a:gd name="adj" fmla="val 20000"/>
            </a:avLst>
          </a:prstGeom>
          <a:solidFill>
            <a:srgbClr val="1A1740"/>
          </a:solidFill>
          <a:ln w="12700">
            <a:solidFill>
              <a:srgbClr val="36316A"/>
            </a:solidFill>
            <a:prstDash val="solid"/>
          </a:ln>
        </p:spPr>
      </p:sp>
      <p:pic>
        <p:nvPicPr>
          <p:cNvPr id="26" name="Image 4" descr="Up arrow key">    </p:cNvPr>
          <p:cNvPicPr>
            <a:picLocks noChangeAspect="1"/>
          </p:cNvPicPr>
          <p:nvPr/>
        </p:nvPicPr>
        <p:blipFill>
          <a:blip r:embed="rId6"/>
          <a:stretch>
            <a:fillRect/>
          </a:stretch>
        </p:blipFill>
        <p:spPr>
          <a:xfrm>
            <a:off x="5248656" y="2491740"/>
            <a:ext cx="155448" cy="155448"/>
          </a:xfrm>
          <a:prstGeom prst="rect">
            <a:avLst/>
          </a:prstGeom>
        </p:spPr>
      </p:pic>
      <p:sp>
        <p:nvSpPr>
          <p:cNvPr id="27" name="Text 20"/>
          <p:cNvSpPr/>
          <p:nvPr/>
        </p:nvSpPr>
        <p:spPr>
          <a:xfrm>
            <a:off x="5897880" y="2432304"/>
            <a:ext cx="2651760" cy="274320"/>
          </a:xfrm>
          <a:prstGeom prst="rect">
            <a:avLst/>
          </a:prstGeom>
          <a:noFill/>
          <a:ln/>
        </p:spPr>
        <p:txBody>
          <a:bodyPr wrap="square" lIns="0" tIns="0" rIns="0" bIns="0" rtlCol="0" anchor="ctr"/>
          <a:lstStyle/>
          <a:p>
            <a:pPr indent="0" marL="0">
              <a:buNone/>
            </a:pPr>
            <a:r>
              <a:rPr lang="en-US" sz="1400" dirty="0">
                <a:solidFill>
                  <a:srgbClr val="ECE9F8"/>
                </a:solidFill>
                <a:latin typeface="Segoe UI" pitchFamily="34" charset="0"/>
                <a:ea typeface="Segoe UI" pitchFamily="34" charset="-122"/>
                <a:cs typeface="Segoe UI" pitchFamily="34" charset="-120"/>
              </a:rPr>
              <a:t>Throttle</a:t>
            </a:r>
            <a:endParaRPr lang="en-US" sz="1400" dirty="0"/>
          </a:p>
        </p:txBody>
      </p:sp>
      <p:sp>
        <p:nvSpPr>
          <p:cNvPr id="28" name="Shape 21"/>
          <p:cNvSpPr/>
          <p:nvPr/>
        </p:nvSpPr>
        <p:spPr>
          <a:xfrm>
            <a:off x="4937760" y="2852928"/>
            <a:ext cx="777240" cy="274320"/>
          </a:xfrm>
          <a:prstGeom prst="roundRect">
            <a:avLst>
              <a:gd name="adj" fmla="val 20000"/>
            </a:avLst>
          </a:prstGeom>
          <a:solidFill>
            <a:srgbClr val="1A1740"/>
          </a:solidFill>
          <a:ln w="12700">
            <a:solidFill>
              <a:srgbClr val="36316A"/>
            </a:solidFill>
            <a:prstDash val="solid"/>
          </a:ln>
        </p:spPr>
      </p:sp>
      <p:pic>
        <p:nvPicPr>
          <p:cNvPr id="29" name="Image 5" descr="Down arrow key">    </p:cNvPr>
          <p:cNvPicPr>
            <a:picLocks noChangeAspect="1"/>
          </p:cNvPicPr>
          <p:nvPr/>
        </p:nvPicPr>
        <p:blipFill>
          <a:blip r:embed="rId7"/>
          <a:stretch>
            <a:fillRect/>
          </a:stretch>
        </p:blipFill>
        <p:spPr>
          <a:xfrm>
            <a:off x="5248656" y="2912364"/>
            <a:ext cx="155448" cy="155448"/>
          </a:xfrm>
          <a:prstGeom prst="rect">
            <a:avLst/>
          </a:prstGeom>
        </p:spPr>
      </p:pic>
      <p:sp>
        <p:nvSpPr>
          <p:cNvPr id="30" name="Text 22"/>
          <p:cNvSpPr/>
          <p:nvPr/>
        </p:nvSpPr>
        <p:spPr>
          <a:xfrm>
            <a:off x="5897880" y="2852928"/>
            <a:ext cx="2651760" cy="274320"/>
          </a:xfrm>
          <a:prstGeom prst="rect">
            <a:avLst/>
          </a:prstGeom>
          <a:noFill/>
          <a:ln/>
        </p:spPr>
        <p:txBody>
          <a:bodyPr wrap="square" lIns="0" tIns="0" rIns="0" bIns="0" rtlCol="0" anchor="ctr"/>
          <a:lstStyle/>
          <a:p>
            <a:pPr indent="0" marL="0">
              <a:buNone/>
            </a:pPr>
            <a:r>
              <a:rPr lang="en-US" sz="1400" dirty="0">
                <a:solidFill>
                  <a:srgbClr val="ECE9F8"/>
                </a:solidFill>
                <a:latin typeface="Segoe UI" pitchFamily="34" charset="0"/>
                <a:ea typeface="Segoe UI" pitchFamily="34" charset="-122"/>
                <a:cs typeface="Segoe UI" pitchFamily="34" charset="-120"/>
              </a:rPr>
              <a:t>Brake</a:t>
            </a:r>
            <a:endParaRPr lang="en-US" sz="1400" dirty="0"/>
          </a:p>
        </p:txBody>
      </p:sp>
      <p:sp>
        <p:nvSpPr>
          <p:cNvPr id="31" name="Shape 23"/>
          <p:cNvSpPr/>
          <p:nvPr/>
        </p:nvSpPr>
        <p:spPr>
          <a:xfrm>
            <a:off x="4937760" y="3273552"/>
            <a:ext cx="777240" cy="274320"/>
          </a:xfrm>
          <a:prstGeom prst="roundRect">
            <a:avLst>
              <a:gd name="adj" fmla="val 20000"/>
            </a:avLst>
          </a:prstGeom>
          <a:solidFill>
            <a:srgbClr val="1A1740"/>
          </a:solidFill>
          <a:ln w="12700">
            <a:solidFill>
              <a:srgbClr val="36316A"/>
            </a:solidFill>
            <a:prstDash val="solid"/>
          </a:ln>
        </p:spPr>
      </p:sp>
      <p:sp>
        <p:nvSpPr>
          <p:cNvPr id="32" name="Text 24"/>
          <p:cNvSpPr/>
          <p:nvPr/>
        </p:nvSpPr>
        <p:spPr>
          <a:xfrm>
            <a:off x="4937760" y="3273552"/>
            <a:ext cx="777240" cy="274320"/>
          </a:xfrm>
          <a:prstGeom prst="rect">
            <a:avLst/>
          </a:prstGeom>
          <a:noFill/>
          <a:ln/>
        </p:spPr>
        <p:txBody>
          <a:bodyPr wrap="square" lIns="0" tIns="0" rIns="0" bIns="0" rtlCol="0" anchor="ctr"/>
          <a:lstStyle/>
          <a:p>
            <a:pPr algn="ctr" indent="0" marL="0">
              <a:buNone/>
            </a:pPr>
            <a:r>
              <a:rPr lang="en-US" sz="1200" dirty="0">
                <a:solidFill>
                  <a:srgbClr val="ECE9F8"/>
                </a:solidFill>
                <a:latin typeface="Segoe UI Semibold" pitchFamily="34" charset="0"/>
                <a:ea typeface="Segoe UI Semibold" pitchFamily="34" charset="-122"/>
                <a:cs typeface="Segoe UI Semibold" pitchFamily="34" charset="-120"/>
              </a:rPr>
              <a:t>Space</a:t>
            </a:r>
            <a:endParaRPr lang="en-US" sz="1200" dirty="0"/>
          </a:p>
        </p:txBody>
      </p:sp>
      <p:sp>
        <p:nvSpPr>
          <p:cNvPr id="33" name="Text 25"/>
          <p:cNvSpPr/>
          <p:nvPr/>
        </p:nvSpPr>
        <p:spPr>
          <a:xfrm>
            <a:off x="5897880" y="3273552"/>
            <a:ext cx="2651760" cy="274320"/>
          </a:xfrm>
          <a:prstGeom prst="rect">
            <a:avLst/>
          </a:prstGeom>
          <a:noFill/>
          <a:ln/>
        </p:spPr>
        <p:txBody>
          <a:bodyPr wrap="square" lIns="0" tIns="0" rIns="0" bIns="0" rtlCol="0" anchor="ctr"/>
          <a:lstStyle/>
          <a:p>
            <a:pPr indent="0" marL="0">
              <a:buNone/>
            </a:pPr>
            <a:r>
              <a:rPr lang="en-US" sz="1400" dirty="0">
                <a:solidFill>
                  <a:srgbClr val="ECE9F8"/>
                </a:solidFill>
                <a:latin typeface="Segoe UI" pitchFamily="34" charset="0"/>
                <a:ea typeface="Segoe UI" pitchFamily="34" charset="-122"/>
                <a:cs typeface="Segoe UI" pitchFamily="34" charset="-120"/>
              </a:rPr>
              <a:t>Nitro</a:t>
            </a:r>
            <a:endParaRPr lang="en-US" sz="1400" dirty="0"/>
          </a:p>
        </p:txBody>
      </p:sp>
      <p:sp>
        <p:nvSpPr>
          <p:cNvPr id="34" name="Shape 26"/>
          <p:cNvSpPr/>
          <p:nvPr/>
        </p:nvSpPr>
        <p:spPr>
          <a:xfrm>
            <a:off x="4937760" y="3694176"/>
            <a:ext cx="777240" cy="274320"/>
          </a:xfrm>
          <a:prstGeom prst="roundRect">
            <a:avLst>
              <a:gd name="adj" fmla="val 20000"/>
            </a:avLst>
          </a:prstGeom>
          <a:solidFill>
            <a:srgbClr val="1A1740"/>
          </a:solidFill>
          <a:ln w="12700">
            <a:solidFill>
              <a:srgbClr val="36316A"/>
            </a:solidFill>
            <a:prstDash val="solid"/>
          </a:ln>
        </p:spPr>
      </p:sp>
      <p:sp>
        <p:nvSpPr>
          <p:cNvPr id="35" name="Text 27"/>
          <p:cNvSpPr/>
          <p:nvPr/>
        </p:nvSpPr>
        <p:spPr>
          <a:xfrm>
            <a:off x="4937760" y="3694176"/>
            <a:ext cx="777240" cy="274320"/>
          </a:xfrm>
          <a:prstGeom prst="rect">
            <a:avLst/>
          </a:prstGeom>
          <a:noFill/>
          <a:ln/>
        </p:spPr>
        <p:txBody>
          <a:bodyPr wrap="square" lIns="0" tIns="0" rIns="0" bIns="0" rtlCol="0" anchor="ctr"/>
          <a:lstStyle/>
          <a:p>
            <a:pPr algn="ctr" indent="0" marL="0">
              <a:buNone/>
            </a:pPr>
            <a:r>
              <a:rPr lang="en-US" sz="1200" dirty="0">
                <a:solidFill>
                  <a:srgbClr val="ECE9F8"/>
                </a:solidFill>
                <a:latin typeface="Segoe UI Semibold" pitchFamily="34" charset="0"/>
                <a:ea typeface="Segoe UI Semibold" pitchFamily="34" charset="-122"/>
                <a:cs typeface="Segoe UI Semibold" pitchFamily="34" charset="-120"/>
              </a:rPr>
              <a:t>L</a:t>
            </a:r>
            <a:endParaRPr lang="en-US" sz="1200" dirty="0"/>
          </a:p>
        </p:txBody>
      </p:sp>
      <p:sp>
        <p:nvSpPr>
          <p:cNvPr id="36" name="Text 28"/>
          <p:cNvSpPr/>
          <p:nvPr/>
        </p:nvSpPr>
        <p:spPr>
          <a:xfrm>
            <a:off x="5897880" y="3694176"/>
            <a:ext cx="2651760" cy="274320"/>
          </a:xfrm>
          <a:prstGeom prst="rect">
            <a:avLst/>
          </a:prstGeom>
          <a:noFill/>
          <a:ln/>
        </p:spPr>
        <p:txBody>
          <a:bodyPr wrap="square" lIns="0" tIns="0" rIns="0" bIns="0" rtlCol="0" anchor="ctr"/>
          <a:lstStyle/>
          <a:p>
            <a:pPr indent="0" marL="0">
              <a:buNone/>
            </a:pPr>
            <a:r>
              <a:rPr lang="en-US" sz="1400" dirty="0">
                <a:solidFill>
                  <a:srgbClr val="ECE9F8"/>
                </a:solidFill>
                <a:latin typeface="Segoe UI" pitchFamily="34" charset="0"/>
                <a:ea typeface="Segoe UI" pitchFamily="34" charset="-122"/>
                <a:cs typeface="Segoe UI" pitchFamily="34" charset="-120"/>
              </a:rPr>
              <a:t>AI decision tags</a:t>
            </a:r>
            <a:endParaRPr lang="en-US" sz="1400" dirty="0"/>
          </a:p>
        </p:txBody>
      </p:sp>
      <p:sp>
        <p:nvSpPr>
          <p:cNvPr id="37" name="Text 29"/>
          <p:cNvSpPr/>
          <p:nvPr/>
        </p:nvSpPr>
        <p:spPr>
          <a:xfrm>
            <a:off x="4937760" y="4114800"/>
            <a:ext cx="3657600" cy="192024"/>
          </a:xfrm>
          <a:prstGeom prst="rect">
            <a:avLst/>
          </a:prstGeom>
          <a:noFill/>
          <a:ln/>
        </p:spPr>
        <p:txBody>
          <a:bodyPr wrap="square" lIns="0" tIns="0" rIns="0" bIns="0" rtlCol="0" anchor="t"/>
          <a:lstStyle/>
          <a:p>
            <a:pPr indent="0" marL="0">
              <a:buNone/>
            </a:pPr>
            <a:r>
              <a:rPr lang="en-US" sz="1150" dirty="0">
                <a:solidFill>
                  <a:srgbClr val="ABA6C8"/>
                </a:solidFill>
                <a:latin typeface="Segoe UI" pitchFamily="34" charset="0"/>
                <a:ea typeface="Segoe UI" pitchFamily="34" charset="-122"/>
                <a:cs typeface="Segoe UI" pitchFamily="34" charset="-120"/>
              </a:rPr>
              <a:t>Phones and tablets get touch controls.</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LUNA GP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LUNA GP</dc:title>
  <dc:subject>How LUNA GP uses Microsoft-Decision-1</dc:subject>
  <dc:creator>LUNA GP</dc:creator>
  <cp:lastModifiedBy>LUNA GP</cp:lastModifiedBy>
  <cp:revision>1</cp:revision>
  <dcterms:created xsi:type="dcterms:W3CDTF">2026-10-27T19:08:31Z</dcterms:created>
  <dcterms:modified xsi:type="dcterms:W3CDTF">2026-10-27T19:08:31Z</dcterms:modified>
</cp:coreProperties>
</file>